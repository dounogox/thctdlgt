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0" r:id="rId1"/>
  </p:sldMasterIdLst>
  <p:notesMasterIdLst>
    <p:notesMasterId r:id="rId59"/>
  </p:notesMasterIdLst>
  <p:sldIdLst>
    <p:sldId id="394" r:id="rId2"/>
    <p:sldId id="451" r:id="rId3"/>
    <p:sldId id="395" r:id="rId4"/>
    <p:sldId id="396" r:id="rId5"/>
    <p:sldId id="397" r:id="rId6"/>
    <p:sldId id="398" r:id="rId7"/>
    <p:sldId id="399" r:id="rId8"/>
    <p:sldId id="400" r:id="rId9"/>
    <p:sldId id="401" r:id="rId10"/>
    <p:sldId id="402" r:id="rId11"/>
    <p:sldId id="403" r:id="rId12"/>
    <p:sldId id="404" r:id="rId13"/>
    <p:sldId id="405" r:id="rId14"/>
    <p:sldId id="406" r:id="rId15"/>
    <p:sldId id="407" r:id="rId16"/>
    <p:sldId id="408" r:id="rId17"/>
    <p:sldId id="409" r:id="rId18"/>
    <p:sldId id="410" r:id="rId19"/>
    <p:sldId id="411" r:id="rId20"/>
    <p:sldId id="412" r:id="rId21"/>
    <p:sldId id="413" r:id="rId22"/>
    <p:sldId id="414" r:id="rId23"/>
    <p:sldId id="452" r:id="rId24"/>
    <p:sldId id="415" r:id="rId25"/>
    <p:sldId id="416" r:id="rId26"/>
    <p:sldId id="417" r:id="rId27"/>
    <p:sldId id="449" r:id="rId28"/>
    <p:sldId id="450" r:id="rId29"/>
    <p:sldId id="418" r:id="rId30"/>
    <p:sldId id="419" r:id="rId31"/>
    <p:sldId id="420" r:id="rId32"/>
    <p:sldId id="448" r:id="rId33"/>
    <p:sldId id="421" r:id="rId34"/>
    <p:sldId id="422" r:id="rId35"/>
    <p:sldId id="425" r:id="rId36"/>
    <p:sldId id="426" r:id="rId37"/>
    <p:sldId id="427" r:id="rId38"/>
    <p:sldId id="428" r:id="rId39"/>
    <p:sldId id="429" r:id="rId40"/>
    <p:sldId id="430" r:id="rId41"/>
    <p:sldId id="431" r:id="rId42"/>
    <p:sldId id="453" r:id="rId43"/>
    <p:sldId id="446" r:id="rId44"/>
    <p:sldId id="432" r:id="rId45"/>
    <p:sldId id="433" r:id="rId46"/>
    <p:sldId id="434" r:id="rId47"/>
    <p:sldId id="435" r:id="rId48"/>
    <p:sldId id="436" r:id="rId49"/>
    <p:sldId id="437" r:id="rId50"/>
    <p:sldId id="438" r:id="rId51"/>
    <p:sldId id="439" r:id="rId52"/>
    <p:sldId id="440" r:id="rId53"/>
    <p:sldId id="441" r:id="rId54"/>
    <p:sldId id="442" r:id="rId55"/>
    <p:sldId id="447" r:id="rId56"/>
    <p:sldId id="443" r:id="rId57"/>
    <p:sldId id="444" r:id="rId58"/>
  </p:sldIdLst>
  <p:sldSz cx="9144000" cy="6858000" type="screen4x3"/>
  <p:notesSz cx="6858000" cy="9144000"/>
  <p:custShowLst>
    <p:custShow name="Custom Show 1" id="0">
      <p:sldLst/>
    </p:custShow>
  </p:custShow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64">
          <p15:clr>
            <a:srgbClr val="A4A3A4"/>
          </p15:clr>
        </p15:guide>
        <p15:guide id="2" pos="576">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FF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33" autoAdjust="0"/>
    <p:restoredTop sz="94698" autoAdjust="0"/>
  </p:normalViewPr>
  <p:slideViewPr>
    <p:cSldViewPr snapToGrid="0">
      <p:cViewPr varScale="1">
        <p:scale>
          <a:sx n="59" d="100"/>
          <a:sy n="59" d="100"/>
        </p:scale>
        <p:origin x="1408" y="60"/>
      </p:cViewPr>
      <p:guideLst>
        <p:guide orient="horz" pos="864"/>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0" d="100"/>
          <a:sy n="40" d="100"/>
        </p:scale>
        <p:origin x="-148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9009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3902075"/>
            <a:ext cx="3400425" cy="2949575"/>
            <a:chOff x="0" y="2458"/>
            <a:chExt cx="2142" cy="1858"/>
          </a:xfrm>
        </p:grpSpPr>
        <p:sp>
          <p:nvSpPr>
            <p:cNvPr id="5" name="Freeform 3"/>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a:defRPr/>
              </a:pPr>
              <a:endParaRPr lang="en-US"/>
            </a:p>
          </p:txBody>
        </p:sp>
        <p:sp>
          <p:nvSpPr>
            <p:cNvPr id="6" name="Freeform 4"/>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a:defRPr/>
              </a:pPr>
              <a:endParaRPr lang="en-US"/>
            </a:p>
          </p:txBody>
        </p:sp>
        <p:sp>
          <p:nvSpPr>
            <p:cNvPr id="7" name="Freeform 5"/>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a:defRPr/>
              </a:pPr>
              <a:endParaRPr lang="en-US"/>
            </a:p>
          </p:txBody>
        </p:sp>
        <p:sp>
          <p:nvSpPr>
            <p:cNvPr id="8" name="Freeform 6"/>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a:defRPr/>
              </a:pPr>
              <a:endParaRPr lang="en-US"/>
            </a:p>
          </p:txBody>
        </p:sp>
        <p:sp>
          <p:nvSpPr>
            <p:cNvPr id="9"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0"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47466" name="Rectangle 10"/>
          <p:cNvSpPr>
            <a:spLocks noGrp="1" noChangeArrowheads="1"/>
          </p:cNvSpPr>
          <p:nvPr>
            <p:ph type="ctrTitle" sz="quarter"/>
          </p:nvPr>
        </p:nvSpPr>
        <p:spPr>
          <a:xfrm>
            <a:off x="685800" y="1873250"/>
            <a:ext cx="7772400" cy="1555750"/>
          </a:xfrm>
        </p:spPr>
        <p:txBody>
          <a:bodyPr/>
          <a:lstStyle>
            <a:lvl1pPr>
              <a:defRPr sz="4800"/>
            </a:lvl1pPr>
          </a:lstStyle>
          <a:p>
            <a:r>
              <a:rPr lang="en-US"/>
              <a:t>Click to edit Master title style</a:t>
            </a:r>
          </a:p>
        </p:txBody>
      </p:sp>
      <p:sp>
        <p:nvSpPr>
          <p:cNvPr id="147467"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2" name="Rectangle 12"/>
          <p:cNvSpPr>
            <a:spLocks noGrp="1" noChangeArrowheads="1"/>
          </p:cNvSpPr>
          <p:nvPr>
            <p:ph type="dt" sz="quarter" idx="10"/>
          </p:nvPr>
        </p:nvSpPr>
        <p:spPr>
          <a:xfrm>
            <a:off x="457200" y="6248400"/>
            <a:ext cx="2133600" cy="457200"/>
          </a:xfrm>
        </p:spPr>
        <p:txBody>
          <a:bodyPr/>
          <a:lstStyle>
            <a:lvl1pPr>
              <a:defRPr/>
            </a:lvl1pPr>
          </a:lstStyle>
          <a:p>
            <a:pPr>
              <a:defRPr/>
            </a:pPr>
            <a:r>
              <a:rPr lang="en-US"/>
              <a:t>Ngô Công Thắng</a:t>
            </a:r>
          </a:p>
        </p:txBody>
      </p:sp>
      <p:sp>
        <p:nvSpPr>
          <p:cNvPr id="13" name="Rectangle 13"/>
          <p:cNvSpPr>
            <a:spLocks noGrp="1" noChangeArrowheads="1"/>
          </p:cNvSpPr>
          <p:nvPr>
            <p:ph type="ftr" sz="quarter" idx="11"/>
          </p:nvPr>
        </p:nvSpPr>
        <p:spPr>
          <a:xfrm>
            <a:off x="3124200" y="6248400"/>
            <a:ext cx="2895600" cy="457200"/>
          </a:xfrm>
        </p:spPr>
        <p:txBody>
          <a:bodyPr/>
          <a:lstStyle>
            <a:lvl1pPr>
              <a:defRPr/>
            </a:lvl1pPr>
          </a:lstStyle>
          <a:p>
            <a:pPr>
              <a:defRPr/>
            </a:pPr>
            <a:r>
              <a:rPr lang="en-US"/>
              <a:t>Bài giảng Cấu trúc dữ liệu và giải thuật  -  Chương 01</a:t>
            </a:r>
          </a:p>
        </p:txBody>
      </p:sp>
      <p:sp>
        <p:nvSpPr>
          <p:cNvPr id="14" name="Rectangle 14"/>
          <p:cNvSpPr>
            <a:spLocks noGrp="1" noChangeArrowheads="1"/>
          </p:cNvSpPr>
          <p:nvPr>
            <p:ph type="sldNum" sz="quarter" idx="12"/>
          </p:nvPr>
        </p:nvSpPr>
        <p:spPr>
          <a:xfrm>
            <a:off x="6553200" y="6248400"/>
            <a:ext cx="2133600" cy="457200"/>
          </a:xfrm>
        </p:spPr>
        <p:txBody>
          <a:bodyPr/>
          <a:lstStyle>
            <a:lvl1pPr>
              <a:defRPr/>
            </a:lvl1pPr>
          </a:lstStyle>
          <a:p>
            <a:pPr>
              <a:defRPr/>
            </a:pPr>
            <a:fld id="{B11B4ADB-1D8A-4644-8A9F-EE44E4AF7B78}" type="slidenum">
              <a:rPr lang="en-US"/>
              <a:pPr>
                <a:defRPr/>
              </a:pPr>
              <a:t>‹#›</a:t>
            </a:fld>
            <a:endParaRPr lang="en-US"/>
          </a:p>
        </p:txBody>
      </p:sp>
    </p:spTree>
    <p:extLst>
      <p:ext uri="{BB962C8B-B14F-4D97-AF65-F5344CB8AC3E}">
        <p14:creationId xmlns:p14="http://schemas.microsoft.com/office/powerpoint/2010/main" val="3663675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5"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6" name="Rectangle 14"/>
          <p:cNvSpPr>
            <a:spLocks noGrp="1" noChangeArrowheads="1"/>
          </p:cNvSpPr>
          <p:nvPr>
            <p:ph type="sldNum" sz="quarter" idx="12"/>
          </p:nvPr>
        </p:nvSpPr>
        <p:spPr>
          <a:ln/>
        </p:spPr>
        <p:txBody>
          <a:bodyPr/>
          <a:lstStyle>
            <a:lvl1pPr>
              <a:defRPr/>
            </a:lvl1pPr>
          </a:lstStyle>
          <a:p>
            <a:pPr>
              <a:defRPr/>
            </a:pPr>
            <a:r>
              <a:rPr lang="en-US"/>
              <a:t>1.</a:t>
            </a:r>
            <a:fld id="{8E1F47E7-8E8C-4477-81EA-1C90FCDB03FA}" type="slidenum">
              <a:rPr lang="en-US"/>
              <a:pPr>
                <a:defRPr/>
              </a:pPr>
              <a:t>‹#›</a:t>
            </a:fld>
            <a:endParaRPr lang="en-US"/>
          </a:p>
        </p:txBody>
      </p:sp>
    </p:spTree>
    <p:extLst>
      <p:ext uri="{BB962C8B-B14F-4D97-AF65-F5344CB8AC3E}">
        <p14:creationId xmlns:p14="http://schemas.microsoft.com/office/powerpoint/2010/main" val="295984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5"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6" name="Rectangle 14"/>
          <p:cNvSpPr>
            <a:spLocks noGrp="1" noChangeArrowheads="1"/>
          </p:cNvSpPr>
          <p:nvPr>
            <p:ph type="sldNum" sz="quarter" idx="12"/>
          </p:nvPr>
        </p:nvSpPr>
        <p:spPr>
          <a:ln/>
        </p:spPr>
        <p:txBody>
          <a:bodyPr/>
          <a:lstStyle>
            <a:lvl1pPr>
              <a:defRPr/>
            </a:lvl1pPr>
          </a:lstStyle>
          <a:p>
            <a:pPr>
              <a:defRPr/>
            </a:pPr>
            <a:r>
              <a:rPr lang="en-US"/>
              <a:t>1.</a:t>
            </a:r>
            <a:fld id="{F48CC886-7EDA-4D20-81A3-4B7E2451F282}" type="slidenum">
              <a:rPr lang="en-US"/>
              <a:pPr>
                <a:defRPr/>
              </a:pPr>
              <a:t>‹#›</a:t>
            </a:fld>
            <a:endParaRPr lang="en-US"/>
          </a:p>
        </p:txBody>
      </p:sp>
    </p:spTree>
    <p:extLst>
      <p:ext uri="{BB962C8B-B14F-4D97-AF65-F5344CB8AC3E}">
        <p14:creationId xmlns:p14="http://schemas.microsoft.com/office/powerpoint/2010/main" val="2444721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672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672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7" name="Rectangle 14"/>
          <p:cNvSpPr>
            <a:spLocks noGrp="1" noChangeArrowheads="1"/>
          </p:cNvSpPr>
          <p:nvPr>
            <p:ph type="sldNum" sz="quarter" idx="12"/>
          </p:nvPr>
        </p:nvSpPr>
        <p:spPr>
          <a:ln/>
        </p:spPr>
        <p:txBody>
          <a:bodyPr/>
          <a:lstStyle>
            <a:lvl1pPr>
              <a:defRPr/>
            </a:lvl1pPr>
          </a:lstStyle>
          <a:p>
            <a:pPr>
              <a:defRPr/>
            </a:pPr>
            <a:r>
              <a:rPr lang="en-US"/>
              <a:t>1.</a:t>
            </a:r>
            <a:fld id="{848BFB10-D83F-4E82-AF58-212245FEF2DA}" type="slidenum">
              <a:rPr lang="en-US"/>
              <a:pPr>
                <a:defRPr/>
              </a:pPr>
              <a:t>‹#›</a:t>
            </a:fld>
            <a:endParaRPr lang="en-US"/>
          </a:p>
        </p:txBody>
      </p:sp>
    </p:spTree>
    <p:extLst>
      <p:ext uri="{BB962C8B-B14F-4D97-AF65-F5344CB8AC3E}">
        <p14:creationId xmlns:p14="http://schemas.microsoft.com/office/powerpoint/2010/main" val="2137261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8"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9" name="Rectangle 14"/>
          <p:cNvSpPr>
            <a:spLocks noGrp="1" noChangeArrowheads="1"/>
          </p:cNvSpPr>
          <p:nvPr>
            <p:ph type="sldNum" sz="quarter" idx="12"/>
          </p:nvPr>
        </p:nvSpPr>
        <p:spPr>
          <a:ln/>
        </p:spPr>
        <p:txBody>
          <a:bodyPr/>
          <a:lstStyle>
            <a:lvl1pPr>
              <a:defRPr/>
            </a:lvl1pPr>
          </a:lstStyle>
          <a:p>
            <a:pPr>
              <a:defRPr/>
            </a:pPr>
            <a:r>
              <a:rPr lang="en-US"/>
              <a:t>1.</a:t>
            </a:r>
            <a:fld id="{EF9261BC-6AE3-49CF-ADFD-147F3703833F}" type="slidenum">
              <a:rPr lang="en-US"/>
              <a:pPr>
                <a:defRPr/>
              </a:pPr>
              <a:t>‹#›</a:t>
            </a:fld>
            <a:endParaRPr lang="en-US"/>
          </a:p>
        </p:txBody>
      </p:sp>
    </p:spTree>
    <p:extLst>
      <p:ext uri="{BB962C8B-B14F-4D97-AF65-F5344CB8AC3E}">
        <p14:creationId xmlns:p14="http://schemas.microsoft.com/office/powerpoint/2010/main" val="1208733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4"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5" name="Rectangle 14"/>
          <p:cNvSpPr>
            <a:spLocks noGrp="1" noChangeArrowheads="1"/>
          </p:cNvSpPr>
          <p:nvPr>
            <p:ph type="sldNum" sz="quarter" idx="12"/>
          </p:nvPr>
        </p:nvSpPr>
        <p:spPr>
          <a:ln/>
        </p:spPr>
        <p:txBody>
          <a:bodyPr/>
          <a:lstStyle>
            <a:lvl1pPr>
              <a:defRPr/>
            </a:lvl1pPr>
          </a:lstStyle>
          <a:p>
            <a:pPr>
              <a:defRPr/>
            </a:pPr>
            <a:r>
              <a:rPr lang="en-US"/>
              <a:t>1.</a:t>
            </a:r>
            <a:fld id="{AAC56B2F-5A18-4C0D-8A52-82663D775CE1}" type="slidenum">
              <a:rPr lang="en-US"/>
              <a:pPr>
                <a:defRPr/>
              </a:pPr>
              <a:t>‹#›</a:t>
            </a:fld>
            <a:endParaRPr lang="en-US"/>
          </a:p>
        </p:txBody>
      </p:sp>
    </p:spTree>
    <p:extLst>
      <p:ext uri="{BB962C8B-B14F-4D97-AF65-F5344CB8AC3E}">
        <p14:creationId xmlns:p14="http://schemas.microsoft.com/office/powerpoint/2010/main" val="2595435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3"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4" name="Rectangle 14"/>
          <p:cNvSpPr>
            <a:spLocks noGrp="1" noChangeArrowheads="1"/>
          </p:cNvSpPr>
          <p:nvPr>
            <p:ph type="sldNum" sz="quarter" idx="12"/>
          </p:nvPr>
        </p:nvSpPr>
        <p:spPr>
          <a:ln/>
        </p:spPr>
        <p:txBody>
          <a:bodyPr/>
          <a:lstStyle>
            <a:lvl1pPr>
              <a:defRPr/>
            </a:lvl1pPr>
          </a:lstStyle>
          <a:p>
            <a:pPr>
              <a:defRPr/>
            </a:pPr>
            <a:r>
              <a:rPr lang="en-US"/>
              <a:t>1.</a:t>
            </a:r>
            <a:fld id="{40EB4FCA-3824-452B-908C-74B6EBE66F74}" type="slidenum">
              <a:rPr lang="en-US"/>
              <a:pPr>
                <a:defRPr/>
              </a:pPr>
              <a:t>‹#›</a:t>
            </a:fld>
            <a:endParaRPr lang="en-US"/>
          </a:p>
        </p:txBody>
      </p:sp>
    </p:spTree>
    <p:extLst>
      <p:ext uri="{BB962C8B-B14F-4D97-AF65-F5344CB8AC3E}">
        <p14:creationId xmlns:p14="http://schemas.microsoft.com/office/powerpoint/2010/main" val="320128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7" name="Rectangle 14"/>
          <p:cNvSpPr>
            <a:spLocks noGrp="1" noChangeArrowheads="1"/>
          </p:cNvSpPr>
          <p:nvPr>
            <p:ph type="sldNum" sz="quarter" idx="12"/>
          </p:nvPr>
        </p:nvSpPr>
        <p:spPr>
          <a:ln/>
        </p:spPr>
        <p:txBody>
          <a:bodyPr/>
          <a:lstStyle>
            <a:lvl1pPr>
              <a:defRPr/>
            </a:lvl1pPr>
          </a:lstStyle>
          <a:p>
            <a:pPr>
              <a:defRPr/>
            </a:pPr>
            <a:r>
              <a:rPr lang="en-US"/>
              <a:t>1.</a:t>
            </a:r>
            <a:fld id="{95D29917-E7F6-4CF2-94F6-BA7212771EC5}" type="slidenum">
              <a:rPr lang="en-US"/>
              <a:pPr>
                <a:defRPr/>
              </a:pPr>
              <a:t>‹#›</a:t>
            </a:fld>
            <a:endParaRPr lang="en-US"/>
          </a:p>
        </p:txBody>
      </p:sp>
    </p:spTree>
    <p:extLst>
      <p:ext uri="{BB962C8B-B14F-4D97-AF65-F5344CB8AC3E}">
        <p14:creationId xmlns:p14="http://schemas.microsoft.com/office/powerpoint/2010/main" val="633888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7" name="Rectangle 14"/>
          <p:cNvSpPr>
            <a:spLocks noGrp="1" noChangeArrowheads="1"/>
          </p:cNvSpPr>
          <p:nvPr>
            <p:ph type="sldNum" sz="quarter" idx="12"/>
          </p:nvPr>
        </p:nvSpPr>
        <p:spPr>
          <a:ln/>
        </p:spPr>
        <p:txBody>
          <a:bodyPr/>
          <a:lstStyle>
            <a:lvl1pPr>
              <a:defRPr/>
            </a:lvl1pPr>
          </a:lstStyle>
          <a:p>
            <a:pPr>
              <a:defRPr/>
            </a:pPr>
            <a:r>
              <a:rPr lang="en-US"/>
              <a:t>1.</a:t>
            </a:r>
            <a:fld id="{8C2AF422-D871-4320-895E-A40B943D760C}" type="slidenum">
              <a:rPr lang="en-US"/>
              <a:pPr>
                <a:defRPr/>
              </a:pPr>
              <a:t>‹#›</a:t>
            </a:fld>
            <a:endParaRPr lang="en-US"/>
          </a:p>
        </p:txBody>
      </p:sp>
    </p:spTree>
    <p:extLst>
      <p:ext uri="{BB962C8B-B14F-4D97-AF65-F5344CB8AC3E}">
        <p14:creationId xmlns:p14="http://schemas.microsoft.com/office/powerpoint/2010/main" val="2156893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5"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6" name="Rectangle 14"/>
          <p:cNvSpPr>
            <a:spLocks noGrp="1" noChangeArrowheads="1"/>
          </p:cNvSpPr>
          <p:nvPr>
            <p:ph type="sldNum" sz="quarter" idx="12"/>
          </p:nvPr>
        </p:nvSpPr>
        <p:spPr>
          <a:ln/>
        </p:spPr>
        <p:txBody>
          <a:bodyPr/>
          <a:lstStyle>
            <a:lvl1pPr>
              <a:defRPr/>
            </a:lvl1pPr>
          </a:lstStyle>
          <a:p>
            <a:pPr>
              <a:defRPr/>
            </a:pPr>
            <a:r>
              <a:rPr lang="en-US"/>
              <a:t>1.</a:t>
            </a:r>
            <a:fld id="{2BE2CB7B-051A-4A8F-8177-3B6912DD8FF8}" type="slidenum">
              <a:rPr lang="en-US"/>
              <a:pPr>
                <a:defRPr/>
              </a:pPr>
              <a:t>‹#›</a:t>
            </a:fld>
            <a:endParaRPr lang="en-US"/>
          </a:p>
        </p:txBody>
      </p:sp>
    </p:spTree>
    <p:extLst>
      <p:ext uri="{BB962C8B-B14F-4D97-AF65-F5344CB8AC3E}">
        <p14:creationId xmlns:p14="http://schemas.microsoft.com/office/powerpoint/2010/main" val="3398232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994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994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5"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6" name="Rectangle 14"/>
          <p:cNvSpPr>
            <a:spLocks noGrp="1" noChangeArrowheads="1"/>
          </p:cNvSpPr>
          <p:nvPr>
            <p:ph type="sldNum" sz="quarter" idx="12"/>
          </p:nvPr>
        </p:nvSpPr>
        <p:spPr>
          <a:ln/>
        </p:spPr>
        <p:txBody>
          <a:bodyPr/>
          <a:lstStyle>
            <a:lvl1pPr>
              <a:defRPr/>
            </a:lvl1pPr>
          </a:lstStyle>
          <a:p>
            <a:pPr>
              <a:defRPr/>
            </a:pPr>
            <a:r>
              <a:rPr lang="en-US"/>
              <a:t>1.</a:t>
            </a:r>
            <a:fld id="{EF3D846E-B099-4708-92C0-040C7EDC8A4E}" type="slidenum">
              <a:rPr lang="en-US"/>
              <a:pPr>
                <a:defRPr/>
              </a:pPr>
              <a:t>‹#›</a:t>
            </a:fld>
            <a:endParaRPr lang="en-US"/>
          </a:p>
        </p:txBody>
      </p:sp>
    </p:spTree>
    <p:extLst>
      <p:ext uri="{BB962C8B-B14F-4D97-AF65-F5344CB8AC3E}">
        <p14:creationId xmlns:p14="http://schemas.microsoft.com/office/powerpoint/2010/main" val="641276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259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4011613"/>
            <a:ext cx="8229600" cy="226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dt" sz="half" idx="10"/>
          </p:nvPr>
        </p:nvSpPr>
        <p:spPr>
          <a:ln/>
        </p:spPr>
        <p:txBody>
          <a:bodyPr/>
          <a:lstStyle>
            <a:lvl1pPr>
              <a:defRPr/>
            </a:lvl1pPr>
          </a:lstStyle>
          <a:p>
            <a:pPr>
              <a:defRPr/>
            </a:pPr>
            <a:r>
              <a:rPr lang="en-US"/>
              <a:t>Ngô Công Thắng</a:t>
            </a:r>
          </a:p>
        </p:txBody>
      </p:sp>
      <p:sp>
        <p:nvSpPr>
          <p:cNvPr id="6" name="Rectangle 13"/>
          <p:cNvSpPr>
            <a:spLocks noGrp="1" noChangeArrowheads="1"/>
          </p:cNvSpPr>
          <p:nvPr>
            <p:ph type="ftr" sz="quarter" idx="11"/>
          </p:nvPr>
        </p:nvSpPr>
        <p:spPr>
          <a:ln/>
        </p:spPr>
        <p:txBody>
          <a:bodyPr/>
          <a:lstStyle>
            <a:lvl1pPr>
              <a:defRPr/>
            </a:lvl1pPr>
          </a:lstStyle>
          <a:p>
            <a:pPr>
              <a:defRPr/>
            </a:pPr>
            <a:r>
              <a:rPr lang="en-US"/>
              <a:t>Bài giảng Cấu trúc dữ liệu và giải thuật  -  Chương 01</a:t>
            </a:r>
          </a:p>
        </p:txBody>
      </p:sp>
      <p:sp>
        <p:nvSpPr>
          <p:cNvPr id="7" name="Rectangle 14"/>
          <p:cNvSpPr>
            <a:spLocks noGrp="1" noChangeArrowheads="1"/>
          </p:cNvSpPr>
          <p:nvPr>
            <p:ph type="sldNum" sz="quarter" idx="12"/>
          </p:nvPr>
        </p:nvSpPr>
        <p:spPr>
          <a:ln/>
        </p:spPr>
        <p:txBody>
          <a:bodyPr/>
          <a:lstStyle>
            <a:lvl1pPr>
              <a:defRPr/>
            </a:lvl1pPr>
          </a:lstStyle>
          <a:p>
            <a:pPr>
              <a:defRPr/>
            </a:pPr>
            <a:r>
              <a:rPr lang="en-US"/>
              <a:t>1.</a:t>
            </a:r>
            <a:fld id="{C0D9A5AB-05D0-46C4-B06D-2EAC21201A9E}" type="slidenum">
              <a:rPr lang="en-US"/>
              <a:pPr>
                <a:defRPr/>
              </a:pPr>
              <a:t>‹#›</a:t>
            </a:fld>
            <a:endParaRPr lang="en-US"/>
          </a:p>
        </p:txBody>
      </p:sp>
    </p:spTree>
    <p:extLst>
      <p:ext uri="{BB962C8B-B14F-4D97-AF65-F5344CB8AC3E}">
        <p14:creationId xmlns:p14="http://schemas.microsoft.com/office/powerpoint/2010/main" val="2572364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3902075"/>
            <a:ext cx="3400425" cy="2949575"/>
            <a:chOff x="0" y="2458"/>
            <a:chExt cx="2142" cy="1858"/>
          </a:xfrm>
        </p:grpSpPr>
        <p:sp>
          <p:nvSpPr>
            <p:cNvPr id="146435" name="Freeform 3"/>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a:defRPr/>
              </a:pPr>
              <a:endParaRPr lang="en-US"/>
            </a:p>
          </p:txBody>
        </p:sp>
        <p:sp>
          <p:nvSpPr>
            <p:cNvPr id="146436" name="Freeform 4"/>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a:defRPr/>
              </a:pPr>
              <a:endParaRPr lang="en-US"/>
            </a:p>
          </p:txBody>
        </p:sp>
        <p:sp>
          <p:nvSpPr>
            <p:cNvPr id="146437" name="Freeform 5"/>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a:defRPr/>
              </a:pPr>
              <a:endParaRPr lang="en-US"/>
            </a:p>
          </p:txBody>
        </p:sp>
        <p:sp>
          <p:nvSpPr>
            <p:cNvPr id="146438" name="Freeform 6"/>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a:defRPr/>
              </a:pPr>
              <a:endParaRPr lang="en-US"/>
            </a:p>
          </p:txBody>
        </p:sp>
        <p:sp>
          <p:nvSpPr>
            <p:cNvPr id="1036"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037"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038"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46442" name="Rectangle 10"/>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146443" name="Rectangle 11"/>
          <p:cNvSpPr>
            <a:spLocks noGrp="1" noChangeArrowheads="1"/>
          </p:cNvSpPr>
          <p:nvPr>
            <p:ph type="body" idx="1"/>
          </p:nvPr>
        </p:nvSpPr>
        <p:spPr bwMode="auto">
          <a:xfrm>
            <a:off x="457200" y="1600200"/>
            <a:ext cx="8229600" cy="4672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6444" name="Rectangle 12"/>
          <p:cNvSpPr>
            <a:spLocks noGrp="1" noChangeArrowheads="1"/>
          </p:cNvSpPr>
          <p:nvPr>
            <p:ph type="dt" sz="half" idx="2"/>
          </p:nvPr>
        </p:nvSpPr>
        <p:spPr bwMode="auto">
          <a:xfrm>
            <a:off x="457200" y="6454775"/>
            <a:ext cx="2133600"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10199"/>
                  </a:outerShdw>
                </a:effectLst>
              </a:defRPr>
            </a:lvl1pPr>
          </a:lstStyle>
          <a:p>
            <a:pPr>
              <a:defRPr/>
            </a:pPr>
            <a:r>
              <a:rPr lang="en-US"/>
              <a:t>Ngô Công Thắng</a:t>
            </a:r>
          </a:p>
        </p:txBody>
      </p:sp>
      <p:sp>
        <p:nvSpPr>
          <p:cNvPr id="146445" name="Rectangle 13"/>
          <p:cNvSpPr>
            <a:spLocks noGrp="1" noChangeArrowheads="1"/>
          </p:cNvSpPr>
          <p:nvPr>
            <p:ph type="ftr" sz="quarter" idx="3"/>
          </p:nvPr>
        </p:nvSpPr>
        <p:spPr bwMode="auto">
          <a:xfrm>
            <a:off x="2705100" y="6454775"/>
            <a:ext cx="4519613"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10199"/>
                  </a:outerShdw>
                </a:effectLst>
              </a:defRPr>
            </a:lvl1pPr>
          </a:lstStyle>
          <a:p>
            <a:pPr>
              <a:defRPr/>
            </a:pPr>
            <a:r>
              <a:rPr lang="en-US"/>
              <a:t>Bài giảng Cấu trúc dữ liệu và giải thuật  -  Chương 01</a:t>
            </a:r>
          </a:p>
        </p:txBody>
      </p:sp>
      <p:sp>
        <p:nvSpPr>
          <p:cNvPr id="146446" name="Rectangle 14"/>
          <p:cNvSpPr>
            <a:spLocks noGrp="1" noChangeArrowheads="1"/>
          </p:cNvSpPr>
          <p:nvPr>
            <p:ph type="sldNum" sz="quarter" idx="4"/>
          </p:nvPr>
        </p:nvSpPr>
        <p:spPr bwMode="auto">
          <a:xfrm>
            <a:off x="7351713" y="6454775"/>
            <a:ext cx="1335087" cy="276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10199"/>
                  </a:outerShdw>
                </a:effectLst>
              </a:defRPr>
            </a:lvl1pPr>
          </a:lstStyle>
          <a:p>
            <a:pPr>
              <a:defRPr/>
            </a:pPr>
            <a:r>
              <a:rPr lang="en-US"/>
              <a:t>1.</a:t>
            </a:r>
            <a:fld id="{E61DC8BE-5D69-4FA0-9AE9-6FE76ECE817B}" type="slidenum">
              <a:rPr lang="en-US"/>
              <a:pPr>
                <a:defRPr/>
              </a:pPr>
              <a:t>‹#›</a:t>
            </a:fld>
            <a:endParaRPr lang="en-US"/>
          </a:p>
        </p:txBody>
      </p:sp>
    </p:spTree>
  </p:cSld>
  <p:clrMap bg1="dk2" tx1="lt1" bg2="dk1" tx2="lt2" accent1="accent1" accent2="accent2" accent3="accent3" accent4="accent4" accent5="accent5" accent6="accent6" hlink="hlink" folHlink="folHlink"/>
  <p:sldLayoutIdLst>
    <p:sldLayoutId id="2147483948"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 id="2147483947" r:id="rId12"/>
  </p:sldLayoutIdLst>
  <p:hf hdr="0"/>
  <p:txStyles>
    <p:titleStyle>
      <a:lvl1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l"/>
        <a:defRPr sz="3200">
          <a:solidFill>
            <a:schemeClr val="tx1"/>
          </a:solidFill>
          <a:effectLst>
            <a:outerShdw blurRad="38100" dist="38100" dir="2700000" algn="tl">
              <a:srgbClr val="010199"/>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itchFamily="2" charset="2"/>
        <a:buChar char="l"/>
        <a:defRPr sz="2800">
          <a:solidFill>
            <a:schemeClr val="tx1"/>
          </a:solidFill>
          <a:effectLst>
            <a:outerShdw blurRad="38100" dist="38100" dir="2700000" algn="tl">
              <a:srgbClr val="010199"/>
            </a:outerShdw>
          </a:effectLst>
          <a:latin typeface="+mn-lt"/>
          <a:cs typeface="+mn-cs"/>
        </a:defRPr>
      </a:lvl2pPr>
      <a:lvl3pPr marL="1143000" indent="-228600" algn="l" rtl="0" eaLnBrk="0" fontAlgn="base" hangingPunct="0">
        <a:spcBef>
          <a:spcPct val="20000"/>
        </a:spcBef>
        <a:spcAft>
          <a:spcPct val="0"/>
        </a:spcAft>
        <a:buClr>
          <a:schemeClr val="accent2"/>
        </a:buClr>
        <a:buSzPct val="75000"/>
        <a:buFont typeface="Wingdings" pitchFamily="2" charset="2"/>
        <a:buChar char="l"/>
        <a:defRPr sz="2400">
          <a:solidFill>
            <a:schemeClr val="tx1"/>
          </a:solidFill>
          <a:effectLst>
            <a:outerShdw blurRad="38100" dist="38100" dir="2700000" algn="tl">
              <a:srgbClr val="010199"/>
            </a:outerShdw>
          </a:effectLst>
          <a:latin typeface="+mn-lt"/>
          <a:cs typeface="+mn-cs"/>
        </a:defRPr>
      </a:lvl3pPr>
      <a:lvl4pPr marL="1600200" indent="-228600" algn="l" rtl="0" eaLnBrk="0" fontAlgn="base" hangingPunct="0">
        <a:spcBef>
          <a:spcPct val="20000"/>
        </a:spcBef>
        <a:spcAft>
          <a:spcPct val="0"/>
        </a:spcAft>
        <a:buClr>
          <a:schemeClr val="folHlink"/>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4pPr>
      <a:lvl5pPr marL="2057400" indent="-228600" algn="l" rtl="0" eaLnBrk="0" fontAlgn="base" hangingPunct="0">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5pPr>
      <a:lvl6pPr marL="25146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6pPr>
      <a:lvl7pPr marL="29718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7pPr>
      <a:lvl8pPr marL="34290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8pPr>
      <a:lvl9pPr marL="38862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51661D51-80ED-4D7F-B464-3C7C64A3F4F6}" type="slidenum">
              <a:rPr lang="en-US"/>
              <a:pPr>
                <a:defRPr/>
              </a:pPr>
              <a:t>1</a:t>
            </a:fld>
            <a:endParaRPr lang="en-US"/>
          </a:p>
        </p:txBody>
      </p:sp>
      <p:sp>
        <p:nvSpPr>
          <p:cNvPr id="204802" name="Rectangle 2"/>
          <p:cNvSpPr>
            <a:spLocks noGrp="1" noChangeArrowheads="1"/>
          </p:cNvSpPr>
          <p:nvPr>
            <p:ph type="title"/>
          </p:nvPr>
        </p:nvSpPr>
        <p:spPr/>
        <p:txBody>
          <a:bodyPr/>
          <a:lstStyle/>
          <a:p>
            <a:pPr eaLnBrk="1" hangingPunct="1">
              <a:defRPr/>
            </a:pPr>
            <a:r>
              <a:rPr lang="en-US" sz="4000"/>
              <a:t>3. Thiết kế và đánh giá giải thuật</a:t>
            </a:r>
          </a:p>
        </p:txBody>
      </p:sp>
      <p:sp>
        <p:nvSpPr>
          <p:cNvPr id="204803" name="Rectangle 3"/>
          <p:cNvSpPr>
            <a:spLocks noGrp="1" noChangeArrowheads="1"/>
          </p:cNvSpPr>
          <p:nvPr>
            <p:ph type="body" idx="1"/>
          </p:nvPr>
        </p:nvSpPr>
        <p:spPr/>
        <p:txBody>
          <a:bodyPr/>
          <a:lstStyle/>
          <a:p>
            <a:pPr eaLnBrk="1" hangingPunct="1">
              <a:buFont typeface="Wingdings" pitchFamily="2" charset="2"/>
              <a:buNone/>
              <a:defRPr/>
            </a:pPr>
            <a:r>
              <a:rPr lang="en-US" sz="2800" dirty="0"/>
              <a:t>3.1. </a:t>
            </a:r>
            <a:r>
              <a:rPr lang="en-US" sz="2800" dirty="0" err="1"/>
              <a:t>Thiết</a:t>
            </a:r>
            <a:r>
              <a:rPr lang="en-US" sz="2800" dirty="0"/>
              <a:t> </a:t>
            </a:r>
            <a:r>
              <a:rPr lang="en-US" sz="2800" dirty="0" err="1"/>
              <a:t>kế</a:t>
            </a:r>
            <a:r>
              <a:rPr lang="en-US" sz="2800" dirty="0"/>
              <a:t> </a:t>
            </a:r>
            <a:r>
              <a:rPr lang="en-US" sz="2800" dirty="0" err="1"/>
              <a:t>thuật</a:t>
            </a:r>
            <a:r>
              <a:rPr lang="en-US" sz="2800" dirty="0"/>
              <a:t> </a:t>
            </a:r>
            <a:r>
              <a:rPr lang="en-US" sz="2800" dirty="0" err="1"/>
              <a:t>giải</a:t>
            </a:r>
            <a:endParaRPr lang="en-US" sz="2800" dirty="0"/>
          </a:p>
          <a:p>
            <a:pPr eaLnBrk="1" hangingPunct="1">
              <a:buFont typeface="Wingdings" pitchFamily="2" charset="2"/>
              <a:buNone/>
              <a:defRPr/>
            </a:pPr>
            <a:r>
              <a:rPr lang="en-US" sz="2400"/>
              <a:t>	Trước một bài toán, để xây dựng (thiết kế) giải thuật ta thực hiện theo 2 bước sau:</a:t>
            </a:r>
          </a:p>
          <a:p>
            <a:pPr eaLnBrk="1" hangingPunct="1">
              <a:buFont typeface="Wingdings" pitchFamily="2" charset="2"/>
              <a:buNone/>
              <a:defRPr/>
            </a:pPr>
            <a:r>
              <a:rPr lang="en-US" sz="2400"/>
              <a:t>	B1: Thiết kế tổng quan, sử dụng phương pháp mô đun hóa (chia để trị, top-down)</a:t>
            </a:r>
          </a:p>
          <a:p>
            <a:pPr eaLnBrk="1" hangingPunct="1">
              <a:buFont typeface="Wingdings" pitchFamily="2" charset="2"/>
              <a:buNone/>
              <a:defRPr/>
            </a:pPr>
            <a:r>
              <a:rPr lang="en-US" sz="2400"/>
              <a:t>	B2: Thiết kế chi tiết, sử dụng phương pháp tinh chỉnh dần từng bước.</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51661D51-80ED-4D7F-B464-3C7C64A3F4F6}" type="slidenum">
              <a:rPr lang="en-US"/>
              <a:pPr>
                <a:defRPr/>
              </a:pPr>
              <a:t>2</a:t>
            </a:fld>
            <a:endParaRPr lang="en-US"/>
          </a:p>
        </p:txBody>
      </p:sp>
      <p:sp>
        <p:nvSpPr>
          <p:cNvPr id="204802" name="Rectangle 2"/>
          <p:cNvSpPr>
            <a:spLocks noGrp="1" noChangeArrowheads="1"/>
          </p:cNvSpPr>
          <p:nvPr>
            <p:ph type="title"/>
          </p:nvPr>
        </p:nvSpPr>
        <p:spPr/>
        <p:txBody>
          <a:bodyPr/>
          <a:lstStyle/>
          <a:p>
            <a:pPr eaLnBrk="1" hangingPunct="1">
              <a:defRPr/>
            </a:pPr>
            <a:r>
              <a:rPr lang="en-US" sz="4000"/>
              <a:t>3. Thiết kế và đánh giá giải thuật</a:t>
            </a:r>
          </a:p>
        </p:txBody>
      </p:sp>
      <p:sp>
        <p:nvSpPr>
          <p:cNvPr id="204803" name="Rectangle 3"/>
          <p:cNvSpPr>
            <a:spLocks noGrp="1" noChangeArrowheads="1"/>
          </p:cNvSpPr>
          <p:nvPr>
            <p:ph type="body" idx="1"/>
          </p:nvPr>
        </p:nvSpPr>
        <p:spPr/>
        <p:txBody>
          <a:bodyPr/>
          <a:lstStyle/>
          <a:p>
            <a:pPr eaLnBrk="1" hangingPunct="1">
              <a:buFont typeface="Wingdings" pitchFamily="2" charset="2"/>
              <a:buNone/>
              <a:defRPr/>
            </a:pPr>
            <a:r>
              <a:rPr lang="en-US" sz="2800" dirty="0"/>
              <a:t>3.1. </a:t>
            </a:r>
            <a:r>
              <a:rPr lang="en-US" sz="2800" dirty="0" err="1"/>
              <a:t>Thiết</a:t>
            </a:r>
            <a:r>
              <a:rPr lang="en-US" sz="2800" dirty="0"/>
              <a:t> </a:t>
            </a:r>
            <a:r>
              <a:rPr lang="en-US" sz="2800" dirty="0" err="1"/>
              <a:t>kế</a:t>
            </a:r>
            <a:r>
              <a:rPr lang="en-US" sz="2800" dirty="0"/>
              <a:t> </a:t>
            </a:r>
            <a:r>
              <a:rPr lang="en-US" sz="2800" dirty="0" err="1"/>
              <a:t>thuật</a:t>
            </a:r>
            <a:r>
              <a:rPr lang="en-US" sz="2800" dirty="0"/>
              <a:t> </a:t>
            </a:r>
            <a:r>
              <a:rPr lang="en-US" sz="2800" dirty="0" err="1"/>
              <a:t>giải</a:t>
            </a:r>
            <a:endParaRPr lang="en-US" sz="2800" dirty="0"/>
          </a:p>
          <a:p>
            <a:pPr eaLnBrk="1" hangingPunct="1">
              <a:buFont typeface="Wingdings" pitchFamily="2" charset="2"/>
              <a:buNone/>
              <a:defRPr/>
            </a:pPr>
            <a:r>
              <a:rPr lang="en-US" sz="2400" dirty="0"/>
              <a:t>3.1.1. </a:t>
            </a:r>
            <a:r>
              <a:rPr lang="en-US" sz="2400" dirty="0" err="1"/>
              <a:t>Mô</a:t>
            </a:r>
            <a:r>
              <a:rPr lang="en-US" sz="2400" dirty="0"/>
              <a:t> </a:t>
            </a:r>
            <a:r>
              <a:rPr lang="en-US" sz="2400" dirty="0" err="1"/>
              <a:t>đun</a:t>
            </a:r>
            <a:r>
              <a:rPr lang="en-US" sz="2400" dirty="0"/>
              <a:t> </a:t>
            </a:r>
            <a:r>
              <a:rPr lang="en-US" sz="2400" dirty="0" err="1"/>
              <a:t>hóa</a:t>
            </a:r>
            <a:r>
              <a:rPr lang="en-US" sz="2400" dirty="0"/>
              <a:t> </a:t>
            </a:r>
            <a:r>
              <a:rPr lang="en-US" sz="2400" dirty="0" err="1"/>
              <a:t>việc</a:t>
            </a:r>
            <a:r>
              <a:rPr lang="en-US" sz="2400" dirty="0"/>
              <a:t> </a:t>
            </a:r>
            <a:r>
              <a:rPr lang="en-US" sz="2400" dirty="0" err="1"/>
              <a:t>giải</a:t>
            </a:r>
            <a:r>
              <a:rPr lang="en-US" sz="2400" dirty="0"/>
              <a:t> </a:t>
            </a:r>
            <a:r>
              <a:rPr lang="en-US" sz="2400" dirty="0" err="1"/>
              <a:t>quyết</a:t>
            </a:r>
            <a:r>
              <a:rPr lang="en-US" sz="2400" dirty="0"/>
              <a:t> </a:t>
            </a:r>
            <a:r>
              <a:rPr lang="en-US" sz="2400" dirty="0" err="1"/>
              <a:t>bài</a:t>
            </a:r>
            <a:r>
              <a:rPr lang="en-US" sz="2400" dirty="0"/>
              <a:t> </a:t>
            </a:r>
            <a:r>
              <a:rPr lang="en-US" sz="2400" dirty="0" err="1"/>
              <a:t>toán</a:t>
            </a:r>
            <a:endParaRPr lang="en-US" sz="2400" dirty="0"/>
          </a:p>
          <a:p>
            <a:pPr lvl="1" eaLnBrk="1" hangingPunct="1">
              <a:defRPr/>
            </a:pPr>
            <a:r>
              <a:rPr lang="en-US" sz="2400" dirty="0" err="1"/>
              <a:t>Khi</a:t>
            </a:r>
            <a:r>
              <a:rPr lang="en-US" sz="2400" dirty="0"/>
              <a:t> </a:t>
            </a:r>
            <a:r>
              <a:rPr lang="en-US" sz="2400" dirty="0" err="1"/>
              <a:t>thiết</a:t>
            </a:r>
            <a:r>
              <a:rPr lang="en-US" sz="2400" dirty="0"/>
              <a:t> </a:t>
            </a:r>
            <a:r>
              <a:rPr lang="en-US" sz="2400" dirty="0" err="1"/>
              <a:t>kế</a:t>
            </a:r>
            <a:r>
              <a:rPr lang="en-US" sz="2400" dirty="0"/>
              <a:t> </a:t>
            </a:r>
            <a:r>
              <a:rPr lang="en-US" sz="2400" dirty="0" err="1"/>
              <a:t>giải</a:t>
            </a:r>
            <a:r>
              <a:rPr lang="en-US" sz="2400" dirty="0"/>
              <a:t> </a:t>
            </a:r>
            <a:r>
              <a:rPr lang="en-US" sz="2400" dirty="0" err="1"/>
              <a:t>thuật</a:t>
            </a:r>
            <a:r>
              <a:rPr lang="en-US" sz="2400" dirty="0"/>
              <a:t> ta </a:t>
            </a:r>
            <a:r>
              <a:rPr lang="en-US" sz="2400" dirty="0" err="1"/>
              <a:t>sử</a:t>
            </a:r>
            <a:r>
              <a:rPr lang="en-US" sz="2400" dirty="0"/>
              <a:t> </a:t>
            </a:r>
            <a:r>
              <a:rPr lang="en-US" sz="2400" dirty="0" err="1"/>
              <a:t>dụng</a:t>
            </a:r>
            <a:r>
              <a:rPr lang="en-US" sz="2400" dirty="0"/>
              <a:t> </a:t>
            </a:r>
            <a:r>
              <a:rPr lang="en-US" sz="2400" dirty="0" err="1"/>
              <a:t>phương</a:t>
            </a:r>
            <a:r>
              <a:rPr lang="en-US" sz="2400" dirty="0"/>
              <a:t> </a:t>
            </a:r>
            <a:r>
              <a:rPr lang="en-US" sz="2400" dirty="0" err="1"/>
              <a:t>pháp</a:t>
            </a:r>
            <a:r>
              <a:rPr lang="en-US" sz="2400" dirty="0"/>
              <a:t> </a:t>
            </a:r>
            <a:r>
              <a:rPr lang="en-US" sz="2400" dirty="0" err="1"/>
              <a:t>mô</a:t>
            </a:r>
            <a:r>
              <a:rPr lang="en-US" sz="2400" dirty="0"/>
              <a:t> </a:t>
            </a:r>
            <a:r>
              <a:rPr lang="en-US" sz="2400" dirty="0" err="1"/>
              <a:t>đun</a:t>
            </a:r>
            <a:r>
              <a:rPr lang="en-US" sz="2400" dirty="0"/>
              <a:t> </a:t>
            </a:r>
            <a:r>
              <a:rPr lang="en-US" sz="2400" dirty="0" err="1"/>
              <a:t>hoá</a:t>
            </a:r>
            <a:r>
              <a:rPr lang="en-US" sz="2400" dirty="0"/>
              <a:t>. </a:t>
            </a:r>
            <a:r>
              <a:rPr lang="en-US" sz="2400" dirty="0" err="1"/>
              <a:t>Nội</a:t>
            </a:r>
            <a:r>
              <a:rPr lang="en-US" sz="2400" dirty="0"/>
              <a:t> dung </a:t>
            </a:r>
            <a:r>
              <a:rPr lang="en-US" sz="2400" dirty="0" err="1"/>
              <a:t>của</a:t>
            </a:r>
            <a:r>
              <a:rPr lang="en-US" sz="2400" dirty="0"/>
              <a:t> </a:t>
            </a:r>
            <a:r>
              <a:rPr lang="en-US" sz="2400" dirty="0" err="1"/>
              <a:t>phương</a:t>
            </a:r>
            <a:r>
              <a:rPr lang="en-US" sz="2400" dirty="0"/>
              <a:t> </a:t>
            </a:r>
            <a:r>
              <a:rPr lang="en-US" sz="2400" dirty="0" err="1"/>
              <a:t>pháp</a:t>
            </a:r>
            <a:r>
              <a:rPr lang="en-US" sz="2400" dirty="0"/>
              <a:t> </a:t>
            </a:r>
            <a:r>
              <a:rPr lang="en-US" sz="2400" dirty="0" err="1"/>
              <a:t>mô</a:t>
            </a:r>
            <a:r>
              <a:rPr lang="en-US" sz="2400" dirty="0"/>
              <a:t> </a:t>
            </a:r>
            <a:r>
              <a:rPr lang="en-US" sz="2400" dirty="0" err="1"/>
              <a:t>đun</a:t>
            </a:r>
            <a:r>
              <a:rPr lang="en-US" sz="2400" dirty="0"/>
              <a:t> </a:t>
            </a:r>
            <a:r>
              <a:rPr lang="en-US" sz="2400" dirty="0" err="1"/>
              <a:t>hoá</a:t>
            </a:r>
            <a:r>
              <a:rPr lang="en-US" sz="2400" dirty="0"/>
              <a:t> </a:t>
            </a:r>
            <a:r>
              <a:rPr lang="en-US" sz="2400" dirty="0" err="1"/>
              <a:t>là</a:t>
            </a:r>
            <a:r>
              <a:rPr lang="en-US" sz="2400" dirty="0"/>
              <a:t> </a:t>
            </a:r>
            <a:r>
              <a:rPr lang="en-US" sz="2400" err="1"/>
              <a:t>coi</a:t>
            </a:r>
            <a:r>
              <a:rPr lang="en-US" sz="2400"/>
              <a:t> cả bài </a:t>
            </a:r>
            <a:r>
              <a:rPr lang="en-US" sz="2400" dirty="0" err="1"/>
              <a:t>toán</a:t>
            </a:r>
            <a:r>
              <a:rPr lang="en-US" sz="2400" dirty="0"/>
              <a:t> </a:t>
            </a:r>
            <a:r>
              <a:rPr lang="en-US" sz="2400" dirty="0" err="1"/>
              <a:t>lớn</a:t>
            </a:r>
            <a:r>
              <a:rPr lang="en-US" sz="2400" dirty="0"/>
              <a:t> </a:t>
            </a:r>
            <a:r>
              <a:rPr lang="en-US" sz="2400" dirty="0" err="1"/>
              <a:t>như</a:t>
            </a:r>
            <a:r>
              <a:rPr lang="en-US" sz="2400" dirty="0"/>
              <a:t> </a:t>
            </a:r>
            <a:r>
              <a:rPr lang="en-US" sz="2400" dirty="0" err="1"/>
              <a:t>một</a:t>
            </a:r>
            <a:r>
              <a:rPr lang="en-US" sz="2400" dirty="0"/>
              <a:t> </a:t>
            </a:r>
            <a:r>
              <a:rPr lang="en-US" sz="2400" dirty="0" err="1"/>
              <a:t>mô</a:t>
            </a:r>
            <a:r>
              <a:rPr lang="en-US" sz="2400" dirty="0"/>
              <a:t> </a:t>
            </a:r>
            <a:r>
              <a:rPr lang="en-US" sz="2400" err="1"/>
              <a:t>đun</a:t>
            </a:r>
            <a:r>
              <a:rPr lang="en-US" sz="2400"/>
              <a:t> chính rồi </a:t>
            </a:r>
            <a:r>
              <a:rPr lang="en-US" sz="2400" dirty="0" err="1"/>
              <a:t>phân</a:t>
            </a:r>
            <a:r>
              <a:rPr lang="en-US" sz="2400" dirty="0"/>
              <a:t> chia </a:t>
            </a:r>
            <a:r>
              <a:rPr lang="en-US" sz="2400" dirty="0" err="1"/>
              <a:t>nó</a:t>
            </a:r>
            <a:r>
              <a:rPr lang="en-US" sz="2400" dirty="0"/>
              <a:t> </a:t>
            </a:r>
            <a:r>
              <a:rPr lang="en-US" sz="2400" dirty="0" err="1"/>
              <a:t>thành</a:t>
            </a:r>
            <a:r>
              <a:rPr lang="en-US" sz="2400" dirty="0"/>
              <a:t> </a:t>
            </a:r>
            <a:r>
              <a:rPr lang="en-US" sz="2400" dirty="0" err="1"/>
              <a:t>các</a:t>
            </a:r>
            <a:r>
              <a:rPr lang="en-US" sz="2400" dirty="0"/>
              <a:t> </a:t>
            </a:r>
            <a:r>
              <a:rPr lang="en-US" sz="2400" dirty="0" err="1"/>
              <a:t>mô</a:t>
            </a:r>
            <a:r>
              <a:rPr lang="en-US" sz="2400" dirty="0"/>
              <a:t> </a:t>
            </a:r>
            <a:r>
              <a:rPr lang="en-US" sz="2400" dirty="0" err="1"/>
              <a:t>đun</a:t>
            </a:r>
            <a:r>
              <a:rPr lang="en-US" sz="2400" dirty="0"/>
              <a:t> con, </a:t>
            </a:r>
            <a:r>
              <a:rPr lang="en-US" sz="2400" dirty="0" err="1"/>
              <a:t>mỗi</a:t>
            </a:r>
            <a:r>
              <a:rPr lang="en-US" sz="2400" dirty="0"/>
              <a:t> </a:t>
            </a:r>
            <a:r>
              <a:rPr lang="en-US" sz="2400" dirty="0" err="1"/>
              <a:t>mô</a:t>
            </a:r>
            <a:r>
              <a:rPr lang="en-US" sz="2400" dirty="0"/>
              <a:t> </a:t>
            </a:r>
            <a:r>
              <a:rPr lang="en-US" sz="2400" dirty="0" err="1"/>
              <a:t>đun</a:t>
            </a:r>
            <a:r>
              <a:rPr lang="en-US" sz="2400" dirty="0"/>
              <a:t> con </a:t>
            </a:r>
            <a:r>
              <a:rPr lang="en-US" sz="2400" dirty="0" err="1"/>
              <a:t>lại</a:t>
            </a:r>
            <a:r>
              <a:rPr lang="en-US" sz="2400" dirty="0"/>
              <a:t> </a:t>
            </a:r>
            <a:r>
              <a:rPr lang="en-US" sz="2400" dirty="0" err="1"/>
              <a:t>được</a:t>
            </a:r>
            <a:r>
              <a:rPr lang="en-US" sz="2400" dirty="0"/>
              <a:t> </a:t>
            </a:r>
            <a:r>
              <a:rPr lang="en-US" sz="2400" dirty="0" err="1"/>
              <a:t>phân</a:t>
            </a:r>
            <a:r>
              <a:rPr lang="en-US" sz="2400" dirty="0"/>
              <a:t> chia </a:t>
            </a:r>
            <a:r>
              <a:rPr lang="en-US" sz="2400" dirty="0" err="1"/>
              <a:t>tiếp</a:t>
            </a:r>
            <a:r>
              <a:rPr lang="en-US" sz="2400" dirty="0"/>
              <a:t>, </a:t>
            </a:r>
            <a:r>
              <a:rPr lang="en-US" sz="2400" dirty="0" err="1"/>
              <a:t>cho</a:t>
            </a:r>
            <a:r>
              <a:rPr lang="en-US" sz="2400" dirty="0"/>
              <a:t> </a:t>
            </a:r>
            <a:r>
              <a:rPr lang="en-US" sz="2400" dirty="0" err="1"/>
              <a:t>tới</a:t>
            </a:r>
            <a:r>
              <a:rPr lang="en-US" sz="2400" dirty="0"/>
              <a:t> </a:t>
            </a:r>
            <a:r>
              <a:rPr lang="en-US" sz="2400" dirty="0" err="1"/>
              <a:t>những</a:t>
            </a:r>
            <a:r>
              <a:rPr lang="en-US" sz="2400" dirty="0"/>
              <a:t> </a:t>
            </a:r>
            <a:r>
              <a:rPr lang="en-US" sz="2400" dirty="0" err="1"/>
              <a:t>mô</a:t>
            </a:r>
            <a:r>
              <a:rPr lang="en-US" sz="2400" dirty="0"/>
              <a:t> </a:t>
            </a:r>
            <a:r>
              <a:rPr lang="en-US" sz="2400" dirty="0" err="1"/>
              <a:t>đun</a:t>
            </a:r>
            <a:r>
              <a:rPr lang="en-US" sz="2400" dirty="0"/>
              <a:t> </a:t>
            </a:r>
            <a:r>
              <a:rPr lang="en-US" sz="2400" dirty="0" err="1"/>
              <a:t>ứng</a:t>
            </a:r>
            <a:r>
              <a:rPr lang="en-US" sz="2400" dirty="0"/>
              <a:t> </a:t>
            </a:r>
            <a:r>
              <a:rPr lang="en-US" sz="2400" dirty="0" err="1"/>
              <a:t>với</a:t>
            </a:r>
            <a:r>
              <a:rPr lang="en-US" sz="2400" dirty="0"/>
              <a:t> </a:t>
            </a:r>
            <a:r>
              <a:rPr lang="en-US" sz="2400" dirty="0" err="1"/>
              <a:t>các</a:t>
            </a:r>
            <a:r>
              <a:rPr lang="en-US" sz="2400" dirty="0"/>
              <a:t> </a:t>
            </a:r>
            <a:r>
              <a:rPr lang="en-US" sz="2400" dirty="0" err="1"/>
              <a:t>phần</a:t>
            </a:r>
            <a:r>
              <a:rPr lang="en-US" sz="2400" dirty="0"/>
              <a:t> </a:t>
            </a:r>
            <a:r>
              <a:rPr lang="en-US" sz="2400" dirty="0" err="1"/>
              <a:t>việc</a:t>
            </a:r>
            <a:r>
              <a:rPr lang="en-US" sz="2400" dirty="0"/>
              <a:t> </a:t>
            </a:r>
            <a:r>
              <a:rPr lang="en-US" sz="2400" dirty="0" err="1"/>
              <a:t>cơ</a:t>
            </a:r>
            <a:r>
              <a:rPr lang="en-US" sz="2400" dirty="0"/>
              <a:t> </a:t>
            </a:r>
            <a:r>
              <a:rPr lang="en-US" sz="2400" dirty="0" err="1"/>
              <a:t>bản</a:t>
            </a:r>
            <a:r>
              <a:rPr lang="en-US" sz="2400" dirty="0"/>
              <a:t> </a:t>
            </a:r>
            <a:r>
              <a:rPr lang="en-US" sz="2400" dirty="0" err="1"/>
              <a:t>mà</a:t>
            </a:r>
            <a:r>
              <a:rPr lang="en-US" sz="2400" dirty="0"/>
              <a:t> ta </a:t>
            </a:r>
            <a:r>
              <a:rPr lang="en-US" sz="2400" dirty="0" err="1"/>
              <a:t>đã</a:t>
            </a:r>
            <a:r>
              <a:rPr lang="en-US" sz="2400" dirty="0"/>
              <a:t> </a:t>
            </a:r>
            <a:r>
              <a:rPr lang="en-US" sz="2400" dirty="0" err="1"/>
              <a:t>biết</a:t>
            </a:r>
            <a:r>
              <a:rPr lang="en-US" sz="2400" dirty="0"/>
              <a:t> </a:t>
            </a:r>
            <a:r>
              <a:rPr lang="en-US" sz="2400" dirty="0" err="1"/>
              <a:t>cách</a:t>
            </a:r>
            <a:r>
              <a:rPr lang="en-US" sz="2400" dirty="0"/>
              <a:t> </a:t>
            </a:r>
            <a:r>
              <a:rPr lang="en-US" sz="2400" dirty="0" err="1"/>
              <a:t>giải</a:t>
            </a:r>
            <a:r>
              <a:rPr lang="en-US" sz="2400" dirty="0"/>
              <a:t> </a:t>
            </a:r>
            <a:r>
              <a:rPr lang="en-US" sz="2400" dirty="0" err="1"/>
              <a:t>quyết</a:t>
            </a:r>
            <a:r>
              <a:rPr lang="en-US" sz="2400" dirty="0"/>
              <a:t>.</a:t>
            </a:r>
          </a:p>
          <a:p>
            <a:pPr lvl="1" eaLnBrk="1" hangingPunct="1">
              <a:defRPr/>
            </a:pPr>
            <a:r>
              <a:rPr lang="en-US" sz="2400" dirty="0" err="1"/>
              <a:t>Với</a:t>
            </a:r>
            <a:r>
              <a:rPr lang="en-US" sz="2400" dirty="0"/>
              <a:t> </a:t>
            </a:r>
            <a:r>
              <a:rPr lang="en-US" sz="2400" dirty="0" err="1"/>
              <a:t>phương</a:t>
            </a:r>
            <a:r>
              <a:rPr lang="en-US" sz="2400" dirty="0"/>
              <a:t> </a:t>
            </a:r>
            <a:r>
              <a:rPr lang="en-US" sz="2400" dirty="0" err="1"/>
              <a:t>pháp</a:t>
            </a:r>
            <a:r>
              <a:rPr lang="en-US" sz="2400" dirty="0"/>
              <a:t> </a:t>
            </a:r>
            <a:r>
              <a:rPr lang="en-US" sz="2400" dirty="0" err="1"/>
              <a:t>mô</a:t>
            </a:r>
            <a:r>
              <a:rPr lang="en-US" sz="2400" dirty="0"/>
              <a:t> </a:t>
            </a:r>
            <a:r>
              <a:rPr lang="en-US" sz="2400" dirty="0" err="1"/>
              <a:t>đun</a:t>
            </a:r>
            <a:r>
              <a:rPr lang="en-US" sz="2400" dirty="0"/>
              <a:t> </a:t>
            </a:r>
            <a:r>
              <a:rPr lang="en-US" sz="2400" dirty="0" err="1"/>
              <a:t>hoá</a:t>
            </a:r>
            <a:r>
              <a:rPr lang="en-US" sz="2400" dirty="0"/>
              <a:t> </a:t>
            </a:r>
            <a:r>
              <a:rPr lang="en-US" sz="2400" dirty="0" err="1"/>
              <a:t>bài</a:t>
            </a:r>
            <a:r>
              <a:rPr lang="en-US" sz="2400" dirty="0"/>
              <a:t> </a:t>
            </a:r>
            <a:r>
              <a:rPr lang="en-US" sz="2400" dirty="0" err="1"/>
              <a:t>toán</a:t>
            </a:r>
            <a:r>
              <a:rPr lang="en-US" sz="2400" dirty="0"/>
              <a:t> </a:t>
            </a:r>
            <a:r>
              <a:rPr lang="en-US" sz="2400" dirty="0" err="1"/>
              <a:t>thì</a:t>
            </a:r>
            <a:r>
              <a:rPr lang="en-US" sz="2400" dirty="0"/>
              <a:t> </a:t>
            </a:r>
            <a:r>
              <a:rPr lang="en-US" sz="2400" dirty="0" err="1"/>
              <a:t>lời</a:t>
            </a:r>
            <a:r>
              <a:rPr lang="en-US" sz="2400" dirty="0"/>
              <a:t> </a:t>
            </a:r>
            <a:r>
              <a:rPr lang="en-US" sz="2400" dirty="0" err="1"/>
              <a:t>giải</a:t>
            </a:r>
            <a:r>
              <a:rPr lang="en-US" sz="2400" dirty="0"/>
              <a:t> </a:t>
            </a:r>
            <a:r>
              <a:rPr lang="en-US" sz="2400" dirty="0" err="1"/>
              <a:t>của</a:t>
            </a:r>
            <a:r>
              <a:rPr lang="en-US" sz="2400" dirty="0"/>
              <a:t> </a:t>
            </a:r>
            <a:r>
              <a:rPr lang="en-US" sz="2400" dirty="0" err="1"/>
              <a:t>bài</a:t>
            </a:r>
            <a:r>
              <a:rPr lang="en-US" sz="2400" dirty="0"/>
              <a:t> </a:t>
            </a:r>
            <a:r>
              <a:rPr lang="en-US" sz="2400" dirty="0" err="1"/>
              <a:t>toán</a:t>
            </a:r>
            <a:r>
              <a:rPr lang="en-US" sz="2400" dirty="0"/>
              <a:t> </a:t>
            </a:r>
            <a:r>
              <a:rPr lang="en-US" sz="2400" dirty="0" err="1"/>
              <a:t>được</a:t>
            </a:r>
            <a:r>
              <a:rPr lang="en-US" sz="2400" dirty="0"/>
              <a:t> </a:t>
            </a:r>
            <a:r>
              <a:rPr lang="en-US" sz="2400" dirty="0" err="1"/>
              <a:t>tổ</a:t>
            </a:r>
            <a:r>
              <a:rPr lang="en-US" sz="2400" dirty="0"/>
              <a:t> </a:t>
            </a:r>
            <a:r>
              <a:rPr lang="en-US" sz="2400" dirty="0" err="1"/>
              <a:t>chức</a:t>
            </a:r>
            <a:r>
              <a:rPr lang="en-US" sz="2400" dirty="0"/>
              <a:t> </a:t>
            </a:r>
            <a:r>
              <a:rPr lang="en-US" sz="2400" dirty="0" err="1"/>
              <a:t>theo</a:t>
            </a:r>
            <a:r>
              <a:rPr lang="en-US" sz="2400" dirty="0"/>
              <a:t> </a:t>
            </a:r>
            <a:r>
              <a:rPr lang="en-US" sz="2400" dirty="0" err="1"/>
              <a:t>cấu</a:t>
            </a:r>
            <a:r>
              <a:rPr lang="en-US" sz="2400" dirty="0"/>
              <a:t> </a:t>
            </a:r>
            <a:r>
              <a:rPr lang="en-US" sz="2400" dirty="0" err="1"/>
              <a:t>trúc</a:t>
            </a:r>
            <a:r>
              <a:rPr lang="en-US" sz="2400" dirty="0"/>
              <a:t> </a:t>
            </a:r>
            <a:r>
              <a:rPr lang="en-US" sz="2400" dirty="0" err="1"/>
              <a:t>cây</a:t>
            </a:r>
            <a:r>
              <a:rPr lang="en-US" sz="2400" dirty="0"/>
              <a:t> (</a:t>
            </a:r>
            <a:r>
              <a:rPr lang="en-US" sz="2400" dirty="0" err="1"/>
              <a:t>phân</a:t>
            </a:r>
            <a:r>
              <a:rPr lang="en-US" sz="2400" dirty="0"/>
              <a:t> </a:t>
            </a:r>
            <a:r>
              <a:rPr lang="en-US" sz="2400" dirty="0" err="1"/>
              <a:t>cấp</a:t>
            </a:r>
            <a:r>
              <a:rPr lang="en-US" sz="2400" dirty="0"/>
              <a:t>) </a:t>
            </a:r>
            <a:r>
              <a:rPr lang="en-US" sz="2400" dirty="0" err="1"/>
              <a:t>có</a:t>
            </a:r>
            <a:r>
              <a:rPr lang="en-US" sz="2400" dirty="0"/>
              <a:t> </a:t>
            </a:r>
            <a:r>
              <a:rPr lang="en-US" sz="2400" dirty="0" err="1"/>
              <a:t>dạng</a:t>
            </a:r>
            <a:r>
              <a:rPr lang="en-US" sz="2400" dirty="0"/>
              <a:t> </a:t>
            </a:r>
            <a:r>
              <a:rPr lang="en-US" sz="2400" dirty="0" err="1"/>
              <a:t>như</a:t>
            </a:r>
            <a:r>
              <a:rPr lang="en-US" sz="2400" dirty="0"/>
              <a:t> </a:t>
            </a:r>
            <a:r>
              <a:rPr lang="en-US" sz="2400" dirty="0" err="1"/>
              <a:t>sau</a:t>
            </a:r>
            <a:r>
              <a:rPr lang="en-US" sz="2400" dirty="0"/>
              <a:t>:</a:t>
            </a:r>
          </a:p>
        </p:txBody>
      </p:sp>
    </p:spTree>
    <p:extLst>
      <p:ext uri="{BB962C8B-B14F-4D97-AF65-F5344CB8AC3E}">
        <p14:creationId xmlns:p14="http://schemas.microsoft.com/office/powerpoint/2010/main" val="1842176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DC146EFA-E5DA-4474-92F6-7DAA117FEAC1}" type="slidenum">
              <a:rPr lang="en-US"/>
              <a:pPr>
                <a:defRPr/>
              </a:pPr>
              <a:t>3</a:t>
            </a:fld>
            <a:endParaRPr lang="en-US"/>
          </a:p>
        </p:txBody>
      </p:sp>
      <p:sp>
        <p:nvSpPr>
          <p:cNvPr id="205826" name="Rectangle 2"/>
          <p:cNvSpPr>
            <a:spLocks noGrp="1" noChangeArrowheads="1"/>
          </p:cNvSpPr>
          <p:nvPr>
            <p:ph type="title"/>
          </p:nvPr>
        </p:nvSpPr>
        <p:spPr/>
        <p:txBody>
          <a:bodyPr/>
          <a:lstStyle/>
          <a:p>
            <a:pPr eaLnBrk="1" hangingPunct="1">
              <a:defRPr/>
            </a:pPr>
            <a:r>
              <a:rPr lang="en-US" sz="3600"/>
              <a:t>3.1.1. Mô đun hóa và việc giải quyết bài toán</a:t>
            </a:r>
          </a:p>
        </p:txBody>
      </p:sp>
      <p:pic>
        <p:nvPicPr>
          <p:cNvPr id="34822" name="Picture 4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1775" y="1960563"/>
            <a:ext cx="8686800" cy="3941762"/>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B1D9CB43-BAE2-48F1-95B1-6D9097A3ECD4}" type="slidenum">
              <a:rPr lang="en-US"/>
              <a:pPr>
                <a:defRPr/>
              </a:pPr>
              <a:t>4</a:t>
            </a:fld>
            <a:endParaRPr lang="en-US"/>
          </a:p>
        </p:txBody>
      </p:sp>
      <p:sp>
        <p:nvSpPr>
          <p:cNvPr id="208898" name="Rectangle 2"/>
          <p:cNvSpPr>
            <a:spLocks noGrp="1" noChangeArrowheads="1"/>
          </p:cNvSpPr>
          <p:nvPr>
            <p:ph type="title"/>
          </p:nvPr>
        </p:nvSpPr>
        <p:spPr/>
        <p:txBody>
          <a:bodyPr/>
          <a:lstStyle/>
          <a:p>
            <a:pPr eaLnBrk="1" hangingPunct="1">
              <a:defRPr/>
            </a:pPr>
            <a:r>
              <a:rPr lang="en-US" sz="3200"/>
              <a:t>3.1.1. Mô đun hóa việc giải quyết bài toán (</a:t>
            </a:r>
            <a:r>
              <a:rPr lang="en-US" sz="3200" i="1"/>
              <a:t>tiếp</a:t>
            </a:r>
            <a:r>
              <a:rPr lang="en-US" sz="3200"/>
              <a:t>)</a:t>
            </a:r>
          </a:p>
        </p:txBody>
      </p:sp>
      <p:sp>
        <p:nvSpPr>
          <p:cNvPr id="208899" name="Rectangle 3"/>
          <p:cNvSpPr>
            <a:spLocks noGrp="1" noChangeArrowheads="1"/>
          </p:cNvSpPr>
          <p:nvPr>
            <p:ph type="body" idx="1"/>
          </p:nvPr>
        </p:nvSpPr>
        <p:spPr/>
        <p:txBody>
          <a:bodyPr/>
          <a:lstStyle/>
          <a:p>
            <a:pPr eaLnBrk="1" hangingPunct="1">
              <a:defRPr/>
            </a:pPr>
            <a:r>
              <a:rPr lang="en-US" sz="2800"/>
              <a:t>Chiến thuật giải quyết bài toán là chiến thuật “ chia để trị”, để thể hiện chiến thuật đó người ta dùng cách thiết kế  “từ đỉnh xuống” (Top - Down).</a:t>
            </a:r>
          </a:p>
          <a:p>
            <a:pPr eaLnBrk="1" hangingPunct="1">
              <a:defRPr/>
            </a:pPr>
            <a:r>
              <a:rPr lang="en-US" sz="2800"/>
              <a:t>Cách thiết kế Top - Down hay thiết kế từ khái quát đến đến chi tiết thể hiện như sau: Phân tích tổng quát toàn bộ vấn đề xuất phát từ dữ liệu và mục tiêu đề ra, đề cập đến vấn đề chủ yếu, rồi sau đó mới đi dần vào giải quyết các vấn đề cụ thể một cách chi tiết hơn.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B281D0FF-5961-42BC-AF1C-5E5603B9FF46}" type="slidenum">
              <a:rPr lang="en-US"/>
              <a:pPr>
                <a:defRPr/>
              </a:pPr>
              <a:t>5</a:t>
            </a:fld>
            <a:endParaRPr lang="en-US"/>
          </a:p>
        </p:txBody>
      </p:sp>
      <p:sp>
        <p:nvSpPr>
          <p:cNvPr id="209922" name="Rectangle 2"/>
          <p:cNvSpPr>
            <a:spLocks noGrp="1" noChangeArrowheads="1"/>
          </p:cNvSpPr>
          <p:nvPr>
            <p:ph type="title"/>
          </p:nvPr>
        </p:nvSpPr>
        <p:spPr/>
        <p:txBody>
          <a:bodyPr/>
          <a:lstStyle/>
          <a:p>
            <a:pPr eaLnBrk="1" hangingPunct="1">
              <a:defRPr/>
            </a:pPr>
            <a:r>
              <a:rPr lang="en-US" sz="3200"/>
              <a:t>3.1.1. Mô đun hóa việc giải quyết bài toán (</a:t>
            </a:r>
            <a:r>
              <a:rPr lang="en-US" sz="3200" i="1"/>
              <a:t>tiếp</a:t>
            </a:r>
            <a:r>
              <a:rPr lang="en-US" sz="3200"/>
              <a:t>)</a:t>
            </a:r>
          </a:p>
        </p:txBody>
      </p:sp>
      <p:sp>
        <p:nvSpPr>
          <p:cNvPr id="209923" name="Rectangle 3"/>
          <p:cNvSpPr>
            <a:spLocks noGrp="1" noChangeArrowheads="1"/>
          </p:cNvSpPr>
          <p:nvPr>
            <p:ph type="body" idx="1"/>
          </p:nvPr>
        </p:nvSpPr>
        <p:spPr/>
        <p:txBody>
          <a:bodyPr/>
          <a:lstStyle/>
          <a:p>
            <a:pPr eaLnBrk="1" hangingPunct="1">
              <a:lnSpc>
                <a:spcPct val="90000"/>
              </a:lnSpc>
              <a:defRPr/>
            </a:pPr>
            <a:r>
              <a:rPr lang="en-US" sz="2800"/>
              <a:t>Ví dụ: Bài toán đặt ra là dùng máy vi tính để quản lý lương của cán bộ trong xí nghiệp.</a:t>
            </a:r>
          </a:p>
          <a:p>
            <a:pPr eaLnBrk="1" hangingPunct="1">
              <a:lnSpc>
                <a:spcPct val="90000"/>
              </a:lnSpc>
              <a:defRPr/>
            </a:pPr>
            <a:r>
              <a:rPr lang="en-US" sz="2800"/>
              <a:t>Phân tích tổng quát bài toán:</a:t>
            </a:r>
          </a:p>
          <a:p>
            <a:pPr lvl="1" eaLnBrk="1" hangingPunct="1">
              <a:lnSpc>
                <a:spcPct val="90000"/>
              </a:lnSpc>
              <a:defRPr/>
            </a:pPr>
            <a:r>
              <a:rPr lang="en-US" sz="2400"/>
              <a:t>Dữ liệu vào là một tệp hồ sơ về lương, bao gồm các bản ghi chứa các thông tin về lương của cán bộ. Bản ghi gồm các trường: mã, họ và tên, đơn vị, hệ số lương, phụ cấp, nợ.</a:t>
            </a:r>
          </a:p>
          <a:p>
            <a:pPr lvl="1" eaLnBrk="1" hangingPunct="1">
              <a:lnSpc>
                <a:spcPct val="90000"/>
              </a:lnSpc>
              <a:defRPr/>
            </a:pPr>
            <a:r>
              <a:rPr lang="en-US" sz="2400"/>
              <a:t>Chương trình lập ra phải cho người sử dụng thực hiện được các công việc chính sau:</a:t>
            </a:r>
          </a:p>
          <a:p>
            <a:pPr lvl="2" eaLnBrk="1" hangingPunct="1">
              <a:lnSpc>
                <a:spcPct val="90000"/>
              </a:lnSpc>
              <a:buFont typeface="Wingdings" pitchFamily="2" charset="2"/>
              <a:buNone/>
              <a:defRPr/>
            </a:pPr>
            <a:r>
              <a:rPr lang="en-US" sz="2000"/>
              <a:t>1. Tìm kiếm thông tin</a:t>
            </a:r>
          </a:p>
          <a:p>
            <a:pPr lvl="2" eaLnBrk="1" hangingPunct="1">
              <a:lnSpc>
                <a:spcPct val="90000"/>
              </a:lnSpc>
              <a:buFont typeface="Wingdings" pitchFamily="2" charset="2"/>
              <a:buNone/>
              <a:defRPr/>
            </a:pPr>
            <a:r>
              <a:rPr lang="en-US" sz="2000"/>
              <a:t>2. Cập nhật thông tin</a:t>
            </a:r>
          </a:p>
          <a:p>
            <a:pPr lvl="2" eaLnBrk="1" hangingPunct="1">
              <a:lnSpc>
                <a:spcPct val="90000"/>
              </a:lnSpc>
              <a:buFont typeface="Wingdings" pitchFamily="2" charset="2"/>
              <a:buNone/>
              <a:defRPr/>
            </a:pPr>
            <a:r>
              <a:rPr lang="en-US" sz="2000"/>
              <a:t>3. In các bảng tổng hợp lương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6FB61923-DB52-4279-8986-9F38604309FE}" type="slidenum">
              <a:rPr lang="en-US"/>
              <a:pPr>
                <a:defRPr/>
              </a:pPr>
              <a:t>6</a:t>
            </a:fld>
            <a:endParaRPr lang="en-US"/>
          </a:p>
        </p:txBody>
      </p:sp>
      <p:sp>
        <p:nvSpPr>
          <p:cNvPr id="211970" name="Rectangle 2"/>
          <p:cNvSpPr>
            <a:spLocks noGrp="1" noChangeArrowheads="1"/>
          </p:cNvSpPr>
          <p:nvPr>
            <p:ph type="title"/>
          </p:nvPr>
        </p:nvSpPr>
        <p:spPr/>
        <p:txBody>
          <a:bodyPr/>
          <a:lstStyle/>
          <a:p>
            <a:pPr eaLnBrk="1" hangingPunct="1">
              <a:defRPr/>
            </a:pPr>
            <a:r>
              <a:rPr lang="en-US" sz="3200"/>
              <a:t>3.1.1. Mô đun hóa việc giải quyết bài toán (</a:t>
            </a:r>
            <a:r>
              <a:rPr lang="en-US" sz="3200" i="1"/>
              <a:t>tiếp</a:t>
            </a:r>
            <a:r>
              <a:rPr lang="en-US" sz="3200"/>
              <a:t>)</a:t>
            </a:r>
          </a:p>
        </p:txBody>
      </p:sp>
      <p:sp>
        <p:nvSpPr>
          <p:cNvPr id="211971" name="Rectangle 3"/>
          <p:cNvSpPr>
            <a:spLocks noGrp="1" noChangeArrowheads="1"/>
          </p:cNvSpPr>
          <p:nvPr>
            <p:ph type="body" idx="1"/>
          </p:nvPr>
        </p:nvSpPr>
        <p:spPr/>
        <p:txBody>
          <a:bodyPr/>
          <a:lstStyle/>
          <a:p>
            <a:pPr eaLnBrk="1" hangingPunct="1">
              <a:defRPr/>
            </a:pPr>
            <a:r>
              <a:rPr lang="en-US"/>
              <a:t>Xuất phát từ phân tích tổng quát ở trên ta thấy thuật giải xử lý phải giải quyết được 3 vấn đề sau:</a:t>
            </a:r>
          </a:p>
          <a:p>
            <a:pPr lvl="1" eaLnBrk="1" hangingPunct="1">
              <a:buFont typeface="Wingdings" pitchFamily="2" charset="2"/>
              <a:buNone/>
              <a:defRPr/>
            </a:pPr>
            <a:r>
              <a:rPr lang="en-US"/>
              <a:t>1. Đọc tệp: Đọc thông tin từ đĩa từ vào bộ nhớ</a:t>
            </a:r>
          </a:p>
          <a:p>
            <a:pPr lvl="1" eaLnBrk="1" hangingPunct="1">
              <a:buFont typeface="Wingdings" pitchFamily="2" charset="2"/>
              <a:buNone/>
              <a:defRPr/>
            </a:pPr>
            <a:r>
              <a:rPr lang="en-US"/>
              <a:t>2. Xử lý tệp: Xử lý các thông tin để đưa ra kết quả mong muốn</a:t>
            </a:r>
          </a:p>
          <a:p>
            <a:pPr lvl="1" eaLnBrk="1" hangingPunct="1">
              <a:buFont typeface="Wingdings" pitchFamily="2" charset="2"/>
              <a:buNone/>
              <a:defRPr/>
            </a:pPr>
            <a:r>
              <a:rPr lang="en-US"/>
              <a:t>3. Ghi tệp: Lưu trữ thông tin mới nhất vào tệp.</a:t>
            </a:r>
          </a:p>
          <a:p>
            <a:pPr eaLnBrk="1" hangingPunct="1">
              <a:buFont typeface="Wingdings" pitchFamily="2" charset="2"/>
              <a:buNone/>
              <a:defRPr/>
            </a:pPr>
            <a:r>
              <a:rPr lang="en-US"/>
              <a:t>	Trên cơ sở này ta đưa ra sơ đồ giải thuật tổng quát như sau: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0C11215C-6DF5-4E54-A95A-85C46A68825B}" type="slidenum">
              <a:rPr lang="en-US"/>
              <a:pPr>
                <a:defRPr/>
              </a:pPr>
              <a:t>7</a:t>
            </a:fld>
            <a:endParaRPr lang="en-US"/>
          </a:p>
        </p:txBody>
      </p:sp>
      <p:sp>
        <p:nvSpPr>
          <p:cNvPr id="212994" name="Rectangle 2"/>
          <p:cNvSpPr>
            <a:spLocks noGrp="1" noChangeArrowheads="1"/>
          </p:cNvSpPr>
          <p:nvPr>
            <p:ph type="title"/>
          </p:nvPr>
        </p:nvSpPr>
        <p:spPr/>
        <p:txBody>
          <a:bodyPr/>
          <a:lstStyle/>
          <a:p>
            <a:pPr eaLnBrk="1" hangingPunct="1">
              <a:defRPr/>
            </a:pPr>
            <a:r>
              <a:rPr lang="en-US"/>
              <a:t>Sơ đồ giải thuật tổng quát</a:t>
            </a:r>
          </a:p>
        </p:txBody>
      </p:sp>
      <p:pic>
        <p:nvPicPr>
          <p:cNvPr id="38918"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0988" y="1897063"/>
            <a:ext cx="8672512" cy="277495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2BA5F9A9-98A3-435C-9A05-6326784A3460}" type="slidenum">
              <a:rPr lang="en-US"/>
              <a:pPr>
                <a:defRPr/>
              </a:pPr>
              <a:t>8</a:t>
            </a:fld>
            <a:endParaRPr lang="en-US"/>
          </a:p>
        </p:txBody>
      </p:sp>
      <p:sp>
        <p:nvSpPr>
          <p:cNvPr id="215042" name="Rectangle 2"/>
          <p:cNvSpPr>
            <a:spLocks noGrp="1" noChangeArrowheads="1"/>
          </p:cNvSpPr>
          <p:nvPr>
            <p:ph type="title"/>
          </p:nvPr>
        </p:nvSpPr>
        <p:spPr/>
        <p:txBody>
          <a:bodyPr/>
          <a:lstStyle/>
          <a:p>
            <a:pPr eaLnBrk="1" hangingPunct="1">
              <a:defRPr/>
            </a:pPr>
            <a:r>
              <a:rPr lang="en-US"/>
              <a:t>Ví dụ (</a:t>
            </a:r>
            <a:r>
              <a:rPr lang="en-US" i="1"/>
              <a:t>tiếp</a:t>
            </a:r>
            <a:r>
              <a:rPr lang="en-US"/>
              <a:t>)</a:t>
            </a:r>
          </a:p>
        </p:txBody>
      </p:sp>
      <p:sp>
        <p:nvSpPr>
          <p:cNvPr id="215043" name="Rectangle 3"/>
          <p:cNvSpPr>
            <a:spLocks noGrp="1" noChangeArrowheads="1"/>
          </p:cNvSpPr>
          <p:nvPr>
            <p:ph type="body" idx="1"/>
          </p:nvPr>
        </p:nvSpPr>
        <p:spPr/>
        <p:txBody>
          <a:bodyPr/>
          <a:lstStyle/>
          <a:p>
            <a:pPr eaLnBrk="1" hangingPunct="1">
              <a:lnSpc>
                <a:spcPct val="90000"/>
              </a:lnSpc>
              <a:defRPr/>
            </a:pPr>
            <a:r>
              <a:rPr lang="en-US"/>
              <a:t>Các nhiệm vụ trên còn phức tạp, cần phải phân chia ra thành các nhiệm vụ con. Chẳng hạn nhiệm vụ “ XỬ LÝ TÊP” được phân chia ra thành 3 nhiệm vụ con:</a:t>
            </a:r>
          </a:p>
          <a:p>
            <a:pPr lvl="1" eaLnBrk="1" hangingPunct="1">
              <a:lnSpc>
                <a:spcPct val="90000"/>
              </a:lnSpc>
              <a:buFont typeface="Wingdings" pitchFamily="2" charset="2"/>
              <a:buNone/>
              <a:defRPr/>
            </a:pPr>
            <a:r>
              <a:rPr lang="en-US"/>
              <a:t>1. Tìm kiếm bản ghi</a:t>
            </a:r>
          </a:p>
          <a:p>
            <a:pPr lvl="1" eaLnBrk="1" hangingPunct="1">
              <a:lnSpc>
                <a:spcPct val="90000"/>
              </a:lnSpc>
              <a:buFont typeface="Wingdings" pitchFamily="2" charset="2"/>
              <a:buNone/>
              <a:defRPr/>
            </a:pPr>
            <a:r>
              <a:rPr lang="en-US"/>
              <a:t>2. Cập nhật bản ghi</a:t>
            </a:r>
          </a:p>
          <a:p>
            <a:pPr lvl="1" eaLnBrk="1" hangingPunct="1">
              <a:lnSpc>
                <a:spcPct val="90000"/>
              </a:lnSpc>
              <a:buFont typeface="Wingdings" pitchFamily="2" charset="2"/>
              <a:buNone/>
              <a:defRPr/>
            </a:pPr>
            <a:r>
              <a:rPr lang="en-US"/>
              <a:t>3. In bản lương</a:t>
            </a:r>
          </a:p>
          <a:p>
            <a:pPr eaLnBrk="1" hangingPunct="1">
              <a:lnSpc>
                <a:spcPct val="90000"/>
              </a:lnSpc>
              <a:buFont typeface="Wingdings" pitchFamily="2" charset="2"/>
              <a:buNone/>
              <a:defRPr/>
            </a:pPr>
            <a:r>
              <a:rPr lang="en-US"/>
              <a:t>	Những nhiệm vụ con lại được chia ra thành các nhiệm vụ nhỏ hơn theo sơ đồ sau: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9FA4FFEF-A401-4FDE-B488-2BE2299949B5}" type="slidenum">
              <a:rPr lang="en-US"/>
              <a:pPr>
                <a:defRPr/>
              </a:pPr>
              <a:t>9</a:t>
            </a:fld>
            <a:endParaRPr lang="en-US"/>
          </a:p>
        </p:txBody>
      </p:sp>
      <p:sp>
        <p:nvSpPr>
          <p:cNvPr id="216066" name="Rectangle 2"/>
          <p:cNvSpPr>
            <a:spLocks noGrp="1" noChangeArrowheads="1"/>
          </p:cNvSpPr>
          <p:nvPr>
            <p:ph type="title"/>
          </p:nvPr>
        </p:nvSpPr>
        <p:spPr/>
        <p:txBody>
          <a:bodyPr/>
          <a:lstStyle/>
          <a:p>
            <a:pPr eaLnBrk="1" hangingPunct="1">
              <a:defRPr/>
            </a:pPr>
            <a:r>
              <a:rPr lang="en-US"/>
              <a:t>Sơ đồ giải thuật chi tiết</a:t>
            </a:r>
          </a:p>
        </p:txBody>
      </p:sp>
      <p:pic>
        <p:nvPicPr>
          <p:cNvPr id="40966"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4475" y="1831975"/>
            <a:ext cx="8715375" cy="3981450"/>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4A6DFB41-C42F-42C8-8903-298B93E21E96}" type="slidenum">
              <a:rPr lang="en-US"/>
              <a:pPr>
                <a:defRPr/>
              </a:pPr>
              <a:t>10</a:t>
            </a:fld>
            <a:endParaRPr lang="en-US"/>
          </a:p>
        </p:txBody>
      </p:sp>
      <p:sp>
        <p:nvSpPr>
          <p:cNvPr id="218114" name="Rectangle 2"/>
          <p:cNvSpPr>
            <a:spLocks noGrp="1" noChangeArrowheads="1"/>
          </p:cNvSpPr>
          <p:nvPr>
            <p:ph type="title"/>
          </p:nvPr>
        </p:nvSpPr>
        <p:spPr/>
        <p:txBody>
          <a:bodyPr/>
          <a:lstStyle/>
          <a:p>
            <a:pPr eaLnBrk="1" hangingPunct="1">
              <a:defRPr/>
            </a:pPr>
            <a:r>
              <a:rPr lang="en-US" sz="3200"/>
              <a:t>3.1.1. Mô đun hóa việc giải quyết bài toán (</a:t>
            </a:r>
            <a:r>
              <a:rPr lang="en-US" sz="3200" i="1"/>
              <a:t>tiếp</a:t>
            </a:r>
            <a:r>
              <a:rPr lang="en-US" sz="3200"/>
              <a:t>)</a:t>
            </a:r>
          </a:p>
        </p:txBody>
      </p:sp>
      <p:sp>
        <p:nvSpPr>
          <p:cNvPr id="218115" name="Rectangle 3"/>
          <p:cNvSpPr>
            <a:spLocks noGrp="1" noChangeArrowheads="1"/>
          </p:cNvSpPr>
          <p:nvPr>
            <p:ph type="body" idx="1"/>
          </p:nvPr>
        </p:nvSpPr>
        <p:spPr/>
        <p:txBody>
          <a:bodyPr/>
          <a:lstStyle/>
          <a:p>
            <a:pPr eaLnBrk="1" hangingPunct="1">
              <a:defRPr/>
            </a:pPr>
            <a:r>
              <a:rPr lang="en-US" sz="2800"/>
              <a:t>Ưu điểm của cách thiết kế Top - Down:</a:t>
            </a:r>
          </a:p>
          <a:p>
            <a:pPr lvl="1" eaLnBrk="1" hangingPunct="1">
              <a:defRPr/>
            </a:pPr>
            <a:r>
              <a:rPr lang="en-US" sz="2400"/>
              <a:t>Giải quyết bài toán có định hướng, tránh sa đà vào các chi tiết phụ.</a:t>
            </a:r>
          </a:p>
          <a:p>
            <a:pPr lvl="1" eaLnBrk="1" hangingPunct="1">
              <a:defRPr/>
            </a:pPr>
            <a:r>
              <a:rPr lang="en-US" sz="2400"/>
              <a:t>Làm nền tảng cho lập trình có cấu trúc.</a:t>
            </a:r>
          </a:p>
          <a:p>
            <a:pPr lvl="1" eaLnBrk="1" hangingPunct="1">
              <a:defRPr/>
            </a:pPr>
            <a:r>
              <a:rPr lang="en-US" sz="2400"/>
              <a:t>Bài toán do nhiều người cùng làm, phương pháp mô đun hoá tách bài toán thành nhiều bài toán con tạo cho các nhóm làm việc độc lập, không ảnh hưởng đến nhóm khác.</a:t>
            </a:r>
          </a:p>
          <a:p>
            <a:pPr lvl="1" eaLnBrk="1" hangingPunct="1">
              <a:defRPr/>
            </a:pPr>
            <a:r>
              <a:rPr lang="en-US" sz="2400"/>
              <a:t>Chương trình xây dựng trên giải thuật thiết kế theo kiểu Top - Down dễ dàng trong chỉnh sửa.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3AE96B2D-67F9-41AB-8FBE-61BA3546BA61}" type="slidenum">
              <a:rPr lang="en-US"/>
              <a:pPr>
                <a:defRPr/>
              </a:pPr>
              <a:t>11</a:t>
            </a:fld>
            <a:endParaRPr lang="en-US"/>
          </a:p>
        </p:txBody>
      </p:sp>
      <p:sp>
        <p:nvSpPr>
          <p:cNvPr id="219138" name="Rectangle 2"/>
          <p:cNvSpPr>
            <a:spLocks noGrp="1" noChangeArrowheads="1"/>
          </p:cNvSpPr>
          <p:nvPr>
            <p:ph type="title"/>
          </p:nvPr>
        </p:nvSpPr>
        <p:spPr/>
        <p:txBody>
          <a:bodyPr/>
          <a:lstStyle/>
          <a:p>
            <a:pPr eaLnBrk="1" hangingPunct="1">
              <a:defRPr/>
            </a:pPr>
            <a:r>
              <a:rPr lang="en-US" sz="4000"/>
              <a:t>3.1.2. Phương pháp tinh chỉnh dần từng bước</a:t>
            </a:r>
          </a:p>
        </p:txBody>
      </p:sp>
      <p:sp>
        <p:nvSpPr>
          <p:cNvPr id="219139" name="Rectangle 3"/>
          <p:cNvSpPr>
            <a:spLocks noGrp="1" noChangeArrowheads="1"/>
          </p:cNvSpPr>
          <p:nvPr>
            <p:ph type="body" idx="1"/>
          </p:nvPr>
        </p:nvSpPr>
        <p:spPr/>
        <p:txBody>
          <a:bodyPr/>
          <a:lstStyle/>
          <a:p>
            <a:pPr eaLnBrk="1" hangingPunct="1">
              <a:lnSpc>
                <a:spcPct val="90000"/>
              </a:lnSpc>
              <a:defRPr/>
            </a:pPr>
            <a:r>
              <a:rPr lang="en-US" sz="2400"/>
              <a:t>Phương pháp tinh chỉnh từng bước là phương pháp thiết kế giải thuật gắn liền với lập trình, nó phản ánh tinh thần của quá trình mô đun hóa bài toán và thiết kế kiểu Top - Down.</a:t>
            </a:r>
          </a:p>
          <a:p>
            <a:pPr eaLnBrk="1" hangingPunct="1">
              <a:lnSpc>
                <a:spcPct val="90000"/>
              </a:lnSpc>
              <a:defRPr/>
            </a:pPr>
            <a:r>
              <a:rPr lang="en-US" sz="2400"/>
              <a:t>Phương pháp này thể hiện như sau: Đầu tiên trình bày giải thuật bằng ngôn ngữ tự nhiên để phản ánh ý chính của công việc cần làm. Các bước tiếp theo sẽ chi tiết hoá dần dần, tương ứng với các công việc nhỏ hơn, gọi là các bước tinh chỉnh. Càng ở các bước sau thì công việc được mô tả hướng tới các lệnh của giả mã.</a:t>
            </a:r>
          </a:p>
          <a:p>
            <a:pPr algn="ctr" eaLnBrk="1" hangingPunct="1">
              <a:lnSpc>
                <a:spcPct val="90000"/>
              </a:lnSpc>
              <a:buNone/>
              <a:defRPr/>
            </a:pPr>
            <a:r>
              <a:rPr lang="en-US" sz="2400">
                <a:solidFill>
                  <a:schemeClr val="folHlink"/>
                </a:solidFill>
                <a:effectLst>
                  <a:outerShdw blurRad="38100" dist="38100" dir="2700000" algn="tl">
                    <a:srgbClr val="FFFFFF"/>
                  </a:outerShdw>
                </a:effectLst>
              </a:rPr>
              <a:t>Ngôn ngữ tự nhiên </a:t>
            </a:r>
            <a:r>
              <a:rPr lang="en-US" sz="2400">
                <a:solidFill>
                  <a:schemeClr val="folHlink"/>
                </a:solidFill>
                <a:effectLst>
                  <a:outerShdw blurRad="38100" dist="38100" dir="2700000" algn="tl">
                    <a:srgbClr val="FFFFFF"/>
                  </a:outerShdw>
                </a:effectLst>
                <a:sym typeface="Symbol" pitchFamily="18" charset="2"/>
              </a:rPr>
              <a:t> Các bước tinh chỉnh  </a:t>
            </a:r>
            <a:r>
              <a:rPr lang="en-US" sz="2400">
                <a:solidFill>
                  <a:schemeClr val="folHlink"/>
                </a:solidFill>
                <a:effectLst>
                  <a:outerShdw blurRad="38100" dist="38100" dir="2700000" algn="tl">
                    <a:srgbClr val="FFFFFF"/>
                  </a:outerShdw>
                </a:effectLst>
              </a:rPr>
              <a:t>Giả mã</a:t>
            </a:r>
          </a:p>
          <a:p>
            <a:pPr eaLnBrk="1" hangingPunct="1">
              <a:lnSpc>
                <a:spcPct val="90000"/>
              </a:lnSpc>
              <a:buFont typeface="Wingdings" pitchFamily="2" charset="2"/>
              <a:buNone/>
              <a:defRPr/>
            </a:pPr>
            <a:r>
              <a:rPr lang="en-US" sz="2400"/>
              <a:t>	Trong quá trình này dữ liệu cũng được tinh chỉnh dần từ dạng cấu trúc đến dạng cài đặt cụ thể.</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E7D111DE-259B-4F2A-A6B6-9250EE8E3EF7}" type="slidenum">
              <a:rPr lang="en-US"/>
              <a:pPr>
                <a:defRPr/>
              </a:pPr>
              <a:t>12</a:t>
            </a:fld>
            <a:endParaRPr lang="en-US"/>
          </a:p>
        </p:txBody>
      </p:sp>
      <p:sp>
        <p:nvSpPr>
          <p:cNvPr id="220162" name="Rectangle 2"/>
          <p:cNvSpPr>
            <a:spLocks noGrp="1" noChangeArrowheads="1"/>
          </p:cNvSpPr>
          <p:nvPr>
            <p:ph type="title"/>
          </p:nvPr>
        </p:nvSpPr>
        <p:spPr/>
        <p:txBody>
          <a:bodyPr/>
          <a:lstStyle/>
          <a:p>
            <a:pPr eaLnBrk="1" hangingPunct="1">
              <a:defRPr/>
            </a:pPr>
            <a:r>
              <a:rPr lang="en-US" sz="4000"/>
              <a:t>Ví dụ 1: Sắp xếp một dãy n số nguyên theo thứ tự tăng dần</a:t>
            </a:r>
          </a:p>
        </p:txBody>
      </p:sp>
      <p:sp>
        <p:nvSpPr>
          <p:cNvPr id="220163" name="Rectangle 3"/>
          <p:cNvSpPr>
            <a:spLocks noGrp="1" noChangeArrowheads="1"/>
          </p:cNvSpPr>
          <p:nvPr>
            <p:ph type="body" idx="1"/>
          </p:nvPr>
        </p:nvSpPr>
        <p:spPr/>
        <p:txBody>
          <a:bodyPr/>
          <a:lstStyle/>
          <a:p>
            <a:pPr eaLnBrk="1" hangingPunct="1">
              <a:lnSpc>
                <a:spcPct val="80000"/>
              </a:lnSpc>
              <a:defRPr/>
            </a:pPr>
            <a:r>
              <a:rPr lang="en-US" sz="2800"/>
              <a:t>Đầu tiên ta phác thảo giải thuật theo ngôn ngữ tự nhiên như sau:</a:t>
            </a:r>
          </a:p>
          <a:p>
            <a:pPr lvl="1" eaLnBrk="1" hangingPunct="1">
              <a:lnSpc>
                <a:spcPct val="80000"/>
              </a:lnSpc>
              <a:defRPr/>
            </a:pPr>
            <a:r>
              <a:rPr lang="en-US" sz="2400"/>
              <a:t>Từ dãy các số nguyên chưa được sắp xếp lấy ra số nhỏ nhất.</a:t>
            </a:r>
          </a:p>
          <a:p>
            <a:pPr lvl="1" eaLnBrk="1" hangingPunct="1">
              <a:lnSpc>
                <a:spcPct val="80000"/>
              </a:lnSpc>
              <a:defRPr/>
            </a:pPr>
            <a:r>
              <a:rPr lang="en-US" sz="2400"/>
              <a:t>Cứ lặp lại quá trình đó cho đến khi dãy chưa được sắp xếp trở thành rỗng.</a:t>
            </a:r>
          </a:p>
          <a:p>
            <a:pPr eaLnBrk="1" hangingPunct="1">
              <a:lnSpc>
                <a:spcPct val="80000"/>
              </a:lnSpc>
              <a:defRPr/>
            </a:pPr>
            <a:r>
              <a:rPr lang="en-US" sz="2800"/>
              <a:t>Các bước tinh chỉnh dùng giả ngôn ngữ Pascal là:</a:t>
            </a:r>
          </a:p>
          <a:p>
            <a:pPr lvl="1" eaLnBrk="1" hangingPunct="1">
              <a:lnSpc>
                <a:spcPct val="80000"/>
              </a:lnSpc>
              <a:buFont typeface="Wingdings" pitchFamily="2" charset="2"/>
              <a:buNone/>
              <a:defRPr/>
            </a:pPr>
            <a:r>
              <a:rPr lang="en-US" sz="2400"/>
              <a:t>1. Bước tinh chỉnh đầu tiên:</a:t>
            </a:r>
          </a:p>
          <a:p>
            <a:pPr lvl="2" eaLnBrk="1" hangingPunct="1">
              <a:lnSpc>
                <a:spcPct val="80000"/>
              </a:lnSpc>
              <a:buFont typeface="Wingdings" pitchFamily="2" charset="2"/>
              <a:buNone/>
              <a:defRPr/>
            </a:pPr>
            <a:r>
              <a:rPr lang="en-US" sz="2000"/>
              <a:t>For  i:=1 To n-1 Do Begin</a:t>
            </a:r>
          </a:p>
          <a:p>
            <a:pPr lvl="2" eaLnBrk="1" hangingPunct="1">
              <a:lnSpc>
                <a:spcPct val="80000"/>
              </a:lnSpc>
              <a:buFont typeface="Wingdings" pitchFamily="2" charset="2"/>
              <a:buNone/>
              <a:defRPr/>
            </a:pPr>
            <a:r>
              <a:rPr lang="en-US" sz="2000"/>
              <a:t>		- Xét từ a</a:t>
            </a:r>
            <a:r>
              <a:rPr lang="en-US" sz="2000" baseline="-25000"/>
              <a:t>i</a:t>
            </a:r>
            <a:r>
              <a:rPr lang="en-US" sz="2000"/>
              <a:t> đến a</a:t>
            </a:r>
            <a:r>
              <a:rPr lang="en-US" sz="2000" baseline="-25000"/>
              <a:t>n</a:t>
            </a:r>
            <a:r>
              <a:rPr lang="en-US" sz="2000"/>
              <a:t> để tìm số nhỏ nhất a</a:t>
            </a:r>
            <a:r>
              <a:rPr lang="en-US" sz="2000" baseline="-25000"/>
              <a:t>k</a:t>
            </a:r>
          </a:p>
          <a:p>
            <a:pPr lvl="2" eaLnBrk="1" hangingPunct="1">
              <a:lnSpc>
                <a:spcPct val="80000"/>
              </a:lnSpc>
              <a:buFont typeface="Wingdings" pitchFamily="2" charset="2"/>
              <a:buNone/>
              <a:defRPr/>
            </a:pPr>
            <a:r>
              <a:rPr lang="en-US" sz="2000"/>
              <a:t>		- Đổi chỗ giữa a</a:t>
            </a:r>
            <a:r>
              <a:rPr lang="en-US" sz="2000" baseline="-25000"/>
              <a:t>i </a:t>
            </a:r>
            <a:r>
              <a:rPr lang="en-US" sz="2000"/>
              <a:t>và a</a:t>
            </a:r>
            <a:r>
              <a:rPr lang="en-US" sz="2000" baseline="-25000"/>
              <a:t>k</a:t>
            </a:r>
            <a:r>
              <a:rPr lang="en-US" sz="2000"/>
              <a:t> </a:t>
            </a:r>
          </a:p>
          <a:p>
            <a:pPr lvl="2" eaLnBrk="1" hangingPunct="1">
              <a:lnSpc>
                <a:spcPct val="80000"/>
              </a:lnSpc>
              <a:buFont typeface="Wingdings" pitchFamily="2" charset="2"/>
              <a:buNone/>
              <a:defRPr/>
            </a:pPr>
            <a:r>
              <a:rPr lang="en-US" sz="2000"/>
              <a:t>End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8436DD63-4FFC-4420-A6FA-2290F2F0DBF5}" type="slidenum">
              <a:rPr lang="en-US"/>
              <a:pPr>
                <a:defRPr/>
              </a:pPr>
              <a:t>13</a:t>
            </a:fld>
            <a:endParaRPr lang="en-US"/>
          </a:p>
        </p:txBody>
      </p:sp>
      <p:sp>
        <p:nvSpPr>
          <p:cNvPr id="221186" name="Rectangle 2"/>
          <p:cNvSpPr>
            <a:spLocks noGrp="1" noChangeArrowheads="1"/>
          </p:cNvSpPr>
          <p:nvPr>
            <p:ph type="title"/>
          </p:nvPr>
        </p:nvSpPr>
        <p:spPr/>
        <p:txBody>
          <a:bodyPr/>
          <a:lstStyle/>
          <a:p>
            <a:pPr eaLnBrk="1" hangingPunct="1">
              <a:defRPr/>
            </a:pPr>
            <a:r>
              <a:rPr lang="en-US" sz="4000"/>
              <a:t>Ví dụ 1: Sắp xếp một dãy n số nguyên theo thứ tự tăng dần</a:t>
            </a:r>
          </a:p>
        </p:txBody>
      </p:sp>
      <p:sp>
        <p:nvSpPr>
          <p:cNvPr id="221187" name="Rectangle 3"/>
          <p:cNvSpPr>
            <a:spLocks noGrp="1" noChangeArrowheads="1"/>
          </p:cNvSpPr>
          <p:nvPr>
            <p:ph type="body" idx="1"/>
          </p:nvPr>
        </p:nvSpPr>
        <p:spPr/>
        <p:txBody>
          <a:bodyPr/>
          <a:lstStyle/>
          <a:p>
            <a:pPr eaLnBrk="1" hangingPunct="1">
              <a:defRPr/>
            </a:pPr>
            <a:r>
              <a:rPr lang="en-US"/>
              <a:t>Các bước tinh chỉnh dùng giả ngôn ngữ Pascal là:</a:t>
            </a:r>
          </a:p>
          <a:p>
            <a:pPr lvl="1" eaLnBrk="1" hangingPunct="1">
              <a:buFont typeface="Wingdings" pitchFamily="2" charset="2"/>
              <a:buNone/>
              <a:defRPr/>
            </a:pPr>
            <a:r>
              <a:rPr lang="en-US"/>
              <a:t>2. Bước tinh chỉnh 2.1: Tìm số nhỏ nhất</a:t>
            </a:r>
          </a:p>
          <a:p>
            <a:pPr lvl="1" eaLnBrk="1" hangingPunct="1">
              <a:buFont typeface="Wingdings" pitchFamily="2" charset="2"/>
              <a:buNone/>
              <a:defRPr/>
            </a:pPr>
            <a:r>
              <a:rPr lang="en-US"/>
              <a:t>		k:=i</a:t>
            </a:r>
          </a:p>
          <a:p>
            <a:pPr lvl="1" eaLnBrk="1" hangingPunct="1">
              <a:buFont typeface="Wingdings" pitchFamily="2" charset="2"/>
              <a:buNone/>
              <a:defRPr/>
            </a:pPr>
            <a:r>
              <a:rPr lang="en-US"/>
              <a:t>		For j:= i+1 To n  Do </a:t>
            </a:r>
          </a:p>
          <a:p>
            <a:pPr lvl="1" eaLnBrk="1" hangingPunct="1">
              <a:buFont typeface="Wingdings" pitchFamily="2" charset="2"/>
              <a:buNone/>
              <a:defRPr/>
            </a:pPr>
            <a:r>
              <a:rPr lang="en-US"/>
              <a:t>		   If aj &lt; ak  Then  k:=j</a:t>
            </a:r>
          </a:p>
          <a:p>
            <a:pPr lvl="1" eaLnBrk="1" hangingPunct="1">
              <a:buFont typeface="Wingdings" pitchFamily="2" charset="2"/>
              <a:buNone/>
              <a:defRPr/>
            </a:pPr>
            <a:r>
              <a:rPr lang="en-US"/>
              <a:t>3. Bước tinh chỉnh 2.2: Đổi chỗ</a:t>
            </a:r>
          </a:p>
          <a:p>
            <a:pPr lvl="1" eaLnBrk="1" hangingPunct="1">
              <a:buFont typeface="Wingdings" pitchFamily="2" charset="2"/>
              <a:buNone/>
              <a:defRPr/>
            </a:pPr>
            <a:r>
              <a:rPr lang="en-US"/>
              <a:t>		</a:t>
            </a:r>
            <a:r>
              <a:rPr lang="fr-FR"/>
              <a:t>tg:=ai ; ai:=ak ;  ak=tg;</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E27C4740-510F-4C7F-BF37-0213743562A4}" type="slidenum">
              <a:rPr lang="en-US"/>
              <a:pPr>
                <a:defRPr/>
              </a:pPr>
              <a:t>14</a:t>
            </a:fld>
            <a:endParaRPr lang="en-US"/>
          </a:p>
        </p:txBody>
      </p:sp>
      <p:sp>
        <p:nvSpPr>
          <p:cNvPr id="222210" name="Rectangle 2"/>
          <p:cNvSpPr>
            <a:spLocks noGrp="1" noChangeArrowheads="1"/>
          </p:cNvSpPr>
          <p:nvPr>
            <p:ph type="title"/>
          </p:nvPr>
        </p:nvSpPr>
        <p:spPr/>
        <p:txBody>
          <a:bodyPr/>
          <a:lstStyle/>
          <a:p>
            <a:pPr eaLnBrk="1" hangingPunct="1">
              <a:defRPr/>
            </a:pPr>
            <a:r>
              <a:rPr lang="en-US" sz="4000"/>
              <a:t>Ví dụ 1: Sắp xếp một dãy n số nguyên theo thứ tự tăng dần</a:t>
            </a:r>
          </a:p>
        </p:txBody>
      </p:sp>
      <p:sp>
        <p:nvSpPr>
          <p:cNvPr id="222211" name="Rectangle 3"/>
          <p:cNvSpPr>
            <a:spLocks noGrp="1" noChangeArrowheads="1"/>
          </p:cNvSpPr>
          <p:nvPr>
            <p:ph type="body" idx="1"/>
          </p:nvPr>
        </p:nvSpPr>
        <p:spPr/>
        <p:txBody>
          <a:bodyPr/>
          <a:lstStyle/>
          <a:p>
            <a:pPr eaLnBrk="1" hangingPunct="1">
              <a:defRPr/>
            </a:pPr>
            <a:r>
              <a:rPr lang="fr-FR" sz="2800"/>
              <a:t>Sau khi chỉnh lại ta có thủ tục sắp xếp như sau</a:t>
            </a:r>
            <a:r>
              <a:rPr lang="en-US" sz="2800"/>
              <a:t>:</a:t>
            </a:r>
          </a:p>
          <a:p>
            <a:pPr lvl="1" eaLnBrk="1" hangingPunct="1">
              <a:buFont typeface="Wingdings" pitchFamily="2" charset="2"/>
              <a:buNone/>
              <a:defRPr/>
            </a:pPr>
            <a:r>
              <a:rPr lang="fr-FR" sz="2400"/>
              <a:t>		Procedure SapXep(a,n)</a:t>
            </a:r>
          </a:p>
          <a:p>
            <a:pPr lvl="1" eaLnBrk="1" hangingPunct="1">
              <a:buFont typeface="Wingdings" pitchFamily="2" charset="2"/>
              <a:buNone/>
              <a:defRPr/>
            </a:pPr>
            <a:r>
              <a:rPr lang="fr-FR" sz="2400"/>
              <a:t>			1) For i :=1 To n-1 Do</a:t>
            </a:r>
          </a:p>
          <a:p>
            <a:pPr lvl="1" eaLnBrk="1" hangingPunct="1">
              <a:buFont typeface="Wingdings" pitchFamily="2" charset="2"/>
              <a:buNone/>
              <a:defRPr/>
            </a:pPr>
            <a:r>
              <a:rPr lang="fr-FR" sz="2400"/>
              <a:t>		       		Begin</a:t>
            </a:r>
          </a:p>
          <a:p>
            <a:pPr lvl="1" eaLnBrk="1" hangingPunct="1">
              <a:buFont typeface="Wingdings" pitchFamily="2" charset="2"/>
              <a:buNone/>
              <a:defRPr/>
            </a:pPr>
            <a:r>
              <a:rPr lang="fr-FR" sz="2400"/>
              <a:t>			2)		k :=i</a:t>
            </a:r>
          </a:p>
          <a:p>
            <a:pPr lvl="1" eaLnBrk="1" hangingPunct="1">
              <a:buFont typeface="Wingdings" pitchFamily="2" charset="2"/>
              <a:buNone/>
              <a:defRPr/>
            </a:pPr>
            <a:r>
              <a:rPr lang="fr-FR" sz="2400"/>
              <a:t>					For j :=i+1 To n Do</a:t>
            </a:r>
          </a:p>
          <a:p>
            <a:pPr lvl="1" eaLnBrk="1" hangingPunct="1">
              <a:buFont typeface="Wingdings" pitchFamily="2" charset="2"/>
              <a:buNone/>
              <a:defRPr/>
            </a:pPr>
            <a:r>
              <a:rPr lang="fr-FR" sz="2400"/>
              <a:t>			</a:t>
            </a:r>
            <a:r>
              <a:rPr lang="en-US" sz="2400"/>
              <a:t>  			If a[j] &lt; a[k] Then  k :=j</a:t>
            </a:r>
          </a:p>
          <a:p>
            <a:pPr lvl="1" eaLnBrk="1" hangingPunct="1">
              <a:buFont typeface="Wingdings" pitchFamily="2" charset="2"/>
              <a:buNone/>
              <a:defRPr/>
            </a:pPr>
            <a:r>
              <a:rPr lang="en-US" sz="2400"/>
              <a:t>			3) 		x:=a[i]; a[i]:=a[k]; a[k]:=x;</a:t>
            </a:r>
          </a:p>
          <a:p>
            <a:pPr lvl="1" eaLnBrk="1" hangingPunct="1">
              <a:buFont typeface="Wingdings" pitchFamily="2" charset="2"/>
              <a:buNone/>
              <a:defRPr/>
            </a:pPr>
            <a:r>
              <a:rPr lang="en-US" sz="2400"/>
              <a:t>		       		End</a:t>
            </a:r>
          </a:p>
          <a:p>
            <a:pPr lvl="1" eaLnBrk="1" hangingPunct="1">
              <a:buFont typeface="Wingdings" pitchFamily="2" charset="2"/>
              <a:buNone/>
              <a:defRPr/>
            </a:pPr>
            <a:r>
              <a:rPr lang="en-US" sz="2400"/>
              <a:t>		Return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E323BC84-CF85-4CE4-A567-20031F71F7DF}" type="slidenum">
              <a:rPr lang="en-US" smtClean="0"/>
              <a:pPr>
                <a:defRPr/>
              </a:pPr>
              <a:t>15</a:t>
            </a:fld>
            <a:endParaRPr lang="en-US"/>
          </a:p>
        </p:txBody>
      </p:sp>
      <p:sp>
        <p:nvSpPr>
          <p:cNvPr id="223234" name="Rectangle 2"/>
          <p:cNvSpPr>
            <a:spLocks noGrp="1" noChangeArrowheads="1"/>
          </p:cNvSpPr>
          <p:nvPr>
            <p:ph type="title"/>
          </p:nvPr>
        </p:nvSpPr>
        <p:spPr/>
        <p:txBody>
          <a:bodyPr/>
          <a:lstStyle/>
          <a:p>
            <a:pPr eaLnBrk="1" hangingPunct="1">
              <a:defRPr/>
            </a:pPr>
            <a:r>
              <a:rPr lang="en-US" sz="2800"/>
              <a:t>Ví dụ 2: Cho ma trận cấp mxn (m hàng, n cột). Tìm phần tử lớn nhất của các hàng và đổi chỗ nó cho phần tử đầu hàng.</a:t>
            </a:r>
          </a:p>
        </p:txBody>
      </p:sp>
      <p:sp>
        <p:nvSpPr>
          <p:cNvPr id="223235" name="Rectangle 3"/>
          <p:cNvSpPr>
            <a:spLocks noGrp="1" noChangeArrowheads="1"/>
          </p:cNvSpPr>
          <p:nvPr>
            <p:ph type="body" idx="1"/>
          </p:nvPr>
        </p:nvSpPr>
        <p:spPr/>
        <p:txBody>
          <a:bodyPr/>
          <a:lstStyle/>
          <a:p>
            <a:pPr eaLnBrk="1" hangingPunct="1">
              <a:defRPr/>
            </a:pPr>
            <a:r>
              <a:rPr lang="en-US"/>
              <a:t>Phác hoạ thuật giải:</a:t>
            </a:r>
          </a:p>
          <a:p>
            <a:pPr lvl="1" eaLnBrk="1" hangingPunct="1">
              <a:buFont typeface="Wingdings" pitchFamily="2" charset="2"/>
              <a:buNone/>
              <a:defRPr/>
            </a:pPr>
            <a:r>
              <a:rPr lang="en-US"/>
              <a:t>1. Nhập m,n</a:t>
            </a:r>
          </a:p>
          <a:p>
            <a:pPr lvl="1" eaLnBrk="1" hangingPunct="1">
              <a:buFont typeface="Wingdings" pitchFamily="2" charset="2"/>
              <a:buNone/>
              <a:defRPr/>
            </a:pPr>
            <a:r>
              <a:rPr lang="en-US"/>
              <a:t>2. Nhập các phần tử của ma trận</a:t>
            </a:r>
          </a:p>
          <a:p>
            <a:pPr lvl="1" eaLnBrk="1" hangingPunct="1">
              <a:buFont typeface="Wingdings" pitchFamily="2" charset="2"/>
              <a:buNone/>
              <a:defRPr/>
            </a:pPr>
            <a:r>
              <a:rPr lang="en-US"/>
              <a:t>3. Tìm phần tử lớn nhất của các hàng và đổi chỗ cho phần tử đầu hàng.</a:t>
            </a:r>
          </a:p>
          <a:p>
            <a:pPr lvl="1" eaLnBrk="1" hangingPunct="1">
              <a:buFont typeface="Wingdings" pitchFamily="2" charset="2"/>
              <a:buNone/>
              <a:defRPr/>
            </a:pPr>
            <a:r>
              <a:rPr lang="en-US"/>
              <a:t>4. In ra ma trận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DC3F49B6-AF18-45A5-A361-B6EC738CBAE9}" type="slidenum">
              <a:rPr lang="en-US"/>
              <a:pPr>
                <a:defRPr/>
              </a:pPr>
              <a:t>16</a:t>
            </a:fld>
            <a:endParaRPr lang="en-US"/>
          </a:p>
        </p:txBody>
      </p:sp>
      <p:sp>
        <p:nvSpPr>
          <p:cNvPr id="224258" name="Rectangle 2"/>
          <p:cNvSpPr>
            <a:spLocks noGrp="1" noChangeArrowheads="1"/>
          </p:cNvSpPr>
          <p:nvPr>
            <p:ph type="title"/>
          </p:nvPr>
        </p:nvSpPr>
        <p:spPr/>
        <p:txBody>
          <a:bodyPr/>
          <a:lstStyle/>
          <a:p>
            <a:pPr eaLnBrk="1" hangingPunct="1">
              <a:defRPr/>
            </a:pPr>
            <a:r>
              <a:rPr lang="en-US" sz="2800"/>
              <a:t>Ví dụ 2: Cho ma trận cấp mxn (m hàng, n cột). Tìm phần tử lớn nhất của các hàng và đổi chỗ nó cho phần tử đầu hàng.</a:t>
            </a:r>
          </a:p>
        </p:txBody>
      </p:sp>
      <p:sp>
        <p:nvSpPr>
          <p:cNvPr id="224259" name="Rectangle 3"/>
          <p:cNvSpPr>
            <a:spLocks noGrp="1" noChangeArrowheads="1"/>
          </p:cNvSpPr>
          <p:nvPr>
            <p:ph type="body" idx="1"/>
          </p:nvPr>
        </p:nvSpPr>
        <p:spPr/>
        <p:txBody>
          <a:bodyPr/>
          <a:lstStyle/>
          <a:p>
            <a:pPr eaLnBrk="1" hangingPunct="1">
              <a:lnSpc>
                <a:spcPct val="90000"/>
              </a:lnSpc>
              <a:defRPr/>
            </a:pPr>
            <a:r>
              <a:rPr lang="en-US" sz="2800"/>
              <a:t>Diễn đạt bằng giả ngôn ngữ Pascal:</a:t>
            </a:r>
          </a:p>
          <a:p>
            <a:pPr lvl="1" eaLnBrk="1" hangingPunct="1">
              <a:lnSpc>
                <a:spcPct val="90000"/>
              </a:lnSpc>
              <a:buFont typeface="Wingdings" pitchFamily="2" charset="2"/>
              <a:buNone/>
              <a:defRPr/>
            </a:pPr>
            <a:r>
              <a:rPr lang="en-US" sz="2400"/>
              <a:t>		1. Read(m,n)</a:t>
            </a:r>
          </a:p>
          <a:p>
            <a:pPr lvl="1" eaLnBrk="1" hangingPunct="1">
              <a:lnSpc>
                <a:spcPct val="90000"/>
              </a:lnSpc>
              <a:buFont typeface="Wingdings" pitchFamily="2" charset="2"/>
              <a:buNone/>
              <a:defRPr/>
            </a:pPr>
            <a:r>
              <a:rPr lang="en-US" sz="2400"/>
              <a:t>		2. For i:= 1 To m  Do</a:t>
            </a:r>
          </a:p>
          <a:p>
            <a:pPr lvl="1" eaLnBrk="1" hangingPunct="1">
              <a:lnSpc>
                <a:spcPct val="90000"/>
              </a:lnSpc>
              <a:buFont typeface="Wingdings" pitchFamily="2" charset="2"/>
              <a:buNone/>
              <a:defRPr/>
            </a:pPr>
            <a:r>
              <a:rPr lang="en-US" sz="2400"/>
              <a:t>			Đọc vào các phần tử hàng i</a:t>
            </a:r>
          </a:p>
          <a:p>
            <a:pPr lvl="1" eaLnBrk="1" hangingPunct="1">
              <a:lnSpc>
                <a:spcPct val="90000"/>
              </a:lnSpc>
              <a:buFont typeface="Wingdings" pitchFamily="2" charset="2"/>
              <a:buNone/>
              <a:defRPr/>
            </a:pPr>
            <a:r>
              <a:rPr lang="en-US" sz="2400"/>
              <a:t>		3. For i:= 1 To m Do</a:t>
            </a:r>
          </a:p>
          <a:p>
            <a:pPr lvl="1" eaLnBrk="1" hangingPunct="1">
              <a:lnSpc>
                <a:spcPct val="90000"/>
              </a:lnSpc>
              <a:buFont typeface="Wingdings" pitchFamily="2" charset="2"/>
              <a:buNone/>
              <a:defRPr/>
            </a:pPr>
            <a:r>
              <a:rPr lang="en-US" sz="2400"/>
              <a:t>			Begin</a:t>
            </a:r>
          </a:p>
          <a:p>
            <a:pPr lvl="1" eaLnBrk="1" hangingPunct="1">
              <a:lnSpc>
                <a:spcPct val="90000"/>
              </a:lnSpc>
              <a:buFont typeface="Wingdings" pitchFamily="2" charset="2"/>
              <a:buNone/>
              <a:defRPr/>
            </a:pPr>
            <a:r>
              <a:rPr lang="en-US" sz="2400"/>
              <a:t>			   Tìm a[i,k] là phần tử lớn nhất cho hàng i</a:t>
            </a:r>
          </a:p>
          <a:p>
            <a:pPr lvl="1" eaLnBrk="1" hangingPunct="1">
              <a:lnSpc>
                <a:spcPct val="90000"/>
              </a:lnSpc>
              <a:buFont typeface="Wingdings" pitchFamily="2" charset="2"/>
              <a:buNone/>
              <a:defRPr/>
            </a:pPr>
            <a:r>
              <a:rPr lang="en-US" sz="2400"/>
              <a:t>		   	   Đổi chỗ giữa a[i,k] và a[i,1]</a:t>
            </a:r>
          </a:p>
          <a:p>
            <a:pPr lvl="1" eaLnBrk="1" hangingPunct="1">
              <a:lnSpc>
                <a:spcPct val="90000"/>
              </a:lnSpc>
              <a:buFont typeface="Wingdings" pitchFamily="2" charset="2"/>
              <a:buNone/>
              <a:defRPr/>
            </a:pPr>
            <a:r>
              <a:rPr lang="en-US" sz="2400"/>
              <a:t>			End</a:t>
            </a:r>
          </a:p>
          <a:p>
            <a:pPr lvl="1" eaLnBrk="1" hangingPunct="1">
              <a:lnSpc>
                <a:spcPct val="90000"/>
              </a:lnSpc>
              <a:buFont typeface="Wingdings" pitchFamily="2" charset="2"/>
              <a:buNone/>
              <a:defRPr/>
            </a:pPr>
            <a:r>
              <a:rPr lang="en-US" sz="2400"/>
              <a:t>		4. For i:=1 To m Do </a:t>
            </a:r>
          </a:p>
          <a:p>
            <a:pPr lvl="1" eaLnBrk="1" hangingPunct="1">
              <a:lnSpc>
                <a:spcPct val="90000"/>
              </a:lnSpc>
              <a:buFont typeface="Wingdings" pitchFamily="2" charset="2"/>
              <a:buNone/>
              <a:defRPr/>
            </a:pPr>
            <a:r>
              <a:rPr lang="en-US" sz="2400"/>
              <a:t>			In ra các phần tử hàng 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BEC590AB-6472-43FE-A5EA-44139E94CAD2}" type="slidenum">
              <a:rPr lang="en-US"/>
              <a:pPr>
                <a:defRPr/>
              </a:pPr>
              <a:t>17</a:t>
            </a:fld>
            <a:endParaRPr lang="en-US"/>
          </a:p>
        </p:txBody>
      </p:sp>
      <p:sp>
        <p:nvSpPr>
          <p:cNvPr id="225282" name="Rectangle 2"/>
          <p:cNvSpPr>
            <a:spLocks noGrp="1" noChangeArrowheads="1"/>
          </p:cNvSpPr>
          <p:nvPr>
            <p:ph type="title"/>
          </p:nvPr>
        </p:nvSpPr>
        <p:spPr/>
        <p:txBody>
          <a:bodyPr/>
          <a:lstStyle/>
          <a:p>
            <a:pPr eaLnBrk="1" hangingPunct="1">
              <a:defRPr/>
            </a:pPr>
            <a:r>
              <a:rPr lang="en-US" sz="2800"/>
              <a:t>Ví dụ 2: Cho ma trận cấp mxn (m hàng, n cột). Tìm phần tử lớn nhất của các hàng và đổi chỗ nó cho phần tử đầu hàng</a:t>
            </a:r>
          </a:p>
        </p:txBody>
      </p:sp>
      <p:sp>
        <p:nvSpPr>
          <p:cNvPr id="225283" name="Rectangle 3"/>
          <p:cNvSpPr>
            <a:spLocks noGrp="1" noChangeArrowheads="1"/>
          </p:cNvSpPr>
          <p:nvPr>
            <p:ph type="body" idx="1"/>
          </p:nvPr>
        </p:nvSpPr>
        <p:spPr/>
        <p:txBody>
          <a:bodyPr/>
          <a:lstStyle/>
          <a:p>
            <a:pPr eaLnBrk="1" hangingPunct="1">
              <a:lnSpc>
                <a:spcPct val="80000"/>
              </a:lnSpc>
              <a:defRPr/>
            </a:pPr>
            <a:r>
              <a:rPr lang="en-US" sz="1800"/>
              <a:t>Các bước được tinh chỉnh như sau:</a:t>
            </a:r>
          </a:p>
          <a:p>
            <a:pPr lvl="1" eaLnBrk="1" hangingPunct="1">
              <a:lnSpc>
                <a:spcPct val="80000"/>
              </a:lnSpc>
              <a:buFont typeface="Wingdings" pitchFamily="2" charset="2"/>
              <a:buNone/>
              <a:defRPr/>
            </a:pPr>
            <a:r>
              <a:rPr lang="en-US" sz="1600"/>
              <a:t>		1. Readln(m,n)</a:t>
            </a:r>
          </a:p>
          <a:p>
            <a:pPr lvl="1" eaLnBrk="1" hangingPunct="1">
              <a:lnSpc>
                <a:spcPct val="80000"/>
              </a:lnSpc>
              <a:buFont typeface="Wingdings" pitchFamily="2" charset="2"/>
              <a:buNone/>
              <a:defRPr/>
            </a:pPr>
            <a:r>
              <a:rPr lang="en-US" sz="1600"/>
              <a:t>		2. For i:=1 To m Do</a:t>
            </a:r>
          </a:p>
          <a:p>
            <a:pPr lvl="1" eaLnBrk="1" hangingPunct="1">
              <a:lnSpc>
                <a:spcPct val="80000"/>
              </a:lnSpc>
              <a:buFont typeface="Wingdings" pitchFamily="2" charset="2"/>
              <a:buNone/>
              <a:defRPr/>
            </a:pPr>
            <a:r>
              <a:rPr lang="en-US" sz="1600"/>
              <a:t>			For j:= 1 To n Do</a:t>
            </a:r>
          </a:p>
          <a:p>
            <a:pPr lvl="1" eaLnBrk="1" hangingPunct="1">
              <a:lnSpc>
                <a:spcPct val="80000"/>
              </a:lnSpc>
              <a:buFont typeface="Wingdings" pitchFamily="2" charset="2"/>
              <a:buNone/>
              <a:defRPr/>
            </a:pPr>
            <a:r>
              <a:rPr lang="en-US" sz="1600"/>
              <a:t>				Read(a[i,j])</a:t>
            </a:r>
          </a:p>
          <a:p>
            <a:pPr lvl="1" eaLnBrk="1" hangingPunct="1">
              <a:lnSpc>
                <a:spcPct val="80000"/>
              </a:lnSpc>
              <a:buFont typeface="Wingdings" pitchFamily="2" charset="2"/>
              <a:buNone/>
              <a:defRPr/>
            </a:pPr>
            <a:r>
              <a:rPr lang="en-US" sz="1600"/>
              <a:t>		3. For i:=1 To m Do</a:t>
            </a:r>
          </a:p>
          <a:p>
            <a:pPr lvl="1" eaLnBrk="1" hangingPunct="1">
              <a:lnSpc>
                <a:spcPct val="80000"/>
              </a:lnSpc>
              <a:buFont typeface="Wingdings" pitchFamily="2" charset="2"/>
              <a:buNone/>
              <a:defRPr/>
            </a:pPr>
            <a:r>
              <a:rPr lang="en-US" sz="1600"/>
              <a:t>			Begin</a:t>
            </a:r>
          </a:p>
          <a:p>
            <a:pPr lvl="1" eaLnBrk="1" hangingPunct="1">
              <a:lnSpc>
                <a:spcPct val="80000"/>
              </a:lnSpc>
              <a:buFont typeface="Wingdings" pitchFamily="2" charset="2"/>
              <a:buNone/>
              <a:defRPr/>
            </a:pPr>
            <a:r>
              <a:rPr lang="en-US" sz="1600"/>
              <a:t>				 k:=1</a:t>
            </a:r>
          </a:p>
          <a:p>
            <a:pPr lvl="1" eaLnBrk="1" hangingPunct="1">
              <a:lnSpc>
                <a:spcPct val="80000"/>
              </a:lnSpc>
              <a:buFont typeface="Wingdings" pitchFamily="2" charset="2"/>
              <a:buNone/>
              <a:defRPr/>
            </a:pPr>
            <a:r>
              <a:rPr lang="en-US" sz="1600"/>
              <a:t>				For j:=2 To n Do</a:t>
            </a:r>
          </a:p>
          <a:p>
            <a:pPr lvl="1" eaLnBrk="1" hangingPunct="1">
              <a:lnSpc>
                <a:spcPct val="80000"/>
              </a:lnSpc>
              <a:buFont typeface="Wingdings" pitchFamily="2" charset="2"/>
              <a:buNone/>
              <a:defRPr/>
            </a:pPr>
            <a:r>
              <a:rPr lang="en-US" sz="1600"/>
              <a:t>					If  a[i,j]&gt; a[i,k] Then k:=j</a:t>
            </a:r>
          </a:p>
          <a:p>
            <a:pPr lvl="1" eaLnBrk="1" hangingPunct="1">
              <a:lnSpc>
                <a:spcPct val="80000"/>
              </a:lnSpc>
              <a:buFont typeface="Wingdings" pitchFamily="2" charset="2"/>
              <a:buNone/>
              <a:defRPr/>
            </a:pPr>
            <a:r>
              <a:rPr lang="en-US" sz="1600"/>
              <a:t>				a[i,k]  &lt;-&gt; a[i,1]</a:t>
            </a:r>
          </a:p>
          <a:p>
            <a:pPr lvl="1" eaLnBrk="1" hangingPunct="1">
              <a:lnSpc>
                <a:spcPct val="80000"/>
              </a:lnSpc>
              <a:buFont typeface="Wingdings" pitchFamily="2" charset="2"/>
              <a:buNone/>
              <a:defRPr/>
            </a:pPr>
            <a:r>
              <a:rPr lang="en-US" sz="1600"/>
              <a:t>			End</a:t>
            </a:r>
          </a:p>
          <a:p>
            <a:pPr lvl="1" eaLnBrk="1" hangingPunct="1">
              <a:lnSpc>
                <a:spcPct val="80000"/>
              </a:lnSpc>
              <a:buFont typeface="Wingdings" pitchFamily="2" charset="2"/>
              <a:buNone/>
              <a:defRPr/>
            </a:pPr>
            <a:r>
              <a:rPr lang="en-US" sz="1600"/>
              <a:t>		4. For i:= 1 To m Do </a:t>
            </a:r>
          </a:p>
          <a:p>
            <a:pPr lvl="1" eaLnBrk="1" hangingPunct="1">
              <a:lnSpc>
                <a:spcPct val="80000"/>
              </a:lnSpc>
              <a:buFont typeface="Wingdings" pitchFamily="2" charset="2"/>
              <a:buNone/>
              <a:defRPr/>
            </a:pPr>
            <a:r>
              <a:rPr lang="en-US" sz="1600"/>
              <a:t>		    Begin</a:t>
            </a:r>
          </a:p>
          <a:p>
            <a:pPr lvl="1" eaLnBrk="1" hangingPunct="1">
              <a:lnSpc>
                <a:spcPct val="80000"/>
              </a:lnSpc>
              <a:buFont typeface="Wingdings" pitchFamily="2" charset="2"/>
              <a:buNone/>
              <a:defRPr/>
            </a:pPr>
            <a:r>
              <a:rPr lang="en-US" sz="1600"/>
              <a:t>			Writeln;</a:t>
            </a:r>
          </a:p>
          <a:p>
            <a:pPr lvl="1" eaLnBrk="1" hangingPunct="1">
              <a:lnSpc>
                <a:spcPct val="80000"/>
              </a:lnSpc>
              <a:buFont typeface="Wingdings" pitchFamily="2" charset="2"/>
              <a:buNone/>
              <a:defRPr/>
            </a:pPr>
            <a:r>
              <a:rPr lang="en-US" sz="1600"/>
              <a:t>			For j:=1 To n Do</a:t>
            </a:r>
          </a:p>
          <a:p>
            <a:pPr lvl="1" eaLnBrk="1" hangingPunct="1">
              <a:lnSpc>
                <a:spcPct val="80000"/>
              </a:lnSpc>
              <a:buFont typeface="Wingdings" pitchFamily="2" charset="2"/>
              <a:buNone/>
              <a:defRPr/>
            </a:pPr>
            <a:r>
              <a:rPr lang="en-US" sz="1600"/>
              <a:t>				Write(a[i,j], ‘  ‘)</a:t>
            </a:r>
          </a:p>
          <a:p>
            <a:pPr lvl="1" eaLnBrk="1" hangingPunct="1">
              <a:lnSpc>
                <a:spcPct val="80000"/>
              </a:lnSpc>
              <a:buFont typeface="Wingdings" pitchFamily="2" charset="2"/>
              <a:buNone/>
              <a:defRPr/>
            </a:pPr>
            <a:r>
              <a:rPr lang="en-US" sz="1600"/>
              <a:t>		    End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20B3CEE8-DE59-4C86-86EC-937763730241}" type="slidenum">
              <a:rPr lang="en-US"/>
              <a:pPr>
                <a:defRPr/>
              </a:pPr>
              <a:t>18</a:t>
            </a:fld>
            <a:endParaRPr lang="en-US"/>
          </a:p>
        </p:txBody>
      </p:sp>
      <p:sp>
        <p:nvSpPr>
          <p:cNvPr id="226306" name="Rectangle 2"/>
          <p:cNvSpPr>
            <a:spLocks noGrp="1" noChangeArrowheads="1"/>
          </p:cNvSpPr>
          <p:nvPr>
            <p:ph type="title"/>
          </p:nvPr>
        </p:nvSpPr>
        <p:spPr/>
        <p:txBody>
          <a:bodyPr/>
          <a:lstStyle/>
          <a:p>
            <a:pPr eaLnBrk="1" hangingPunct="1">
              <a:defRPr/>
            </a:pPr>
            <a:r>
              <a:rPr lang="en-US" sz="4000" dirty="0"/>
              <a:t>3.2. </a:t>
            </a:r>
            <a:r>
              <a:rPr lang="en-US" sz="4000" dirty="0" err="1"/>
              <a:t>Phân</a:t>
            </a:r>
            <a:r>
              <a:rPr lang="en-US" sz="4000" dirty="0"/>
              <a:t> </a:t>
            </a:r>
            <a:r>
              <a:rPr lang="en-US" sz="4000" dirty="0" err="1"/>
              <a:t>tích</a:t>
            </a:r>
            <a:r>
              <a:rPr lang="en-US" sz="4000" dirty="0"/>
              <a:t>, </a:t>
            </a:r>
            <a:r>
              <a:rPr lang="en-US" sz="4000" dirty="0" err="1"/>
              <a:t>đánh</a:t>
            </a:r>
            <a:r>
              <a:rPr lang="en-US" sz="4000" dirty="0"/>
              <a:t> </a:t>
            </a:r>
            <a:r>
              <a:rPr lang="en-US" sz="4000" dirty="0" err="1"/>
              <a:t>giá</a:t>
            </a:r>
            <a:r>
              <a:rPr lang="en-US" sz="4000" dirty="0"/>
              <a:t> </a:t>
            </a:r>
            <a:r>
              <a:rPr lang="en-US" sz="4000" dirty="0" err="1"/>
              <a:t>giải</a:t>
            </a:r>
            <a:r>
              <a:rPr lang="en-US" sz="4000" dirty="0"/>
              <a:t> </a:t>
            </a:r>
            <a:r>
              <a:rPr lang="en-US" sz="4000" dirty="0" err="1"/>
              <a:t>thuật</a:t>
            </a:r>
            <a:endParaRPr lang="en-US" sz="4000" dirty="0"/>
          </a:p>
        </p:txBody>
      </p:sp>
      <p:sp>
        <p:nvSpPr>
          <p:cNvPr id="226307" name="Rectangle 3"/>
          <p:cNvSpPr>
            <a:spLocks noGrp="1" noChangeArrowheads="1"/>
          </p:cNvSpPr>
          <p:nvPr>
            <p:ph type="body" idx="1"/>
          </p:nvPr>
        </p:nvSpPr>
        <p:spPr/>
        <p:txBody>
          <a:bodyPr/>
          <a:lstStyle/>
          <a:p>
            <a:pPr eaLnBrk="1" hangingPunct="1">
              <a:lnSpc>
                <a:spcPct val="90000"/>
              </a:lnSpc>
              <a:buFont typeface="Wingdings" pitchFamily="2" charset="2"/>
              <a:buNone/>
              <a:defRPr/>
            </a:pPr>
            <a:r>
              <a:rPr lang="en-US" sz="2800" dirty="0"/>
              <a:t>3.2.1. </a:t>
            </a:r>
            <a:r>
              <a:rPr lang="en-US" sz="2800" dirty="0" err="1"/>
              <a:t>Đặt</a:t>
            </a:r>
            <a:r>
              <a:rPr lang="en-US" sz="2800" dirty="0"/>
              <a:t> </a:t>
            </a:r>
            <a:r>
              <a:rPr lang="en-US" sz="2800" dirty="0" err="1"/>
              <a:t>vấn</a:t>
            </a:r>
            <a:r>
              <a:rPr lang="en-US" sz="2800" dirty="0"/>
              <a:t> </a:t>
            </a:r>
            <a:r>
              <a:rPr lang="en-US" sz="2800" dirty="0" err="1"/>
              <a:t>đề</a:t>
            </a:r>
            <a:endParaRPr lang="en-US" sz="2800" dirty="0"/>
          </a:p>
          <a:p>
            <a:pPr eaLnBrk="1" hangingPunct="1">
              <a:lnSpc>
                <a:spcPct val="90000"/>
              </a:lnSpc>
              <a:defRPr/>
            </a:pPr>
            <a:r>
              <a:rPr lang="en-US" sz="2800" dirty="0" err="1"/>
              <a:t>Phân</a:t>
            </a:r>
            <a:r>
              <a:rPr lang="en-US" sz="2800" dirty="0"/>
              <a:t> </a:t>
            </a:r>
            <a:r>
              <a:rPr lang="en-US" sz="2800" dirty="0" err="1"/>
              <a:t>tích</a:t>
            </a:r>
            <a:r>
              <a:rPr lang="en-US" sz="2800" dirty="0"/>
              <a:t> </a:t>
            </a:r>
            <a:r>
              <a:rPr lang="en-US" sz="2800" dirty="0" err="1"/>
              <a:t>tính</a:t>
            </a:r>
            <a:r>
              <a:rPr lang="en-US" sz="2800" dirty="0"/>
              <a:t> </a:t>
            </a:r>
            <a:r>
              <a:rPr lang="en-US" sz="2800" dirty="0" err="1"/>
              <a:t>đúng</a:t>
            </a:r>
            <a:r>
              <a:rPr lang="en-US" sz="2800" dirty="0"/>
              <a:t> </a:t>
            </a:r>
            <a:r>
              <a:rPr lang="en-US" sz="2800" dirty="0" err="1"/>
              <a:t>đắn</a:t>
            </a:r>
            <a:r>
              <a:rPr lang="en-US" sz="2800" dirty="0"/>
              <a:t>: </a:t>
            </a:r>
            <a:r>
              <a:rPr lang="en-US" sz="2800" dirty="0" err="1"/>
              <a:t>Chạy</a:t>
            </a:r>
            <a:r>
              <a:rPr lang="en-US" sz="2800" dirty="0"/>
              <a:t> </a:t>
            </a:r>
            <a:r>
              <a:rPr lang="en-US" sz="2800" dirty="0" err="1"/>
              <a:t>thử</a:t>
            </a:r>
            <a:r>
              <a:rPr lang="en-US" sz="2800" dirty="0"/>
              <a:t> </a:t>
            </a:r>
            <a:r>
              <a:rPr lang="en-US" sz="2800" dirty="0" err="1"/>
              <a:t>chương</a:t>
            </a:r>
            <a:r>
              <a:rPr lang="en-US" sz="2800" dirty="0"/>
              <a:t> </a:t>
            </a:r>
            <a:r>
              <a:rPr lang="en-US" sz="2800" dirty="0" err="1"/>
              <a:t>trình</a:t>
            </a:r>
            <a:r>
              <a:rPr lang="en-US" sz="2800" dirty="0"/>
              <a:t> </a:t>
            </a:r>
            <a:r>
              <a:rPr lang="en-US" sz="2800" dirty="0" err="1"/>
              <a:t>trên</a:t>
            </a:r>
            <a:r>
              <a:rPr lang="en-US" sz="2800" dirty="0"/>
              <a:t> </a:t>
            </a:r>
            <a:r>
              <a:rPr lang="en-US" sz="2800" dirty="0" err="1"/>
              <a:t>bộ</a:t>
            </a:r>
            <a:r>
              <a:rPr lang="en-US" sz="2800" dirty="0"/>
              <a:t> </a:t>
            </a:r>
            <a:r>
              <a:rPr lang="en-US" sz="2800" dirty="0" err="1"/>
              <a:t>dữ</a:t>
            </a:r>
            <a:r>
              <a:rPr lang="en-US" sz="2800" dirty="0"/>
              <a:t> </a:t>
            </a:r>
            <a:r>
              <a:rPr lang="en-US" sz="2800" dirty="0" err="1"/>
              <a:t>liệu</a:t>
            </a:r>
            <a:r>
              <a:rPr lang="en-US" sz="2800" dirty="0"/>
              <a:t>, so </a:t>
            </a:r>
            <a:r>
              <a:rPr lang="en-US" sz="2800" dirty="0" err="1"/>
              <a:t>sánh</a:t>
            </a:r>
            <a:r>
              <a:rPr lang="en-US" sz="2800" dirty="0"/>
              <a:t> </a:t>
            </a:r>
            <a:r>
              <a:rPr lang="en-US" sz="2800" dirty="0" err="1"/>
              <a:t>kết</a:t>
            </a:r>
            <a:r>
              <a:rPr lang="en-US" sz="2800" dirty="0"/>
              <a:t> </a:t>
            </a:r>
            <a:r>
              <a:rPr lang="en-US" sz="2800" dirty="0" err="1"/>
              <a:t>quả</a:t>
            </a:r>
            <a:r>
              <a:rPr lang="en-US" sz="2800" dirty="0"/>
              <a:t> </a:t>
            </a:r>
            <a:r>
              <a:rPr lang="en-US" sz="2800" dirty="0" err="1"/>
              <a:t>với</a:t>
            </a:r>
            <a:r>
              <a:rPr lang="en-US" sz="2800" dirty="0"/>
              <a:t> </a:t>
            </a:r>
            <a:r>
              <a:rPr lang="en-US" sz="2800" dirty="0" err="1"/>
              <a:t>kết</a:t>
            </a:r>
            <a:r>
              <a:rPr lang="en-US" sz="2800" dirty="0"/>
              <a:t> </a:t>
            </a:r>
            <a:r>
              <a:rPr lang="en-US" sz="2800" dirty="0" err="1"/>
              <a:t>quả</a:t>
            </a:r>
            <a:r>
              <a:rPr lang="en-US" sz="2800" dirty="0"/>
              <a:t> </a:t>
            </a:r>
            <a:r>
              <a:rPr lang="en-US" sz="2800" dirty="0" err="1"/>
              <a:t>đã</a:t>
            </a:r>
            <a:r>
              <a:rPr lang="en-US" sz="2800" dirty="0"/>
              <a:t> </a:t>
            </a:r>
            <a:r>
              <a:rPr lang="en-US" sz="2800" dirty="0" err="1"/>
              <a:t>biết</a:t>
            </a:r>
            <a:r>
              <a:rPr lang="en-US" sz="2800" dirty="0"/>
              <a:t>.</a:t>
            </a:r>
          </a:p>
          <a:p>
            <a:pPr eaLnBrk="1" hangingPunct="1">
              <a:lnSpc>
                <a:spcPct val="90000"/>
              </a:lnSpc>
              <a:defRPr/>
            </a:pPr>
            <a:r>
              <a:rPr lang="en-US" sz="2800" dirty="0" err="1"/>
              <a:t>Các</a:t>
            </a:r>
            <a:r>
              <a:rPr lang="en-US" sz="2800" dirty="0"/>
              <a:t> </a:t>
            </a:r>
            <a:r>
              <a:rPr lang="en-US" sz="2800" dirty="0" err="1"/>
              <a:t>công</a:t>
            </a:r>
            <a:r>
              <a:rPr lang="en-US" sz="2800" dirty="0"/>
              <a:t> </a:t>
            </a:r>
            <a:r>
              <a:rPr lang="en-US" sz="2800" dirty="0" err="1"/>
              <a:t>cụ</a:t>
            </a:r>
            <a:r>
              <a:rPr lang="en-US" sz="2800" dirty="0"/>
              <a:t> </a:t>
            </a:r>
            <a:r>
              <a:rPr lang="en-US" sz="2800" dirty="0" err="1"/>
              <a:t>toán</a:t>
            </a:r>
            <a:r>
              <a:rPr lang="en-US" sz="2800" dirty="0"/>
              <a:t> </a:t>
            </a:r>
            <a:r>
              <a:rPr lang="en-US" sz="2800" dirty="0" err="1"/>
              <a:t>học</a:t>
            </a:r>
            <a:r>
              <a:rPr lang="en-US" sz="2800" dirty="0"/>
              <a:t> </a:t>
            </a:r>
            <a:r>
              <a:rPr lang="en-US" sz="2800" dirty="0" err="1"/>
              <a:t>chứng</a:t>
            </a:r>
            <a:r>
              <a:rPr lang="en-US" sz="2800" dirty="0"/>
              <a:t> minh </a:t>
            </a:r>
            <a:r>
              <a:rPr lang="en-US" sz="2800" dirty="0" err="1"/>
              <a:t>tính</a:t>
            </a:r>
            <a:r>
              <a:rPr lang="en-US" sz="2800" dirty="0"/>
              <a:t> </a:t>
            </a:r>
            <a:r>
              <a:rPr lang="en-US" sz="2800" dirty="0" err="1"/>
              <a:t>đúng</a:t>
            </a:r>
            <a:r>
              <a:rPr lang="en-US" sz="2800" dirty="0"/>
              <a:t> </a:t>
            </a:r>
            <a:r>
              <a:rPr lang="en-US" sz="2800" dirty="0" err="1"/>
              <a:t>đắn</a:t>
            </a:r>
            <a:r>
              <a:rPr lang="en-US" sz="2800" dirty="0"/>
              <a:t> </a:t>
            </a:r>
            <a:r>
              <a:rPr lang="en-US" sz="2800" dirty="0" err="1"/>
              <a:t>của</a:t>
            </a:r>
            <a:r>
              <a:rPr lang="en-US" sz="2800" dirty="0"/>
              <a:t> </a:t>
            </a:r>
            <a:r>
              <a:rPr lang="en-US" sz="2800" dirty="0" err="1"/>
              <a:t>giải</a:t>
            </a:r>
            <a:r>
              <a:rPr lang="en-US" sz="2800" dirty="0"/>
              <a:t> </a:t>
            </a:r>
            <a:r>
              <a:rPr lang="en-US" sz="2800" dirty="0" err="1"/>
              <a:t>thuật</a:t>
            </a:r>
            <a:r>
              <a:rPr lang="en-US" sz="2800" dirty="0"/>
              <a:t>.</a:t>
            </a:r>
          </a:p>
          <a:p>
            <a:pPr eaLnBrk="1" hangingPunct="1">
              <a:lnSpc>
                <a:spcPct val="90000"/>
              </a:lnSpc>
              <a:defRPr/>
            </a:pPr>
            <a:r>
              <a:rPr lang="en-US" sz="2800" dirty="0" err="1"/>
              <a:t>Tính</a:t>
            </a:r>
            <a:r>
              <a:rPr lang="en-US" sz="2800" dirty="0"/>
              <a:t> </a:t>
            </a:r>
            <a:r>
              <a:rPr lang="en-US" sz="2800" dirty="0" err="1"/>
              <a:t>đơn</a:t>
            </a:r>
            <a:r>
              <a:rPr lang="en-US" sz="2800" dirty="0"/>
              <a:t> </a:t>
            </a:r>
            <a:r>
              <a:rPr lang="en-US" sz="2800" dirty="0" err="1"/>
              <a:t>giản</a:t>
            </a:r>
            <a:r>
              <a:rPr lang="en-US" sz="2800" dirty="0"/>
              <a:t>: </a:t>
            </a:r>
            <a:r>
              <a:rPr lang="en-US" sz="2800" dirty="0" err="1"/>
              <a:t>Dễ</a:t>
            </a:r>
            <a:r>
              <a:rPr lang="en-US" sz="2800" dirty="0"/>
              <a:t> </a:t>
            </a:r>
            <a:r>
              <a:rPr lang="en-US" sz="2800" dirty="0" err="1"/>
              <a:t>hiểu</a:t>
            </a:r>
            <a:r>
              <a:rPr lang="en-US" sz="2800" dirty="0"/>
              <a:t>, </a:t>
            </a:r>
            <a:r>
              <a:rPr lang="en-US" sz="2800" dirty="0" err="1"/>
              <a:t>dễ</a:t>
            </a:r>
            <a:r>
              <a:rPr lang="en-US" sz="2800" dirty="0"/>
              <a:t> </a:t>
            </a:r>
            <a:r>
              <a:rPr lang="en-US" sz="2800" dirty="0" err="1"/>
              <a:t>lập</a:t>
            </a:r>
            <a:r>
              <a:rPr lang="en-US" sz="2800" dirty="0"/>
              <a:t> </a:t>
            </a:r>
            <a:r>
              <a:rPr lang="en-US" sz="2800" dirty="0" err="1"/>
              <a:t>trình</a:t>
            </a:r>
            <a:r>
              <a:rPr lang="en-US" sz="2800" dirty="0"/>
              <a:t>, </a:t>
            </a:r>
            <a:r>
              <a:rPr lang="en-US" sz="2800" dirty="0" err="1"/>
              <a:t>dễ</a:t>
            </a:r>
            <a:r>
              <a:rPr lang="en-US" sz="2800" dirty="0"/>
              <a:t> </a:t>
            </a:r>
            <a:r>
              <a:rPr lang="en-US" sz="2800" dirty="0" err="1"/>
              <a:t>chỉnh</a:t>
            </a:r>
            <a:r>
              <a:rPr lang="en-US" sz="2800" dirty="0"/>
              <a:t> </a:t>
            </a:r>
            <a:r>
              <a:rPr lang="en-US" sz="2800" dirty="0" err="1"/>
              <a:t>lý</a:t>
            </a:r>
            <a:r>
              <a:rPr lang="en-US" sz="2800" dirty="0"/>
              <a:t>.</a:t>
            </a:r>
          </a:p>
          <a:p>
            <a:pPr eaLnBrk="1" hangingPunct="1">
              <a:lnSpc>
                <a:spcPct val="90000"/>
              </a:lnSpc>
              <a:defRPr/>
            </a:pPr>
            <a:r>
              <a:rPr lang="en-US" sz="2800" dirty="0" err="1"/>
              <a:t>Phân</a:t>
            </a:r>
            <a:r>
              <a:rPr lang="en-US" sz="2800" dirty="0"/>
              <a:t> </a:t>
            </a:r>
            <a:r>
              <a:rPr lang="en-US" sz="2800" dirty="0" err="1"/>
              <a:t>tích</a:t>
            </a:r>
            <a:r>
              <a:rPr lang="en-US" sz="2800" dirty="0"/>
              <a:t> </a:t>
            </a:r>
            <a:r>
              <a:rPr lang="en-US" sz="2800" dirty="0" err="1"/>
              <a:t>thời</a:t>
            </a:r>
            <a:r>
              <a:rPr lang="en-US" sz="2800" dirty="0"/>
              <a:t> </a:t>
            </a:r>
            <a:r>
              <a:rPr lang="en-US" sz="2800" dirty="0" err="1"/>
              <a:t>gian</a:t>
            </a:r>
            <a:r>
              <a:rPr lang="en-US" sz="2800" dirty="0"/>
              <a:t>: </a:t>
            </a:r>
            <a:r>
              <a:rPr lang="en-US" sz="2800" dirty="0" err="1"/>
              <a:t>Thời</a:t>
            </a:r>
            <a:r>
              <a:rPr lang="en-US" sz="2800" dirty="0"/>
              <a:t> </a:t>
            </a:r>
            <a:r>
              <a:rPr lang="en-US" sz="2800" dirty="0" err="1"/>
              <a:t>gian</a:t>
            </a:r>
            <a:r>
              <a:rPr lang="en-US" sz="2800" dirty="0"/>
              <a:t> </a:t>
            </a:r>
            <a:r>
              <a:rPr lang="en-US" sz="2800" dirty="0" err="1"/>
              <a:t>thực</a:t>
            </a:r>
            <a:r>
              <a:rPr lang="en-US" sz="2800" dirty="0"/>
              <a:t> </a:t>
            </a:r>
            <a:r>
              <a:rPr lang="en-US" sz="2800" dirty="0" err="1"/>
              <a:t>hiện</a:t>
            </a:r>
            <a:r>
              <a:rPr lang="en-US" sz="2800" dirty="0"/>
              <a:t> </a:t>
            </a:r>
            <a:r>
              <a:rPr lang="en-US" sz="2800" dirty="0" err="1"/>
              <a:t>giải</a:t>
            </a:r>
            <a:r>
              <a:rPr lang="en-US" sz="2800" dirty="0"/>
              <a:t> </a:t>
            </a:r>
            <a:r>
              <a:rPr lang="en-US" sz="2800" dirty="0" err="1"/>
              <a:t>thuật</a:t>
            </a:r>
            <a:r>
              <a:rPr lang="en-US" sz="2800" dirty="0"/>
              <a:t> </a:t>
            </a:r>
            <a:r>
              <a:rPr lang="en-US" sz="2800" dirty="0" err="1"/>
              <a:t>là</a:t>
            </a:r>
            <a:r>
              <a:rPr lang="en-US" sz="2800" dirty="0"/>
              <a:t> </a:t>
            </a:r>
            <a:r>
              <a:rPr lang="en-US" sz="2800" dirty="0" err="1"/>
              <a:t>tiêu</a:t>
            </a:r>
            <a:r>
              <a:rPr lang="en-US" sz="2800" dirty="0"/>
              <a:t> </a:t>
            </a:r>
            <a:r>
              <a:rPr lang="en-US" sz="2800" dirty="0" err="1"/>
              <a:t>chuẩn</a:t>
            </a:r>
            <a:r>
              <a:rPr lang="en-US" sz="2800" dirty="0"/>
              <a:t> </a:t>
            </a:r>
            <a:r>
              <a:rPr lang="en-US" sz="2800" dirty="0" err="1"/>
              <a:t>đánh</a:t>
            </a:r>
            <a:r>
              <a:rPr lang="en-US" sz="2800" dirty="0"/>
              <a:t> </a:t>
            </a:r>
            <a:r>
              <a:rPr lang="en-US" sz="2800" dirty="0" err="1"/>
              <a:t>giá</a:t>
            </a:r>
            <a:r>
              <a:rPr lang="en-US" sz="2800" dirty="0"/>
              <a:t> </a:t>
            </a:r>
            <a:r>
              <a:rPr lang="en-US" sz="2800" dirty="0" err="1"/>
              <a:t>hiệu</a:t>
            </a:r>
            <a:r>
              <a:rPr lang="en-US" sz="2800" dirty="0"/>
              <a:t> </a:t>
            </a:r>
            <a:r>
              <a:rPr lang="en-US" sz="2800" dirty="0" err="1"/>
              <a:t>lực</a:t>
            </a:r>
            <a:r>
              <a:rPr lang="en-US" sz="2800" dirty="0"/>
              <a:t> </a:t>
            </a:r>
            <a:r>
              <a:rPr lang="en-US" sz="2800" dirty="0" err="1"/>
              <a:t>của</a:t>
            </a:r>
            <a:r>
              <a:rPr lang="en-US" sz="2800" dirty="0"/>
              <a:t> </a:t>
            </a:r>
            <a:r>
              <a:rPr lang="en-US" sz="2800" dirty="0" err="1"/>
              <a:t>giải</a:t>
            </a:r>
            <a:r>
              <a:rPr lang="en-US" sz="2800" dirty="0"/>
              <a:t> </a:t>
            </a:r>
            <a:r>
              <a:rPr lang="en-US" sz="2800" dirty="0" err="1"/>
              <a:t>thuật</a:t>
            </a:r>
            <a:r>
              <a:rPr lang="en-US" sz="2800" dirty="0"/>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E2F5BE9C-B9DB-4C12-9487-BCD0BCA0E176}" type="slidenum">
              <a:rPr lang="en-US"/>
              <a:pPr>
                <a:defRPr/>
              </a:pPr>
              <a:t>19</a:t>
            </a:fld>
            <a:endParaRPr lang="en-US"/>
          </a:p>
        </p:txBody>
      </p:sp>
      <p:sp>
        <p:nvSpPr>
          <p:cNvPr id="227330" name="Rectangle 2"/>
          <p:cNvSpPr>
            <a:spLocks noGrp="1" noChangeArrowheads="1"/>
          </p:cNvSpPr>
          <p:nvPr>
            <p:ph type="title"/>
          </p:nvPr>
        </p:nvSpPr>
        <p:spPr/>
        <p:txBody>
          <a:bodyPr/>
          <a:lstStyle/>
          <a:p>
            <a:pPr eaLnBrk="1" hangingPunct="1">
              <a:defRPr/>
            </a:pPr>
            <a:r>
              <a:rPr lang="en-US" sz="4000"/>
              <a:t>3.2.2. Phân tích thời gian thực hiện giải thuật</a:t>
            </a:r>
          </a:p>
        </p:txBody>
      </p:sp>
      <p:sp>
        <p:nvSpPr>
          <p:cNvPr id="227331" name="Rectangle 3"/>
          <p:cNvSpPr>
            <a:spLocks noGrp="1" noChangeArrowheads="1"/>
          </p:cNvSpPr>
          <p:nvPr>
            <p:ph type="body" idx="1"/>
          </p:nvPr>
        </p:nvSpPr>
        <p:spPr>
          <a:xfrm>
            <a:off x="233363" y="1600200"/>
            <a:ext cx="8705850" cy="4910138"/>
          </a:xfrm>
        </p:spPr>
        <p:txBody>
          <a:bodyPr/>
          <a:lstStyle/>
          <a:p>
            <a:pPr eaLnBrk="1" hangingPunct="1">
              <a:lnSpc>
                <a:spcPct val="90000"/>
              </a:lnSpc>
              <a:defRPr/>
            </a:pPr>
            <a:r>
              <a:rPr lang="en-US" sz="2800"/>
              <a:t>Với một bài toán có nhiều giải thuật, ta cần chọn giải thuật dẫn đến kết quả nhanh nhất.</a:t>
            </a:r>
          </a:p>
          <a:p>
            <a:pPr eaLnBrk="1" hangingPunct="1">
              <a:lnSpc>
                <a:spcPct val="90000"/>
              </a:lnSpc>
              <a:defRPr/>
            </a:pPr>
            <a:r>
              <a:rPr lang="en-US" sz="2800"/>
              <a:t>Thời gian thực hiện phụ thuộc vào nhiều yếu tố như:</a:t>
            </a:r>
          </a:p>
          <a:p>
            <a:pPr lvl="1" eaLnBrk="1" hangingPunct="1">
              <a:lnSpc>
                <a:spcPct val="90000"/>
              </a:lnSpc>
              <a:defRPr/>
            </a:pPr>
            <a:r>
              <a:rPr lang="en-US" sz="2400"/>
              <a:t>Kích thước của dữ liệu vào. Nếu gọi n là kích thước của dữ liệu vào thì thời gian thực hiện T của một giải thuật phải được biểu diễn như một hàm của n: T(n)</a:t>
            </a:r>
          </a:p>
          <a:p>
            <a:pPr lvl="1" eaLnBrk="1" hangingPunct="1">
              <a:lnSpc>
                <a:spcPct val="90000"/>
              </a:lnSpc>
              <a:defRPr/>
            </a:pPr>
            <a:r>
              <a:rPr lang="en-US" sz="2400"/>
              <a:t>Các kiểu lệnh, tốc độ xử lý của máy tính, ngôn ngữ viết chương trình, chương trình dịch cũng ảnh hưởng đến tốc độ thực hiện. Nhưng những yếu tố này không đồng đều với mỗi loại máy tính, vì vậy không thể đưa chúng vào xác lập T(n). Điều đó cũng có nghĩa là T(n) không thể tính theo đơn vị giây, phút…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28010549-9D75-4D7A-B277-0ADAB2A76203}" type="slidenum">
              <a:rPr lang="en-US"/>
              <a:pPr>
                <a:defRPr/>
              </a:pPr>
              <a:t>20</a:t>
            </a:fld>
            <a:endParaRPr lang="en-US"/>
          </a:p>
        </p:txBody>
      </p:sp>
      <p:sp>
        <p:nvSpPr>
          <p:cNvPr id="228354" name="Rectangle 2"/>
          <p:cNvSpPr>
            <a:spLocks noGrp="1" noChangeArrowheads="1"/>
          </p:cNvSpPr>
          <p:nvPr>
            <p:ph type="title"/>
          </p:nvPr>
        </p:nvSpPr>
        <p:spPr>
          <a:xfrm>
            <a:off x="457200" y="277813"/>
            <a:ext cx="8229600" cy="741362"/>
          </a:xfrm>
        </p:spPr>
        <p:txBody>
          <a:bodyPr/>
          <a:lstStyle/>
          <a:p>
            <a:pPr eaLnBrk="1" hangingPunct="1">
              <a:defRPr/>
            </a:pPr>
            <a:r>
              <a:rPr lang="en-US" sz="3200"/>
              <a:t>3.2.3. Độ phức tạp tính toán của giải thuật</a:t>
            </a:r>
          </a:p>
        </p:txBody>
      </p:sp>
      <p:sp>
        <p:nvSpPr>
          <p:cNvPr id="228355" name="Rectangle 3"/>
          <p:cNvSpPr>
            <a:spLocks noGrp="1" noChangeArrowheads="1"/>
          </p:cNvSpPr>
          <p:nvPr>
            <p:ph type="body" idx="1"/>
          </p:nvPr>
        </p:nvSpPr>
        <p:spPr>
          <a:xfrm>
            <a:off x="246063" y="1216025"/>
            <a:ext cx="8732837" cy="5175250"/>
          </a:xfrm>
        </p:spPr>
        <p:txBody>
          <a:bodyPr/>
          <a:lstStyle/>
          <a:p>
            <a:pPr eaLnBrk="1" hangingPunct="1">
              <a:lnSpc>
                <a:spcPct val="90000"/>
              </a:lnSpc>
              <a:defRPr/>
            </a:pPr>
            <a:r>
              <a:rPr lang="en-US" sz="2400"/>
              <a:t>Cách đánh giá thời gian thực hiện giải thuật không phụ thuộc vào máy tính và các yếu tố liên quan mà </a:t>
            </a:r>
            <a:r>
              <a:rPr lang="en-US" sz="2400" b="1">
                <a:solidFill>
                  <a:srgbClr val="FFC000"/>
                </a:solidFill>
              </a:rPr>
              <a:t>chỉ phụ thuộc vào kích thước dữ liệu đầu vào</a:t>
            </a:r>
            <a:r>
              <a:rPr lang="en-US" sz="2400"/>
              <a:t> được gọi là đánh giá theo “Độ phức tạp tính toán của giải thuật”.</a:t>
            </a:r>
          </a:p>
          <a:p>
            <a:r>
              <a:rPr lang="en-US" sz="2400"/>
              <a:t>Gọi T là thời gian thực hiện giải thuật; gọi n là kích thước dữ liệu đầu vào =&gt; theo khai niệm trên: T = f(n)</a:t>
            </a:r>
          </a:p>
          <a:p>
            <a:pPr eaLnBrk="1" hangingPunct="1">
              <a:lnSpc>
                <a:spcPct val="90000"/>
              </a:lnSpc>
              <a:defRPr/>
            </a:pPr>
            <a:r>
              <a:rPr lang="en-US" sz="2400"/>
              <a:t>Định nghĩa toán học: Hàm f(n) được gọi là có độ phức tạp tính toán cấp g(n), kí hiệu là f(n) = O(g(n)), nếu tồn tại một hằng số C và một giá trị n</a:t>
            </a:r>
            <a:r>
              <a:rPr lang="en-US" sz="2400" baseline="-25000"/>
              <a:t>0</a:t>
            </a:r>
            <a:r>
              <a:rPr lang="en-US" sz="2400"/>
              <a:t> sao cho:</a:t>
            </a:r>
          </a:p>
          <a:p>
            <a:pPr algn="ctr" eaLnBrk="1" hangingPunct="1">
              <a:lnSpc>
                <a:spcPct val="90000"/>
              </a:lnSpc>
              <a:buFont typeface="Wingdings" pitchFamily="2" charset="2"/>
              <a:buNone/>
              <a:defRPr/>
            </a:pPr>
            <a:r>
              <a:rPr lang="en-US" sz="2400"/>
              <a:t>	f(n) ≤ Cg(n) với mọi n </a:t>
            </a:r>
            <a:r>
              <a:rPr lang="en-US" sz="2400">
                <a:sym typeface="Symbol" pitchFamily="18" charset="2"/>
              </a:rPr>
              <a:t> n</a:t>
            </a:r>
            <a:r>
              <a:rPr lang="en-US" sz="2400" baseline="-25000">
                <a:sym typeface="Symbol" pitchFamily="18" charset="2"/>
              </a:rPr>
              <a:t>0</a:t>
            </a:r>
            <a:r>
              <a:rPr lang="en-US" sz="2400">
                <a:sym typeface="Symbol" pitchFamily="18" charset="2"/>
              </a:rPr>
              <a:t> </a:t>
            </a:r>
          </a:p>
          <a:p>
            <a:pPr eaLnBrk="1" hangingPunct="1">
              <a:lnSpc>
                <a:spcPct val="90000"/>
              </a:lnSpc>
              <a:buFont typeface="Wingdings" pitchFamily="2" charset="2"/>
              <a:buNone/>
              <a:defRPr/>
            </a:pPr>
            <a:r>
              <a:rPr lang="en-US" sz="2400"/>
              <a:t>	nghĩa là hàm f(n) bị chặn trên bởi Cg(n), với C là hằng số và với mọi n từ một điểm nào đó. </a:t>
            </a:r>
          </a:p>
          <a:p>
            <a:pPr lvl="1" eaLnBrk="1" hangingPunct="1">
              <a:lnSpc>
                <a:spcPct val="90000"/>
              </a:lnSpc>
              <a:defRPr/>
            </a:pPr>
            <a:r>
              <a:rPr lang="en-US" sz="2000"/>
              <a:t>Ví dụ 1: f(n) = O(n</a:t>
            </a:r>
            <a:r>
              <a:rPr lang="en-US" sz="2000" baseline="30000"/>
              <a:t>3</a:t>
            </a:r>
            <a:r>
              <a:rPr lang="en-US" sz="2000"/>
              <a:t>)  có nghĩa độ phức tạp tính toán cấp n</a:t>
            </a:r>
            <a:r>
              <a:rPr lang="en-US" sz="2000" baseline="30000"/>
              <a:t>3</a:t>
            </a:r>
          </a:p>
          <a:p>
            <a:pPr lvl="1" eaLnBrk="1" hangingPunct="1">
              <a:lnSpc>
                <a:spcPct val="90000"/>
              </a:lnSpc>
              <a:defRPr/>
            </a:pPr>
            <a:r>
              <a:rPr lang="en-US" sz="2000"/>
              <a:t>Ví dụ 2: f(n) = O(2</a:t>
            </a:r>
            <a:r>
              <a:rPr lang="en-US" sz="2000" baseline="30000"/>
              <a:t>n</a:t>
            </a:r>
            <a:r>
              <a:rPr lang="en-US" sz="2000"/>
              <a:t>)  có nghĩa độ phức tạp tính toán cấp 2</a:t>
            </a:r>
            <a:r>
              <a:rPr lang="en-US" sz="2000" baseline="30000"/>
              <a:t>n</a:t>
            </a:r>
            <a:r>
              <a:rPr lang="en-US" sz="200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quarter" idx="10"/>
          </p:nvPr>
        </p:nvSpPr>
        <p:spPr/>
        <p:txBody>
          <a:bodyPr/>
          <a:lstStyle/>
          <a:p>
            <a:pPr>
              <a:defRPr/>
            </a:pPr>
            <a:r>
              <a:rPr lang="en-US"/>
              <a:t>Ngô Công Thắng</a:t>
            </a:r>
          </a:p>
        </p:txBody>
      </p:sp>
      <p:sp>
        <p:nvSpPr>
          <p:cNvPr id="6" name="Footer Placeholder 5"/>
          <p:cNvSpPr>
            <a:spLocks noGrp="1"/>
          </p:cNvSpPr>
          <p:nvPr>
            <p:ph type="ftr" sz="quarter" idx="11"/>
          </p:nvPr>
        </p:nvSpPr>
        <p:spPr/>
        <p:txBody>
          <a:bodyPr/>
          <a:lstStyle/>
          <a:p>
            <a:pPr>
              <a:defRPr/>
            </a:pPr>
            <a:r>
              <a:rPr lang="en-US"/>
              <a:t>Bài giảng Cấu trúc dữ liệu và giải thuật  -  Chương 01</a:t>
            </a:r>
          </a:p>
        </p:txBody>
      </p:sp>
      <p:sp>
        <p:nvSpPr>
          <p:cNvPr id="7" name="Slide Number Placeholder 6"/>
          <p:cNvSpPr>
            <a:spLocks noGrp="1"/>
          </p:cNvSpPr>
          <p:nvPr>
            <p:ph type="sldNum" sz="quarter" idx="12"/>
          </p:nvPr>
        </p:nvSpPr>
        <p:spPr/>
        <p:txBody>
          <a:bodyPr/>
          <a:lstStyle/>
          <a:p>
            <a:pPr>
              <a:defRPr/>
            </a:pPr>
            <a:r>
              <a:rPr lang="en-US"/>
              <a:t>1.</a:t>
            </a:r>
            <a:fld id="{89649BBE-D956-42A1-8DDD-1AD6B33F4753}" type="slidenum">
              <a:rPr lang="en-US"/>
              <a:pPr>
                <a:defRPr/>
              </a:pPr>
              <a:t>21</a:t>
            </a:fld>
            <a:endParaRPr lang="en-US"/>
          </a:p>
        </p:txBody>
      </p:sp>
      <p:sp>
        <p:nvSpPr>
          <p:cNvPr id="230402" name="Rectangle 2"/>
          <p:cNvSpPr>
            <a:spLocks noGrp="1" noChangeArrowheads="1"/>
          </p:cNvSpPr>
          <p:nvPr>
            <p:ph type="title"/>
          </p:nvPr>
        </p:nvSpPr>
        <p:spPr/>
        <p:txBody>
          <a:bodyPr/>
          <a:lstStyle/>
          <a:p>
            <a:pPr eaLnBrk="1" hangingPunct="1">
              <a:defRPr/>
            </a:pPr>
            <a:r>
              <a:rPr lang="en-US" sz="4000"/>
              <a:t>3.2.3. Độ phức tạp tính toán của giải thuật (</a:t>
            </a:r>
            <a:r>
              <a:rPr lang="en-US" sz="4000" i="1"/>
              <a:t>tiếp</a:t>
            </a:r>
            <a:r>
              <a:rPr lang="en-US" sz="4000"/>
              <a:t>) </a:t>
            </a:r>
          </a:p>
        </p:txBody>
      </p:sp>
      <p:sp>
        <p:nvSpPr>
          <p:cNvPr id="230403" name="Rectangle 3"/>
          <p:cNvSpPr>
            <a:spLocks noGrp="1" noChangeArrowheads="1"/>
          </p:cNvSpPr>
          <p:nvPr>
            <p:ph type="body" sz="half" idx="1"/>
          </p:nvPr>
        </p:nvSpPr>
        <p:spPr>
          <a:xfrm>
            <a:off x="457200" y="1600200"/>
            <a:ext cx="8229600" cy="1960563"/>
          </a:xfrm>
        </p:spPr>
        <p:txBody>
          <a:bodyPr/>
          <a:lstStyle/>
          <a:p>
            <a:pPr eaLnBrk="1" hangingPunct="1">
              <a:defRPr/>
            </a:pPr>
            <a:r>
              <a:rPr lang="en-US" sz="2400"/>
              <a:t>Các hàm cấp độ phức tạp tính toán của giải thuật có các dạng sau: </a:t>
            </a:r>
            <a:r>
              <a:rPr lang="en-US" sz="2400" b="1">
                <a:solidFill>
                  <a:srgbClr val="FFC000"/>
                </a:solidFill>
              </a:rPr>
              <a:t>n</a:t>
            </a:r>
            <a:r>
              <a:rPr lang="en-US" sz="2400" b="1" baseline="30000">
                <a:solidFill>
                  <a:srgbClr val="FFC000"/>
                </a:solidFill>
              </a:rPr>
              <a:t>n</a:t>
            </a:r>
            <a:r>
              <a:rPr lang="en-US" sz="2400" b="1">
                <a:solidFill>
                  <a:srgbClr val="FFC000"/>
                </a:solidFill>
              </a:rPr>
              <a:t>, n!, 2</a:t>
            </a:r>
            <a:r>
              <a:rPr lang="en-US" sz="2400" b="1" baseline="30000">
                <a:solidFill>
                  <a:srgbClr val="FFC000"/>
                </a:solidFill>
              </a:rPr>
              <a:t>n</a:t>
            </a:r>
            <a:r>
              <a:rPr lang="en-US" sz="2400" b="1">
                <a:solidFill>
                  <a:srgbClr val="FFC000"/>
                </a:solidFill>
              </a:rPr>
              <a:t>, n</a:t>
            </a:r>
            <a:r>
              <a:rPr lang="en-US" sz="2400" b="1" baseline="30000">
                <a:solidFill>
                  <a:srgbClr val="FFC000"/>
                </a:solidFill>
              </a:rPr>
              <a:t>3</a:t>
            </a:r>
            <a:r>
              <a:rPr lang="en-US" sz="2400" b="1">
                <a:solidFill>
                  <a:srgbClr val="FFC000"/>
                </a:solidFill>
              </a:rPr>
              <a:t>, n</a:t>
            </a:r>
            <a:r>
              <a:rPr lang="en-US" sz="2400" b="1" baseline="30000">
                <a:solidFill>
                  <a:srgbClr val="FFC000"/>
                </a:solidFill>
              </a:rPr>
              <a:t>2</a:t>
            </a:r>
            <a:r>
              <a:rPr lang="en-US" sz="2400" b="1">
                <a:solidFill>
                  <a:srgbClr val="FFC000"/>
                </a:solidFill>
              </a:rPr>
              <a:t>, nlog</a:t>
            </a:r>
            <a:r>
              <a:rPr lang="en-US" sz="2400" b="1" baseline="-25000">
                <a:solidFill>
                  <a:srgbClr val="FFC000"/>
                </a:solidFill>
              </a:rPr>
              <a:t>2</a:t>
            </a:r>
            <a:r>
              <a:rPr lang="en-US" sz="2400" b="1">
                <a:solidFill>
                  <a:srgbClr val="FFC000"/>
                </a:solidFill>
              </a:rPr>
              <a:t>n, n, log</a:t>
            </a:r>
            <a:r>
              <a:rPr lang="en-US" sz="2400" b="1" baseline="-25000">
                <a:solidFill>
                  <a:srgbClr val="FFC000"/>
                </a:solidFill>
              </a:rPr>
              <a:t>2</a:t>
            </a:r>
            <a:r>
              <a:rPr lang="en-US" sz="2400" b="1">
                <a:solidFill>
                  <a:srgbClr val="FFC000"/>
                </a:solidFill>
              </a:rPr>
              <a:t>n</a:t>
            </a:r>
            <a:r>
              <a:rPr lang="en-US" sz="2400"/>
              <a:t>. Các hàm này đã được sắp theo giá trị giảm dần, có nghĩa là với cùng một giá trị của n, hàm n</a:t>
            </a:r>
            <a:r>
              <a:rPr lang="en-US" sz="2400" baseline="30000"/>
              <a:t>n</a:t>
            </a:r>
            <a:r>
              <a:rPr lang="en-US" sz="2400"/>
              <a:t> là lớn nhất, log</a:t>
            </a:r>
            <a:r>
              <a:rPr lang="en-US" sz="2400" baseline="-25000"/>
              <a:t>2</a:t>
            </a:r>
            <a:r>
              <a:rPr lang="en-US" sz="2400"/>
              <a:t>n  là nhỏ nhất. Các hàm này có dạng đồ thị như sau:</a:t>
            </a:r>
          </a:p>
        </p:txBody>
      </p:sp>
      <p:pic>
        <p:nvPicPr>
          <p:cNvPr id="53255" name="Picture 5"/>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868488" y="3505200"/>
            <a:ext cx="5100637" cy="2905125"/>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34E4BF92-A2B3-4BDC-9F51-5FEBD886BC30}" type="slidenum">
              <a:rPr lang="en-US"/>
              <a:pPr>
                <a:defRPr/>
              </a:pPr>
              <a:t>22</a:t>
            </a:fld>
            <a:endParaRPr lang="en-US"/>
          </a:p>
        </p:txBody>
      </p:sp>
      <p:sp>
        <p:nvSpPr>
          <p:cNvPr id="232450" name="Rectangle 2"/>
          <p:cNvSpPr>
            <a:spLocks noGrp="1" noChangeArrowheads="1"/>
          </p:cNvSpPr>
          <p:nvPr>
            <p:ph type="title"/>
          </p:nvPr>
        </p:nvSpPr>
        <p:spPr/>
        <p:txBody>
          <a:bodyPr/>
          <a:lstStyle/>
          <a:p>
            <a:pPr eaLnBrk="1" hangingPunct="1">
              <a:defRPr/>
            </a:pPr>
            <a:r>
              <a:rPr lang="en-US" sz="4000"/>
              <a:t>3.2.3. Độ phức tạp tính toán của giải thuật (</a:t>
            </a:r>
            <a:r>
              <a:rPr lang="en-US" sz="4000" i="1"/>
              <a:t>tiếp</a:t>
            </a:r>
            <a:r>
              <a:rPr lang="en-US" sz="4000"/>
              <a:t>)</a:t>
            </a:r>
          </a:p>
        </p:txBody>
      </p:sp>
      <p:sp>
        <p:nvSpPr>
          <p:cNvPr id="232451" name="Rectangle 3"/>
          <p:cNvSpPr>
            <a:spLocks noGrp="1" noChangeArrowheads="1"/>
          </p:cNvSpPr>
          <p:nvPr>
            <p:ph type="body" idx="1"/>
          </p:nvPr>
        </p:nvSpPr>
        <p:spPr/>
        <p:txBody>
          <a:bodyPr/>
          <a:lstStyle/>
          <a:p>
            <a:pPr eaLnBrk="1" hangingPunct="1">
              <a:defRPr/>
            </a:pPr>
            <a:r>
              <a:rPr lang="en-US"/>
              <a:t>Các hàm n</a:t>
            </a:r>
            <a:r>
              <a:rPr lang="en-US" baseline="30000"/>
              <a:t>n</a:t>
            </a:r>
            <a:r>
              <a:rPr lang="en-US"/>
              <a:t> , n! , 2</a:t>
            </a:r>
            <a:r>
              <a:rPr lang="en-US" baseline="30000"/>
              <a:t>n</a:t>
            </a:r>
            <a:r>
              <a:rPr lang="en-US"/>
              <a:t>  gọi là các hàm mũ. Một giải thuật có độ phức tạp tính toán cấp hàm mũ thì rất chậm, do đó khó được chấp nhận.</a:t>
            </a:r>
          </a:p>
          <a:p>
            <a:pPr eaLnBrk="1" hangingPunct="1">
              <a:defRPr/>
            </a:pPr>
            <a:r>
              <a:rPr lang="en-US"/>
              <a:t>Các hàm n</a:t>
            </a:r>
            <a:r>
              <a:rPr lang="en-US" baseline="30000"/>
              <a:t>3</a:t>
            </a:r>
            <a:r>
              <a:rPr lang="en-US"/>
              <a:t>, n</a:t>
            </a:r>
            <a:r>
              <a:rPr lang="en-US" baseline="30000"/>
              <a:t>2</a:t>
            </a:r>
            <a:r>
              <a:rPr lang="en-US"/>
              <a:t>, nlog</a:t>
            </a:r>
            <a:r>
              <a:rPr lang="en-US" baseline="-25000"/>
              <a:t>2</a:t>
            </a:r>
            <a:r>
              <a:rPr lang="en-US"/>
              <a:t>n, n, log</a:t>
            </a:r>
            <a:r>
              <a:rPr lang="en-US" baseline="-25000"/>
              <a:t>2</a:t>
            </a:r>
            <a:r>
              <a:rPr lang="en-US"/>
              <a:t>n là các hàm loại đa thức. Độ phức tạp tính toán của giải thuật có cấp đa thức thì chấp nhận được.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34E4BF92-A2B3-4BDC-9F51-5FEBD886BC30}" type="slidenum">
              <a:rPr lang="en-US"/>
              <a:pPr>
                <a:defRPr/>
              </a:pPr>
              <a:t>23</a:t>
            </a:fld>
            <a:endParaRPr lang="en-US"/>
          </a:p>
        </p:txBody>
      </p:sp>
      <p:sp>
        <p:nvSpPr>
          <p:cNvPr id="232450" name="Rectangle 2"/>
          <p:cNvSpPr>
            <a:spLocks noGrp="1" noChangeArrowheads="1"/>
          </p:cNvSpPr>
          <p:nvPr>
            <p:ph type="title"/>
          </p:nvPr>
        </p:nvSpPr>
        <p:spPr/>
        <p:txBody>
          <a:bodyPr/>
          <a:lstStyle/>
          <a:p>
            <a:pPr eaLnBrk="1" hangingPunct="1">
              <a:defRPr/>
            </a:pPr>
            <a:r>
              <a:rPr lang="en-US" sz="4000"/>
              <a:t>3.2.3. Độ phức tạp tính toán của giải thuật (</a:t>
            </a:r>
            <a:r>
              <a:rPr lang="en-US" sz="4000" i="1"/>
              <a:t>tiếp</a:t>
            </a:r>
            <a:r>
              <a:rPr lang="en-US" sz="4000"/>
              <a:t>)</a:t>
            </a:r>
          </a:p>
        </p:txBody>
      </p:sp>
      <p:sp>
        <p:nvSpPr>
          <p:cNvPr id="232451" name="Rectangle 3"/>
          <p:cNvSpPr>
            <a:spLocks noGrp="1" noChangeArrowheads="1"/>
          </p:cNvSpPr>
          <p:nvPr>
            <p:ph type="body" idx="1"/>
          </p:nvPr>
        </p:nvSpPr>
        <p:spPr/>
        <p:txBody>
          <a:bodyPr/>
          <a:lstStyle/>
          <a:p>
            <a:pPr eaLnBrk="1" hangingPunct="1">
              <a:defRPr/>
            </a:pPr>
            <a:r>
              <a:rPr lang="en-US"/>
              <a:t>Ý nghĩa của O</a:t>
            </a:r>
          </a:p>
          <a:p>
            <a:pPr lvl="1" eaLnBrk="1" hangingPunct="1">
              <a:defRPr/>
            </a:pPr>
            <a:r>
              <a:rPr lang="en-US"/>
              <a:t>Dùng để so sánh giữa các giải thuật của cùng một bài toán xem giải thuật nào tốt hơn, giải thuật tốt hơn là giải thuật có O nhỏ hơn.</a:t>
            </a:r>
          </a:p>
          <a:p>
            <a:pPr lvl="1" eaLnBrk="1" hangingPunct="1">
              <a:defRPr/>
            </a:pPr>
            <a:r>
              <a:rPr lang="en-US"/>
              <a:t>Cho biết thời gian thực hiện giải thuật thay đổi như thế nào khi kích thước dữ liệu đầu vào tăng. Với các O nhỏ, khi kích thước dữ liệu đầu vào tăng nhiều thì thời gian tăng ít. Với các O lớn, khi kích thước dữ liệu đầu vào hơi tăng một chút thì thời gian đã tăng vọt.</a:t>
            </a:r>
          </a:p>
        </p:txBody>
      </p:sp>
    </p:spTree>
    <p:extLst>
      <p:ext uri="{BB962C8B-B14F-4D97-AF65-F5344CB8AC3E}">
        <p14:creationId xmlns:p14="http://schemas.microsoft.com/office/powerpoint/2010/main" val="1743210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B812E6F8-F109-47E8-A2B6-40EE743C4E5E}" type="slidenum">
              <a:rPr lang="en-US"/>
              <a:pPr>
                <a:defRPr/>
              </a:pPr>
              <a:t>24</a:t>
            </a:fld>
            <a:endParaRPr lang="en-US"/>
          </a:p>
        </p:txBody>
      </p:sp>
      <p:sp>
        <p:nvSpPr>
          <p:cNvPr id="233474" name="Rectangle 2"/>
          <p:cNvSpPr>
            <a:spLocks noGrp="1" noChangeArrowheads="1"/>
          </p:cNvSpPr>
          <p:nvPr>
            <p:ph type="title"/>
          </p:nvPr>
        </p:nvSpPr>
        <p:spPr/>
        <p:txBody>
          <a:bodyPr/>
          <a:lstStyle/>
          <a:p>
            <a:pPr eaLnBrk="1" hangingPunct="1">
              <a:defRPr/>
            </a:pPr>
            <a:r>
              <a:rPr lang="en-US" sz="3600"/>
              <a:t>3.2.4. Xác định độ phức tạp tính toán</a:t>
            </a:r>
          </a:p>
        </p:txBody>
      </p:sp>
      <p:sp>
        <p:nvSpPr>
          <p:cNvPr id="233475" name="Rectangle 3"/>
          <p:cNvSpPr>
            <a:spLocks noGrp="1" noChangeArrowheads="1"/>
          </p:cNvSpPr>
          <p:nvPr>
            <p:ph type="body" idx="1"/>
          </p:nvPr>
        </p:nvSpPr>
        <p:spPr/>
        <p:txBody>
          <a:bodyPr/>
          <a:lstStyle/>
          <a:p>
            <a:pPr eaLnBrk="1" hangingPunct="1">
              <a:lnSpc>
                <a:spcPct val="90000"/>
              </a:lnSpc>
              <a:defRPr/>
            </a:pPr>
            <a:r>
              <a:rPr lang="en-US"/>
              <a:t>Quy tắc cộng:</a:t>
            </a:r>
          </a:p>
          <a:p>
            <a:pPr lvl="1" eaLnBrk="1" hangingPunct="1">
              <a:lnSpc>
                <a:spcPct val="90000"/>
              </a:lnSpc>
              <a:defRPr/>
            </a:pPr>
            <a:r>
              <a:rPr lang="en-US"/>
              <a:t>Giả sử T1(n) và T2(n) là thời gian thực hiện 2 đoạn chương trình P1 và P2 mà T1(n)= O(f(n)), T2(n)=O(g(n)), thì thời gian thực hiện P1 rồi đến P2 tiếp theo sẽ là:  T1(n) + T2(n) = O(max(f(n),g(n)))</a:t>
            </a:r>
          </a:p>
          <a:p>
            <a:pPr lvl="1" eaLnBrk="1" hangingPunct="1">
              <a:lnSpc>
                <a:spcPct val="90000"/>
              </a:lnSpc>
              <a:defRPr/>
            </a:pPr>
            <a:r>
              <a:rPr lang="en-US"/>
              <a:t>Ví dụ: Chương trình có 3 bước, mỗi bước có độ phức tạp tính toán lần lượt là O(n</a:t>
            </a:r>
            <a:r>
              <a:rPr lang="en-US" baseline="30000"/>
              <a:t>3</a:t>
            </a:r>
            <a:r>
              <a:rPr lang="en-US"/>
              <a:t>), O(n), O(nlog</a:t>
            </a:r>
            <a:r>
              <a:rPr lang="en-US" baseline="-25000"/>
              <a:t>2</a:t>
            </a:r>
            <a:r>
              <a:rPr lang="en-US"/>
              <a:t>n). Vậy thời gian thực hiện 3 bước là:</a:t>
            </a:r>
          </a:p>
          <a:p>
            <a:pPr lvl="1" eaLnBrk="1" hangingPunct="1">
              <a:lnSpc>
                <a:spcPct val="90000"/>
              </a:lnSpc>
              <a:buFont typeface="Wingdings" pitchFamily="2" charset="2"/>
              <a:buNone/>
              <a:defRPr/>
            </a:pPr>
            <a:r>
              <a:rPr lang="fr-FR"/>
              <a:t>	T1(n) + T2(n) + T3(n) = O(max(n</a:t>
            </a:r>
            <a:r>
              <a:rPr lang="fr-FR" baseline="30000"/>
              <a:t>3</a:t>
            </a:r>
            <a:r>
              <a:rPr lang="fr-FR"/>
              <a:t>, n, nlog</a:t>
            </a:r>
            <a:r>
              <a:rPr lang="fr-FR" baseline="-25000"/>
              <a:t>2</a:t>
            </a:r>
            <a:r>
              <a:rPr lang="fr-FR"/>
              <a:t>n) = O(n</a:t>
            </a:r>
            <a:r>
              <a:rPr lang="fr-FR" baseline="30000"/>
              <a:t>3</a:t>
            </a:r>
            <a:r>
              <a:rPr lang="fr-FR"/>
              <a:t>)</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6DF37821-B99B-4DD1-A10E-C14284AE8FB7}" type="slidenum">
              <a:rPr lang="en-US"/>
              <a:pPr>
                <a:defRPr/>
              </a:pPr>
              <a:t>25</a:t>
            </a:fld>
            <a:endParaRPr lang="en-US"/>
          </a:p>
        </p:txBody>
      </p:sp>
      <p:sp>
        <p:nvSpPr>
          <p:cNvPr id="234498" name="Rectangle 2"/>
          <p:cNvSpPr>
            <a:spLocks noGrp="1" noChangeArrowheads="1"/>
          </p:cNvSpPr>
          <p:nvPr>
            <p:ph type="title"/>
          </p:nvPr>
        </p:nvSpPr>
        <p:spPr/>
        <p:txBody>
          <a:bodyPr/>
          <a:lstStyle/>
          <a:p>
            <a:pPr eaLnBrk="1" hangingPunct="1">
              <a:defRPr/>
            </a:pPr>
            <a:r>
              <a:rPr lang="en-US" sz="3600"/>
              <a:t>3.2.4. Xác định độ phức tạp tính toán (</a:t>
            </a:r>
            <a:r>
              <a:rPr lang="en-US" sz="3600" i="1"/>
              <a:t>tiếp</a:t>
            </a:r>
            <a:r>
              <a:rPr lang="en-US" sz="3600"/>
              <a:t>)</a:t>
            </a:r>
          </a:p>
        </p:txBody>
      </p:sp>
      <p:sp>
        <p:nvSpPr>
          <p:cNvPr id="234499" name="Rectangle 3"/>
          <p:cNvSpPr>
            <a:spLocks noGrp="1" noChangeArrowheads="1"/>
          </p:cNvSpPr>
          <p:nvPr>
            <p:ph type="body" idx="1"/>
          </p:nvPr>
        </p:nvSpPr>
        <p:spPr/>
        <p:txBody>
          <a:bodyPr/>
          <a:lstStyle/>
          <a:p>
            <a:pPr eaLnBrk="1" hangingPunct="1">
              <a:lnSpc>
                <a:spcPct val="80000"/>
              </a:lnSpc>
              <a:defRPr/>
            </a:pPr>
            <a:r>
              <a:rPr lang="fr-FR" sz="2800"/>
              <a:t>Quy tắc nhân</a:t>
            </a:r>
            <a:r>
              <a:rPr lang="en-US" sz="2800"/>
              <a:t>:</a:t>
            </a:r>
          </a:p>
          <a:p>
            <a:pPr lvl="1" eaLnBrk="1" hangingPunct="1">
              <a:lnSpc>
                <a:spcPct val="80000"/>
              </a:lnSpc>
              <a:defRPr/>
            </a:pPr>
            <a:r>
              <a:rPr lang="fr-FR" sz="2400"/>
              <a:t>Nếu tương ứng với 2 bước P1 và P2 là T1(n) = O(f(n)),T2(n) = O(g(n)) thì thời gian thực hiện P1 và P2 lồng nhau là : T1(n).T2(n) = O(f(n).g(n))</a:t>
            </a:r>
          </a:p>
          <a:p>
            <a:pPr lvl="1" eaLnBrk="1" hangingPunct="1">
              <a:lnSpc>
                <a:spcPct val="80000"/>
              </a:lnSpc>
              <a:defRPr/>
            </a:pPr>
            <a:r>
              <a:rPr lang="fr-FR" sz="2400"/>
              <a:t>Ví dụ: Câu lệnh x:=x+1 có thời gian thực hiện bằng hằng số C =&gt; T(n) =O(1)</a:t>
            </a:r>
          </a:p>
          <a:p>
            <a:pPr lvl="1" eaLnBrk="1" hangingPunct="1">
              <a:lnSpc>
                <a:spcPct val="80000"/>
              </a:lnSpc>
              <a:buFont typeface="Wingdings" pitchFamily="2" charset="2"/>
              <a:buNone/>
              <a:defRPr/>
            </a:pPr>
            <a:r>
              <a:rPr lang="fr-FR" sz="2400"/>
              <a:t>	Câu lệnh: F</a:t>
            </a:r>
            <a:r>
              <a:rPr lang="en-US" sz="2400"/>
              <a:t>or i :=1  To  n  Do   x :=x+1;</a:t>
            </a:r>
          </a:p>
          <a:p>
            <a:pPr lvl="1" eaLnBrk="1" hangingPunct="1">
              <a:lnSpc>
                <a:spcPct val="80000"/>
              </a:lnSpc>
              <a:buFont typeface="Wingdings" pitchFamily="2" charset="2"/>
              <a:buNone/>
              <a:defRPr/>
            </a:pPr>
            <a:r>
              <a:rPr lang="en-US" sz="2400"/>
              <a:t>	có thời gian thực hiện là: T(n)=O(n.1)=O(n)</a:t>
            </a:r>
          </a:p>
          <a:p>
            <a:pPr lvl="1" eaLnBrk="1" hangingPunct="1">
              <a:lnSpc>
                <a:spcPct val="80000"/>
              </a:lnSpc>
              <a:buFont typeface="Wingdings" pitchFamily="2" charset="2"/>
              <a:buNone/>
              <a:defRPr/>
            </a:pPr>
            <a:r>
              <a:rPr lang="en-US" sz="2400"/>
              <a:t>	Câu lệnh</a:t>
            </a:r>
          </a:p>
          <a:p>
            <a:pPr lvl="2" eaLnBrk="1" hangingPunct="1">
              <a:lnSpc>
                <a:spcPct val="80000"/>
              </a:lnSpc>
              <a:buFont typeface="Wingdings" pitchFamily="2" charset="2"/>
              <a:buNone/>
              <a:defRPr/>
            </a:pPr>
            <a:r>
              <a:rPr lang="en-US" sz="2000"/>
              <a:t>	For i :=1  To  n  Do </a:t>
            </a:r>
          </a:p>
          <a:p>
            <a:pPr lvl="2" eaLnBrk="1" hangingPunct="1">
              <a:lnSpc>
                <a:spcPct val="80000"/>
              </a:lnSpc>
              <a:buFont typeface="Wingdings" pitchFamily="2" charset="2"/>
              <a:buNone/>
              <a:defRPr/>
            </a:pPr>
            <a:r>
              <a:rPr lang="en-US" sz="2000"/>
              <a:t>	   For j :=1  To  n  Do x:=x+1;</a:t>
            </a:r>
          </a:p>
          <a:p>
            <a:pPr lvl="1" eaLnBrk="1" hangingPunct="1">
              <a:lnSpc>
                <a:spcPct val="80000"/>
              </a:lnSpc>
              <a:buFont typeface="Wingdings" pitchFamily="2" charset="2"/>
              <a:buNone/>
              <a:defRPr/>
            </a:pPr>
            <a:r>
              <a:rPr lang="en-US" sz="2400"/>
              <a:t>	có thời gian thực hiện được đánh giá là:  T(n)= O(n.n) = O(n</a:t>
            </a:r>
            <a:r>
              <a:rPr lang="en-US" sz="2400" baseline="30000"/>
              <a:t>2</a:t>
            </a:r>
            <a:r>
              <a:rPr lang="en-US" sz="240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DAB3FF39-300B-4F37-8F40-13D543EA34BE}" type="slidenum">
              <a:rPr lang="en-US"/>
              <a:pPr>
                <a:defRPr/>
              </a:pPr>
              <a:t>26</a:t>
            </a:fld>
            <a:endParaRPr lang="en-US"/>
          </a:p>
        </p:txBody>
      </p:sp>
      <p:sp>
        <p:nvSpPr>
          <p:cNvPr id="235522" name="Rectangle 2"/>
          <p:cNvSpPr>
            <a:spLocks noGrp="1" noChangeArrowheads="1"/>
          </p:cNvSpPr>
          <p:nvPr>
            <p:ph type="title"/>
          </p:nvPr>
        </p:nvSpPr>
        <p:spPr/>
        <p:txBody>
          <a:bodyPr/>
          <a:lstStyle/>
          <a:p>
            <a:pPr eaLnBrk="1" hangingPunct="1">
              <a:defRPr/>
            </a:pPr>
            <a:r>
              <a:rPr lang="en-US" sz="3600"/>
              <a:t>3.2.4. Xác định độ phức tạp tính toán (</a:t>
            </a:r>
            <a:r>
              <a:rPr lang="en-US" sz="3600" i="1"/>
              <a:t>tiếp</a:t>
            </a:r>
            <a:r>
              <a:rPr lang="en-US" sz="3600"/>
              <a:t>)</a:t>
            </a:r>
          </a:p>
        </p:txBody>
      </p:sp>
      <p:sp>
        <p:nvSpPr>
          <p:cNvPr id="235523" name="Rectangle 3"/>
          <p:cNvSpPr>
            <a:spLocks noGrp="1" noChangeArrowheads="1"/>
          </p:cNvSpPr>
          <p:nvPr>
            <p:ph type="body" idx="1"/>
          </p:nvPr>
        </p:nvSpPr>
        <p:spPr/>
        <p:txBody>
          <a:bodyPr/>
          <a:lstStyle/>
          <a:p>
            <a:pPr eaLnBrk="1" hangingPunct="1">
              <a:defRPr/>
            </a:pPr>
            <a:r>
              <a:rPr lang="en-US"/>
              <a:t>Quy tắc bỏ hằng số</a:t>
            </a:r>
          </a:p>
          <a:p>
            <a:pPr lvl="1" eaLnBrk="1" hangingPunct="1">
              <a:defRPr/>
            </a:pPr>
            <a:r>
              <a:rPr lang="fr-FR"/>
              <a:t>	O(c.f(n)) = O(f(n), trong đó c là một hằng số.</a:t>
            </a:r>
          </a:p>
          <a:p>
            <a:pPr lvl="1" eaLnBrk="1" hangingPunct="1">
              <a:defRPr/>
            </a:pPr>
            <a:r>
              <a:rPr lang="fr-FR"/>
              <a:t>	Ví dụ: O(n</a:t>
            </a:r>
            <a:r>
              <a:rPr lang="fr-FR" baseline="30000"/>
              <a:t>2</a:t>
            </a:r>
            <a:r>
              <a:rPr lang="fr-FR"/>
              <a:t>/3) =  O(n</a:t>
            </a:r>
            <a:r>
              <a:rPr lang="fr-FR" baseline="30000"/>
              <a:t>2</a:t>
            </a:r>
            <a:r>
              <a:rPr lang="fr-FR"/>
              <a:t>)</a:t>
            </a:r>
          </a:p>
          <a:p>
            <a:pPr eaLnBrk="1" hangingPunct="1">
              <a:defRPr/>
            </a:pPr>
            <a:r>
              <a:rPr lang="fr-FR"/>
              <a:t>Chú ý 1: Khi đánh giá thời gian thực hiện giải thuật ta chỉ cần chú ý tới các bước tương ứng với một phép toán được gọi là phép toán tích cực. Đó là phép toán mà thời gian thực hiện nó không ít hơn thời gian thực hiện các phép toán khác.</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DAB3FF39-300B-4F37-8F40-13D543EA34BE}" type="slidenum">
              <a:rPr lang="en-US"/>
              <a:pPr>
                <a:defRPr/>
              </a:pPr>
              <a:t>27</a:t>
            </a:fld>
            <a:endParaRPr lang="en-US"/>
          </a:p>
        </p:txBody>
      </p:sp>
      <p:sp>
        <p:nvSpPr>
          <p:cNvPr id="235522" name="Rectangle 2"/>
          <p:cNvSpPr>
            <a:spLocks noGrp="1" noChangeArrowheads="1"/>
          </p:cNvSpPr>
          <p:nvPr>
            <p:ph type="title"/>
          </p:nvPr>
        </p:nvSpPr>
        <p:spPr/>
        <p:txBody>
          <a:bodyPr/>
          <a:lstStyle/>
          <a:p>
            <a:pPr eaLnBrk="1" hangingPunct="1">
              <a:defRPr/>
            </a:pPr>
            <a:r>
              <a:rPr lang="en-US" sz="3600"/>
              <a:t>3.2.4. Xác định độ phức tạp tính toán (</a:t>
            </a:r>
            <a:r>
              <a:rPr lang="en-US" sz="3600" i="1"/>
              <a:t>tiếp</a:t>
            </a:r>
            <a:r>
              <a:rPr lang="en-US" sz="3600"/>
              <a:t>)</a:t>
            </a:r>
          </a:p>
        </p:txBody>
      </p:sp>
      <p:sp>
        <p:nvSpPr>
          <p:cNvPr id="235523" name="Rectangle 3"/>
          <p:cNvSpPr>
            <a:spLocks noGrp="1" noChangeArrowheads="1"/>
          </p:cNvSpPr>
          <p:nvPr>
            <p:ph type="body" idx="1"/>
          </p:nvPr>
        </p:nvSpPr>
        <p:spPr>
          <a:xfrm>
            <a:off x="457200" y="1600200"/>
            <a:ext cx="8409398" cy="4672013"/>
          </a:xfrm>
        </p:spPr>
        <p:txBody>
          <a:bodyPr/>
          <a:lstStyle/>
          <a:p>
            <a:pPr eaLnBrk="1" hangingPunct="1">
              <a:defRPr/>
            </a:pPr>
            <a:r>
              <a:rPr lang="en-US" sz="2800"/>
              <a:t>Các bước xác định O của một giải thuật (giả mã):</a:t>
            </a:r>
          </a:p>
          <a:p>
            <a:pPr marL="0" indent="0" eaLnBrk="1" hangingPunct="1">
              <a:buNone/>
              <a:defRPr/>
            </a:pPr>
            <a:r>
              <a:rPr lang="en-US" sz="2800"/>
              <a:t>B1: Xác định phép toán tích cực trong giải thuật.</a:t>
            </a:r>
          </a:p>
          <a:p>
            <a:pPr marL="0" indent="0" eaLnBrk="1" hangingPunct="1">
              <a:buNone/>
              <a:defRPr/>
            </a:pPr>
            <a:endParaRPr lang="en-US" sz="2800"/>
          </a:p>
          <a:p>
            <a:pPr marL="0" indent="0" eaLnBrk="1" hangingPunct="1">
              <a:buNone/>
              <a:defRPr/>
            </a:pPr>
            <a:r>
              <a:rPr lang="en-US" sz="2800"/>
              <a:t>B2: Đếm số lần thực hiện phép toán tích cực, biểu diễn số đếm này thành một hàm phụ thuộc vào kích thước dữ liệu đầu vào n, f(n)</a:t>
            </a:r>
          </a:p>
          <a:p>
            <a:pPr marL="0" indent="0" eaLnBrk="1" hangingPunct="1">
              <a:buNone/>
              <a:defRPr/>
            </a:pPr>
            <a:endParaRPr lang="en-US" sz="2800"/>
          </a:p>
          <a:p>
            <a:pPr marL="0" indent="0" eaLnBrk="1" hangingPunct="1">
              <a:buNone/>
              <a:defRPr/>
            </a:pPr>
            <a:r>
              <a:rPr lang="en-US" sz="2800"/>
              <a:t>B3: Coi O(f(n)), dựa vào khái niệm O, định nghĩa O và các quy tắc xác định O để tìm ra O cuối cùng.</a:t>
            </a:r>
          </a:p>
        </p:txBody>
      </p:sp>
    </p:spTree>
    <p:extLst>
      <p:ext uri="{BB962C8B-B14F-4D97-AF65-F5344CB8AC3E}">
        <p14:creationId xmlns:p14="http://schemas.microsoft.com/office/powerpoint/2010/main" val="1417055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BD7B8-DBDD-4CE5-A890-3B0D9FDCAF09}"/>
              </a:ext>
            </a:extLst>
          </p:cNvPr>
          <p:cNvSpPr>
            <a:spLocks noGrp="1"/>
          </p:cNvSpPr>
          <p:nvPr>
            <p:ph type="title"/>
          </p:nvPr>
        </p:nvSpPr>
        <p:spPr/>
        <p:txBody>
          <a:bodyPr/>
          <a:lstStyle/>
          <a:p>
            <a:r>
              <a:rPr lang="en-US" sz="4000"/>
              <a:t>So sánh thời gian các phép toán</a:t>
            </a:r>
          </a:p>
        </p:txBody>
      </p:sp>
      <p:sp>
        <p:nvSpPr>
          <p:cNvPr id="3" name="Content Placeholder 2">
            <a:extLst>
              <a:ext uri="{FF2B5EF4-FFF2-40B4-BE49-F238E27FC236}">
                <a16:creationId xmlns:a16="http://schemas.microsoft.com/office/drawing/2014/main" id="{2065CD0B-827F-4260-B5C7-05482B25FF3F}"/>
              </a:ext>
            </a:extLst>
          </p:cNvPr>
          <p:cNvSpPr>
            <a:spLocks noGrp="1"/>
          </p:cNvSpPr>
          <p:nvPr>
            <p:ph idx="1"/>
          </p:nvPr>
        </p:nvSpPr>
        <p:spPr/>
        <p:txBody>
          <a:bodyPr/>
          <a:lstStyle/>
          <a:p>
            <a:r>
              <a:rPr lang="en-US"/>
              <a:t>Lũy thừa ^</a:t>
            </a:r>
          </a:p>
          <a:p>
            <a:r>
              <a:rPr lang="en-US"/>
              <a:t>Nhân, chia</a:t>
            </a:r>
          </a:p>
          <a:p>
            <a:r>
              <a:rPr lang="en-US"/>
              <a:t>Cộng, trừ, so sánh</a:t>
            </a:r>
          </a:p>
          <a:p>
            <a:r>
              <a:rPr lang="en-US"/>
              <a:t>Phép toán logic</a:t>
            </a:r>
          </a:p>
          <a:p>
            <a:r>
              <a:rPr lang="en-US"/>
              <a:t>Lệnh gán</a:t>
            </a:r>
          </a:p>
        </p:txBody>
      </p:sp>
      <p:sp>
        <p:nvSpPr>
          <p:cNvPr id="4" name="Date Placeholder 3">
            <a:extLst>
              <a:ext uri="{FF2B5EF4-FFF2-40B4-BE49-F238E27FC236}">
                <a16:creationId xmlns:a16="http://schemas.microsoft.com/office/drawing/2014/main" id="{B15D9032-729B-4383-8641-8DE9BA75774C}"/>
              </a:ext>
            </a:extLst>
          </p:cNvPr>
          <p:cNvSpPr>
            <a:spLocks noGrp="1"/>
          </p:cNvSpPr>
          <p:nvPr>
            <p:ph type="dt" sz="half" idx="10"/>
          </p:nvPr>
        </p:nvSpPr>
        <p:spPr/>
        <p:txBody>
          <a:bodyPr/>
          <a:lstStyle/>
          <a:p>
            <a:pPr>
              <a:defRPr/>
            </a:pPr>
            <a:r>
              <a:rPr lang="en-US"/>
              <a:t>Ngô Công Thắng</a:t>
            </a:r>
          </a:p>
        </p:txBody>
      </p:sp>
      <p:sp>
        <p:nvSpPr>
          <p:cNvPr id="5" name="Footer Placeholder 4">
            <a:extLst>
              <a:ext uri="{FF2B5EF4-FFF2-40B4-BE49-F238E27FC236}">
                <a16:creationId xmlns:a16="http://schemas.microsoft.com/office/drawing/2014/main" id="{FFCA0F27-FF5E-4205-9457-14D7DEFB752E}"/>
              </a:ext>
            </a:extLst>
          </p:cNvPr>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a:extLst>
              <a:ext uri="{FF2B5EF4-FFF2-40B4-BE49-F238E27FC236}">
                <a16:creationId xmlns:a16="http://schemas.microsoft.com/office/drawing/2014/main" id="{94687BA7-EAC2-42FC-9F6B-C16295A97C0D}"/>
              </a:ext>
            </a:extLst>
          </p:cNvPr>
          <p:cNvSpPr>
            <a:spLocks noGrp="1"/>
          </p:cNvSpPr>
          <p:nvPr>
            <p:ph type="sldNum" sz="quarter" idx="12"/>
          </p:nvPr>
        </p:nvSpPr>
        <p:spPr/>
        <p:txBody>
          <a:bodyPr/>
          <a:lstStyle/>
          <a:p>
            <a:pPr>
              <a:defRPr/>
            </a:pPr>
            <a:r>
              <a:rPr lang="en-US"/>
              <a:t>1.</a:t>
            </a:r>
            <a:fld id="{8E1F47E7-8E8C-4477-81EA-1C90FCDB03FA}" type="slidenum">
              <a:rPr lang="en-US" smtClean="0"/>
              <a:pPr>
                <a:defRPr/>
              </a:pPr>
              <a:t>28</a:t>
            </a:fld>
            <a:endParaRPr lang="en-US"/>
          </a:p>
        </p:txBody>
      </p:sp>
    </p:spTree>
    <p:extLst>
      <p:ext uri="{BB962C8B-B14F-4D97-AF65-F5344CB8AC3E}">
        <p14:creationId xmlns:p14="http://schemas.microsoft.com/office/powerpoint/2010/main" val="1234570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E3EEFA41-664D-48F5-AE42-AC54CC4F6B4C}" type="slidenum">
              <a:rPr lang="en-US"/>
              <a:pPr>
                <a:defRPr/>
              </a:pPr>
              <a:t>29</a:t>
            </a:fld>
            <a:endParaRPr lang="en-US"/>
          </a:p>
        </p:txBody>
      </p:sp>
      <p:sp>
        <p:nvSpPr>
          <p:cNvPr id="236546" name="Rectangle 2"/>
          <p:cNvSpPr>
            <a:spLocks noGrp="1" noChangeArrowheads="1"/>
          </p:cNvSpPr>
          <p:nvPr>
            <p:ph type="title"/>
          </p:nvPr>
        </p:nvSpPr>
        <p:spPr/>
        <p:txBody>
          <a:bodyPr/>
          <a:lstStyle/>
          <a:p>
            <a:pPr eaLnBrk="1" hangingPunct="1">
              <a:defRPr/>
            </a:pPr>
            <a:r>
              <a:rPr lang="en-US" sz="3600"/>
              <a:t>3.2.4. Xác định độ phức tạp tính toán (</a:t>
            </a:r>
            <a:r>
              <a:rPr lang="en-US" sz="3600" i="1"/>
              <a:t>tiếp</a:t>
            </a:r>
            <a:r>
              <a:rPr lang="en-US" sz="3600"/>
              <a:t>)</a:t>
            </a:r>
          </a:p>
        </p:txBody>
      </p:sp>
      <p:sp>
        <p:nvSpPr>
          <p:cNvPr id="236547" name="Rectangle 3"/>
          <p:cNvSpPr>
            <a:spLocks noGrp="1" noChangeArrowheads="1"/>
          </p:cNvSpPr>
          <p:nvPr>
            <p:ph type="body" idx="1"/>
          </p:nvPr>
        </p:nvSpPr>
        <p:spPr/>
        <p:txBody>
          <a:bodyPr/>
          <a:lstStyle/>
          <a:p>
            <a:pPr eaLnBrk="1" hangingPunct="1">
              <a:defRPr/>
            </a:pPr>
            <a:r>
              <a:rPr lang="en-US" sz="2800"/>
              <a:t>Ví dụ: </a:t>
            </a:r>
            <a:r>
              <a:rPr lang="fr-FR" sz="2800"/>
              <a:t>e</a:t>
            </a:r>
            <a:r>
              <a:rPr lang="fr-FR" sz="2800" baseline="30000"/>
              <a:t>x</a:t>
            </a:r>
            <a:r>
              <a:rPr lang="fr-FR" sz="2800"/>
              <a:t> = 1+ x/1! + x</a:t>
            </a:r>
            <a:r>
              <a:rPr lang="fr-FR" sz="2800" baseline="30000"/>
              <a:t>2</a:t>
            </a:r>
            <a:r>
              <a:rPr lang="fr-FR" sz="2800"/>
              <a:t>/2! + . . .+ x</a:t>
            </a:r>
            <a:r>
              <a:rPr lang="fr-FR" sz="2800" baseline="30000"/>
              <a:t>n</a:t>
            </a:r>
            <a:r>
              <a:rPr lang="fr-FR" sz="2800"/>
              <a:t>/n!  </a:t>
            </a:r>
            <a:r>
              <a:rPr lang="en-US" sz="2800"/>
              <a:t>với x và n cho trước.</a:t>
            </a:r>
          </a:p>
          <a:p>
            <a:pPr eaLnBrk="1" hangingPunct="1">
              <a:defRPr/>
            </a:pPr>
            <a:r>
              <a:rPr lang="en-US" sz="2800"/>
              <a:t>Giải thuật 1:</a:t>
            </a:r>
          </a:p>
          <a:p>
            <a:pPr lvl="1" eaLnBrk="1" hangingPunct="1">
              <a:buFont typeface="Wingdings" pitchFamily="2" charset="2"/>
              <a:buNone/>
              <a:defRPr/>
            </a:pPr>
            <a:r>
              <a:rPr lang="en-US" sz="2400"/>
              <a:t>	1) Read(x,n); s:=1;</a:t>
            </a:r>
          </a:p>
          <a:p>
            <a:pPr lvl="1" eaLnBrk="1" hangingPunct="1">
              <a:buFont typeface="Wingdings" pitchFamily="2" charset="2"/>
              <a:buNone/>
              <a:defRPr/>
            </a:pPr>
            <a:r>
              <a:rPr lang="en-US" sz="2400"/>
              <a:t>	2) For i :=1  To  n  Do</a:t>
            </a:r>
          </a:p>
          <a:p>
            <a:pPr lvl="1" eaLnBrk="1" hangingPunct="1">
              <a:buFont typeface="Wingdings" pitchFamily="2" charset="2"/>
              <a:buNone/>
              <a:defRPr/>
            </a:pPr>
            <a:r>
              <a:rPr lang="en-US" sz="2400"/>
              <a:t>		begin</a:t>
            </a:r>
          </a:p>
          <a:p>
            <a:pPr lvl="1" eaLnBrk="1" hangingPunct="1">
              <a:buFont typeface="Wingdings" pitchFamily="2" charset="2"/>
              <a:buNone/>
              <a:defRPr/>
            </a:pPr>
            <a:r>
              <a:rPr lang="en-US" sz="2400"/>
              <a:t>	    	p:=1;</a:t>
            </a:r>
          </a:p>
          <a:p>
            <a:pPr lvl="1" eaLnBrk="1" hangingPunct="1">
              <a:buFont typeface="Wingdings" pitchFamily="2" charset="2"/>
              <a:buNone/>
              <a:defRPr/>
            </a:pPr>
            <a:r>
              <a:rPr lang="en-US" sz="2400"/>
              <a:t>	   	 For j :=1  To  i  Do  p:=p*x/j ;</a:t>
            </a:r>
          </a:p>
          <a:p>
            <a:pPr lvl="1" eaLnBrk="1" hangingPunct="1">
              <a:buFont typeface="Wingdings" pitchFamily="2" charset="2"/>
              <a:buNone/>
              <a:defRPr/>
            </a:pPr>
            <a:r>
              <a:rPr lang="en-US" sz="2400"/>
              <a:t>	    	s:=s+p;</a:t>
            </a:r>
          </a:p>
          <a:p>
            <a:pPr lvl="1" eaLnBrk="1" hangingPunct="1">
              <a:buFont typeface="Wingdings" pitchFamily="2" charset="2"/>
              <a:buNone/>
              <a:defRPr/>
            </a:pPr>
            <a:r>
              <a:rPr lang="en-US" sz="2400"/>
              <a:t>	 	end;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5064C681-CBE6-4BD2-85DB-499FA6DC0BD3}" type="slidenum">
              <a:rPr lang="en-US"/>
              <a:pPr>
                <a:defRPr/>
              </a:pPr>
              <a:t>30</a:t>
            </a:fld>
            <a:endParaRPr lang="en-US"/>
          </a:p>
        </p:txBody>
      </p:sp>
      <p:sp>
        <p:nvSpPr>
          <p:cNvPr id="237570" name="Rectangle 2"/>
          <p:cNvSpPr>
            <a:spLocks noGrp="1" noChangeArrowheads="1"/>
          </p:cNvSpPr>
          <p:nvPr>
            <p:ph type="title"/>
          </p:nvPr>
        </p:nvSpPr>
        <p:spPr/>
        <p:txBody>
          <a:bodyPr/>
          <a:lstStyle/>
          <a:p>
            <a:pPr eaLnBrk="1" hangingPunct="1">
              <a:defRPr/>
            </a:pPr>
            <a:r>
              <a:rPr lang="en-US" sz="3600"/>
              <a:t>3.2.4. Xác định độ phức tạp tính toán (</a:t>
            </a:r>
            <a:r>
              <a:rPr lang="en-US" sz="3600" i="1"/>
              <a:t>tiếp</a:t>
            </a:r>
            <a:r>
              <a:rPr lang="en-US" sz="3600"/>
              <a:t>)</a:t>
            </a:r>
          </a:p>
        </p:txBody>
      </p:sp>
      <p:sp>
        <p:nvSpPr>
          <p:cNvPr id="237571" name="Rectangle 3"/>
          <p:cNvSpPr>
            <a:spLocks noGrp="1" noChangeArrowheads="1"/>
          </p:cNvSpPr>
          <p:nvPr>
            <p:ph type="body" idx="1"/>
          </p:nvPr>
        </p:nvSpPr>
        <p:spPr/>
        <p:txBody>
          <a:bodyPr/>
          <a:lstStyle/>
          <a:p>
            <a:pPr eaLnBrk="1" hangingPunct="1">
              <a:defRPr/>
            </a:pPr>
            <a:r>
              <a:rPr lang="en-US"/>
              <a:t>Trong giải thuật 1 phép toán tích cực ở đây là p:=p*x/j. Ta thấy nó được thực hiện với số lần là: 1+2+3+ . . . + n = n(n+1)/2 = ½*(n</a:t>
            </a:r>
            <a:r>
              <a:rPr lang="en-US" baseline="30000"/>
              <a:t>2</a:t>
            </a:r>
            <a:r>
              <a:rPr lang="en-US"/>
              <a:t> + n) =&gt; Coi O(½*(n</a:t>
            </a:r>
            <a:r>
              <a:rPr lang="en-US" baseline="30000"/>
              <a:t>2</a:t>
            </a:r>
            <a:r>
              <a:rPr lang="en-US"/>
              <a:t> + n)); Áp dụng quy tắc bỏ hằng số =&gt; O(n</a:t>
            </a:r>
            <a:r>
              <a:rPr lang="en-US" baseline="30000"/>
              <a:t>2</a:t>
            </a:r>
            <a:r>
              <a:rPr lang="en-US"/>
              <a:t> + n); Áp dụng quy tắc cộng =&gt; O(n</a:t>
            </a:r>
            <a:r>
              <a:rPr lang="en-US" baseline="30000"/>
              <a:t>2</a:t>
            </a:r>
            <a:r>
              <a:rPr lang="en-US"/>
              <a:t>)</a:t>
            </a:r>
          </a:p>
          <a:p>
            <a:pPr eaLnBrk="1" hangingPunct="1">
              <a:buFont typeface="Wingdings" pitchFamily="2" charset="2"/>
              <a:buNone/>
              <a:defRPr/>
            </a:pPr>
            <a:r>
              <a:rPr lang="en-US"/>
              <a:t>	KL: Giải thuật 1 có O(n</a:t>
            </a:r>
            <a:r>
              <a:rPr lang="en-US" baseline="30000"/>
              <a:t>2</a:t>
            </a:r>
            <a:r>
              <a:rPr lang="en-US"/>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80DDAE3F-E647-4188-AE97-874A6232D88F}" type="slidenum">
              <a:rPr lang="en-US"/>
              <a:pPr>
                <a:defRPr/>
              </a:pPr>
              <a:t>31</a:t>
            </a:fld>
            <a:endParaRPr lang="en-US"/>
          </a:p>
        </p:txBody>
      </p:sp>
      <p:sp>
        <p:nvSpPr>
          <p:cNvPr id="238594" name="Rectangle 2"/>
          <p:cNvSpPr>
            <a:spLocks noGrp="1" noChangeArrowheads="1"/>
          </p:cNvSpPr>
          <p:nvPr>
            <p:ph type="title"/>
          </p:nvPr>
        </p:nvSpPr>
        <p:spPr/>
        <p:txBody>
          <a:bodyPr/>
          <a:lstStyle/>
          <a:p>
            <a:pPr eaLnBrk="1" hangingPunct="1">
              <a:defRPr/>
            </a:pPr>
            <a:r>
              <a:rPr lang="en-US" sz="3600"/>
              <a:t>3.2.4. Xác định độ phức tạp tính toán (</a:t>
            </a:r>
            <a:r>
              <a:rPr lang="en-US" sz="3600" i="1"/>
              <a:t>tiếp</a:t>
            </a:r>
            <a:r>
              <a:rPr lang="en-US" sz="3600"/>
              <a:t>)</a:t>
            </a:r>
          </a:p>
        </p:txBody>
      </p:sp>
      <p:sp>
        <p:nvSpPr>
          <p:cNvPr id="238595" name="Rectangle 3"/>
          <p:cNvSpPr>
            <a:spLocks noGrp="1" noChangeArrowheads="1"/>
          </p:cNvSpPr>
          <p:nvPr>
            <p:ph type="body" idx="1"/>
          </p:nvPr>
        </p:nvSpPr>
        <p:spPr/>
        <p:txBody>
          <a:bodyPr/>
          <a:lstStyle/>
          <a:p>
            <a:pPr eaLnBrk="1" hangingPunct="1">
              <a:defRPr/>
            </a:pPr>
            <a:r>
              <a:rPr lang="en-US"/>
              <a:t>Giải thuật 2:</a:t>
            </a:r>
          </a:p>
          <a:p>
            <a:pPr lvl="1" eaLnBrk="1" hangingPunct="1">
              <a:buFont typeface="Wingdings" pitchFamily="2" charset="2"/>
              <a:buNone/>
              <a:defRPr/>
            </a:pPr>
            <a:r>
              <a:rPr lang="en-US"/>
              <a:t>	1) Read(x,n); s:=1; p:=1;</a:t>
            </a:r>
          </a:p>
          <a:p>
            <a:pPr lvl="1" eaLnBrk="1" hangingPunct="1">
              <a:buFont typeface="Wingdings" pitchFamily="2" charset="2"/>
              <a:buNone/>
              <a:defRPr/>
            </a:pPr>
            <a:r>
              <a:rPr lang="en-US"/>
              <a:t>	2) For i :=1  To  n  Do</a:t>
            </a:r>
          </a:p>
          <a:p>
            <a:pPr lvl="1" eaLnBrk="1" hangingPunct="1">
              <a:buFont typeface="Wingdings" pitchFamily="2" charset="2"/>
              <a:buNone/>
              <a:defRPr/>
            </a:pPr>
            <a:r>
              <a:rPr lang="en-US"/>
              <a:t>		begin</a:t>
            </a:r>
          </a:p>
          <a:p>
            <a:pPr lvl="1" eaLnBrk="1" hangingPunct="1">
              <a:buFont typeface="Wingdings" pitchFamily="2" charset="2"/>
              <a:buNone/>
              <a:defRPr/>
            </a:pPr>
            <a:r>
              <a:rPr lang="en-US"/>
              <a:t>		       p:=p*x/i;</a:t>
            </a:r>
          </a:p>
          <a:p>
            <a:pPr lvl="1" eaLnBrk="1" hangingPunct="1">
              <a:buFont typeface="Wingdings" pitchFamily="2" charset="2"/>
              <a:buNone/>
              <a:defRPr/>
            </a:pPr>
            <a:r>
              <a:rPr lang="en-US"/>
              <a:t>	        s:=s+p;</a:t>
            </a:r>
          </a:p>
          <a:p>
            <a:pPr lvl="1" eaLnBrk="1" hangingPunct="1">
              <a:buFont typeface="Wingdings" pitchFamily="2" charset="2"/>
              <a:buNone/>
              <a:defRPr/>
            </a:pPr>
            <a:r>
              <a:rPr lang="en-US"/>
              <a:t>	  end;</a:t>
            </a:r>
          </a:p>
          <a:p>
            <a:pPr lvl="1" eaLnBrk="1" hangingPunct="1">
              <a:buFont typeface="Wingdings" pitchFamily="2" charset="2"/>
              <a:buNone/>
              <a:defRPr/>
            </a:pPr>
            <a:r>
              <a:rPr lang="en-US"/>
              <a:t>KL: Giải thuật 2 có O(n)</a:t>
            </a:r>
          </a:p>
          <a:p>
            <a:pPr lvl="1" eaLnBrk="1" hangingPunct="1">
              <a:buFont typeface="Wingdings" pitchFamily="2" charset="2"/>
              <a:buNone/>
              <a:defRPr/>
            </a:pPr>
            <a:r>
              <a:rPr lang="en-US"/>
              <a:t>Giải thuật 1: O(n</a:t>
            </a:r>
            <a:r>
              <a:rPr lang="en-US" baseline="30000"/>
              <a:t>2</a:t>
            </a:r>
            <a:r>
              <a:rPr lang="en-US"/>
              <a:t>); Giải thuật 2: 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80DDAE3F-E647-4188-AE97-874A6232D88F}" type="slidenum">
              <a:rPr lang="en-US"/>
              <a:pPr>
                <a:defRPr/>
              </a:pPr>
              <a:t>32</a:t>
            </a:fld>
            <a:endParaRPr lang="en-US"/>
          </a:p>
        </p:txBody>
      </p:sp>
      <p:sp>
        <p:nvSpPr>
          <p:cNvPr id="238594" name="Rectangle 2"/>
          <p:cNvSpPr>
            <a:spLocks noGrp="1" noChangeArrowheads="1"/>
          </p:cNvSpPr>
          <p:nvPr>
            <p:ph type="title"/>
          </p:nvPr>
        </p:nvSpPr>
        <p:spPr/>
        <p:txBody>
          <a:bodyPr/>
          <a:lstStyle/>
          <a:p>
            <a:pPr eaLnBrk="1" hangingPunct="1">
              <a:defRPr/>
            </a:pPr>
            <a:r>
              <a:rPr lang="en-US" sz="3600"/>
              <a:t>3.2.4. Xác định độ phức tạp tính toán (</a:t>
            </a:r>
            <a:r>
              <a:rPr lang="en-US" sz="3600" i="1"/>
              <a:t>tiếp</a:t>
            </a:r>
            <a:r>
              <a:rPr lang="en-US" sz="3600"/>
              <a:t>)</a:t>
            </a:r>
          </a:p>
        </p:txBody>
      </p:sp>
      <p:sp>
        <p:nvSpPr>
          <p:cNvPr id="238595" name="Rectangle 3"/>
          <p:cNvSpPr>
            <a:spLocks noGrp="1" noChangeArrowheads="1"/>
          </p:cNvSpPr>
          <p:nvPr>
            <p:ph type="body" idx="1"/>
          </p:nvPr>
        </p:nvSpPr>
        <p:spPr>
          <a:xfrm>
            <a:off x="215757" y="1600200"/>
            <a:ext cx="8712486" cy="4672013"/>
          </a:xfrm>
        </p:spPr>
        <p:txBody>
          <a:bodyPr/>
          <a:lstStyle/>
          <a:p>
            <a:pPr eaLnBrk="1" hangingPunct="1">
              <a:defRPr/>
            </a:pPr>
            <a:r>
              <a:rPr lang="en-US"/>
              <a:t>Giải thuật 3: Tính gần đúng với độ cx epsilon</a:t>
            </a:r>
          </a:p>
          <a:p>
            <a:pPr lvl="1" eaLnBrk="1" hangingPunct="1">
              <a:buFont typeface="Wingdings" pitchFamily="2" charset="2"/>
              <a:buNone/>
              <a:defRPr/>
            </a:pPr>
            <a:r>
              <a:rPr lang="en-US"/>
              <a:t>	1) Read(x); s:=1; p:=1; i:=0;</a:t>
            </a:r>
          </a:p>
          <a:p>
            <a:pPr lvl="1" eaLnBrk="1" hangingPunct="1">
              <a:buFont typeface="Wingdings" pitchFamily="2" charset="2"/>
              <a:buNone/>
              <a:defRPr/>
            </a:pPr>
            <a:r>
              <a:rPr lang="en-US"/>
              <a:t>	2) Repeat</a:t>
            </a:r>
          </a:p>
          <a:p>
            <a:pPr lvl="1" eaLnBrk="1" hangingPunct="1">
              <a:buFont typeface="Wingdings" pitchFamily="2" charset="2"/>
              <a:buNone/>
              <a:defRPr/>
            </a:pPr>
            <a:r>
              <a:rPr lang="en-US"/>
              <a:t>		      i:=i+1;</a:t>
            </a:r>
          </a:p>
          <a:p>
            <a:pPr lvl="1" eaLnBrk="1" hangingPunct="1">
              <a:buFont typeface="Wingdings" pitchFamily="2" charset="2"/>
              <a:buNone/>
              <a:defRPr/>
            </a:pPr>
            <a:r>
              <a:rPr lang="en-US"/>
              <a:t>		      p:=p*x/i;</a:t>
            </a:r>
          </a:p>
          <a:p>
            <a:pPr lvl="1" eaLnBrk="1" hangingPunct="1">
              <a:buFont typeface="Wingdings" pitchFamily="2" charset="2"/>
              <a:buNone/>
              <a:defRPr/>
            </a:pPr>
            <a:r>
              <a:rPr lang="en-US"/>
              <a:t>	        s:=s+p;</a:t>
            </a:r>
          </a:p>
          <a:p>
            <a:pPr lvl="1" eaLnBrk="1" hangingPunct="1">
              <a:buFont typeface="Wingdings" pitchFamily="2" charset="2"/>
              <a:buNone/>
              <a:defRPr/>
            </a:pPr>
            <a:r>
              <a:rPr lang="en-US"/>
              <a:t>	     Until  | p | &lt; Epsilon;</a:t>
            </a:r>
          </a:p>
          <a:p>
            <a:pPr lvl="1" eaLnBrk="1" hangingPunct="1">
              <a:buFont typeface="Wingdings" pitchFamily="2" charset="2"/>
              <a:buNone/>
              <a:defRPr/>
            </a:pPr>
            <a:r>
              <a:rPr lang="en-US"/>
              <a:t>	end.</a:t>
            </a:r>
          </a:p>
          <a:p>
            <a:pPr lvl="1" eaLnBrk="1" hangingPunct="1">
              <a:buFont typeface="Wingdings" pitchFamily="2" charset="2"/>
              <a:buNone/>
              <a:defRPr/>
            </a:pPr>
            <a:r>
              <a:rPr lang="en-US"/>
              <a:t>3) Write(s);</a:t>
            </a:r>
          </a:p>
        </p:txBody>
      </p:sp>
    </p:spTree>
    <p:extLst>
      <p:ext uri="{BB962C8B-B14F-4D97-AF65-F5344CB8AC3E}">
        <p14:creationId xmlns:p14="http://schemas.microsoft.com/office/powerpoint/2010/main" val="1241528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B2CF3A5D-2D1B-4D95-9624-A5BCB9D3085C}" type="slidenum">
              <a:rPr lang="en-US"/>
              <a:pPr>
                <a:defRPr/>
              </a:pPr>
              <a:t>33</a:t>
            </a:fld>
            <a:endParaRPr lang="en-US"/>
          </a:p>
        </p:txBody>
      </p:sp>
      <p:sp>
        <p:nvSpPr>
          <p:cNvPr id="240642" name="Rectangle 2"/>
          <p:cNvSpPr>
            <a:spLocks noGrp="1" noChangeArrowheads="1"/>
          </p:cNvSpPr>
          <p:nvPr>
            <p:ph type="title"/>
          </p:nvPr>
        </p:nvSpPr>
        <p:spPr/>
        <p:txBody>
          <a:bodyPr/>
          <a:lstStyle/>
          <a:p>
            <a:pPr eaLnBrk="1" hangingPunct="1">
              <a:defRPr/>
            </a:pPr>
            <a:r>
              <a:rPr lang="en-US" sz="3600"/>
              <a:t>3.2.4. Xác định độ phức tạp tính toán (</a:t>
            </a:r>
            <a:r>
              <a:rPr lang="en-US" sz="3600" i="1"/>
              <a:t>tiếp</a:t>
            </a:r>
            <a:r>
              <a:rPr lang="en-US" sz="3600"/>
              <a:t>)</a:t>
            </a:r>
          </a:p>
        </p:txBody>
      </p:sp>
      <p:sp>
        <p:nvSpPr>
          <p:cNvPr id="240643" name="Rectangle 3"/>
          <p:cNvSpPr>
            <a:spLocks noGrp="1" noChangeArrowheads="1"/>
          </p:cNvSpPr>
          <p:nvPr>
            <p:ph type="body" idx="1"/>
          </p:nvPr>
        </p:nvSpPr>
        <p:spPr/>
        <p:txBody>
          <a:bodyPr/>
          <a:lstStyle/>
          <a:p>
            <a:pPr eaLnBrk="1" hangingPunct="1">
              <a:lnSpc>
                <a:spcPct val="90000"/>
              </a:lnSpc>
              <a:defRPr/>
            </a:pPr>
            <a:r>
              <a:rPr lang="en-US" sz="2400"/>
              <a:t>Chú ý 2: Có những trường hợp thời gian thực hiện giải thuật không chỉ phụ thuộc vào kích thước của dữ liệu vào mà còn phụ thuộc vào chính tình trạng của dữ liệu đó nữa.</a:t>
            </a:r>
          </a:p>
          <a:p>
            <a:pPr eaLnBrk="1" hangingPunct="1">
              <a:lnSpc>
                <a:spcPct val="90000"/>
              </a:lnSpc>
              <a:defRPr/>
            </a:pPr>
            <a:r>
              <a:rPr lang="en-US" sz="2400"/>
              <a:t>Khi phân tích thời gian thực hiện giải thuật ta phải xét xem với mọi dữ liệu vào có kích thước n thì T(n) trong trường hợp thuận lợi nhất, trường hợp trung bình và trường hợp xấu nhất như thế nào?</a:t>
            </a:r>
          </a:p>
          <a:p>
            <a:pPr eaLnBrk="1" hangingPunct="1">
              <a:lnSpc>
                <a:spcPct val="90000"/>
              </a:lnSpc>
              <a:defRPr/>
            </a:pPr>
            <a:r>
              <a:rPr lang="fr-FR" sz="2400"/>
              <a:t>Việc xác định T(n) trong trường hợp trung bình thường khó vì phải dùng tới những công cụ toán đặc biệt. Bởi vậy người ta thường đánh giá giải thuật bằng T(n) trong trường hợp xấu nhất.</a:t>
            </a:r>
            <a:r>
              <a:rPr lang="en-US" sz="2400"/>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01</a:t>
            </a:r>
          </a:p>
        </p:txBody>
      </p:sp>
      <p:sp>
        <p:nvSpPr>
          <p:cNvPr id="6" name="Slide Number Placeholder 5"/>
          <p:cNvSpPr>
            <a:spLocks noGrp="1"/>
          </p:cNvSpPr>
          <p:nvPr>
            <p:ph type="sldNum" sz="quarter" idx="12"/>
          </p:nvPr>
        </p:nvSpPr>
        <p:spPr/>
        <p:txBody>
          <a:bodyPr/>
          <a:lstStyle/>
          <a:p>
            <a:pPr>
              <a:defRPr/>
            </a:pPr>
            <a:r>
              <a:rPr lang="en-US"/>
              <a:t>1.</a:t>
            </a:r>
            <a:fld id="{615038D5-B207-4751-A596-AEA9B9CE415E}" type="slidenum">
              <a:rPr lang="en-US"/>
              <a:pPr>
                <a:defRPr/>
              </a:pPr>
              <a:t>34</a:t>
            </a:fld>
            <a:endParaRPr lang="en-US"/>
          </a:p>
        </p:txBody>
      </p:sp>
      <p:sp>
        <p:nvSpPr>
          <p:cNvPr id="241666" name="Rectangle 2"/>
          <p:cNvSpPr>
            <a:spLocks noGrp="1" noChangeArrowheads="1"/>
          </p:cNvSpPr>
          <p:nvPr>
            <p:ph type="title"/>
          </p:nvPr>
        </p:nvSpPr>
        <p:spPr/>
        <p:txBody>
          <a:bodyPr/>
          <a:lstStyle/>
          <a:p>
            <a:pPr eaLnBrk="1" hangingPunct="1">
              <a:defRPr/>
            </a:pPr>
            <a:r>
              <a:rPr lang="en-US" sz="3600"/>
              <a:t>3.2.4. Xác định độ phức tạp tính toán (</a:t>
            </a:r>
            <a:r>
              <a:rPr lang="en-US" sz="3600" i="1"/>
              <a:t>tiếp</a:t>
            </a:r>
            <a:r>
              <a:rPr lang="en-US" sz="3600"/>
              <a:t>)</a:t>
            </a:r>
          </a:p>
        </p:txBody>
      </p:sp>
      <p:sp>
        <p:nvSpPr>
          <p:cNvPr id="241667" name="Rectangle 3"/>
          <p:cNvSpPr>
            <a:spLocks noGrp="1" noChangeArrowheads="1"/>
          </p:cNvSpPr>
          <p:nvPr>
            <p:ph type="body" idx="1"/>
          </p:nvPr>
        </p:nvSpPr>
        <p:spPr/>
        <p:txBody>
          <a:bodyPr/>
          <a:lstStyle/>
          <a:p>
            <a:pPr eaLnBrk="1" hangingPunct="1">
              <a:lnSpc>
                <a:spcPct val="80000"/>
              </a:lnSpc>
              <a:defRPr/>
            </a:pPr>
            <a:r>
              <a:rPr lang="en-US" sz="2000"/>
              <a:t>Ví dụ: Cho véc tơ a có n phần tử a1, a2,..., an. Tìm trong a phần tử đầu tiên có giá trị = x cho trước.</a:t>
            </a:r>
          </a:p>
          <a:p>
            <a:pPr eaLnBrk="1" hangingPunct="1">
              <a:lnSpc>
                <a:spcPct val="80000"/>
              </a:lnSpc>
              <a:defRPr/>
            </a:pPr>
            <a:r>
              <a:rPr lang="en-US" sz="2000"/>
              <a:t>Giải thuật như sau:</a:t>
            </a:r>
          </a:p>
          <a:p>
            <a:pPr eaLnBrk="1" hangingPunct="1">
              <a:lnSpc>
                <a:spcPct val="80000"/>
              </a:lnSpc>
              <a:buFont typeface="Wingdings" pitchFamily="2" charset="2"/>
              <a:buNone/>
              <a:defRPr/>
            </a:pPr>
            <a:r>
              <a:rPr lang="en-US" sz="2000"/>
              <a:t>	Found := False;</a:t>
            </a:r>
          </a:p>
          <a:p>
            <a:pPr eaLnBrk="1" hangingPunct="1">
              <a:lnSpc>
                <a:spcPct val="80000"/>
              </a:lnSpc>
              <a:buFont typeface="Wingdings" pitchFamily="2" charset="2"/>
              <a:buNone/>
              <a:defRPr/>
            </a:pPr>
            <a:r>
              <a:rPr lang="en-US" sz="2000"/>
              <a:t>	i:=1;</a:t>
            </a:r>
          </a:p>
          <a:p>
            <a:pPr eaLnBrk="1" hangingPunct="1">
              <a:lnSpc>
                <a:spcPct val="80000"/>
              </a:lnSpc>
              <a:buFont typeface="Wingdings" pitchFamily="2" charset="2"/>
              <a:buNone/>
              <a:defRPr/>
            </a:pPr>
            <a:r>
              <a:rPr lang="en-US" sz="2000"/>
              <a:t>	While (i&lt;=n) and Not Found  Do</a:t>
            </a:r>
          </a:p>
          <a:p>
            <a:pPr eaLnBrk="1" hangingPunct="1">
              <a:lnSpc>
                <a:spcPct val="80000"/>
              </a:lnSpc>
              <a:buFont typeface="Wingdings" pitchFamily="2" charset="2"/>
              <a:buNone/>
              <a:defRPr/>
            </a:pPr>
            <a:r>
              <a:rPr lang="en-US" sz="2000"/>
              <a:t>  	   If   a[i] =x then  begin</a:t>
            </a:r>
          </a:p>
          <a:p>
            <a:pPr eaLnBrk="1" hangingPunct="1">
              <a:lnSpc>
                <a:spcPct val="80000"/>
              </a:lnSpc>
              <a:buFont typeface="Wingdings" pitchFamily="2" charset="2"/>
              <a:buNone/>
              <a:defRPr/>
            </a:pPr>
            <a:r>
              <a:rPr lang="en-US" sz="2000"/>
              <a:t>		Found:=True;</a:t>
            </a:r>
          </a:p>
          <a:p>
            <a:pPr eaLnBrk="1" hangingPunct="1">
              <a:lnSpc>
                <a:spcPct val="80000"/>
              </a:lnSpc>
              <a:buFont typeface="Wingdings" pitchFamily="2" charset="2"/>
              <a:buNone/>
              <a:defRPr/>
            </a:pPr>
            <a:r>
              <a:rPr lang="en-US" sz="2000"/>
              <a:t>		k:=i;</a:t>
            </a:r>
          </a:p>
          <a:p>
            <a:pPr eaLnBrk="1" hangingPunct="1">
              <a:lnSpc>
                <a:spcPct val="80000"/>
              </a:lnSpc>
              <a:buFont typeface="Wingdings" pitchFamily="2" charset="2"/>
              <a:buNone/>
              <a:defRPr/>
            </a:pPr>
            <a:r>
              <a:rPr lang="en-US" sz="2000"/>
              <a:t>		Write(k);</a:t>
            </a:r>
          </a:p>
          <a:p>
            <a:pPr eaLnBrk="1" hangingPunct="1">
              <a:lnSpc>
                <a:spcPct val="80000"/>
              </a:lnSpc>
              <a:buFont typeface="Wingdings" pitchFamily="2" charset="2"/>
              <a:buNone/>
              <a:defRPr/>
            </a:pPr>
            <a:r>
              <a:rPr lang="en-US" sz="2000"/>
              <a:t>	   end</a:t>
            </a:r>
          </a:p>
          <a:p>
            <a:pPr eaLnBrk="1" hangingPunct="1">
              <a:lnSpc>
                <a:spcPct val="80000"/>
              </a:lnSpc>
              <a:buFont typeface="Wingdings" pitchFamily="2" charset="2"/>
              <a:buNone/>
              <a:defRPr/>
            </a:pPr>
            <a:r>
              <a:rPr lang="en-US" sz="2000"/>
              <a:t>	   else  i:=i+1;</a:t>
            </a:r>
          </a:p>
          <a:p>
            <a:pPr eaLnBrk="1" hangingPunct="1">
              <a:lnSpc>
                <a:spcPct val="80000"/>
              </a:lnSpc>
              <a:buFont typeface="Wingdings" pitchFamily="2" charset="2"/>
              <a:buNone/>
              <a:defRPr/>
            </a:pPr>
            <a:r>
              <a:rPr lang="en-US" sz="2000"/>
              <a:t>	End.</a:t>
            </a:r>
          </a:p>
          <a:p>
            <a:pPr eaLnBrk="1" hangingPunct="1">
              <a:lnSpc>
                <a:spcPct val="80000"/>
              </a:lnSpc>
              <a:buFont typeface="Wingdings" pitchFamily="2" charset="2"/>
              <a:buNone/>
              <a:defRPr/>
            </a:pPr>
            <a:r>
              <a:rPr lang="fr-FR" sz="2000"/>
              <a:t>T(n) trong trường hợp tốt  T(n)=O(1)</a:t>
            </a:r>
          </a:p>
          <a:p>
            <a:pPr eaLnBrk="1" hangingPunct="1">
              <a:lnSpc>
                <a:spcPct val="80000"/>
              </a:lnSpc>
              <a:buFont typeface="Wingdings" pitchFamily="2" charset="2"/>
              <a:buNone/>
              <a:defRPr/>
            </a:pPr>
            <a:r>
              <a:rPr lang="fr-FR" sz="2000"/>
              <a:t>T(n) trong trường hợp xấu  T(n)=O(n) . Vây suy ra T(n)=O(n)</a:t>
            </a:r>
            <a:endParaRPr lang="en-US" sz="2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3AF60706-4B2B-4922-8576-D7BB091753C4}" type="slidenum">
              <a:rPr lang="en-US"/>
              <a:pPr>
                <a:defRPr/>
              </a:pPr>
              <a:t>35</a:t>
            </a:fld>
            <a:endParaRPr lang="en-US"/>
          </a:p>
        </p:txBody>
      </p:sp>
      <p:sp>
        <p:nvSpPr>
          <p:cNvPr id="243714" name="Rectangle 2"/>
          <p:cNvSpPr>
            <a:spLocks noGrp="1" noChangeArrowheads="1"/>
          </p:cNvSpPr>
          <p:nvPr>
            <p:ph type="title"/>
          </p:nvPr>
        </p:nvSpPr>
        <p:spPr/>
        <p:txBody>
          <a:bodyPr/>
          <a:lstStyle/>
          <a:p>
            <a:pPr>
              <a:defRPr/>
            </a:pPr>
            <a:r>
              <a:rPr lang="en-US" sz="4000" dirty="0"/>
              <a:t>4. </a:t>
            </a:r>
            <a:r>
              <a:rPr lang="en-US" sz="4000" dirty="0" err="1"/>
              <a:t>Giải</a:t>
            </a:r>
            <a:r>
              <a:rPr lang="en-US" sz="4000" dirty="0"/>
              <a:t> </a:t>
            </a:r>
            <a:r>
              <a:rPr lang="en-US" sz="4000" dirty="0" err="1"/>
              <a:t>thuật</a:t>
            </a:r>
            <a:r>
              <a:rPr lang="en-US" sz="4000" dirty="0"/>
              <a:t> </a:t>
            </a:r>
            <a:r>
              <a:rPr lang="en-US" sz="4000" dirty="0" err="1"/>
              <a:t>đệ</a:t>
            </a:r>
            <a:r>
              <a:rPr lang="en-US" sz="4000" dirty="0"/>
              <a:t> </a:t>
            </a:r>
            <a:r>
              <a:rPr lang="en-US" sz="4000" dirty="0" err="1"/>
              <a:t>quy</a:t>
            </a:r>
            <a:endParaRPr lang="en-US" sz="4800" dirty="0"/>
          </a:p>
        </p:txBody>
      </p:sp>
      <p:sp>
        <p:nvSpPr>
          <p:cNvPr id="243715" name="Rectangle 3"/>
          <p:cNvSpPr>
            <a:spLocks noGrp="1" noChangeArrowheads="1"/>
          </p:cNvSpPr>
          <p:nvPr>
            <p:ph type="body" idx="1"/>
          </p:nvPr>
        </p:nvSpPr>
        <p:spPr/>
        <p:txBody>
          <a:bodyPr/>
          <a:lstStyle/>
          <a:p>
            <a:pPr marL="0" indent="0">
              <a:lnSpc>
                <a:spcPct val="90000"/>
              </a:lnSpc>
              <a:buFont typeface="Wingdings" pitchFamily="2" charset="2"/>
              <a:buNone/>
              <a:defRPr/>
            </a:pPr>
            <a:r>
              <a:rPr lang="en-US" sz="2400" dirty="0"/>
              <a:t>4.1. </a:t>
            </a:r>
            <a:r>
              <a:rPr lang="vi-VN" sz="2400" dirty="0"/>
              <a:t>Khái niệm đệ quy</a:t>
            </a:r>
            <a:endParaRPr lang="en-US" sz="2400" dirty="0"/>
          </a:p>
          <a:p>
            <a:pPr>
              <a:lnSpc>
                <a:spcPct val="90000"/>
              </a:lnSpc>
              <a:defRPr/>
            </a:pPr>
            <a:r>
              <a:rPr lang="en-US" sz="2400" dirty="0"/>
              <a:t>Ta </a:t>
            </a:r>
            <a:r>
              <a:rPr lang="en-US" sz="2400" dirty="0" err="1"/>
              <a:t>nói</a:t>
            </a:r>
            <a:r>
              <a:rPr lang="en-US" sz="2400" dirty="0"/>
              <a:t> </a:t>
            </a:r>
            <a:r>
              <a:rPr lang="en-US" sz="2400" dirty="0" err="1"/>
              <a:t>một</a:t>
            </a:r>
            <a:r>
              <a:rPr lang="en-US" sz="2400" dirty="0"/>
              <a:t> </a:t>
            </a:r>
            <a:r>
              <a:rPr lang="en-US" sz="2400" dirty="0" err="1"/>
              <a:t>đối</a:t>
            </a:r>
            <a:r>
              <a:rPr lang="en-US" sz="2400" dirty="0"/>
              <a:t> </a:t>
            </a:r>
            <a:r>
              <a:rPr lang="en-US" sz="2400" dirty="0" err="1"/>
              <a:t>tượng</a:t>
            </a:r>
            <a:r>
              <a:rPr lang="en-US" sz="2400" dirty="0"/>
              <a:t> </a:t>
            </a:r>
            <a:r>
              <a:rPr lang="en-US" sz="2400" dirty="0" err="1"/>
              <a:t>là</a:t>
            </a:r>
            <a:r>
              <a:rPr lang="en-US" sz="2400" dirty="0"/>
              <a:t> </a:t>
            </a:r>
            <a:r>
              <a:rPr lang="en-US" sz="2400" dirty="0" err="1"/>
              <a:t>đệ</a:t>
            </a:r>
            <a:r>
              <a:rPr lang="en-US" sz="2400" dirty="0"/>
              <a:t> </a:t>
            </a:r>
            <a:r>
              <a:rPr lang="en-US" sz="2400" dirty="0" err="1"/>
              <a:t>quy</a:t>
            </a:r>
            <a:r>
              <a:rPr lang="en-US" sz="2400" dirty="0"/>
              <a:t> </a:t>
            </a:r>
            <a:r>
              <a:rPr lang="en-US" sz="2400" dirty="0" err="1"/>
              <a:t>nếu</a:t>
            </a:r>
            <a:r>
              <a:rPr lang="en-US" sz="2400" dirty="0"/>
              <a:t> </a:t>
            </a:r>
            <a:r>
              <a:rPr lang="en-US" sz="2400" dirty="0" err="1"/>
              <a:t>nó</a:t>
            </a:r>
            <a:r>
              <a:rPr lang="en-US" sz="2400" dirty="0"/>
              <a:t> </a:t>
            </a:r>
            <a:r>
              <a:rPr lang="en-US" sz="2400" dirty="0" err="1"/>
              <a:t>được</a:t>
            </a:r>
            <a:r>
              <a:rPr lang="en-US" sz="2400" dirty="0"/>
              <a:t> </a:t>
            </a:r>
            <a:r>
              <a:rPr lang="en-US" sz="2400" dirty="0" err="1"/>
              <a:t>định</a:t>
            </a:r>
            <a:r>
              <a:rPr lang="en-US" sz="2400" dirty="0"/>
              <a:t> </a:t>
            </a:r>
            <a:r>
              <a:rPr lang="en-US" sz="2400" dirty="0" err="1"/>
              <a:t>nghĩa</a:t>
            </a:r>
            <a:r>
              <a:rPr lang="en-US" sz="2400" dirty="0"/>
              <a:t> </a:t>
            </a:r>
            <a:r>
              <a:rPr lang="en-US" sz="2400" dirty="0" err="1"/>
              <a:t>dưới</a:t>
            </a:r>
            <a:r>
              <a:rPr lang="en-US" sz="2400" dirty="0"/>
              <a:t> </a:t>
            </a:r>
            <a:r>
              <a:rPr lang="en-US" sz="2400" dirty="0" err="1"/>
              <a:t>dạng</a:t>
            </a:r>
            <a:r>
              <a:rPr lang="en-US" sz="2400" dirty="0"/>
              <a:t> </a:t>
            </a:r>
            <a:r>
              <a:rPr lang="en-US" sz="2400" dirty="0" err="1"/>
              <a:t>chính</a:t>
            </a:r>
            <a:r>
              <a:rPr lang="en-US" sz="2400" dirty="0"/>
              <a:t> </a:t>
            </a:r>
            <a:r>
              <a:rPr lang="en-US" sz="2400" dirty="0" err="1"/>
              <a:t>nó</a:t>
            </a:r>
            <a:r>
              <a:rPr lang="en-US" sz="2400" dirty="0"/>
              <a:t>.</a:t>
            </a:r>
          </a:p>
          <a:p>
            <a:pPr>
              <a:lnSpc>
                <a:spcPct val="90000"/>
              </a:lnSpc>
              <a:defRPr/>
            </a:pPr>
            <a:r>
              <a:rPr lang="en-US" sz="2400" dirty="0" err="1"/>
              <a:t>Ví</a:t>
            </a:r>
            <a:r>
              <a:rPr lang="en-US" sz="2400" dirty="0"/>
              <a:t> </a:t>
            </a:r>
            <a:r>
              <a:rPr lang="en-US" sz="2400" dirty="0" err="1"/>
              <a:t>dụ</a:t>
            </a:r>
            <a:r>
              <a:rPr lang="en-US" sz="2400" dirty="0"/>
              <a:t> 1: </a:t>
            </a:r>
            <a:r>
              <a:rPr lang="en-US" sz="2400" dirty="0" err="1"/>
              <a:t>Trên</a:t>
            </a:r>
            <a:r>
              <a:rPr lang="en-US" sz="2400" dirty="0"/>
              <a:t> </a:t>
            </a:r>
            <a:r>
              <a:rPr lang="en-US" sz="2400" dirty="0" err="1"/>
              <a:t>màn</a:t>
            </a:r>
            <a:r>
              <a:rPr lang="en-US" sz="2400" dirty="0"/>
              <a:t> </a:t>
            </a:r>
            <a:r>
              <a:rPr lang="en-US" sz="2400" dirty="0" err="1"/>
              <a:t>hình</a:t>
            </a:r>
            <a:r>
              <a:rPr lang="en-US" sz="2400" dirty="0"/>
              <a:t> </a:t>
            </a:r>
            <a:r>
              <a:rPr lang="en-US" sz="2400" dirty="0" err="1"/>
              <a:t>của</a:t>
            </a:r>
            <a:r>
              <a:rPr lang="en-US" sz="2400" dirty="0"/>
              <a:t> </a:t>
            </a:r>
            <a:r>
              <a:rPr lang="en-US" sz="2400" dirty="0" err="1"/>
              <a:t>vô</a:t>
            </a:r>
            <a:r>
              <a:rPr lang="en-US" sz="2400" dirty="0"/>
              <a:t> </a:t>
            </a:r>
            <a:r>
              <a:rPr lang="en-US" sz="2400" dirty="0" err="1"/>
              <a:t>tuyến</a:t>
            </a:r>
            <a:r>
              <a:rPr lang="en-US" sz="2400" dirty="0"/>
              <a:t> </a:t>
            </a:r>
            <a:r>
              <a:rPr lang="en-US" sz="2400" dirty="0" err="1"/>
              <a:t>truyền</a:t>
            </a:r>
            <a:r>
              <a:rPr lang="en-US" sz="2400" dirty="0"/>
              <a:t> </a:t>
            </a:r>
            <a:r>
              <a:rPr lang="en-US" sz="2400" dirty="0" err="1"/>
              <a:t>hình</a:t>
            </a:r>
            <a:r>
              <a:rPr lang="en-US" sz="2400" dirty="0"/>
              <a:t> </a:t>
            </a:r>
            <a:r>
              <a:rPr lang="en-US" sz="2400" dirty="0" err="1"/>
              <a:t>lại</a:t>
            </a:r>
            <a:r>
              <a:rPr lang="en-US" sz="2400" dirty="0"/>
              <a:t> </a:t>
            </a:r>
            <a:r>
              <a:rPr lang="en-US" sz="2400" dirty="0" err="1"/>
              <a:t>xuất</a:t>
            </a:r>
            <a:r>
              <a:rPr lang="en-US" sz="2400" dirty="0"/>
              <a:t> </a:t>
            </a:r>
            <a:r>
              <a:rPr lang="en-US" sz="2400" dirty="0" err="1"/>
              <a:t>hiện</a:t>
            </a:r>
            <a:r>
              <a:rPr lang="en-US" sz="2400" dirty="0"/>
              <a:t> </a:t>
            </a:r>
            <a:r>
              <a:rPr lang="en-US" sz="2400" dirty="0" err="1"/>
              <a:t>hình</a:t>
            </a:r>
            <a:r>
              <a:rPr lang="en-US" sz="2400" dirty="0"/>
              <a:t> </a:t>
            </a:r>
            <a:r>
              <a:rPr lang="en-US" sz="2400" dirty="0" err="1"/>
              <a:t>ảnh</a:t>
            </a:r>
            <a:r>
              <a:rPr lang="en-US" sz="2400" dirty="0"/>
              <a:t> </a:t>
            </a:r>
            <a:r>
              <a:rPr lang="en-US" sz="2400" dirty="0" err="1"/>
              <a:t>của</a:t>
            </a:r>
            <a:r>
              <a:rPr lang="en-US" sz="2400" dirty="0"/>
              <a:t> </a:t>
            </a:r>
            <a:r>
              <a:rPr lang="en-US" sz="2400" dirty="0" err="1"/>
              <a:t>chính</a:t>
            </a:r>
            <a:r>
              <a:rPr lang="en-US" sz="2400" dirty="0"/>
              <a:t> </a:t>
            </a:r>
            <a:r>
              <a:rPr lang="en-US" sz="2400" dirty="0" err="1"/>
              <a:t>cái</a:t>
            </a:r>
            <a:r>
              <a:rPr lang="en-US" sz="2400" dirty="0"/>
              <a:t> </a:t>
            </a:r>
            <a:r>
              <a:rPr lang="en-US" sz="2400" dirty="0" err="1"/>
              <a:t>màn</a:t>
            </a:r>
            <a:r>
              <a:rPr lang="en-US" sz="2400" dirty="0"/>
              <a:t> </a:t>
            </a:r>
            <a:r>
              <a:rPr lang="en-US" sz="2400" dirty="0" err="1"/>
              <a:t>hình</a:t>
            </a:r>
            <a:r>
              <a:rPr lang="en-US" sz="2400" dirty="0"/>
              <a:t> </a:t>
            </a:r>
            <a:r>
              <a:rPr lang="en-US" sz="2400" dirty="0" err="1"/>
              <a:t>vô</a:t>
            </a:r>
            <a:r>
              <a:rPr lang="en-US" sz="2400" dirty="0"/>
              <a:t> </a:t>
            </a:r>
            <a:r>
              <a:rPr lang="en-US" sz="2400" dirty="0" err="1"/>
              <a:t>tuyến</a:t>
            </a:r>
            <a:r>
              <a:rPr lang="en-US" sz="2400" dirty="0"/>
              <a:t> </a:t>
            </a:r>
            <a:r>
              <a:rPr lang="en-US" sz="2400" dirty="0" err="1"/>
              <a:t>đó</a:t>
            </a:r>
            <a:r>
              <a:rPr lang="en-US" sz="2400" dirty="0"/>
              <a:t>.</a:t>
            </a:r>
          </a:p>
          <a:p>
            <a:pPr>
              <a:lnSpc>
                <a:spcPct val="90000"/>
              </a:lnSpc>
              <a:defRPr/>
            </a:pPr>
            <a:r>
              <a:rPr lang="en-US" sz="2400" dirty="0" err="1"/>
              <a:t>Ví</a:t>
            </a:r>
            <a:r>
              <a:rPr lang="en-US" sz="2400" dirty="0"/>
              <a:t> </a:t>
            </a:r>
            <a:r>
              <a:rPr lang="en-US" sz="2400" dirty="0" err="1"/>
              <a:t>dụ</a:t>
            </a:r>
            <a:r>
              <a:rPr lang="en-US" sz="2400" dirty="0"/>
              <a:t> 2: Trong </a:t>
            </a:r>
            <a:r>
              <a:rPr lang="en-US" sz="2400" dirty="0" err="1"/>
              <a:t>toán</a:t>
            </a:r>
            <a:r>
              <a:rPr lang="en-US" sz="2400" dirty="0"/>
              <a:t> </a:t>
            </a:r>
            <a:r>
              <a:rPr lang="en-US" sz="2400" dirty="0" err="1"/>
              <a:t>học</a:t>
            </a:r>
            <a:r>
              <a:rPr lang="en-US" sz="2400" dirty="0"/>
              <a:t> hay </a:t>
            </a:r>
            <a:r>
              <a:rPr lang="en-US" sz="2400" dirty="0" err="1"/>
              <a:t>gặp</a:t>
            </a:r>
            <a:r>
              <a:rPr lang="en-US" sz="2400" dirty="0"/>
              <a:t> </a:t>
            </a:r>
            <a:r>
              <a:rPr lang="en-US" sz="2400" dirty="0" err="1"/>
              <a:t>định</a:t>
            </a:r>
            <a:r>
              <a:rPr lang="en-US" sz="2400" dirty="0"/>
              <a:t> </a:t>
            </a:r>
            <a:r>
              <a:rPr lang="en-US" sz="2400" dirty="0" err="1"/>
              <a:t>nghĩa</a:t>
            </a:r>
            <a:r>
              <a:rPr lang="en-US" sz="2400" dirty="0"/>
              <a:t> </a:t>
            </a:r>
            <a:r>
              <a:rPr lang="en-US" sz="2400" dirty="0" err="1"/>
              <a:t>đệ</a:t>
            </a:r>
            <a:r>
              <a:rPr lang="en-US" sz="2400" dirty="0"/>
              <a:t> </a:t>
            </a:r>
            <a:r>
              <a:rPr lang="en-US" sz="2400" dirty="0" err="1"/>
              <a:t>quy</a:t>
            </a:r>
            <a:r>
              <a:rPr lang="en-US" sz="2400" dirty="0"/>
              <a:t>:</a:t>
            </a:r>
          </a:p>
          <a:p>
            <a:pPr>
              <a:lnSpc>
                <a:spcPct val="90000"/>
              </a:lnSpc>
              <a:buFont typeface="Wingdings" pitchFamily="2" charset="2"/>
              <a:buNone/>
              <a:defRPr/>
            </a:pPr>
            <a:r>
              <a:rPr lang="en-US" sz="2400" dirty="0"/>
              <a:t>	1. </a:t>
            </a:r>
            <a:r>
              <a:rPr lang="en-US" sz="2400" dirty="0" err="1"/>
              <a:t>Định</a:t>
            </a:r>
            <a:r>
              <a:rPr lang="en-US" sz="2400" dirty="0"/>
              <a:t> </a:t>
            </a:r>
            <a:r>
              <a:rPr lang="en-US" sz="2400" dirty="0" err="1"/>
              <a:t>nghĩa</a:t>
            </a:r>
            <a:r>
              <a:rPr lang="en-US" sz="2400" dirty="0"/>
              <a:t> </a:t>
            </a:r>
            <a:r>
              <a:rPr lang="en-US" sz="2400" dirty="0" err="1"/>
              <a:t>số</a:t>
            </a:r>
            <a:r>
              <a:rPr lang="en-US" sz="2400" dirty="0"/>
              <a:t> </a:t>
            </a:r>
            <a:r>
              <a:rPr lang="en-US" sz="2400" dirty="0" err="1"/>
              <a:t>tự</a:t>
            </a:r>
            <a:r>
              <a:rPr lang="en-US" sz="2400" dirty="0"/>
              <a:t> </a:t>
            </a:r>
            <a:r>
              <a:rPr lang="en-US" sz="2400" dirty="0" err="1"/>
              <a:t>nhiên</a:t>
            </a:r>
            <a:endParaRPr lang="en-US" sz="2400" dirty="0"/>
          </a:p>
          <a:p>
            <a:pPr lvl="1">
              <a:lnSpc>
                <a:spcPct val="90000"/>
              </a:lnSpc>
              <a:buFont typeface="Wingdings" pitchFamily="2" charset="2"/>
              <a:buNone/>
              <a:defRPr/>
            </a:pPr>
            <a:r>
              <a:rPr lang="en-US" sz="2000"/>
              <a:t>	</a:t>
            </a:r>
            <a:r>
              <a:rPr lang="fr-FR" sz="2000" dirty="0"/>
              <a:t>a</a:t>
            </a:r>
            <a:r>
              <a:rPr lang="fr-FR" sz="2000"/>
              <a:t>)  </a:t>
            </a:r>
            <a:r>
              <a:rPr lang="fr-FR" sz="2000" dirty="0"/>
              <a:t>x là </a:t>
            </a:r>
            <a:r>
              <a:rPr lang="fr-FR" sz="2000" dirty="0" err="1"/>
              <a:t>số</a:t>
            </a:r>
            <a:r>
              <a:rPr lang="fr-FR" sz="2000" dirty="0"/>
              <a:t> </a:t>
            </a:r>
            <a:r>
              <a:rPr lang="fr-FR" sz="2000" dirty="0" err="1"/>
              <a:t>tự</a:t>
            </a:r>
            <a:r>
              <a:rPr lang="fr-FR" sz="2000" dirty="0"/>
              <a:t> </a:t>
            </a:r>
            <a:r>
              <a:rPr lang="fr-FR" sz="2000" dirty="0" err="1"/>
              <a:t>nhiên</a:t>
            </a:r>
            <a:r>
              <a:rPr lang="fr-FR" sz="2000" dirty="0"/>
              <a:t> </a:t>
            </a:r>
            <a:r>
              <a:rPr lang="fr-FR" sz="2000" dirty="0" err="1"/>
              <a:t>nếu</a:t>
            </a:r>
            <a:r>
              <a:rPr lang="fr-FR" sz="2000" dirty="0"/>
              <a:t> x-1 là </a:t>
            </a:r>
            <a:r>
              <a:rPr lang="fr-FR" sz="2000" dirty="0" err="1"/>
              <a:t>số</a:t>
            </a:r>
            <a:r>
              <a:rPr lang="fr-FR" sz="2000" dirty="0"/>
              <a:t> </a:t>
            </a:r>
            <a:r>
              <a:rPr lang="fr-FR" sz="2000" dirty="0" err="1"/>
              <a:t>tự</a:t>
            </a:r>
            <a:r>
              <a:rPr lang="fr-FR" sz="2000" dirty="0"/>
              <a:t> </a:t>
            </a:r>
            <a:r>
              <a:rPr lang="fr-FR" sz="2000" dirty="0" err="1"/>
              <a:t>nhiên</a:t>
            </a:r>
            <a:endParaRPr lang="fr-FR" sz="2000" dirty="0"/>
          </a:p>
          <a:p>
            <a:pPr marL="342900" lvl="1" indent="-342900">
              <a:lnSpc>
                <a:spcPct val="90000"/>
              </a:lnSpc>
              <a:buClr>
                <a:schemeClr val="hlink"/>
              </a:buClr>
              <a:buFont typeface="Wingdings" pitchFamily="2" charset="2"/>
              <a:buNone/>
              <a:defRPr/>
            </a:pPr>
            <a:r>
              <a:rPr lang="en-US" sz="2000"/>
              <a:t>	      b)  1 là số tự nhiên</a:t>
            </a:r>
            <a:endParaRPr lang="fr-FR" sz="2400"/>
          </a:p>
          <a:p>
            <a:pPr>
              <a:lnSpc>
                <a:spcPct val="90000"/>
              </a:lnSpc>
              <a:buFont typeface="Wingdings" pitchFamily="2" charset="2"/>
              <a:buNone/>
              <a:defRPr/>
            </a:pPr>
            <a:r>
              <a:rPr lang="fr-FR" sz="2400" dirty="0"/>
              <a:t>	2. </a:t>
            </a:r>
            <a:r>
              <a:rPr lang="fr-FR" sz="2400" dirty="0" err="1"/>
              <a:t>Hàm</a:t>
            </a:r>
            <a:r>
              <a:rPr lang="fr-FR" sz="2400" dirty="0"/>
              <a:t> n!</a:t>
            </a:r>
          </a:p>
          <a:p>
            <a:pPr lvl="1">
              <a:lnSpc>
                <a:spcPct val="90000"/>
              </a:lnSpc>
              <a:buNone/>
              <a:defRPr/>
            </a:pPr>
            <a:r>
              <a:rPr lang="fr-FR" sz="2000"/>
              <a:t>	a) n</a:t>
            </a:r>
            <a:r>
              <a:rPr lang="fr-FR" sz="2000" dirty="0"/>
              <a:t>! = n*(</a:t>
            </a:r>
            <a:r>
              <a:rPr lang="fr-FR" sz="2000"/>
              <a:t>n-1)!  nếu n&gt;0</a:t>
            </a:r>
          </a:p>
          <a:p>
            <a:pPr lvl="1">
              <a:lnSpc>
                <a:spcPct val="90000"/>
              </a:lnSpc>
              <a:buNone/>
              <a:defRPr/>
            </a:pPr>
            <a:r>
              <a:rPr lang="fr-FR" sz="2000"/>
              <a:t>	b) n!=1  nếu  n=0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B0491C6D-FE58-41A3-8DE0-1338AE88C866}" type="slidenum">
              <a:rPr lang="en-US"/>
              <a:pPr>
                <a:defRPr/>
              </a:pPr>
              <a:t>36</a:t>
            </a:fld>
            <a:endParaRPr lang="en-US"/>
          </a:p>
        </p:txBody>
      </p:sp>
      <p:sp>
        <p:nvSpPr>
          <p:cNvPr id="244738" name="Rectangle 2"/>
          <p:cNvSpPr>
            <a:spLocks noGrp="1" noChangeArrowheads="1"/>
          </p:cNvSpPr>
          <p:nvPr>
            <p:ph type="title"/>
          </p:nvPr>
        </p:nvSpPr>
        <p:spPr/>
        <p:txBody>
          <a:bodyPr/>
          <a:lstStyle/>
          <a:p>
            <a:pPr>
              <a:defRPr/>
            </a:pPr>
            <a:r>
              <a:rPr lang="fr-FR" sz="3600" dirty="0"/>
              <a:t>4.2. </a:t>
            </a:r>
            <a:r>
              <a:rPr lang="fr-FR" sz="3600" dirty="0" err="1"/>
              <a:t>Giải</a:t>
            </a:r>
            <a:r>
              <a:rPr lang="fr-FR" sz="3600" dirty="0"/>
              <a:t> </a:t>
            </a:r>
            <a:r>
              <a:rPr lang="fr-FR" sz="3600" dirty="0" err="1"/>
              <a:t>thuật</a:t>
            </a:r>
            <a:r>
              <a:rPr lang="fr-FR" sz="3600" dirty="0"/>
              <a:t> </a:t>
            </a:r>
            <a:r>
              <a:rPr lang="fr-FR" sz="3600" dirty="0" err="1"/>
              <a:t>đệ</a:t>
            </a:r>
            <a:r>
              <a:rPr lang="fr-FR" sz="3600" dirty="0"/>
              <a:t> </a:t>
            </a:r>
            <a:r>
              <a:rPr lang="fr-FR" sz="3600" dirty="0" err="1"/>
              <a:t>quy</a:t>
            </a:r>
            <a:r>
              <a:rPr lang="fr-FR" sz="3600" dirty="0"/>
              <a:t> </a:t>
            </a:r>
            <a:r>
              <a:rPr lang="fr-FR" sz="3600" dirty="0" err="1"/>
              <a:t>và</a:t>
            </a:r>
            <a:r>
              <a:rPr lang="fr-FR" sz="3600" dirty="0"/>
              <a:t> </a:t>
            </a:r>
            <a:r>
              <a:rPr lang="fr-FR" sz="3600" dirty="0" err="1"/>
              <a:t>thủ</a:t>
            </a:r>
            <a:r>
              <a:rPr lang="fr-FR" sz="3600" dirty="0"/>
              <a:t> </a:t>
            </a:r>
            <a:r>
              <a:rPr lang="fr-FR" sz="3600" dirty="0" err="1"/>
              <a:t>tục</a:t>
            </a:r>
            <a:r>
              <a:rPr lang="fr-FR" sz="3600" dirty="0"/>
              <a:t> </a:t>
            </a:r>
            <a:r>
              <a:rPr lang="fr-FR" sz="3600" dirty="0" err="1"/>
              <a:t>đệ</a:t>
            </a:r>
            <a:r>
              <a:rPr lang="fr-FR" sz="3600" dirty="0"/>
              <a:t> </a:t>
            </a:r>
            <a:r>
              <a:rPr lang="fr-FR" sz="3600" dirty="0" err="1"/>
              <a:t>quy</a:t>
            </a:r>
            <a:endParaRPr lang="en-US" sz="3600" dirty="0"/>
          </a:p>
        </p:txBody>
      </p:sp>
      <p:sp>
        <p:nvSpPr>
          <p:cNvPr id="244739" name="Rectangle 3"/>
          <p:cNvSpPr>
            <a:spLocks noGrp="1" noChangeArrowheads="1"/>
          </p:cNvSpPr>
          <p:nvPr>
            <p:ph type="body" idx="1"/>
          </p:nvPr>
        </p:nvSpPr>
        <p:spPr/>
        <p:txBody>
          <a:bodyPr/>
          <a:lstStyle/>
          <a:p>
            <a:pPr>
              <a:lnSpc>
                <a:spcPct val="80000"/>
              </a:lnSpc>
              <a:defRPr/>
            </a:pPr>
            <a:r>
              <a:rPr lang="fr-FR" sz="2800"/>
              <a:t>Nếu lời giải của một bài toán T được thực hiện bằng lời giải của bài toán T’ có dạng giống như T nhưng với quy mô nhỏ hơn thì lời giải này được gọi là lời giải đệ quy.</a:t>
            </a:r>
          </a:p>
          <a:p>
            <a:pPr>
              <a:lnSpc>
                <a:spcPct val="80000"/>
              </a:lnSpc>
              <a:defRPr/>
            </a:pPr>
            <a:r>
              <a:rPr lang="fr-FR" sz="2800"/>
              <a:t>Giải thuật tương ứng với lời giải đệ quy gọi là giải thuật đệ quy.</a:t>
            </a:r>
          </a:p>
          <a:p>
            <a:pPr>
              <a:lnSpc>
                <a:spcPct val="80000"/>
              </a:lnSpc>
              <a:defRPr/>
            </a:pPr>
            <a:r>
              <a:rPr lang="fr-FR" sz="2800"/>
              <a:t>Thủ tục viết cho giải thuật đệ quy được gọi là thủ tục đệ quy.</a:t>
            </a:r>
          </a:p>
          <a:p>
            <a:pPr>
              <a:lnSpc>
                <a:spcPct val="80000"/>
              </a:lnSpc>
              <a:buFont typeface="Wingdings" pitchFamily="2" charset="2"/>
              <a:buNone/>
              <a:defRPr/>
            </a:pPr>
            <a:r>
              <a:rPr lang="fr-FR" sz="2800"/>
              <a:t>	Trong thủ tục đệ quy có lời gọi tới chính nó, mỗi lần gọi thì kích thước bài toán thu nhỏ hơn và dần dần tiến tới trường hợp đặc biệt là trường hợp suy biến.</a:t>
            </a:r>
            <a:endParaRPr lang="en-US" sz="2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4BF9DE6C-1E13-4093-886F-9C8A201C959B}" type="slidenum">
              <a:rPr lang="en-US"/>
              <a:pPr>
                <a:defRPr/>
              </a:pPr>
              <a:t>37</a:t>
            </a:fld>
            <a:endParaRPr lang="en-US"/>
          </a:p>
        </p:txBody>
      </p:sp>
      <p:sp>
        <p:nvSpPr>
          <p:cNvPr id="245762" name="Rectangle 2"/>
          <p:cNvSpPr>
            <a:spLocks noGrp="1" noChangeArrowheads="1"/>
          </p:cNvSpPr>
          <p:nvPr>
            <p:ph type="title"/>
          </p:nvPr>
        </p:nvSpPr>
        <p:spPr/>
        <p:txBody>
          <a:bodyPr/>
          <a:lstStyle/>
          <a:p>
            <a:pPr>
              <a:defRPr/>
            </a:pPr>
            <a:r>
              <a:rPr lang="fr-FR" sz="4000"/>
              <a:t>Ví dụ: Bài toán tìm 1 từ trong cuốn từ điển</a:t>
            </a:r>
            <a:endParaRPr lang="en-US" sz="4000"/>
          </a:p>
        </p:txBody>
      </p:sp>
      <p:sp>
        <p:nvSpPr>
          <p:cNvPr id="245763" name="Rectangle 3"/>
          <p:cNvSpPr>
            <a:spLocks noGrp="1" noChangeArrowheads="1"/>
          </p:cNvSpPr>
          <p:nvPr>
            <p:ph type="body" idx="1"/>
          </p:nvPr>
        </p:nvSpPr>
        <p:spPr/>
        <p:txBody>
          <a:bodyPr/>
          <a:lstStyle/>
          <a:p>
            <a:pPr>
              <a:lnSpc>
                <a:spcPct val="90000"/>
              </a:lnSpc>
              <a:defRPr/>
            </a:pPr>
            <a:r>
              <a:rPr lang="fr-FR" sz="2800"/>
              <a:t>Giải thuật đệ quy của bài toán này như sau:</a:t>
            </a:r>
          </a:p>
          <a:p>
            <a:pPr>
              <a:lnSpc>
                <a:spcPct val="90000"/>
              </a:lnSpc>
              <a:buFont typeface="Wingdings" pitchFamily="2" charset="2"/>
              <a:buNone/>
              <a:defRPr/>
            </a:pPr>
            <a:r>
              <a:rPr lang="fr-FR" sz="2800"/>
              <a:t>	</a:t>
            </a:r>
            <a:r>
              <a:rPr lang="en-US" sz="2800"/>
              <a:t>IF  từ điển là một trang  THEN  tìm từ trong trang ấy</a:t>
            </a:r>
          </a:p>
          <a:p>
            <a:pPr>
              <a:lnSpc>
                <a:spcPct val="90000"/>
              </a:lnSpc>
              <a:buFont typeface="Wingdings" pitchFamily="2" charset="2"/>
              <a:buNone/>
              <a:defRPr/>
            </a:pPr>
            <a:r>
              <a:rPr lang="en-US" sz="2800"/>
              <a:t>	ELSE  BEGIN</a:t>
            </a:r>
          </a:p>
          <a:p>
            <a:pPr>
              <a:lnSpc>
                <a:spcPct val="90000"/>
              </a:lnSpc>
              <a:buFont typeface="Wingdings" pitchFamily="2" charset="2"/>
              <a:buNone/>
              <a:defRPr/>
            </a:pPr>
            <a:r>
              <a:rPr lang="en-US" sz="2800"/>
              <a:t>		Mở từ điển vào trang giữa; Xác định xem nửa nào chứa từ</a:t>
            </a:r>
          </a:p>
          <a:p>
            <a:pPr>
              <a:lnSpc>
                <a:spcPct val="90000"/>
              </a:lnSpc>
              <a:buFont typeface="Wingdings" pitchFamily="2" charset="2"/>
              <a:buNone/>
              <a:defRPr/>
            </a:pPr>
            <a:r>
              <a:rPr lang="en-US" sz="2800"/>
              <a:t>		IF từ nằm trong nửa trước  THEN tìm trong nửa trước</a:t>
            </a:r>
          </a:p>
          <a:p>
            <a:pPr>
              <a:lnSpc>
                <a:spcPct val="90000"/>
              </a:lnSpc>
              <a:buFont typeface="Wingdings" pitchFamily="2" charset="2"/>
              <a:buNone/>
              <a:defRPr/>
            </a:pPr>
            <a:r>
              <a:rPr lang="en-US" sz="2800"/>
              <a:t>		ELSE  tìm trong nửa sau</a:t>
            </a:r>
          </a:p>
          <a:p>
            <a:pPr>
              <a:lnSpc>
                <a:spcPct val="90000"/>
              </a:lnSpc>
              <a:buFont typeface="Wingdings" pitchFamily="2" charset="2"/>
              <a:buNone/>
              <a:defRPr/>
            </a:pPr>
            <a:r>
              <a:rPr lang="en-US" sz="2800"/>
              <a:t>	END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F388DFCA-5CC6-40CD-B5F6-B9D4DC8D20CD}" type="slidenum">
              <a:rPr lang="en-US"/>
              <a:pPr>
                <a:defRPr/>
              </a:pPr>
              <a:t>38</a:t>
            </a:fld>
            <a:endParaRPr lang="en-US"/>
          </a:p>
        </p:txBody>
      </p:sp>
      <p:sp>
        <p:nvSpPr>
          <p:cNvPr id="246786" name="Rectangle 2"/>
          <p:cNvSpPr>
            <a:spLocks noGrp="1" noChangeArrowheads="1"/>
          </p:cNvSpPr>
          <p:nvPr>
            <p:ph type="title"/>
          </p:nvPr>
        </p:nvSpPr>
        <p:spPr/>
        <p:txBody>
          <a:bodyPr/>
          <a:lstStyle/>
          <a:p>
            <a:pPr>
              <a:defRPr/>
            </a:pPr>
            <a:r>
              <a:rPr lang="fr-FR" sz="4000"/>
              <a:t>Ví dụ: Bài toán tìm 1 từ trong cuốn từ điển</a:t>
            </a:r>
            <a:endParaRPr lang="en-US" sz="4000"/>
          </a:p>
        </p:txBody>
      </p:sp>
      <p:sp>
        <p:nvSpPr>
          <p:cNvPr id="246787" name="Rectangle 3"/>
          <p:cNvSpPr>
            <a:spLocks noGrp="1" noChangeArrowheads="1"/>
          </p:cNvSpPr>
          <p:nvPr>
            <p:ph type="body" idx="1"/>
          </p:nvPr>
        </p:nvSpPr>
        <p:spPr/>
        <p:txBody>
          <a:bodyPr/>
          <a:lstStyle/>
          <a:p>
            <a:pPr>
              <a:defRPr/>
            </a:pPr>
            <a:r>
              <a:rPr lang="en-US" sz="2800"/>
              <a:t>Trong giải thuật này có 2 điểm cần chú ý:</a:t>
            </a:r>
          </a:p>
          <a:p>
            <a:pPr lvl="1">
              <a:defRPr/>
            </a:pPr>
            <a:r>
              <a:rPr lang="en-US" sz="2400"/>
              <a:t>Điểm 1: Sau mỗi lần từ điển được tách đôi, một nửa thích hợp sẽ được tìm kiếm theo chiến thuật đã dùng.</a:t>
            </a:r>
          </a:p>
          <a:p>
            <a:pPr lvl="1">
              <a:defRPr/>
            </a:pPr>
            <a:r>
              <a:rPr lang="en-US" sz="2400"/>
              <a:t>Điểm 2: Có trường hợp đặc biệt là sau khi tách đôi từ điển chỉ còn 1 trang, giải quyết trực tiếp bằng cách tìm từ trong trang đó. Trường hợp đặc biệt này gọi là trường hợp suy biến.</a:t>
            </a:r>
          </a:p>
          <a:p>
            <a:pPr>
              <a:defRPr/>
            </a:pPr>
            <a:r>
              <a:rPr lang="en-US" sz="2800"/>
              <a:t>Giải thuật này gọi là giải thuật chia đôi: Bài toán được tách đôi ra  bài toán nhỏ hơn, bài toán nhỏ hơn lại dùng chiến thuật chia đôi, cho tới khi gặp trường hợp suy biến.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62C75F9B-00FB-497A-B664-5F8600AB4859}" type="slidenum">
              <a:rPr lang="en-US"/>
              <a:pPr>
                <a:defRPr/>
              </a:pPr>
              <a:t>39</a:t>
            </a:fld>
            <a:endParaRPr lang="en-US"/>
          </a:p>
        </p:txBody>
      </p:sp>
      <p:sp>
        <p:nvSpPr>
          <p:cNvPr id="247810" name="Rectangle 2"/>
          <p:cNvSpPr>
            <a:spLocks noGrp="1" noChangeArrowheads="1"/>
          </p:cNvSpPr>
          <p:nvPr>
            <p:ph type="title"/>
          </p:nvPr>
        </p:nvSpPr>
        <p:spPr/>
        <p:txBody>
          <a:bodyPr/>
          <a:lstStyle/>
          <a:p>
            <a:pPr>
              <a:defRPr/>
            </a:pPr>
            <a:r>
              <a:rPr lang="fr-FR" sz="4000"/>
              <a:t>Ví dụ: Bài toán tìm 1 từ trong cuốn từ điển</a:t>
            </a:r>
            <a:endParaRPr lang="en-US" sz="4000"/>
          </a:p>
        </p:txBody>
      </p:sp>
      <p:sp>
        <p:nvSpPr>
          <p:cNvPr id="247811" name="Rectangle 3"/>
          <p:cNvSpPr>
            <a:spLocks noGrp="1" noChangeArrowheads="1"/>
          </p:cNvSpPr>
          <p:nvPr>
            <p:ph type="body" idx="1"/>
          </p:nvPr>
        </p:nvSpPr>
        <p:spPr>
          <a:xfrm>
            <a:off x="457200" y="1600200"/>
            <a:ext cx="8391525" cy="4672013"/>
          </a:xfrm>
        </p:spPr>
        <p:txBody>
          <a:bodyPr/>
          <a:lstStyle/>
          <a:p>
            <a:pPr>
              <a:lnSpc>
                <a:spcPct val="90000"/>
              </a:lnSpc>
              <a:defRPr/>
            </a:pPr>
            <a:r>
              <a:rPr lang="en-US" sz="2800"/>
              <a:t>Thủ tục đệ quy của bài toán được viết như sau:</a:t>
            </a:r>
          </a:p>
          <a:p>
            <a:pPr lvl="1">
              <a:lnSpc>
                <a:spcPct val="90000"/>
              </a:lnSpc>
              <a:buFont typeface="Wingdings" pitchFamily="2" charset="2"/>
              <a:buNone/>
              <a:defRPr/>
            </a:pPr>
            <a:r>
              <a:rPr lang="en-US" sz="2400"/>
              <a:t>Procedure  timkiem(Tudien, tu)</a:t>
            </a:r>
          </a:p>
          <a:p>
            <a:pPr lvl="1">
              <a:lnSpc>
                <a:spcPct val="90000"/>
              </a:lnSpc>
              <a:buFont typeface="Wingdings" pitchFamily="2" charset="2"/>
              <a:buNone/>
              <a:defRPr/>
            </a:pPr>
            <a:r>
              <a:rPr lang="en-US" sz="2400"/>
              <a:t>IF Tudien chỉ còn một trang   THEN tìm từ trong trang ấy</a:t>
            </a:r>
          </a:p>
          <a:p>
            <a:pPr lvl="1">
              <a:lnSpc>
                <a:spcPct val="90000"/>
              </a:lnSpc>
              <a:buFont typeface="Wingdings" pitchFamily="2" charset="2"/>
              <a:buNone/>
              <a:defRPr/>
            </a:pPr>
            <a:r>
              <a:rPr lang="en-US" sz="2400"/>
              <a:t>ELSE  BEGIN</a:t>
            </a:r>
          </a:p>
          <a:p>
            <a:pPr lvl="1">
              <a:lnSpc>
                <a:spcPct val="90000"/>
              </a:lnSpc>
              <a:buFont typeface="Wingdings" pitchFamily="2" charset="2"/>
              <a:buNone/>
              <a:defRPr/>
            </a:pPr>
            <a:r>
              <a:rPr lang="en-US" sz="2400"/>
              <a:t>		Mở từ điểm vào trang giữa</a:t>
            </a:r>
          </a:p>
          <a:p>
            <a:pPr lvl="1">
              <a:lnSpc>
                <a:spcPct val="90000"/>
              </a:lnSpc>
              <a:buFont typeface="Wingdings" pitchFamily="2" charset="2"/>
              <a:buNone/>
              <a:defRPr/>
            </a:pPr>
            <a:r>
              <a:rPr lang="en-US" sz="2400"/>
              <a:t>		Xác định xem nửa nào chứa từ</a:t>
            </a:r>
          </a:p>
          <a:p>
            <a:pPr lvl="1">
              <a:lnSpc>
                <a:spcPct val="90000"/>
              </a:lnSpc>
              <a:buFont typeface="Wingdings" pitchFamily="2" charset="2"/>
              <a:buNone/>
              <a:defRPr/>
            </a:pPr>
            <a:r>
              <a:rPr lang="en-US" sz="2400"/>
              <a:t>		IF Từ nằm ở nửa trước</a:t>
            </a:r>
          </a:p>
          <a:p>
            <a:pPr lvl="1">
              <a:lnSpc>
                <a:spcPct val="90000"/>
              </a:lnSpc>
              <a:buFont typeface="Wingdings" pitchFamily="2" charset="2"/>
              <a:buNone/>
              <a:defRPr/>
            </a:pPr>
            <a:r>
              <a:rPr lang="en-US" sz="2400"/>
              <a:t>		THEN  CALL timkiem(Tudien1, tu)</a:t>
            </a:r>
          </a:p>
          <a:p>
            <a:pPr lvl="1">
              <a:lnSpc>
                <a:spcPct val="90000"/>
              </a:lnSpc>
              <a:buFont typeface="Wingdings" pitchFamily="2" charset="2"/>
              <a:buNone/>
              <a:defRPr/>
            </a:pPr>
            <a:r>
              <a:rPr lang="en-US" sz="2400"/>
              <a:t>		ELSE   CALL timkiem(Tudien2, tu)</a:t>
            </a:r>
          </a:p>
          <a:p>
            <a:pPr lvl="1">
              <a:lnSpc>
                <a:spcPct val="90000"/>
              </a:lnSpc>
              <a:buFont typeface="Wingdings" pitchFamily="2" charset="2"/>
              <a:buNone/>
              <a:defRPr/>
            </a:pPr>
            <a:r>
              <a:rPr lang="en-US" sz="2400"/>
              <a:t>END</a:t>
            </a:r>
          </a:p>
          <a:p>
            <a:pPr lvl="1">
              <a:lnSpc>
                <a:spcPct val="90000"/>
              </a:lnSpc>
              <a:buFont typeface="Wingdings" pitchFamily="2" charset="2"/>
              <a:buNone/>
              <a:defRPr/>
            </a:pPr>
            <a:r>
              <a:rPr lang="en-US" sz="2400"/>
              <a:t>RETURN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FAA88F83-5B34-485E-BB56-16CD1A60EB37}" type="slidenum">
              <a:rPr lang="en-US"/>
              <a:pPr>
                <a:defRPr/>
              </a:pPr>
              <a:t>40</a:t>
            </a:fld>
            <a:endParaRPr lang="en-US"/>
          </a:p>
        </p:txBody>
      </p:sp>
      <p:sp>
        <p:nvSpPr>
          <p:cNvPr id="248834" name="Rectangle 2"/>
          <p:cNvSpPr>
            <a:spLocks noGrp="1" noChangeArrowheads="1"/>
          </p:cNvSpPr>
          <p:nvPr>
            <p:ph type="title"/>
          </p:nvPr>
        </p:nvSpPr>
        <p:spPr/>
        <p:txBody>
          <a:bodyPr/>
          <a:lstStyle/>
          <a:p>
            <a:pPr>
              <a:defRPr/>
            </a:pPr>
            <a:r>
              <a:rPr lang="en-US" dirty="0"/>
              <a:t>4.3. </a:t>
            </a:r>
            <a:r>
              <a:rPr lang="en-US" dirty="0" err="1"/>
              <a:t>Thiết</a:t>
            </a:r>
            <a:r>
              <a:rPr lang="en-US" dirty="0"/>
              <a:t> </a:t>
            </a:r>
            <a:r>
              <a:rPr lang="en-US" dirty="0" err="1"/>
              <a:t>kế</a:t>
            </a:r>
            <a:r>
              <a:rPr lang="en-US" dirty="0"/>
              <a:t> </a:t>
            </a:r>
            <a:r>
              <a:rPr lang="en-US" dirty="0" err="1"/>
              <a:t>giải</a:t>
            </a:r>
            <a:r>
              <a:rPr lang="en-US" dirty="0"/>
              <a:t> </a:t>
            </a:r>
            <a:r>
              <a:rPr lang="en-US" dirty="0" err="1"/>
              <a:t>thuật</a:t>
            </a:r>
            <a:r>
              <a:rPr lang="en-US" dirty="0"/>
              <a:t> </a:t>
            </a:r>
            <a:r>
              <a:rPr lang="en-US" dirty="0" err="1"/>
              <a:t>đệ</a:t>
            </a:r>
            <a:r>
              <a:rPr lang="en-US" dirty="0"/>
              <a:t> </a:t>
            </a:r>
            <a:r>
              <a:rPr lang="en-US" dirty="0" err="1"/>
              <a:t>quy</a:t>
            </a:r>
            <a:endParaRPr lang="en-US" dirty="0"/>
          </a:p>
        </p:txBody>
      </p:sp>
      <p:sp>
        <p:nvSpPr>
          <p:cNvPr id="248835" name="Rectangle 3"/>
          <p:cNvSpPr>
            <a:spLocks noGrp="1" noChangeArrowheads="1"/>
          </p:cNvSpPr>
          <p:nvPr>
            <p:ph type="body" idx="1"/>
          </p:nvPr>
        </p:nvSpPr>
        <p:spPr/>
        <p:txBody>
          <a:bodyPr/>
          <a:lstStyle/>
          <a:p>
            <a:pPr>
              <a:lnSpc>
                <a:spcPct val="90000"/>
              </a:lnSpc>
              <a:defRPr/>
            </a:pPr>
            <a:r>
              <a:rPr lang="en-US" sz="2800" dirty="0" err="1"/>
              <a:t>Khi</a:t>
            </a:r>
            <a:r>
              <a:rPr lang="en-US" sz="2800" dirty="0"/>
              <a:t> </a:t>
            </a:r>
            <a:r>
              <a:rPr lang="en-US" sz="2800" dirty="0" err="1"/>
              <a:t>bài</a:t>
            </a:r>
            <a:r>
              <a:rPr lang="en-US" sz="2800" dirty="0"/>
              <a:t> </a:t>
            </a:r>
            <a:r>
              <a:rPr lang="en-US" sz="2800" dirty="0" err="1"/>
              <a:t>toán</a:t>
            </a:r>
            <a:r>
              <a:rPr lang="en-US" sz="2800" dirty="0"/>
              <a:t> </a:t>
            </a:r>
            <a:r>
              <a:rPr lang="en-US" sz="2800" dirty="0" err="1"/>
              <a:t>đang</a:t>
            </a:r>
            <a:r>
              <a:rPr lang="en-US" sz="2800" dirty="0"/>
              <a:t> </a:t>
            </a:r>
            <a:r>
              <a:rPr lang="en-US" sz="2800" dirty="0" err="1"/>
              <a:t>xét</a:t>
            </a:r>
            <a:r>
              <a:rPr lang="en-US" sz="2800" dirty="0"/>
              <a:t> </a:t>
            </a:r>
            <a:r>
              <a:rPr lang="en-US" sz="2800" dirty="0" err="1"/>
              <a:t>hoặc</a:t>
            </a:r>
            <a:r>
              <a:rPr lang="en-US" sz="2800" dirty="0"/>
              <a:t> </a:t>
            </a:r>
            <a:r>
              <a:rPr lang="en-US" sz="2800" dirty="0" err="1"/>
              <a:t>dữ</a:t>
            </a:r>
            <a:r>
              <a:rPr lang="en-US" sz="2800" dirty="0"/>
              <a:t> </a:t>
            </a:r>
            <a:r>
              <a:rPr lang="en-US" sz="2800" dirty="0" err="1"/>
              <a:t>liệu</a:t>
            </a:r>
            <a:r>
              <a:rPr lang="en-US" sz="2800" dirty="0"/>
              <a:t> </a:t>
            </a:r>
            <a:r>
              <a:rPr lang="en-US" sz="2800" dirty="0" err="1"/>
              <a:t>đang</a:t>
            </a:r>
            <a:r>
              <a:rPr lang="en-US" sz="2800" dirty="0"/>
              <a:t> </a:t>
            </a:r>
            <a:r>
              <a:rPr lang="en-US" sz="2800" dirty="0" err="1"/>
              <a:t>xử</a:t>
            </a:r>
            <a:r>
              <a:rPr lang="en-US" sz="2800" dirty="0"/>
              <a:t> </a:t>
            </a:r>
            <a:r>
              <a:rPr lang="en-US" sz="2800" dirty="0" err="1"/>
              <a:t>lý</a:t>
            </a:r>
            <a:r>
              <a:rPr lang="en-US" sz="2800" dirty="0"/>
              <a:t> </a:t>
            </a:r>
            <a:r>
              <a:rPr lang="en-US" sz="2800" dirty="0" err="1"/>
              <a:t>được</a:t>
            </a:r>
            <a:r>
              <a:rPr lang="en-US" sz="2800" dirty="0"/>
              <a:t> </a:t>
            </a:r>
            <a:r>
              <a:rPr lang="en-US" sz="2800" dirty="0" err="1"/>
              <a:t>định</a:t>
            </a:r>
            <a:r>
              <a:rPr lang="en-US" sz="2800" dirty="0"/>
              <a:t> </a:t>
            </a:r>
            <a:r>
              <a:rPr lang="en-US" sz="2800" dirty="0" err="1"/>
              <a:t>nghĩa</a:t>
            </a:r>
            <a:r>
              <a:rPr lang="en-US" sz="2800" dirty="0"/>
              <a:t> </a:t>
            </a:r>
            <a:r>
              <a:rPr lang="en-US" sz="2800" dirty="0" err="1"/>
              <a:t>dưới</a:t>
            </a:r>
            <a:r>
              <a:rPr lang="en-US" sz="2800" dirty="0"/>
              <a:t> </a:t>
            </a:r>
            <a:r>
              <a:rPr lang="en-US" sz="2800" dirty="0" err="1"/>
              <a:t>dạng</a:t>
            </a:r>
            <a:r>
              <a:rPr lang="en-US" sz="2800" dirty="0"/>
              <a:t> </a:t>
            </a:r>
            <a:r>
              <a:rPr lang="en-US" sz="2800" dirty="0" err="1"/>
              <a:t>đệ</a:t>
            </a:r>
            <a:r>
              <a:rPr lang="en-US" sz="2800" dirty="0"/>
              <a:t> </a:t>
            </a:r>
            <a:r>
              <a:rPr lang="en-US" sz="2800" dirty="0" err="1"/>
              <a:t>quy</a:t>
            </a:r>
            <a:r>
              <a:rPr lang="en-US" sz="2800" dirty="0"/>
              <a:t> </a:t>
            </a:r>
            <a:r>
              <a:rPr lang="en-US" sz="2800" dirty="0" err="1"/>
              <a:t>thì</a:t>
            </a:r>
            <a:r>
              <a:rPr lang="en-US" sz="2800" dirty="0"/>
              <a:t> </a:t>
            </a:r>
            <a:r>
              <a:rPr lang="en-US" sz="2800" dirty="0" err="1"/>
              <a:t>việc</a:t>
            </a:r>
            <a:r>
              <a:rPr lang="en-US" sz="2800" dirty="0"/>
              <a:t> </a:t>
            </a:r>
            <a:r>
              <a:rPr lang="en-US" sz="2800" dirty="0" err="1"/>
              <a:t>thiết</a:t>
            </a:r>
            <a:r>
              <a:rPr lang="en-US" sz="2800" dirty="0"/>
              <a:t> </a:t>
            </a:r>
            <a:r>
              <a:rPr lang="en-US" sz="2800" dirty="0" err="1"/>
              <a:t>kế</a:t>
            </a:r>
            <a:r>
              <a:rPr lang="en-US" sz="2800" dirty="0"/>
              <a:t> </a:t>
            </a:r>
            <a:r>
              <a:rPr lang="en-US" sz="2800" dirty="0" err="1"/>
              <a:t>các</a:t>
            </a:r>
            <a:r>
              <a:rPr lang="en-US" sz="2800" dirty="0"/>
              <a:t> </a:t>
            </a:r>
            <a:r>
              <a:rPr lang="en-US" sz="2800" dirty="0" err="1"/>
              <a:t>giải</a:t>
            </a:r>
            <a:r>
              <a:rPr lang="en-US" sz="2800" dirty="0"/>
              <a:t> </a:t>
            </a:r>
            <a:r>
              <a:rPr lang="en-US" sz="2800" dirty="0" err="1"/>
              <a:t>thuật</a:t>
            </a:r>
            <a:r>
              <a:rPr lang="en-US" sz="2800" dirty="0"/>
              <a:t> </a:t>
            </a:r>
            <a:r>
              <a:rPr lang="en-US" sz="2800" dirty="0" err="1"/>
              <a:t>đệ</a:t>
            </a:r>
            <a:r>
              <a:rPr lang="en-US" sz="2800" dirty="0"/>
              <a:t> </a:t>
            </a:r>
            <a:r>
              <a:rPr lang="en-US" sz="2800" dirty="0" err="1"/>
              <a:t>quy</a:t>
            </a:r>
            <a:r>
              <a:rPr lang="en-US" sz="2800" dirty="0"/>
              <a:t> </a:t>
            </a:r>
            <a:r>
              <a:rPr lang="en-US" sz="2800" dirty="0" err="1"/>
              <a:t>tỏ</a:t>
            </a:r>
            <a:r>
              <a:rPr lang="en-US" sz="2800" dirty="0"/>
              <a:t> </a:t>
            </a:r>
            <a:r>
              <a:rPr lang="en-US" sz="2800" dirty="0" err="1"/>
              <a:t>ra</a:t>
            </a:r>
            <a:r>
              <a:rPr lang="en-US" sz="2800" dirty="0"/>
              <a:t> </a:t>
            </a:r>
            <a:r>
              <a:rPr lang="en-US" sz="2800" dirty="0" err="1"/>
              <a:t>rất</a:t>
            </a:r>
            <a:r>
              <a:rPr lang="en-US" sz="2800" dirty="0"/>
              <a:t> </a:t>
            </a:r>
            <a:r>
              <a:rPr lang="en-US" sz="2800" dirty="0" err="1"/>
              <a:t>thuận</a:t>
            </a:r>
            <a:r>
              <a:rPr lang="en-US" sz="2800" dirty="0"/>
              <a:t> </a:t>
            </a:r>
            <a:r>
              <a:rPr lang="en-US" sz="2800" dirty="0" err="1"/>
              <a:t>lợi</a:t>
            </a:r>
            <a:r>
              <a:rPr lang="en-US" sz="2800" dirty="0"/>
              <a:t>.</a:t>
            </a:r>
          </a:p>
          <a:p>
            <a:pPr>
              <a:lnSpc>
                <a:spcPct val="90000"/>
              </a:lnSpc>
              <a:defRPr/>
            </a:pPr>
            <a:r>
              <a:rPr lang="en-US" sz="2800"/>
              <a:t>Một bài toán có 2 đặc điểm sau thì có thể thiết kế giải thuật đệ quy:</a:t>
            </a:r>
            <a:endParaRPr lang="en-US" sz="2800" dirty="0"/>
          </a:p>
          <a:p>
            <a:pPr lvl="1">
              <a:lnSpc>
                <a:spcPct val="90000"/>
              </a:lnSpc>
              <a:buFont typeface="Wingdings" pitchFamily="2" charset="2"/>
              <a:buNone/>
              <a:defRPr/>
            </a:pPr>
            <a:r>
              <a:rPr lang="en-US" sz="2400" dirty="0"/>
              <a:t>1. </a:t>
            </a:r>
            <a:r>
              <a:rPr lang="en-US" sz="2400" dirty="0" err="1"/>
              <a:t>Có</a:t>
            </a:r>
            <a:r>
              <a:rPr lang="en-US" sz="2400" dirty="0"/>
              <a:t> </a:t>
            </a:r>
            <a:r>
              <a:rPr lang="en-US" sz="2400" dirty="0" err="1"/>
              <a:t>thể</a:t>
            </a:r>
            <a:r>
              <a:rPr lang="en-US" sz="2400" dirty="0"/>
              <a:t> </a:t>
            </a:r>
            <a:r>
              <a:rPr lang="en-US" sz="2400" dirty="0" err="1"/>
              <a:t>định</a:t>
            </a:r>
            <a:r>
              <a:rPr lang="en-US" sz="2400" dirty="0"/>
              <a:t> </a:t>
            </a:r>
            <a:r>
              <a:rPr lang="en-US" sz="2400" dirty="0" err="1"/>
              <a:t>nghĩa</a:t>
            </a:r>
            <a:r>
              <a:rPr lang="en-US" sz="2400" dirty="0"/>
              <a:t> </a:t>
            </a:r>
            <a:r>
              <a:rPr lang="en-US" sz="2400" dirty="0" err="1"/>
              <a:t>bài</a:t>
            </a:r>
            <a:r>
              <a:rPr lang="en-US" sz="2400" dirty="0"/>
              <a:t> </a:t>
            </a:r>
            <a:r>
              <a:rPr lang="en-US" sz="2400" dirty="0" err="1"/>
              <a:t>toán</a:t>
            </a:r>
            <a:r>
              <a:rPr lang="en-US" sz="2400" dirty="0"/>
              <a:t> </a:t>
            </a:r>
            <a:r>
              <a:rPr lang="en-US" sz="2400" dirty="0" err="1"/>
              <a:t>dưới</a:t>
            </a:r>
            <a:r>
              <a:rPr lang="en-US" sz="2400" dirty="0"/>
              <a:t> </a:t>
            </a:r>
            <a:r>
              <a:rPr lang="en-US" sz="2400" dirty="0" err="1"/>
              <a:t>dạng</a:t>
            </a:r>
            <a:r>
              <a:rPr lang="en-US" sz="2400" dirty="0"/>
              <a:t> </a:t>
            </a:r>
            <a:r>
              <a:rPr lang="en-US" sz="2400" dirty="0" err="1"/>
              <a:t>một</a:t>
            </a:r>
            <a:r>
              <a:rPr lang="en-US" sz="2400" dirty="0"/>
              <a:t> </a:t>
            </a:r>
            <a:r>
              <a:rPr lang="en-US" sz="2400" dirty="0" err="1"/>
              <a:t>bài</a:t>
            </a:r>
            <a:r>
              <a:rPr lang="en-US" sz="2400" dirty="0"/>
              <a:t> </a:t>
            </a:r>
            <a:r>
              <a:rPr lang="en-US" sz="2400" dirty="0" err="1"/>
              <a:t>toán</a:t>
            </a:r>
            <a:r>
              <a:rPr lang="en-US" sz="2400" dirty="0"/>
              <a:t> </a:t>
            </a:r>
            <a:r>
              <a:rPr lang="en-US" sz="2400" dirty="0" err="1"/>
              <a:t>cùng</a:t>
            </a:r>
            <a:r>
              <a:rPr lang="en-US" sz="2400" dirty="0"/>
              <a:t> </a:t>
            </a:r>
            <a:r>
              <a:rPr lang="en-US" sz="2400" dirty="0" err="1"/>
              <a:t>loại</a:t>
            </a:r>
            <a:r>
              <a:rPr lang="en-US" sz="2400" dirty="0"/>
              <a:t> </a:t>
            </a:r>
            <a:r>
              <a:rPr lang="en-US" sz="2400" err="1"/>
              <a:t>nhưng</a:t>
            </a:r>
            <a:r>
              <a:rPr lang="en-US" sz="2400"/>
              <a:t> có quy mô nhỏ hơn. Đây chính là đặc điểm đệ quy.</a:t>
            </a:r>
            <a:endParaRPr lang="en-US" sz="2400" dirty="0"/>
          </a:p>
          <a:p>
            <a:pPr lvl="1">
              <a:lnSpc>
                <a:spcPct val="90000"/>
              </a:lnSpc>
              <a:buFont typeface="Wingdings" pitchFamily="2" charset="2"/>
              <a:buNone/>
              <a:defRPr/>
            </a:pPr>
            <a:r>
              <a:rPr lang="en-US" sz="2400"/>
              <a:t>2. Có trường </a:t>
            </a:r>
            <a:r>
              <a:rPr lang="en-US" sz="2400" dirty="0" err="1"/>
              <a:t>hợp</a:t>
            </a:r>
            <a:r>
              <a:rPr lang="en-US" sz="2400" dirty="0"/>
              <a:t> </a:t>
            </a:r>
            <a:r>
              <a:rPr lang="en-US" sz="2400" dirty="0" err="1"/>
              <a:t>đặc</a:t>
            </a:r>
            <a:r>
              <a:rPr lang="en-US" sz="2400" dirty="0"/>
              <a:t> </a:t>
            </a:r>
            <a:r>
              <a:rPr lang="en-US" sz="2400" err="1"/>
              <a:t>biệt</a:t>
            </a:r>
            <a:r>
              <a:rPr lang="en-US" sz="2400"/>
              <a:t> (trường </a:t>
            </a:r>
            <a:r>
              <a:rPr lang="en-US" sz="2400" dirty="0" err="1"/>
              <a:t>hợp</a:t>
            </a:r>
            <a:r>
              <a:rPr lang="en-US" sz="2400" dirty="0"/>
              <a:t> </a:t>
            </a:r>
            <a:r>
              <a:rPr lang="en-US" sz="2400" err="1"/>
              <a:t>suy</a:t>
            </a:r>
            <a:r>
              <a:rPr lang="en-US" sz="2400"/>
              <a:t> biến) mà ở đó kết thúc đệ quy.</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DCA5E032-64A0-42D3-99AA-4B4AAAF1F14D}" type="slidenum">
              <a:rPr lang="en-US"/>
              <a:pPr>
                <a:defRPr/>
              </a:pPr>
              <a:t>41</a:t>
            </a:fld>
            <a:endParaRPr lang="en-US"/>
          </a:p>
        </p:txBody>
      </p:sp>
      <p:sp>
        <p:nvSpPr>
          <p:cNvPr id="249858" name="Rectangle 2"/>
          <p:cNvSpPr>
            <a:spLocks noGrp="1" noChangeArrowheads="1"/>
          </p:cNvSpPr>
          <p:nvPr>
            <p:ph type="title"/>
          </p:nvPr>
        </p:nvSpPr>
        <p:spPr/>
        <p:txBody>
          <a:bodyPr/>
          <a:lstStyle/>
          <a:p>
            <a:pPr>
              <a:defRPr/>
            </a:pPr>
            <a:r>
              <a:rPr lang="en-US"/>
              <a:t>Bài toán 1: Tính n! </a:t>
            </a:r>
          </a:p>
        </p:txBody>
      </p:sp>
      <p:sp>
        <p:nvSpPr>
          <p:cNvPr id="249859" name="Rectangle 3"/>
          <p:cNvSpPr>
            <a:spLocks noGrp="1" noChangeArrowheads="1"/>
          </p:cNvSpPr>
          <p:nvPr>
            <p:ph type="body" idx="1"/>
          </p:nvPr>
        </p:nvSpPr>
        <p:spPr>
          <a:xfrm>
            <a:off x="237505" y="1543792"/>
            <a:ext cx="8716489" cy="4728422"/>
          </a:xfrm>
        </p:spPr>
        <p:txBody>
          <a:bodyPr/>
          <a:lstStyle/>
          <a:p>
            <a:pPr>
              <a:defRPr/>
            </a:pPr>
            <a:r>
              <a:rPr lang="en-US"/>
              <a:t>Định nghĩ đệ quy của hàm n! như sau:</a:t>
            </a:r>
          </a:p>
          <a:p>
            <a:pPr lvl="1">
              <a:buFont typeface="Wingdings" pitchFamily="2" charset="2"/>
              <a:buNone/>
              <a:defRPr/>
            </a:pPr>
            <a:r>
              <a:rPr lang="en-US"/>
              <a:t>	GiaiThua(n) = 1 nếu n=0</a:t>
            </a:r>
          </a:p>
          <a:p>
            <a:pPr lvl="1">
              <a:buFont typeface="Wingdings" pitchFamily="2" charset="2"/>
              <a:buNone/>
              <a:defRPr/>
            </a:pPr>
            <a:r>
              <a:rPr lang="en-US"/>
              <a:t>	</a:t>
            </a:r>
            <a:r>
              <a:rPr lang="fr-FR"/>
              <a:t>GiaiThua(n)=n</a:t>
            </a:r>
            <a:r>
              <a:rPr lang="fr-FR">
                <a:sym typeface="Symbol" pitchFamily="18" charset="2"/>
              </a:rPr>
              <a:t></a:t>
            </a:r>
            <a:r>
              <a:rPr lang="fr-FR"/>
              <a:t>GiaiThua(n-1) nếu n&gt;0</a:t>
            </a:r>
          </a:p>
          <a:p>
            <a:pPr lvl="1">
              <a:buFont typeface="Wingdings" pitchFamily="2" charset="2"/>
              <a:buNone/>
              <a:defRPr/>
            </a:pPr>
            <a:r>
              <a:rPr lang="fr-FR"/>
              <a:t>	Thuật giải đệ quy được viết dưới dạng hàm:</a:t>
            </a:r>
          </a:p>
          <a:p>
            <a:pPr lvl="1">
              <a:buFont typeface="Wingdings" pitchFamily="2" charset="2"/>
              <a:buNone/>
              <a:defRPr/>
            </a:pPr>
            <a:r>
              <a:rPr lang="fr-FR" b="1">
                <a:solidFill>
                  <a:schemeClr val="accent5">
                    <a:lumMod val="90000"/>
                  </a:schemeClr>
                </a:solidFill>
              </a:rPr>
              <a:t>	</a:t>
            </a:r>
            <a:r>
              <a:rPr lang="fr-FR" b="1">
                <a:solidFill>
                  <a:srgbClr val="FFFF00"/>
                </a:solidFill>
              </a:rPr>
              <a:t>Function GiaiThua(n)</a:t>
            </a:r>
          </a:p>
          <a:p>
            <a:pPr lvl="1">
              <a:buFont typeface="Wingdings" pitchFamily="2" charset="2"/>
              <a:buNone/>
              <a:defRPr/>
            </a:pPr>
            <a:r>
              <a:rPr lang="fr-FR" b="1">
                <a:solidFill>
                  <a:srgbClr val="FFFF00"/>
                </a:solidFill>
              </a:rPr>
              <a:t>	    If  n=0  then  begin GiaiThua :=1; return;end</a:t>
            </a:r>
          </a:p>
          <a:p>
            <a:pPr lvl="1">
              <a:buFont typeface="Wingdings" pitchFamily="2" charset="2"/>
              <a:buNone/>
              <a:defRPr/>
            </a:pPr>
            <a:r>
              <a:rPr lang="fr-FR" b="1">
                <a:solidFill>
                  <a:srgbClr val="FFFF00"/>
                </a:solidFill>
              </a:rPr>
              <a:t>	</a:t>
            </a:r>
            <a:r>
              <a:rPr lang="en-US" b="1">
                <a:solidFill>
                  <a:srgbClr val="FFFF00"/>
                </a:solidFill>
              </a:rPr>
              <a:t>    Else  GiaiThua := n * GiaiThua(n-1);</a:t>
            </a:r>
          </a:p>
          <a:p>
            <a:pPr lvl="1">
              <a:buFont typeface="Wingdings" pitchFamily="2" charset="2"/>
              <a:buNone/>
              <a:defRPr/>
            </a:pPr>
            <a:r>
              <a:rPr lang="en-US" b="1">
                <a:solidFill>
                  <a:srgbClr val="FFFF00"/>
                </a:solidFill>
              </a:rPr>
              <a:t>	Return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DCA5E032-64A0-42D3-99AA-4B4AAAF1F14D}" type="slidenum">
              <a:rPr lang="en-US"/>
              <a:pPr>
                <a:defRPr/>
              </a:pPr>
              <a:t>42</a:t>
            </a:fld>
            <a:endParaRPr lang="en-US"/>
          </a:p>
        </p:txBody>
      </p:sp>
      <p:sp>
        <p:nvSpPr>
          <p:cNvPr id="249858" name="Rectangle 2"/>
          <p:cNvSpPr>
            <a:spLocks noGrp="1" noChangeArrowheads="1"/>
          </p:cNvSpPr>
          <p:nvPr>
            <p:ph type="title"/>
          </p:nvPr>
        </p:nvSpPr>
        <p:spPr/>
        <p:txBody>
          <a:bodyPr/>
          <a:lstStyle/>
          <a:p>
            <a:pPr>
              <a:defRPr/>
            </a:pPr>
            <a:r>
              <a:rPr lang="en-US" sz="3600"/>
              <a:t>Ưu, nhược điểm của giải thuật đệ quy</a:t>
            </a:r>
          </a:p>
        </p:txBody>
      </p:sp>
      <p:sp>
        <p:nvSpPr>
          <p:cNvPr id="249859" name="Rectangle 3"/>
          <p:cNvSpPr>
            <a:spLocks noGrp="1" noChangeArrowheads="1"/>
          </p:cNvSpPr>
          <p:nvPr>
            <p:ph type="body" idx="1"/>
          </p:nvPr>
        </p:nvSpPr>
        <p:spPr>
          <a:xfrm>
            <a:off x="237505" y="1543792"/>
            <a:ext cx="8716489" cy="4728422"/>
          </a:xfrm>
        </p:spPr>
        <p:txBody>
          <a:bodyPr/>
          <a:lstStyle/>
          <a:p>
            <a:pPr>
              <a:defRPr/>
            </a:pPr>
            <a:r>
              <a:rPr lang="en-US"/>
              <a:t>Ưu điểm: Ngắn gọn, rõ rang</a:t>
            </a:r>
          </a:p>
          <a:p>
            <a:pPr>
              <a:defRPr/>
            </a:pPr>
            <a:r>
              <a:rPr lang="en-US"/>
              <a:t>Nhược điểm: Tốn thời gian và bộ nhớ vì phải thực hiện liên tiếp các lời gọi chương trình con.</a:t>
            </a:r>
          </a:p>
          <a:p>
            <a:pPr>
              <a:defRPr/>
            </a:pPr>
            <a:r>
              <a:rPr lang="en-US"/>
              <a:t>KL: Không nên dùng giải thuật đệ quy nếu có một giải thuật khác tương đương không đệ quy.</a:t>
            </a:r>
          </a:p>
        </p:txBody>
      </p:sp>
    </p:spTree>
    <p:extLst>
      <p:ext uri="{BB962C8B-B14F-4D97-AF65-F5344CB8AC3E}">
        <p14:creationId xmlns:p14="http://schemas.microsoft.com/office/powerpoint/2010/main" val="16784631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DCA5E032-64A0-42D3-99AA-4B4AAAF1F14D}" type="slidenum">
              <a:rPr lang="en-US"/>
              <a:pPr>
                <a:defRPr/>
              </a:pPr>
              <a:t>43</a:t>
            </a:fld>
            <a:endParaRPr lang="en-US"/>
          </a:p>
        </p:txBody>
      </p:sp>
      <p:sp>
        <p:nvSpPr>
          <p:cNvPr id="249858" name="Rectangle 2"/>
          <p:cNvSpPr>
            <a:spLocks noGrp="1" noChangeArrowheads="1"/>
          </p:cNvSpPr>
          <p:nvPr>
            <p:ph type="title"/>
          </p:nvPr>
        </p:nvSpPr>
        <p:spPr/>
        <p:txBody>
          <a:bodyPr/>
          <a:lstStyle/>
          <a:p>
            <a:pPr>
              <a:defRPr/>
            </a:pPr>
            <a:r>
              <a:rPr lang="en-US"/>
              <a:t>Bài toán 1: Tính n! </a:t>
            </a:r>
          </a:p>
        </p:txBody>
      </p:sp>
      <p:sp>
        <p:nvSpPr>
          <p:cNvPr id="249859" name="Rectangle 3"/>
          <p:cNvSpPr>
            <a:spLocks noGrp="1" noChangeArrowheads="1"/>
          </p:cNvSpPr>
          <p:nvPr>
            <p:ph type="body" idx="1"/>
          </p:nvPr>
        </p:nvSpPr>
        <p:spPr/>
        <p:txBody>
          <a:bodyPr/>
          <a:lstStyle/>
          <a:p>
            <a:pPr>
              <a:defRPr/>
            </a:pPr>
            <a:r>
              <a:rPr lang="en-US"/>
              <a:t>Khử đệ quy của hàm tính giai thừa:</a:t>
            </a:r>
          </a:p>
          <a:p>
            <a:pPr lvl="1">
              <a:buFont typeface="Wingdings" pitchFamily="2" charset="2"/>
              <a:buNone/>
              <a:defRPr/>
            </a:pPr>
            <a:r>
              <a:rPr lang="fr-FR"/>
              <a:t>Function FAC(n)</a:t>
            </a:r>
          </a:p>
          <a:p>
            <a:pPr lvl="1">
              <a:buFont typeface="Wingdings" pitchFamily="2" charset="2"/>
              <a:buNone/>
              <a:defRPr/>
            </a:pPr>
            <a:r>
              <a:rPr lang="fr-FR"/>
              <a:t>	    If  n=0  then  gt:=1; </a:t>
            </a:r>
          </a:p>
          <a:p>
            <a:pPr lvl="1">
              <a:buFont typeface="Wingdings" pitchFamily="2" charset="2"/>
              <a:buNone/>
              <a:defRPr/>
            </a:pPr>
            <a:r>
              <a:rPr lang="fr-FR"/>
              <a:t>	</a:t>
            </a:r>
            <a:r>
              <a:rPr lang="en-US"/>
              <a:t>    Else begin</a:t>
            </a:r>
          </a:p>
          <a:p>
            <a:pPr lvl="1">
              <a:buFont typeface="Wingdings" pitchFamily="2" charset="2"/>
              <a:buNone/>
              <a:defRPr/>
            </a:pPr>
            <a:r>
              <a:rPr lang="en-US"/>
              <a:t>				gt:=1;</a:t>
            </a:r>
          </a:p>
          <a:p>
            <a:pPr lvl="1">
              <a:buFont typeface="Wingdings" pitchFamily="2" charset="2"/>
              <a:buNone/>
              <a:defRPr/>
            </a:pPr>
            <a:r>
              <a:rPr lang="en-US"/>
              <a:t>				For i:=1 to n do gt:=gt*i;</a:t>
            </a:r>
          </a:p>
          <a:p>
            <a:pPr lvl="1">
              <a:buFont typeface="Wingdings" pitchFamily="2" charset="2"/>
              <a:buNone/>
              <a:defRPr/>
            </a:pPr>
            <a:r>
              <a:rPr lang="en-US"/>
              <a:t>			 end;</a:t>
            </a:r>
          </a:p>
          <a:p>
            <a:pPr lvl="1">
              <a:buFont typeface="Wingdings" pitchFamily="2" charset="2"/>
              <a:buNone/>
              <a:defRPr/>
            </a:pPr>
            <a:r>
              <a:rPr lang="en-US"/>
              <a:t>		  FAC:=gt;</a:t>
            </a:r>
          </a:p>
          <a:p>
            <a:pPr lvl="1">
              <a:buFont typeface="Wingdings" pitchFamily="2" charset="2"/>
              <a:buNone/>
              <a:defRPr/>
            </a:pPr>
            <a:r>
              <a:rPr lang="en-US"/>
              <a:t>Return</a:t>
            </a:r>
          </a:p>
        </p:txBody>
      </p:sp>
    </p:spTree>
    <p:extLst>
      <p:ext uri="{BB962C8B-B14F-4D97-AF65-F5344CB8AC3E}">
        <p14:creationId xmlns:p14="http://schemas.microsoft.com/office/powerpoint/2010/main" val="2316578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F7DA5EBC-E717-42F6-8C30-26E0ABEC521D}" type="slidenum">
              <a:rPr lang="en-US"/>
              <a:pPr>
                <a:defRPr/>
              </a:pPr>
              <a:t>44</a:t>
            </a:fld>
            <a:endParaRPr lang="en-US"/>
          </a:p>
        </p:txBody>
      </p:sp>
      <p:sp>
        <p:nvSpPr>
          <p:cNvPr id="250882" name="Rectangle 2"/>
          <p:cNvSpPr>
            <a:spLocks noGrp="1" noChangeArrowheads="1"/>
          </p:cNvSpPr>
          <p:nvPr>
            <p:ph type="title"/>
          </p:nvPr>
        </p:nvSpPr>
        <p:spPr/>
        <p:txBody>
          <a:bodyPr/>
          <a:lstStyle/>
          <a:p>
            <a:pPr>
              <a:defRPr/>
            </a:pPr>
            <a:r>
              <a:rPr lang="en-US"/>
              <a:t>Bài toán 1: Tính n! </a:t>
            </a:r>
          </a:p>
        </p:txBody>
      </p:sp>
      <p:sp>
        <p:nvSpPr>
          <p:cNvPr id="250883" name="Rectangle 3"/>
          <p:cNvSpPr>
            <a:spLocks noGrp="1" noChangeArrowheads="1"/>
          </p:cNvSpPr>
          <p:nvPr>
            <p:ph type="body" idx="1"/>
          </p:nvPr>
        </p:nvSpPr>
        <p:spPr/>
        <p:txBody>
          <a:bodyPr/>
          <a:lstStyle/>
          <a:p>
            <a:pPr>
              <a:defRPr/>
            </a:pPr>
            <a:r>
              <a:rPr lang="en-US"/>
              <a:t>Đối chiếu với 3 đặc điểm của thủ tục đệ quy ta thấy:</a:t>
            </a:r>
          </a:p>
          <a:p>
            <a:pPr lvl="1">
              <a:defRPr/>
            </a:pPr>
            <a:r>
              <a:rPr lang="en-US"/>
              <a:t>Lời gọi tới chính nó đứng sau Else</a:t>
            </a:r>
          </a:p>
          <a:p>
            <a:pPr lvl="1">
              <a:defRPr/>
            </a:pPr>
            <a:r>
              <a:rPr lang="en-US"/>
              <a:t>Mỗi lần gọi đệ quy giá trị giảm đi: FAC(4)</a:t>
            </a:r>
            <a:r>
              <a:rPr lang="en-US">
                <a:sym typeface="Symbol" pitchFamily="18" charset="2"/>
              </a:rPr>
              <a:t></a:t>
            </a:r>
            <a:r>
              <a:rPr lang="en-US"/>
              <a:t>FAC(3)</a:t>
            </a:r>
            <a:r>
              <a:rPr lang="en-US">
                <a:sym typeface="Symbol" pitchFamily="18" charset="2"/>
              </a:rPr>
              <a:t></a:t>
            </a:r>
            <a:r>
              <a:rPr lang="en-US"/>
              <a:t>FAC(2)</a:t>
            </a:r>
            <a:r>
              <a:rPr lang="en-US">
                <a:sym typeface="Symbol" pitchFamily="18" charset="2"/>
              </a:rPr>
              <a:t></a:t>
            </a:r>
            <a:r>
              <a:rPr lang="en-US"/>
              <a:t> FAC(1)</a:t>
            </a:r>
          </a:p>
          <a:p>
            <a:pPr lvl="1">
              <a:defRPr/>
            </a:pPr>
            <a:r>
              <a:rPr lang="fr-FR"/>
              <a:t>Trường hợp suy biến là FAC(0): FAC(0) = 1</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0FAB0AC9-07BD-42EC-A926-16A773B69EDF}" type="slidenum">
              <a:rPr lang="en-US"/>
              <a:pPr>
                <a:defRPr/>
              </a:pPr>
              <a:t>45</a:t>
            </a:fld>
            <a:endParaRPr lang="en-US"/>
          </a:p>
        </p:txBody>
      </p:sp>
      <p:sp>
        <p:nvSpPr>
          <p:cNvPr id="251906" name="Rectangle 2"/>
          <p:cNvSpPr>
            <a:spLocks noGrp="1" noChangeArrowheads="1"/>
          </p:cNvSpPr>
          <p:nvPr>
            <p:ph type="title"/>
          </p:nvPr>
        </p:nvSpPr>
        <p:spPr/>
        <p:txBody>
          <a:bodyPr/>
          <a:lstStyle/>
          <a:p>
            <a:pPr>
              <a:defRPr/>
            </a:pPr>
            <a:r>
              <a:rPr lang="fr-FR" sz="4000"/>
              <a:t>Bài toán 2: Lập dãy số FIBONACCI  1  1  2  3  5  8  13...</a:t>
            </a:r>
            <a:r>
              <a:rPr lang="en-US" sz="4000"/>
              <a:t> </a:t>
            </a:r>
          </a:p>
        </p:txBody>
      </p:sp>
      <p:sp>
        <p:nvSpPr>
          <p:cNvPr id="251907" name="Rectangle 3"/>
          <p:cNvSpPr>
            <a:spLocks noGrp="1" noChangeArrowheads="1"/>
          </p:cNvSpPr>
          <p:nvPr>
            <p:ph type="body" idx="1"/>
          </p:nvPr>
        </p:nvSpPr>
        <p:spPr/>
        <p:txBody>
          <a:bodyPr/>
          <a:lstStyle/>
          <a:p>
            <a:pPr>
              <a:defRPr/>
            </a:pPr>
            <a:r>
              <a:rPr lang="fr-FR" sz="2800"/>
              <a:t>Định nghĩa F(n) như sau:</a:t>
            </a:r>
          </a:p>
          <a:p>
            <a:pPr>
              <a:buFont typeface="Wingdings" pitchFamily="2" charset="2"/>
              <a:buNone/>
              <a:defRPr/>
            </a:pPr>
            <a:r>
              <a:rPr lang="fr-FR" sz="2800"/>
              <a:t>	F(n) = 1 nếu n </a:t>
            </a:r>
            <a:r>
              <a:rPr lang="fr-FR" sz="2800">
                <a:sym typeface="Symbol" pitchFamily="18" charset="2"/>
              </a:rPr>
              <a:t></a:t>
            </a:r>
            <a:r>
              <a:rPr lang="fr-FR" sz="2800"/>
              <a:t> 2</a:t>
            </a:r>
          </a:p>
          <a:p>
            <a:pPr>
              <a:buFont typeface="Wingdings" pitchFamily="2" charset="2"/>
              <a:buNone/>
              <a:defRPr/>
            </a:pPr>
            <a:r>
              <a:rPr lang="fr-FR" sz="2800"/>
              <a:t>	F(n)=F(n-2)+F(n-1) nếu n&gt;2</a:t>
            </a:r>
          </a:p>
          <a:p>
            <a:pPr>
              <a:defRPr/>
            </a:pPr>
            <a:r>
              <a:rPr lang="fr-FR" sz="2800"/>
              <a:t>Thủ tục đệ quy thể hiện giải thuật tính F(n) như sau:</a:t>
            </a:r>
          </a:p>
          <a:p>
            <a:pPr>
              <a:buFont typeface="Wingdings" pitchFamily="2" charset="2"/>
              <a:buNone/>
              <a:defRPr/>
            </a:pPr>
            <a:r>
              <a:rPr lang="fr-FR" sz="2800"/>
              <a:t>	</a:t>
            </a:r>
            <a:r>
              <a:rPr lang="en-US" sz="2800"/>
              <a:t>Function  F(n:integer)</a:t>
            </a:r>
          </a:p>
          <a:p>
            <a:pPr>
              <a:buFont typeface="Wingdings" pitchFamily="2" charset="2"/>
              <a:buNone/>
              <a:defRPr/>
            </a:pPr>
            <a:r>
              <a:rPr lang="en-US" sz="2800"/>
              <a:t>	   If  n&lt;=2 then   F:=1</a:t>
            </a:r>
          </a:p>
          <a:p>
            <a:pPr>
              <a:buFont typeface="Wingdings" pitchFamily="2" charset="2"/>
              <a:buNone/>
              <a:defRPr/>
            </a:pPr>
            <a:r>
              <a:rPr lang="en-US" sz="2800"/>
              <a:t>	   Else F:=F(n-2)+F(n-1)</a:t>
            </a:r>
          </a:p>
          <a:p>
            <a:pPr>
              <a:buFont typeface="Wingdings" pitchFamily="2" charset="2"/>
              <a:buNone/>
              <a:defRPr/>
            </a:pPr>
            <a:r>
              <a:rPr lang="en-US" sz="2800"/>
              <a:t>	Return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quarter" idx="10"/>
          </p:nvPr>
        </p:nvSpPr>
        <p:spPr/>
        <p:txBody>
          <a:bodyPr/>
          <a:lstStyle/>
          <a:p>
            <a:pPr>
              <a:defRPr/>
            </a:pPr>
            <a:r>
              <a:rPr lang="en-US"/>
              <a:t>Ngô Công Thắng</a:t>
            </a:r>
          </a:p>
        </p:txBody>
      </p:sp>
      <p:sp>
        <p:nvSpPr>
          <p:cNvPr id="6" name="Footer Placeholder 5"/>
          <p:cNvSpPr>
            <a:spLocks noGrp="1"/>
          </p:cNvSpPr>
          <p:nvPr>
            <p:ph type="ftr" sz="quarter" idx="11"/>
          </p:nvPr>
        </p:nvSpPr>
        <p:spPr/>
        <p:txBody>
          <a:bodyPr/>
          <a:lstStyle/>
          <a:p>
            <a:pPr>
              <a:defRPr/>
            </a:pPr>
            <a:r>
              <a:rPr lang="en-US"/>
              <a:t>Bài giảng Cấu trúc dữ liệu và giải thuật  -  Chương 02</a:t>
            </a:r>
          </a:p>
        </p:txBody>
      </p:sp>
      <p:sp>
        <p:nvSpPr>
          <p:cNvPr id="7" name="Slide Number Placeholder 6"/>
          <p:cNvSpPr>
            <a:spLocks noGrp="1"/>
          </p:cNvSpPr>
          <p:nvPr>
            <p:ph type="sldNum" sz="quarter" idx="12"/>
          </p:nvPr>
        </p:nvSpPr>
        <p:spPr/>
        <p:txBody>
          <a:bodyPr/>
          <a:lstStyle/>
          <a:p>
            <a:pPr>
              <a:defRPr/>
            </a:pPr>
            <a:r>
              <a:rPr lang="en-US"/>
              <a:t>2.</a:t>
            </a:r>
            <a:fld id="{03C7F1E0-2A96-4CD1-98A1-361910428F9F}" type="slidenum">
              <a:rPr lang="en-US"/>
              <a:pPr>
                <a:defRPr/>
              </a:pPr>
              <a:t>46</a:t>
            </a:fld>
            <a:endParaRPr lang="en-US"/>
          </a:p>
        </p:txBody>
      </p:sp>
      <p:sp>
        <p:nvSpPr>
          <p:cNvPr id="252930" name="Rectangle 2"/>
          <p:cNvSpPr>
            <a:spLocks noGrp="1" noChangeArrowheads="1"/>
          </p:cNvSpPr>
          <p:nvPr>
            <p:ph type="title"/>
          </p:nvPr>
        </p:nvSpPr>
        <p:spPr/>
        <p:txBody>
          <a:bodyPr/>
          <a:lstStyle/>
          <a:p>
            <a:pPr>
              <a:defRPr/>
            </a:pPr>
            <a:r>
              <a:rPr lang="en-US" sz="4000"/>
              <a:t>Bài toán 3: Bài toán “Tháp Hà nội” </a:t>
            </a:r>
          </a:p>
        </p:txBody>
      </p:sp>
      <p:sp>
        <p:nvSpPr>
          <p:cNvPr id="252931" name="Rectangle 3"/>
          <p:cNvSpPr>
            <a:spLocks noGrp="1" noChangeArrowheads="1"/>
          </p:cNvSpPr>
          <p:nvPr>
            <p:ph type="body" sz="half" idx="1"/>
          </p:nvPr>
        </p:nvSpPr>
        <p:spPr>
          <a:xfrm>
            <a:off x="457200" y="1600200"/>
            <a:ext cx="8229600" cy="2008188"/>
          </a:xfrm>
        </p:spPr>
        <p:txBody>
          <a:bodyPr/>
          <a:lstStyle/>
          <a:p>
            <a:pPr>
              <a:defRPr/>
            </a:pPr>
            <a:r>
              <a:rPr lang="en-US" sz="2800"/>
              <a:t>Nội dung: Có n đĩa kích thước nhỏ dần, đĩa có lỗ ở giữa. Có thể xếp chồng chúng lên nhau xuyên qua một cái cọc, to dưới nhỏ trên để cuối cùng có một chồng đĩa dạng như hình tháp.</a:t>
            </a:r>
          </a:p>
        </p:txBody>
      </p:sp>
      <p:pic>
        <p:nvPicPr>
          <p:cNvPr id="74759" name="Picture 5"/>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174750" y="3663950"/>
            <a:ext cx="6792913" cy="2428875"/>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60186DAA-47EB-43D9-A93C-6E6D870CE6B3}" type="slidenum">
              <a:rPr lang="en-US"/>
              <a:pPr>
                <a:defRPr/>
              </a:pPr>
              <a:t>47</a:t>
            </a:fld>
            <a:endParaRPr lang="en-US"/>
          </a:p>
        </p:txBody>
      </p:sp>
      <p:sp>
        <p:nvSpPr>
          <p:cNvPr id="254978" name="Rectangle 2"/>
          <p:cNvSpPr>
            <a:spLocks noGrp="1" noChangeArrowheads="1"/>
          </p:cNvSpPr>
          <p:nvPr>
            <p:ph type="title"/>
          </p:nvPr>
        </p:nvSpPr>
        <p:spPr/>
        <p:txBody>
          <a:bodyPr/>
          <a:lstStyle/>
          <a:p>
            <a:pPr>
              <a:defRPr/>
            </a:pPr>
            <a:r>
              <a:rPr lang="en-US" sz="4000"/>
              <a:t>Bài toán 3: Bài toán “Tháp Hà nội” </a:t>
            </a:r>
          </a:p>
        </p:txBody>
      </p:sp>
      <p:sp>
        <p:nvSpPr>
          <p:cNvPr id="254979" name="Rectangle 3"/>
          <p:cNvSpPr>
            <a:spLocks noGrp="1" noChangeArrowheads="1"/>
          </p:cNvSpPr>
          <p:nvPr>
            <p:ph type="body" idx="1"/>
          </p:nvPr>
        </p:nvSpPr>
        <p:spPr/>
        <p:txBody>
          <a:bodyPr/>
          <a:lstStyle/>
          <a:p>
            <a:pPr>
              <a:defRPr/>
            </a:pPr>
            <a:r>
              <a:rPr lang="en-US"/>
              <a:t>Yêu cầu đặt ra: Chuyển chồng đĩa từ cọc A sang cọc C theo những điều kiện sau:</a:t>
            </a:r>
          </a:p>
          <a:p>
            <a:pPr lvl="1">
              <a:defRPr/>
            </a:pPr>
            <a:r>
              <a:rPr lang="en-US"/>
              <a:t>Mỗi lần chỉ được chuyển một đĩa</a:t>
            </a:r>
          </a:p>
          <a:p>
            <a:pPr lvl="1">
              <a:defRPr/>
            </a:pPr>
            <a:r>
              <a:rPr lang="en-US"/>
              <a:t>Không khi nào có tình huống đĩa to ở trên đĩa nhỏ ở dưới</a:t>
            </a:r>
          </a:p>
          <a:p>
            <a:pPr lvl="1">
              <a:defRPr/>
            </a:pPr>
            <a:r>
              <a:rPr lang="en-US"/>
              <a:t>Được phép sử dụng 1 cọc trung gian (cọc B) để đặt tạm thời.</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0301EF45-3131-4860-A5BD-EE0C7778BDAC}" type="slidenum">
              <a:rPr lang="en-US"/>
              <a:pPr>
                <a:defRPr/>
              </a:pPr>
              <a:t>48</a:t>
            </a:fld>
            <a:endParaRPr lang="en-US"/>
          </a:p>
        </p:txBody>
      </p:sp>
      <p:sp>
        <p:nvSpPr>
          <p:cNvPr id="257026" name="Rectangle 2"/>
          <p:cNvSpPr>
            <a:spLocks noGrp="1" noChangeArrowheads="1"/>
          </p:cNvSpPr>
          <p:nvPr>
            <p:ph type="title"/>
          </p:nvPr>
        </p:nvSpPr>
        <p:spPr/>
        <p:txBody>
          <a:bodyPr/>
          <a:lstStyle/>
          <a:p>
            <a:pPr>
              <a:defRPr/>
            </a:pPr>
            <a:r>
              <a:rPr lang="en-US" sz="4000"/>
              <a:t>Bài toán 3: Bài toán “Tháp Hà nội” </a:t>
            </a:r>
          </a:p>
        </p:txBody>
      </p:sp>
      <p:sp>
        <p:nvSpPr>
          <p:cNvPr id="257027" name="Rectangle 3"/>
          <p:cNvSpPr>
            <a:spLocks noGrp="1" noChangeArrowheads="1"/>
          </p:cNvSpPr>
          <p:nvPr>
            <p:ph type="body" idx="1"/>
          </p:nvPr>
        </p:nvSpPr>
        <p:spPr/>
        <p:txBody>
          <a:bodyPr/>
          <a:lstStyle/>
          <a:p>
            <a:pPr>
              <a:defRPr/>
            </a:pPr>
            <a:r>
              <a:rPr lang="en-US"/>
              <a:t>Ta xét một vài trường hợp đơn giản:</a:t>
            </a:r>
          </a:p>
          <a:p>
            <a:pPr lvl="1">
              <a:defRPr/>
            </a:pPr>
            <a:r>
              <a:rPr lang="en-US"/>
              <a:t>Trường hợp 1 đĩa: </a:t>
            </a:r>
          </a:p>
          <a:p>
            <a:pPr lvl="2">
              <a:defRPr/>
            </a:pPr>
            <a:r>
              <a:rPr lang="en-US"/>
              <a:t>Chuyển từ cọc A sang cọc C</a:t>
            </a:r>
          </a:p>
          <a:p>
            <a:pPr lvl="1">
              <a:defRPr/>
            </a:pPr>
            <a:r>
              <a:rPr lang="en-US"/>
              <a:t>Trường hợp 2 đĩa:</a:t>
            </a:r>
          </a:p>
          <a:p>
            <a:pPr lvl="2">
              <a:defRPr/>
            </a:pPr>
            <a:r>
              <a:rPr lang="en-US"/>
              <a:t>Chuyển đĩa thứ nhất từ cọc A sang cọc B</a:t>
            </a:r>
          </a:p>
          <a:p>
            <a:pPr lvl="2">
              <a:defRPr/>
            </a:pPr>
            <a:r>
              <a:rPr lang="en-US"/>
              <a:t>Chuyển đĩa thứ hai từ cọc A sang cọc C</a:t>
            </a:r>
          </a:p>
          <a:p>
            <a:pPr lvl="2">
              <a:defRPr/>
            </a:pPr>
            <a:r>
              <a:rPr lang="en-US"/>
              <a:t>Chuyển đĩa thứ nhất từ cọc B sang cọc C</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9493C5CD-A95A-4277-8179-7E6A23575E76}" type="slidenum">
              <a:rPr lang="en-US"/>
              <a:pPr>
                <a:defRPr/>
              </a:pPr>
              <a:t>49</a:t>
            </a:fld>
            <a:endParaRPr lang="en-US"/>
          </a:p>
        </p:txBody>
      </p:sp>
      <p:sp>
        <p:nvSpPr>
          <p:cNvPr id="258050" name="Rectangle 2"/>
          <p:cNvSpPr>
            <a:spLocks noGrp="1" noChangeArrowheads="1"/>
          </p:cNvSpPr>
          <p:nvPr>
            <p:ph type="title"/>
          </p:nvPr>
        </p:nvSpPr>
        <p:spPr/>
        <p:txBody>
          <a:bodyPr/>
          <a:lstStyle/>
          <a:p>
            <a:pPr>
              <a:defRPr/>
            </a:pPr>
            <a:r>
              <a:rPr lang="en-US" sz="4000"/>
              <a:t>Bài toán 3: Bài toán “Tháp Hà nội” </a:t>
            </a:r>
          </a:p>
        </p:txBody>
      </p:sp>
      <p:sp>
        <p:nvSpPr>
          <p:cNvPr id="258051" name="Rectangle 3"/>
          <p:cNvSpPr>
            <a:spLocks noGrp="1" noChangeArrowheads="1"/>
          </p:cNvSpPr>
          <p:nvPr>
            <p:ph type="body" idx="1"/>
          </p:nvPr>
        </p:nvSpPr>
        <p:spPr>
          <a:xfrm>
            <a:off x="219075" y="1374775"/>
            <a:ext cx="8669338" cy="5072063"/>
          </a:xfrm>
        </p:spPr>
        <p:txBody>
          <a:bodyPr/>
          <a:lstStyle/>
          <a:p>
            <a:pPr>
              <a:lnSpc>
                <a:spcPct val="80000"/>
              </a:lnSpc>
              <a:defRPr/>
            </a:pPr>
            <a:r>
              <a:rPr lang="en-US" sz="2800"/>
              <a:t>Trường hợp n đĩa (n&gt;2): Ta coi n-1 đĩa ở trên như đĩa thứ nhất và xử lý giống như trường hợp 2 đĩa:</a:t>
            </a:r>
          </a:p>
          <a:p>
            <a:pPr lvl="1">
              <a:lnSpc>
                <a:spcPct val="80000"/>
              </a:lnSpc>
              <a:defRPr/>
            </a:pPr>
            <a:r>
              <a:rPr lang="en-US" sz="2400"/>
              <a:t>Chuyển n-1 đĩa từ cọc A sang cọc B</a:t>
            </a:r>
          </a:p>
          <a:p>
            <a:pPr lvl="1">
              <a:lnSpc>
                <a:spcPct val="80000"/>
              </a:lnSpc>
              <a:defRPr/>
            </a:pPr>
            <a:r>
              <a:rPr lang="en-US" sz="2400"/>
              <a:t>Chuyển đĩa thứ n từ cọc A sang cọc C</a:t>
            </a:r>
          </a:p>
          <a:p>
            <a:pPr lvl="1">
              <a:lnSpc>
                <a:spcPct val="80000"/>
              </a:lnSpc>
              <a:defRPr/>
            </a:pPr>
            <a:r>
              <a:rPr lang="en-US" sz="2400"/>
              <a:t>Chuyển n-1 đĩa từ cọc B sang cọc C</a:t>
            </a:r>
          </a:p>
          <a:p>
            <a:pPr>
              <a:lnSpc>
                <a:spcPct val="80000"/>
              </a:lnSpc>
              <a:defRPr/>
            </a:pPr>
            <a:r>
              <a:rPr lang="en-US" sz="2800"/>
              <a:t>Chuyển n-1 đĩa từ cọc B sang cọc C thuật giải sẽ là:</a:t>
            </a:r>
          </a:p>
          <a:p>
            <a:pPr lvl="1">
              <a:lnSpc>
                <a:spcPct val="80000"/>
              </a:lnSpc>
              <a:defRPr/>
            </a:pPr>
            <a:r>
              <a:rPr lang="en-US" sz="2400"/>
              <a:t>Chuyển n-2 đĩa từ cọc B sang cọc A</a:t>
            </a:r>
          </a:p>
          <a:p>
            <a:pPr lvl="1">
              <a:lnSpc>
                <a:spcPct val="80000"/>
              </a:lnSpc>
              <a:defRPr/>
            </a:pPr>
            <a:r>
              <a:rPr lang="en-US" sz="2400"/>
              <a:t>Chuyển 1 đĩa từ cọc B sang cọc C</a:t>
            </a:r>
          </a:p>
          <a:p>
            <a:pPr lvl="1">
              <a:lnSpc>
                <a:spcPct val="80000"/>
              </a:lnSpc>
              <a:defRPr/>
            </a:pPr>
            <a:r>
              <a:rPr lang="en-US" sz="2400"/>
              <a:t>Chuyển n-2 đĩa từ cọc B sang cọc C</a:t>
            </a:r>
          </a:p>
          <a:p>
            <a:pPr>
              <a:lnSpc>
                <a:spcPct val="80000"/>
              </a:lnSpc>
              <a:defRPr/>
            </a:pPr>
            <a:r>
              <a:rPr lang="en-US" sz="2800"/>
              <a:t>Cứ làm như vậy cho đến khi trường hợp suy biến xảy ra, đó là trường hợp ứng với bài toán chuyển 1 đĩa.</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4F29EC8B-47D3-4914-AAE3-AE804795823D}" type="slidenum">
              <a:rPr lang="en-US"/>
              <a:pPr>
                <a:defRPr/>
              </a:pPr>
              <a:t>50</a:t>
            </a:fld>
            <a:endParaRPr lang="en-US"/>
          </a:p>
        </p:txBody>
      </p:sp>
      <p:sp>
        <p:nvSpPr>
          <p:cNvPr id="259074" name="Rectangle 2"/>
          <p:cNvSpPr>
            <a:spLocks noGrp="1" noChangeArrowheads="1"/>
          </p:cNvSpPr>
          <p:nvPr>
            <p:ph type="title"/>
          </p:nvPr>
        </p:nvSpPr>
        <p:spPr/>
        <p:txBody>
          <a:bodyPr/>
          <a:lstStyle/>
          <a:p>
            <a:pPr>
              <a:defRPr/>
            </a:pPr>
            <a:r>
              <a:rPr lang="en-US" sz="4000"/>
              <a:t>Bài toán 3: Bài toán “Tháp Hà nội” </a:t>
            </a:r>
          </a:p>
        </p:txBody>
      </p:sp>
      <p:sp>
        <p:nvSpPr>
          <p:cNvPr id="259075" name="Rectangle 3"/>
          <p:cNvSpPr>
            <a:spLocks noGrp="1" noChangeArrowheads="1"/>
          </p:cNvSpPr>
          <p:nvPr>
            <p:ph type="body" idx="1"/>
          </p:nvPr>
        </p:nvSpPr>
        <p:spPr/>
        <p:txBody>
          <a:bodyPr/>
          <a:lstStyle/>
          <a:p>
            <a:pPr>
              <a:defRPr/>
            </a:pPr>
            <a:r>
              <a:rPr lang="en-US" sz="2800"/>
              <a:t>Thủ tục của bài toán “Tháp Hà nội” như sau:</a:t>
            </a:r>
          </a:p>
          <a:p>
            <a:pPr>
              <a:buFont typeface="Wingdings" pitchFamily="2" charset="2"/>
              <a:buNone/>
              <a:defRPr/>
            </a:pPr>
            <a:r>
              <a:rPr lang="en-US" sz="2800"/>
              <a:t>	Procedure  Hanoi(n,A,B,C)</a:t>
            </a:r>
          </a:p>
          <a:p>
            <a:pPr>
              <a:buFont typeface="Wingdings" pitchFamily="2" charset="2"/>
              <a:buNone/>
              <a:defRPr/>
            </a:pPr>
            <a:r>
              <a:rPr lang="en-US" sz="2800"/>
              <a:t>	If n=1 then chuyển đĩa từ A sang C</a:t>
            </a:r>
          </a:p>
          <a:p>
            <a:pPr>
              <a:buFont typeface="Wingdings" pitchFamily="2" charset="2"/>
              <a:buNone/>
              <a:defRPr/>
            </a:pPr>
            <a:r>
              <a:rPr lang="en-US" sz="2800"/>
              <a:t>	Else  Begin</a:t>
            </a:r>
          </a:p>
          <a:p>
            <a:pPr>
              <a:buFont typeface="Wingdings" pitchFamily="2" charset="2"/>
              <a:buNone/>
              <a:defRPr/>
            </a:pPr>
            <a:r>
              <a:rPr lang="en-US" sz="2800"/>
              <a:t>		Call Hanoi(n-1,A,C,B)</a:t>
            </a:r>
          </a:p>
          <a:p>
            <a:pPr>
              <a:buFont typeface="Wingdings" pitchFamily="2" charset="2"/>
              <a:buNone/>
              <a:defRPr/>
            </a:pPr>
            <a:r>
              <a:rPr lang="en-US" sz="2800"/>
              <a:t>		Call Hanoi(1,A,B,C)</a:t>
            </a:r>
          </a:p>
          <a:p>
            <a:pPr>
              <a:buFont typeface="Wingdings" pitchFamily="2" charset="2"/>
              <a:buNone/>
              <a:defRPr/>
            </a:pPr>
            <a:r>
              <a:rPr lang="en-US" sz="2800"/>
              <a:t>		Call Hanoi(n-1,B,A,C)</a:t>
            </a:r>
          </a:p>
          <a:p>
            <a:pPr>
              <a:buFont typeface="Wingdings" pitchFamily="2" charset="2"/>
              <a:buNone/>
              <a:defRPr/>
            </a:pPr>
            <a:r>
              <a:rPr lang="en-US" sz="2800"/>
              <a:t>		End;</a:t>
            </a:r>
          </a:p>
          <a:p>
            <a:pPr>
              <a:buFont typeface="Wingdings" pitchFamily="2" charset="2"/>
              <a:buNone/>
              <a:defRPr/>
            </a:pPr>
            <a:r>
              <a:rPr lang="en-US" sz="2800"/>
              <a:t>	Return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C9E3CC6D-6649-47FD-B407-81D52F3182E1}" type="slidenum">
              <a:rPr lang="en-US"/>
              <a:pPr>
                <a:defRPr/>
              </a:pPr>
              <a:t>51</a:t>
            </a:fld>
            <a:endParaRPr lang="en-US"/>
          </a:p>
        </p:txBody>
      </p:sp>
      <p:sp>
        <p:nvSpPr>
          <p:cNvPr id="260098" name="Rectangle 2"/>
          <p:cNvSpPr>
            <a:spLocks noGrp="1" noChangeArrowheads="1"/>
          </p:cNvSpPr>
          <p:nvPr>
            <p:ph type="title"/>
          </p:nvPr>
        </p:nvSpPr>
        <p:spPr/>
        <p:txBody>
          <a:bodyPr/>
          <a:lstStyle/>
          <a:p>
            <a:pPr>
              <a:defRPr/>
            </a:pPr>
            <a:r>
              <a:rPr lang="en-US" dirty="0" err="1"/>
              <a:t>Bài</a:t>
            </a:r>
            <a:r>
              <a:rPr lang="en-US" dirty="0"/>
              <a:t> </a:t>
            </a:r>
            <a:r>
              <a:rPr lang="en-US" dirty="0" err="1"/>
              <a:t>tập</a:t>
            </a:r>
            <a:endParaRPr lang="en-US" dirty="0"/>
          </a:p>
        </p:txBody>
      </p:sp>
      <p:sp>
        <p:nvSpPr>
          <p:cNvPr id="260099" name="Rectangle 3"/>
          <p:cNvSpPr>
            <a:spLocks noGrp="1" noChangeArrowheads="1"/>
          </p:cNvSpPr>
          <p:nvPr>
            <p:ph type="body" idx="1"/>
          </p:nvPr>
        </p:nvSpPr>
        <p:spPr/>
        <p:txBody>
          <a:bodyPr/>
          <a:lstStyle/>
          <a:p>
            <a:pPr>
              <a:lnSpc>
                <a:spcPct val="80000"/>
              </a:lnSpc>
              <a:buFont typeface="Wingdings" pitchFamily="2" charset="2"/>
              <a:buNone/>
              <a:defRPr/>
            </a:pPr>
            <a:r>
              <a:rPr lang="en-US" sz="2400" dirty="0"/>
              <a:t>1. </a:t>
            </a:r>
            <a:r>
              <a:rPr lang="en-US" sz="2400" dirty="0" err="1"/>
              <a:t>Thế</a:t>
            </a:r>
            <a:r>
              <a:rPr lang="en-US" sz="2400" dirty="0"/>
              <a:t> </a:t>
            </a:r>
            <a:r>
              <a:rPr lang="en-US" sz="2400" dirty="0" err="1"/>
              <a:t>nào</a:t>
            </a:r>
            <a:r>
              <a:rPr lang="en-US" sz="2400" dirty="0"/>
              <a:t> </a:t>
            </a:r>
            <a:r>
              <a:rPr lang="en-US" sz="2400" dirty="0" err="1"/>
              <a:t>là</a:t>
            </a:r>
            <a:r>
              <a:rPr lang="en-US" sz="2400" dirty="0"/>
              <a:t> </a:t>
            </a:r>
            <a:r>
              <a:rPr lang="en-US" sz="2400" dirty="0" err="1"/>
              <a:t>giải</a:t>
            </a:r>
            <a:r>
              <a:rPr lang="en-US" sz="2400" dirty="0"/>
              <a:t> </a:t>
            </a:r>
            <a:r>
              <a:rPr lang="en-US" sz="2400" dirty="0" err="1"/>
              <a:t>thuật</a:t>
            </a:r>
            <a:r>
              <a:rPr lang="en-US" sz="2400" dirty="0"/>
              <a:t> </a:t>
            </a:r>
            <a:r>
              <a:rPr lang="en-US" sz="2400" dirty="0" err="1"/>
              <a:t>đệ</a:t>
            </a:r>
            <a:r>
              <a:rPr lang="en-US" sz="2400" dirty="0"/>
              <a:t> </a:t>
            </a:r>
            <a:r>
              <a:rPr lang="en-US" sz="2400" dirty="0" err="1"/>
              <a:t>quy</a:t>
            </a:r>
            <a:r>
              <a:rPr lang="en-US" sz="2400" dirty="0"/>
              <a:t>?</a:t>
            </a:r>
          </a:p>
          <a:p>
            <a:pPr>
              <a:lnSpc>
                <a:spcPct val="80000"/>
              </a:lnSpc>
              <a:buFont typeface="Wingdings" pitchFamily="2" charset="2"/>
              <a:buNone/>
              <a:defRPr/>
            </a:pPr>
            <a:r>
              <a:rPr lang="en-US" sz="2400" dirty="0"/>
              <a:t>2. </a:t>
            </a:r>
            <a:r>
              <a:rPr lang="en-US" sz="2400" dirty="0" err="1"/>
              <a:t>Ưu</a:t>
            </a:r>
            <a:r>
              <a:rPr lang="en-US" sz="2400" dirty="0"/>
              <a:t> </a:t>
            </a:r>
            <a:r>
              <a:rPr lang="en-US" sz="2400" dirty="0" err="1"/>
              <a:t>nhược</a:t>
            </a:r>
            <a:r>
              <a:rPr lang="en-US" sz="2400" dirty="0"/>
              <a:t> </a:t>
            </a:r>
            <a:r>
              <a:rPr lang="en-US" sz="2400" dirty="0" err="1"/>
              <a:t>điểm</a:t>
            </a:r>
            <a:r>
              <a:rPr lang="en-US" sz="2400" dirty="0"/>
              <a:t> </a:t>
            </a:r>
            <a:r>
              <a:rPr lang="en-US" sz="2400" dirty="0" err="1"/>
              <a:t>của</a:t>
            </a:r>
            <a:r>
              <a:rPr lang="en-US" sz="2400" dirty="0"/>
              <a:t> </a:t>
            </a:r>
            <a:r>
              <a:rPr lang="en-US" sz="2400" dirty="0" err="1"/>
              <a:t>giải</a:t>
            </a:r>
            <a:r>
              <a:rPr lang="en-US" sz="2400" dirty="0"/>
              <a:t> </a:t>
            </a:r>
            <a:r>
              <a:rPr lang="en-US" sz="2400" dirty="0" err="1"/>
              <a:t>thuật</a:t>
            </a:r>
            <a:r>
              <a:rPr lang="en-US" sz="2400" dirty="0"/>
              <a:t> </a:t>
            </a:r>
            <a:r>
              <a:rPr lang="en-US" sz="2400" dirty="0" err="1"/>
              <a:t>đệ</a:t>
            </a:r>
            <a:r>
              <a:rPr lang="en-US" sz="2400" dirty="0"/>
              <a:t> </a:t>
            </a:r>
            <a:r>
              <a:rPr lang="en-US" sz="2400" dirty="0" err="1"/>
              <a:t>quy</a:t>
            </a:r>
            <a:r>
              <a:rPr lang="en-US" sz="2400" dirty="0"/>
              <a:t>? </a:t>
            </a:r>
          </a:p>
          <a:p>
            <a:pPr>
              <a:lnSpc>
                <a:spcPct val="80000"/>
              </a:lnSpc>
              <a:buFont typeface="Wingdings" pitchFamily="2" charset="2"/>
              <a:buNone/>
              <a:defRPr/>
            </a:pPr>
            <a:r>
              <a:rPr lang="en-US" sz="2400" dirty="0"/>
              <a:t>3. </a:t>
            </a:r>
            <a:r>
              <a:rPr lang="en-US" sz="2400" dirty="0" err="1"/>
              <a:t>Trong</a:t>
            </a:r>
            <a:r>
              <a:rPr lang="en-US" sz="2400" dirty="0"/>
              <a:t> </a:t>
            </a:r>
            <a:r>
              <a:rPr lang="en-US" sz="2400" dirty="0" err="1"/>
              <a:t>bộ</a:t>
            </a:r>
            <a:r>
              <a:rPr lang="en-US" sz="2400" dirty="0"/>
              <a:t> </a:t>
            </a:r>
            <a:r>
              <a:rPr lang="en-US" sz="2400" dirty="0" err="1"/>
              <a:t>nhớ</a:t>
            </a:r>
            <a:r>
              <a:rPr lang="en-US" sz="2400" dirty="0"/>
              <a:t> </a:t>
            </a:r>
            <a:r>
              <a:rPr lang="en-US" sz="2400" dirty="0" err="1"/>
              <a:t>của</a:t>
            </a:r>
            <a:r>
              <a:rPr lang="en-US" sz="2400" dirty="0"/>
              <a:t> </a:t>
            </a:r>
            <a:r>
              <a:rPr lang="en-US" sz="2400" dirty="0" err="1"/>
              <a:t>máy</a:t>
            </a:r>
            <a:r>
              <a:rPr lang="en-US" sz="2400" dirty="0"/>
              <a:t> </a:t>
            </a:r>
            <a:r>
              <a:rPr lang="en-US" sz="2400" dirty="0" err="1"/>
              <a:t>tính</a:t>
            </a:r>
            <a:r>
              <a:rPr lang="en-US" sz="2400" dirty="0"/>
              <a:t> </a:t>
            </a:r>
            <a:r>
              <a:rPr lang="en-US" sz="2400" dirty="0" err="1"/>
              <a:t>dùng</a:t>
            </a:r>
            <a:r>
              <a:rPr lang="en-US" sz="2400" dirty="0"/>
              <a:t> </a:t>
            </a:r>
            <a:r>
              <a:rPr lang="en-US" sz="2400" dirty="0" err="1"/>
              <a:t>vùng</a:t>
            </a:r>
            <a:r>
              <a:rPr lang="en-US" sz="2400" dirty="0"/>
              <a:t> </a:t>
            </a:r>
            <a:r>
              <a:rPr lang="en-US" sz="2400" dirty="0" err="1"/>
              <a:t>nhớ</a:t>
            </a:r>
            <a:r>
              <a:rPr lang="en-US" sz="2400" dirty="0"/>
              <a:t> </a:t>
            </a:r>
            <a:r>
              <a:rPr lang="en-US" sz="2400" dirty="0" err="1"/>
              <a:t>nào</a:t>
            </a:r>
            <a:r>
              <a:rPr lang="en-US" sz="2400" dirty="0"/>
              <a:t> </a:t>
            </a:r>
            <a:r>
              <a:rPr lang="en-US" sz="2400" dirty="0" err="1"/>
              <a:t>để</a:t>
            </a:r>
            <a:r>
              <a:rPr lang="en-US" sz="2400" dirty="0"/>
              <a:t> </a:t>
            </a:r>
            <a:r>
              <a:rPr lang="en-US" sz="2400" dirty="0" err="1"/>
              <a:t>dùng</a:t>
            </a:r>
            <a:r>
              <a:rPr lang="en-US" sz="2400" dirty="0"/>
              <a:t> </a:t>
            </a:r>
            <a:r>
              <a:rPr lang="en-US" sz="2400" dirty="0" err="1"/>
              <a:t>cho</a:t>
            </a:r>
            <a:r>
              <a:rPr lang="en-US" sz="2400" dirty="0"/>
              <a:t> </a:t>
            </a:r>
            <a:r>
              <a:rPr lang="en-US" sz="2400" dirty="0" err="1"/>
              <a:t>giải</a:t>
            </a:r>
            <a:r>
              <a:rPr lang="en-US" sz="2400" dirty="0"/>
              <a:t> </a:t>
            </a:r>
            <a:r>
              <a:rPr lang="en-US" sz="2400" dirty="0" err="1"/>
              <a:t>thuật</a:t>
            </a:r>
            <a:r>
              <a:rPr lang="en-US" sz="2400" dirty="0"/>
              <a:t> </a:t>
            </a:r>
            <a:r>
              <a:rPr lang="en-US" sz="2400" dirty="0" err="1"/>
              <a:t>đệ</a:t>
            </a:r>
            <a:r>
              <a:rPr lang="en-US" sz="2400" dirty="0"/>
              <a:t> </a:t>
            </a:r>
            <a:r>
              <a:rPr lang="en-US" sz="2400" dirty="0" err="1"/>
              <a:t>quy</a:t>
            </a:r>
            <a:r>
              <a:rPr lang="en-US" sz="2400" dirty="0"/>
              <a:t>.</a:t>
            </a:r>
          </a:p>
          <a:p>
            <a:pPr>
              <a:lnSpc>
                <a:spcPct val="80000"/>
              </a:lnSpc>
              <a:buFont typeface="Wingdings" pitchFamily="2" charset="2"/>
              <a:buNone/>
              <a:defRPr/>
            </a:pPr>
            <a:r>
              <a:rPr lang="en-US" sz="2400" dirty="0"/>
              <a:t>4. </a:t>
            </a:r>
            <a:r>
              <a:rPr lang="en-US" sz="2400" dirty="0" err="1"/>
              <a:t>Trường</a:t>
            </a:r>
            <a:r>
              <a:rPr lang="en-US" sz="2400" dirty="0"/>
              <a:t> </a:t>
            </a:r>
            <a:r>
              <a:rPr lang="en-US" sz="2400" dirty="0" err="1"/>
              <a:t>hợp</a:t>
            </a:r>
            <a:r>
              <a:rPr lang="en-US" sz="2400" dirty="0"/>
              <a:t> </a:t>
            </a:r>
            <a:r>
              <a:rPr lang="en-US" sz="2400" dirty="0" err="1"/>
              <a:t>suy</a:t>
            </a:r>
            <a:r>
              <a:rPr lang="en-US" sz="2400" dirty="0"/>
              <a:t> </a:t>
            </a:r>
            <a:r>
              <a:rPr lang="en-US" sz="2400" dirty="0" err="1"/>
              <a:t>biến</a:t>
            </a:r>
            <a:r>
              <a:rPr lang="en-US" sz="2400" dirty="0"/>
              <a:t> </a:t>
            </a:r>
            <a:r>
              <a:rPr lang="en-US" sz="2400" dirty="0" err="1"/>
              <a:t>là</a:t>
            </a:r>
            <a:r>
              <a:rPr lang="en-US" sz="2400" dirty="0"/>
              <a:t> </a:t>
            </a:r>
            <a:r>
              <a:rPr lang="en-US" sz="2400" dirty="0" err="1"/>
              <a:t>trường</a:t>
            </a:r>
            <a:r>
              <a:rPr lang="en-US" sz="2400" dirty="0"/>
              <a:t> </a:t>
            </a:r>
            <a:r>
              <a:rPr lang="en-US" sz="2400" dirty="0" err="1"/>
              <a:t>hợp</a:t>
            </a:r>
            <a:r>
              <a:rPr lang="en-US" sz="2400" dirty="0"/>
              <a:t> </a:t>
            </a:r>
            <a:r>
              <a:rPr lang="en-US" sz="2400" dirty="0" err="1"/>
              <a:t>như</a:t>
            </a:r>
            <a:r>
              <a:rPr lang="en-US" sz="2400" dirty="0"/>
              <a:t> </a:t>
            </a:r>
            <a:r>
              <a:rPr lang="en-US" sz="2400" dirty="0" err="1"/>
              <a:t>thế</a:t>
            </a:r>
            <a:r>
              <a:rPr lang="en-US" sz="2400" dirty="0"/>
              <a:t> </a:t>
            </a:r>
            <a:r>
              <a:rPr lang="en-US" sz="2400" dirty="0" err="1"/>
              <a:t>nào</a:t>
            </a:r>
            <a:r>
              <a:rPr lang="en-US" sz="2400" dirty="0"/>
              <a:t> </a:t>
            </a:r>
            <a:r>
              <a:rPr lang="en-US" sz="2400" dirty="0" err="1"/>
              <a:t>trong</a:t>
            </a:r>
            <a:r>
              <a:rPr lang="en-US" sz="2400" dirty="0"/>
              <a:t> </a:t>
            </a:r>
            <a:r>
              <a:rPr lang="en-US" sz="2400" dirty="0" err="1"/>
              <a:t>giải</a:t>
            </a:r>
            <a:r>
              <a:rPr lang="en-US" sz="2400" dirty="0"/>
              <a:t> </a:t>
            </a:r>
            <a:r>
              <a:rPr lang="en-US" sz="2400" dirty="0" err="1"/>
              <a:t>thuật</a:t>
            </a:r>
            <a:r>
              <a:rPr lang="en-US" sz="2400" dirty="0"/>
              <a:t> </a:t>
            </a:r>
            <a:r>
              <a:rPr lang="en-US" sz="2400" dirty="0" err="1"/>
              <a:t>đệ</a:t>
            </a:r>
            <a:r>
              <a:rPr lang="en-US" sz="2400" dirty="0"/>
              <a:t> </a:t>
            </a:r>
            <a:r>
              <a:rPr lang="en-US" sz="2400" dirty="0" err="1"/>
              <a:t>quy</a:t>
            </a:r>
            <a:r>
              <a:rPr lang="en-US" sz="2400" dirty="0"/>
              <a:t>.</a:t>
            </a:r>
          </a:p>
          <a:p>
            <a:pPr>
              <a:lnSpc>
                <a:spcPct val="80000"/>
              </a:lnSpc>
              <a:buFont typeface="Wingdings" pitchFamily="2" charset="2"/>
              <a:buNone/>
              <a:defRPr/>
            </a:pPr>
            <a:r>
              <a:rPr lang="en-US" sz="2400" dirty="0"/>
              <a:t>5. </a:t>
            </a:r>
            <a:r>
              <a:rPr lang="en-US" sz="2400" dirty="0" err="1"/>
              <a:t>Thường</a:t>
            </a:r>
            <a:r>
              <a:rPr lang="en-US" sz="2400" dirty="0"/>
              <a:t> hay </a:t>
            </a:r>
            <a:r>
              <a:rPr lang="en-US" sz="2400" dirty="0" err="1"/>
              <a:t>dùng</a:t>
            </a:r>
            <a:r>
              <a:rPr lang="en-US" sz="2400" dirty="0"/>
              <a:t> </a:t>
            </a:r>
            <a:r>
              <a:rPr lang="en-US" sz="2400" dirty="0" err="1"/>
              <a:t>cấu</a:t>
            </a:r>
            <a:r>
              <a:rPr lang="en-US" sz="2400" dirty="0"/>
              <a:t> </a:t>
            </a:r>
            <a:r>
              <a:rPr lang="en-US" sz="2400" dirty="0" err="1"/>
              <a:t>trúc</a:t>
            </a:r>
            <a:r>
              <a:rPr lang="en-US" sz="2400" dirty="0"/>
              <a:t> </a:t>
            </a:r>
            <a:r>
              <a:rPr lang="en-US" sz="2400" dirty="0" err="1"/>
              <a:t>lập</a:t>
            </a:r>
            <a:r>
              <a:rPr lang="en-US" sz="2400" dirty="0"/>
              <a:t> </a:t>
            </a:r>
            <a:r>
              <a:rPr lang="en-US" sz="2400" dirty="0" err="1"/>
              <a:t>trình</a:t>
            </a:r>
            <a:r>
              <a:rPr lang="en-US" sz="2400" dirty="0"/>
              <a:t> </a:t>
            </a:r>
            <a:r>
              <a:rPr lang="en-US" sz="2400" dirty="0" err="1"/>
              <a:t>nào</a:t>
            </a:r>
            <a:r>
              <a:rPr lang="en-US" sz="2400" dirty="0"/>
              <a:t> </a:t>
            </a:r>
            <a:r>
              <a:rPr lang="en-US" sz="2400" dirty="0" err="1"/>
              <a:t>để</a:t>
            </a:r>
            <a:r>
              <a:rPr lang="en-US" sz="2400" dirty="0"/>
              <a:t> </a:t>
            </a:r>
            <a:r>
              <a:rPr lang="en-US" sz="2400" dirty="0" err="1"/>
              <a:t>thể</a:t>
            </a:r>
            <a:r>
              <a:rPr lang="en-US" sz="2400" dirty="0"/>
              <a:t> </a:t>
            </a:r>
            <a:r>
              <a:rPr lang="en-US" sz="2400" dirty="0" err="1"/>
              <a:t>hiện</a:t>
            </a:r>
            <a:r>
              <a:rPr lang="en-US" sz="2400" dirty="0"/>
              <a:t> </a:t>
            </a:r>
            <a:r>
              <a:rPr lang="en-US" sz="2400" dirty="0" err="1"/>
              <a:t>giải</a:t>
            </a:r>
            <a:r>
              <a:rPr lang="en-US" sz="2400" dirty="0"/>
              <a:t> </a:t>
            </a:r>
            <a:r>
              <a:rPr lang="en-US" sz="2400" dirty="0" err="1"/>
              <a:t>thuật</a:t>
            </a:r>
            <a:r>
              <a:rPr lang="en-US" sz="2400" dirty="0"/>
              <a:t> </a:t>
            </a:r>
            <a:r>
              <a:rPr lang="en-US" sz="2400" dirty="0" err="1"/>
              <a:t>đệ</a:t>
            </a:r>
            <a:r>
              <a:rPr lang="en-US" sz="2400" dirty="0"/>
              <a:t> </a:t>
            </a:r>
            <a:r>
              <a:rPr lang="en-US" sz="2400" dirty="0" err="1"/>
              <a:t>quy</a:t>
            </a:r>
            <a:endParaRPr lang="en-US" sz="2400" dirty="0"/>
          </a:p>
          <a:p>
            <a:pPr>
              <a:lnSpc>
                <a:spcPct val="80000"/>
              </a:lnSpc>
              <a:buFont typeface="Wingdings" pitchFamily="2" charset="2"/>
              <a:buNone/>
              <a:defRPr/>
            </a:pPr>
            <a:r>
              <a:rPr lang="en-US" sz="2400" dirty="0"/>
              <a:t>6.  </a:t>
            </a:r>
            <a:r>
              <a:rPr lang="en-US" sz="2400" dirty="0" err="1"/>
              <a:t>Viết</a:t>
            </a:r>
            <a:r>
              <a:rPr lang="en-US" sz="2400" dirty="0"/>
              <a:t> </a:t>
            </a:r>
            <a:r>
              <a:rPr lang="en-US" sz="2400" dirty="0" err="1"/>
              <a:t>giải</a:t>
            </a:r>
            <a:r>
              <a:rPr lang="en-US" sz="2400" dirty="0"/>
              <a:t> </a:t>
            </a:r>
            <a:r>
              <a:rPr lang="en-US" sz="2400" dirty="0" err="1"/>
              <a:t>thuật</a:t>
            </a:r>
            <a:r>
              <a:rPr lang="en-US" sz="2400" dirty="0"/>
              <a:t> </a:t>
            </a:r>
            <a:r>
              <a:rPr lang="en-US" sz="2400" dirty="0" err="1"/>
              <a:t>đệ</a:t>
            </a:r>
            <a:r>
              <a:rPr lang="en-US" sz="2400" dirty="0"/>
              <a:t> </a:t>
            </a:r>
            <a:r>
              <a:rPr lang="en-US" sz="2400" dirty="0" err="1"/>
              <a:t>quy</a:t>
            </a:r>
            <a:r>
              <a:rPr lang="en-US" sz="2400" dirty="0"/>
              <a:t> </a:t>
            </a:r>
            <a:r>
              <a:rPr lang="en-US" sz="2400" dirty="0" err="1"/>
              <a:t>cho</a:t>
            </a:r>
            <a:r>
              <a:rPr lang="en-US" sz="2400" dirty="0"/>
              <a:t> </a:t>
            </a:r>
            <a:r>
              <a:rPr lang="en-US" sz="2400" dirty="0" err="1"/>
              <a:t>bài</a:t>
            </a:r>
            <a:r>
              <a:rPr lang="en-US" sz="2400" dirty="0"/>
              <a:t> </a:t>
            </a:r>
            <a:r>
              <a:rPr lang="en-US" sz="2400" dirty="0" err="1"/>
              <a:t>toán</a:t>
            </a:r>
            <a:r>
              <a:rPr lang="en-US" sz="2400" dirty="0"/>
              <a:t> </a:t>
            </a:r>
            <a:r>
              <a:rPr lang="en-US" sz="2400" dirty="0" err="1"/>
              <a:t>sau</a:t>
            </a:r>
            <a:r>
              <a:rPr lang="en-US" sz="2400" dirty="0"/>
              <a:t>:</a:t>
            </a:r>
          </a:p>
          <a:p>
            <a:pPr>
              <a:lnSpc>
                <a:spcPct val="80000"/>
              </a:lnSpc>
              <a:buFont typeface="Wingdings" pitchFamily="2" charset="2"/>
              <a:buNone/>
              <a:defRPr/>
            </a:pPr>
            <a:r>
              <a:rPr lang="en-US" sz="2400" dirty="0"/>
              <a:t>    Acker(</a:t>
            </a:r>
            <a:r>
              <a:rPr lang="en-US" sz="2400" dirty="0" err="1"/>
              <a:t>m,n</a:t>
            </a:r>
            <a:r>
              <a:rPr lang="en-US" sz="2400" dirty="0"/>
              <a:t>)= n+1 </a:t>
            </a:r>
            <a:r>
              <a:rPr lang="en-US" sz="2400" dirty="0" err="1"/>
              <a:t>nếu</a:t>
            </a:r>
            <a:r>
              <a:rPr lang="en-US" sz="2400" dirty="0"/>
              <a:t> m=0</a:t>
            </a:r>
          </a:p>
          <a:p>
            <a:pPr>
              <a:lnSpc>
                <a:spcPct val="80000"/>
              </a:lnSpc>
              <a:buFont typeface="Wingdings" pitchFamily="2" charset="2"/>
              <a:buNone/>
              <a:defRPr/>
            </a:pPr>
            <a:r>
              <a:rPr lang="en-US" sz="2400" dirty="0"/>
              <a:t>    Acker(</a:t>
            </a:r>
            <a:r>
              <a:rPr lang="en-US" sz="2400" dirty="0" err="1"/>
              <a:t>m,n</a:t>
            </a:r>
            <a:r>
              <a:rPr lang="en-US" sz="2400" dirty="0"/>
              <a:t>)= Acker(m-1,1) </a:t>
            </a:r>
            <a:r>
              <a:rPr lang="en-US" sz="2400" dirty="0" err="1"/>
              <a:t>nếu</a:t>
            </a:r>
            <a:r>
              <a:rPr lang="en-US" sz="2400" dirty="0"/>
              <a:t> n=0</a:t>
            </a:r>
          </a:p>
          <a:p>
            <a:pPr>
              <a:lnSpc>
                <a:spcPct val="80000"/>
              </a:lnSpc>
              <a:buFont typeface="Wingdings" pitchFamily="2" charset="2"/>
              <a:buNone/>
              <a:defRPr/>
            </a:pPr>
            <a:r>
              <a:rPr lang="en-US" sz="2400" dirty="0"/>
              <a:t>    Acker(</a:t>
            </a:r>
            <a:r>
              <a:rPr lang="en-US" sz="2400" dirty="0" err="1"/>
              <a:t>m,n</a:t>
            </a:r>
            <a:r>
              <a:rPr lang="en-US" sz="2400" dirty="0"/>
              <a:t>)= Acker(m-1,Acker(m,n-1))  </a:t>
            </a:r>
            <a:r>
              <a:rPr lang="en-US" sz="2400" dirty="0" err="1"/>
              <a:t>với</a:t>
            </a:r>
            <a:r>
              <a:rPr lang="en-US" sz="2400" dirty="0"/>
              <a:t> </a:t>
            </a:r>
            <a:r>
              <a:rPr lang="en-US" sz="2400" dirty="0" err="1"/>
              <a:t>các</a:t>
            </a:r>
            <a:r>
              <a:rPr lang="en-US" sz="2400" dirty="0"/>
              <a:t> </a:t>
            </a:r>
            <a:r>
              <a:rPr lang="en-US" sz="2400" dirty="0" err="1"/>
              <a:t>trường</a:t>
            </a:r>
            <a:r>
              <a:rPr lang="en-US" sz="2400" dirty="0"/>
              <a:t> </a:t>
            </a:r>
            <a:r>
              <a:rPr lang="en-US" sz="2400" dirty="0" err="1"/>
              <a:t>hợp</a:t>
            </a:r>
            <a:r>
              <a:rPr lang="en-US" sz="2400" dirty="0"/>
              <a:t> </a:t>
            </a:r>
            <a:r>
              <a:rPr lang="en-US" sz="2400" dirty="0" err="1"/>
              <a:t>khác</a:t>
            </a:r>
            <a:r>
              <a:rPr lang="en-US" sz="2400" dirty="0"/>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CA7DC958-2AB1-4951-891B-6772441EBBA8}" type="slidenum">
              <a:rPr lang="en-US"/>
              <a:pPr>
                <a:defRPr/>
              </a:pPr>
              <a:t>52</a:t>
            </a:fld>
            <a:endParaRPr lang="en-US"/>
          </a:p>
        </p:txBody>
      </p:sp>
      <p:sp>
        <p:nvSpPr>
          <p:cNvPr id="262146" name="Rectangle 2"/>
          <p:cNvSpPr>
            <a:spLocks noGrp="1" noChangeArrowheads="1"/>
          </p:cNvSpPr>
          <p:nvPr>
            <p:ph type="title"/>
          </p:nvPr>
        </p:nvSpPr>
        <p:spPr/>
        <p:txBody>
          <a:bodyPr/>
          <a:lstStyle/>
          <a:p>
            <a:pPr>
              <a:defRPr/>
            </a:pPr>
            <a:r>
              <a:rPr lang="en-US"/>
              <a:t>Thủ tục đệ quy Bài 6</a:t>
            </a:r>
          </a:p>
        </p:txBody>
      </p:sp>
      <p:sp>
        <p:nvSpPr>
          <p:cNvPr id="262147" name="Rectangle 3"/>
          <p:cNvSpPr>
            <a:spLocks noGrp="1" noChangeArrowheads="1"/>
          </p:cNvSpPr>
          <p:nvPr>
            <p:ph type="body" idx="1"/>
          </p:nvPr>
        </p:nvSpPr>
        <p:spPr/>
        <p:txBody>
          <a:bodyPr/>
          <a:lstStyle/>
          <a:p>
            <a:pPr>
              <a:buFont typeface="Wingdings" pitchFamily="2" charset="2"/>
              <a:buNone/>
              <a:defRPr/>
            </a:pPr>
            <a:r>
              <a:rPr lang="en-US"/>
              <a:t>Function Acker(m,n:integer)</a:t>
            </a:r>
          </a:p>
          <a:p>
            <a:pPr>
              <a:buFont typeface="Wingdings" pitchFamily="2" charset="2"/>
              <a:buNone/>
              <a:defRPr/>
            </a:pPr>
            <a:r>
              <a:rPr lang="en-US"/>
              <a:t>	If m=0 then Acker:=n+1</a:t>
            </a:r>
          </a:p>
          <a:p>
            <a:pPr>
              <a:buFont typeface="Wingdings" pitchFamily="2" charset="2"/>
              <a:buNone/>
              <a:defRPr/>
            </a:pPr>
            <a:r>
              <a:rPr lang="en-US"/>
              <a:t>	else if n=0 then Acker:=Acker(m-1,1)</a:t>
            </a:r>
          </a:p>
          <a:p>
            <a:pPr>
              <a:buFont typeface="Wingdings" pitchFamily="2" charset="2"/>
              <a:buNone/>
              <a:defRPr/>
            </a:pPr>
            <a:r>
              <a:rPr lang="en-US"/>
              <a:t>		   else Acker:=Acker(m-1,Acker(m,n-1))</a:t>
            </a:r>
          </a:p>
          <a:p>
            <a:pPr>
              <a:buFont typeface="Wingdings" pitchFamily="2" charset="2"/>
              <a:buNone/>
              <a:defRPr/>
            </a:pPr>
            <a:r>
              <a:rPr lang="en-US"/>
              <a:t>Return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B17322F2-08C3-40C8-8624-49F395E8BFAB}" type="slidenum">
              <a:rPr lang="en-US"/>
              <a:pPr>
                <a:defRPr/>
              </a:pPr>
              <a:t>53</a:t>
            </a:fld>
            <a:endParaRPr lang="en-US"/>
          </a:p>
        </p:txBody>
      </p:sp>
      <p:sp>
        <p:nvSpPr>
          <p:cNvPr id="261122" name="Rectangle 2"/>
          <p:cNvSpPr>
            <a:spLocks noGrp="1" noChangeArrowheads="1"/>
          </p:cNvSpPr>
          <p:nvPr>
            <p:ph type="title"/>
          </p:nvPr>
        </p:nvSpPr>
        <p:spPr/>
        <p:txBody>
          <a:bodyPr/>
          <a:lstStyle/>
          <a:p>
            <a:pPr>
              <a:defRPr/>
            </a:pPr>
            <a:r>
              <a:rPr lang="en-US" dirty="0" err="1"/>
              <a:t>Bài</a:t>
            </a:r>
            <a:r>
              <a:rPr lang="en-US" dirty="0"/>
              <a:t> </a:t>
            </a:r>
            <a:r>
              <a:rPr lang="en-US" dirty="0" err="1"/>
              <a:t>tập</a:t>
            </a:r>
            <a:r>
              <a:rPr lang="en-US" dirty="0"/>
              <a:t> (</a:t>
            </a:r>
            <a:r>
              <a:rPr lang="en-US" dirty="0" err="1"/>
              <a:t>tiếp</a:t>
            </a:r>
            <a:r>
              <a:rPr lang="en-US" dirty="0"/>
              <a:t>)</a:t>
            </a:r>
          </a:p>
        </p:txBody>
      </p:sp>
      <p:sp>
        <p:nvSpPr>
          <p:cNvPr id="261123" name="Rectangle 3"/>
          <p:cNvSpPr>
            <a:spLocks noGrp="1" noChangeArrowheads="1"/>
          </p:cNvSpPr>
          <p:nvPr>
            <p:ph type="body" idx="1"/>
          </p:nvPr>
        </p:nvSpPr>
        <p:spPr/>
        <p:txBody>
          <a:bodyPr/>
          <a:lstStyle/>
          <a:p>
            <a:pPr>
              <a:buFont typeface="Wingdings" pitchFamily="2" charset="2"/>
              <a:buNone/>
              <a:defRPr/>
            </a:pPr>
            <a:r>
              <a:rPr lang="en-US"/>
              <a:t>7. Giải thuật tính ước số chung lớn nhất của hai số nguyên dương a và b  (a&gt;b) như sau:  Gọi r là số dư của phép chia a cho b.</a:t>
            </a:r>
          </a:p>
          <a:p>
            <a:pPr>
              <a:buFont typeface="Wingdings" pitchFamily="2" charset="2"/>
              <a:buNone/>
              <a:defRPr/>
            </a:pPr>
            <a:r>
              <a:rPr lang="en-US"/>
              <a:t>	- Nếu r=0 thì b là ước số chung lớn nhất</a:t>
            </a:r>
          </a:p>
          <a:p>
            <a:pPr>
              <a:buFont typeface="Wingdings" pitchFamily="2" charset="2"/>
              <a:buNone/>
              <a:defRPr/>
            </a:pPr>
            <a:r>
              <a:rPr lang="en-US"/>
              <a:t>	- r khác 0 thì gán a:=b; b:=r rồi lặp lại. </a:t>
            </a:r>
          </a:p>
          <a:p>
            <a:pPr>
              <a:buFont typeface="Wingdings" pitchFamily="2" charset="2"/>
              <a:buNone/>
              <a:defRPr/>
            </a:pPr>
            <a:r>
              <a:rPr lang="en-US"/>
              <a:t>	Hãy xây dựng giải thuật đệ quy tính ước số chung lớn nhất USCLN(a,b)</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0FF4E697-5450-4220-8729-ACBD137E593D}" type="slidenum">
              <a:rPr lang="en-US"/>
              <a:pPr>
                <a:defRPr/>
              </a:pPr>
              <a:t>54</a:t>
            </a:fld>
            <a:endParaRPr lang="en-US"/>
          </a:p>
        </p:txBody>
      </p:sp>
      <p:sp>
        <p:nvSpPr>
          <p:cNvPr id="264194" name="Rectangle 2"/>
          <p:cNvSpPr>
            <a:spLocks noGrp="1" noChangeArrowheads="1"/>
          </p:cNvSpPr>
          <p:nvPr>
            <p:ph type="title"/>
          </p:nvPr>
        </p:nvSpPr>
        <p:spPr/>
        <p:txBody>
          <a:bodyPr/>
          <a:lstStyle/>
          <a:p>
            <a:pPr>
              <a:defRPr/>
            </a:pPr>
            <a:r>
              <a:rPr lang="en-US" dirty="0" err="1"/>
              <a:t>Thủ</a:t>
            </a:r>
            <a:r>
              <a:rPr lang="en-US" dirty="0"/>
              <a:t> </a:t>
            </a:r>
            <a:r>
              <a:rPr lang="en-US" dirty="0" err="1"/>
              <a:t>tục</a:t>
            </a:r>
            <a:r>
              <a:rPr lang="en-US" dirty="0"/>
              <a:t> </a:t>
            </a:r>
            <a:r>
              <a:rPr lang="en-US" dirty="0" err="1"/>
              <a:t>đệ</a:t>
            </a:r>
            <a:r>
              <a:rPr lang="en-US" dirty="0"/>
              <a:t> </a:t>
            </a:r>
            <a:r>
              <a:rPr lang="en-US" dirty="0" err="1"/>
              <a:t>quy</a:t>
            </a:r>
            <a:r>
              <a:rPr lang="en-US" dirty="0"/>
              <a:t> </a:t>
            </a:r>
            <a:r>
              <a:rPr lang="en-US" dirty="0" err="1"/>
              <a:t>bài</a:t>
            </a:r>
            <a:r>
              <a:rPr lang="en-US" dirty="0"/>
              <a:t> 7</a:t>
            </a:r>
          </a:p>
        </p:txBody>
      </p:sp>
      <p:sp>
        <p:nvSpPr>
          <p:cNvPr id="264195" name="Rectangle 3"/>
          <p:cNvSpPr>
            <a:spLocks noGrp="1" noChangeArrowheads="1"/>
          </p:cNvSpPr>
          <p:nvPr>
            <p:ph type="body" idx="1"/>
          </p:nvPr>
        </p:nvSpPr>
        <p:spPr/>
        <p:txBody>
          <a:bodyPr/>
          <a:lstStyle/>
          <a:p>
            <a:pPr>
              <a:buFont typeface="Wingdings" pitchFamily="2" charset="2"/>
              <a:buNone/>
              <a:defRPr/>
            </a:pPr>
            <a:r>
              <a:rPr lang="en-US" sz="2800"/>
              <a:t>Bài toán: Tìm USCLN của 2 số nguyên dương a,b</a:t>
            </a:r>
          </a:p>
          <a:p>
            <a:pPr>
              <a:buFont typeface="Wingdings" pitchFamily="2" charset="2"/>
              <a:buNone/>
              <a:defRPr/>
            </a:pPr>
            <a:r>
              <a:rPr lang="en-US" sz="2800"/>
              <a:t>Cách 1: Dùng đệ quy</a:t>
            </a:r>
          </a:p>
          <a:p>
            <a:pPr>
              <a:buFont typeface="Wingdings" pitchFamily="2" charset="2"/>
              <a:buNone/>
              <a:defRPr/>
            </a:pPr>
            <a:r>
              <a:rPr lang="en-US" sz="2800"/>
              <a:t>Function USCLN(a,b)</a:t>
            </a:r>
          </a:p>
          <a:p>
            <a:pPr>
              <a:buFont typeface="Wingdings" pitchFamily="2" charset="2"/>
              <a:buNone/>
              <a:defRPr/>
            </a:pPr>
            <a:r>
              <a:rPr lang="en-US" sz="2800"/>
              <a:t>	If b=0 then begin USCLN := a; return; end;</a:t>
            </a:r>
          </a:p>
          <a:p>
            <a:pPr>
              <a:buFont typeface="Wingdings" pitchFamily="2" charset="2"/>
              <a:buNone/>
              <a:defRPr/>
            </a:pPr>
            <a:r>
              <a:rPr lang="en-US" sz="2800"/>
              <a:t>	If b # 0 then USCLN := USCLN(b,a mod b);</a:t>
            </a:r>
          </a:p>
          <a:p>
            <a:pPr>
              <a:buFont typeface="Wingdings" pitchFamily="2" charset="2"/>
              <a:buNone/>
              <a:defRPr/>
            </a:pPr>
            <a:r>
              <a:rPr lang="en-US" sz="2800"/>
              <a:t>Return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0FF4E697-5450-4220-8729-ACBD137E593D}" type="slidenum">
              <a:rPr lang="en-US"/>
              <a:pPr>
                <a:defRPr/>
              </a:pPr>
              <a:t>55</a:t>
            </a:fld>
            <a:endParaRPr lang="en-US"/>
          </a:p>
        </p:txBody>
      </p:sp>
      <p:sp>
        <p:nvSpPr>
          <p:cNvPr id="264194" name="Rectangle 2"/>
          <p:cNvSpPr>
            <a:spLocks noGrp="1" noChangeArrowheads="1"/>
          </p:cNvSpPr>
          <p:nvPr>
            <p:ph type="title"/>
          </p:nvPr>
        </p:nvSpPr>
        <p:spPr/>
        <p:txBody>
          <a:bodyPr/>
          <a:lstStyle/>
          <a:p>
            <a:pPr>
              <a:defRPr/>
            </a:pPr>
            <a:r>
              <a:rPr lang="en-US"/>
              <a:t>Thủ tục đệ quy bài 7</a:t>
            </a:r>
          </a:p>
        </p:txBody>
      </p:sp>
      <p:sp>
        <p:nvSpPr>
          <p:cNvPr id="264195" name="Rectangle 3"/>
          <p:cNvSpPr>
            <a:spLocks noGrp="1" noChangeArrowheads="1"/>
          </p:cNvSpPr>
          <p:nvPr>
            <p:ph type="body" idx="1"/>
          </p:nvPr>
        </p:nvSpPr>
        <p:spPr/>
        <p:txBody>
          <a:bodyPr/>
          <a:lstStyle/>
          <a:p>
            <a:pPr>
              <a:buFont typeface="Wingdings" pitchFamily="2" charset="2"/>
              <a:buNone/>
              <a:defRPr/>
            </a:pPr>
            <a:r>
              <a:rPr lang="en-US" sz="2800"/>
              <a:t>Bài toán: Tìm USCLN của 2 số nguyên dương a,b</a:t>
            </a:r>
          </a:p>
          <a:p>
            <a:pPr>
              <a:buFont typeface="Wingdings" pitchFamily="2" charset="2"/>
              <a:buNone/>
              <a:defRPr/>
            </a:pPr>
            <a:r>
              <a:rPr lang="en-US" sz="2800"/>
              <a:t>Cách 2: Khử đệ quy</a:t>
            </a:r>
          </a:p>
          <a:p>
            <a:pPr>
              <a:buFont typeface="Wingdings" pitchFamily="2" charset="2"/>
              <a:buNone/>
              <a:defRPr/>
            </a:pPr>
            <a:r>
              <a:rPr lang="en-US" sz="2800"/>
              <a:t>Function USCLN(a,b)</a:t>
            </a:r>
          </a:p>
          <a:p>
            <a:pPr>
              <a:buFont typeface="Wingdings" pitchFamily="2" charset="2"/>
              <a:buNone/>
              <a:defRPr/>
            </a:pPr>
            <a:r>
              <a:rPr lang="en-US" sz="2800"/>
              <a:t>	1) r := a mod b;</a:t>
            </a:r>
          </a:p>
          <a:p>
            <a:pPr>
              <a:buFont typeface="Wingdings" pitchFamily="2" charset="2"/>
              <a:buNone/>
              <a:defRPr/>
            </a:pPr>
            <a:r>
              <a:rPr lang="en-US" sz="2800"/>
              <a:t>	2) while r # 0 do begin</a:t>
            </a:r>
          </a:p>
          <a:p>
            <a:pPr>
              <a:buFont typeface="Wingdings" pitchFamily="2" charset="2"/>
              <a:buNone/>
              <a:defRPr/>
            </a:pPr>
            <a:r>
              <a:rPr lang="en-US" sz="2800"/>
              <a:t>			a:=b; b:=r; r:= a mod b</a:t>
            </a:r>
          </a:p>
          <a:p>
            <a:pPr>
              <a:buFont typeface="Wingdings" pitchFamily="2" charset="2"/>
              <a:buNone/>
              <a:defRPr/>
            </a:pPr>
            <a:r>
              <a:rPr lang="en-US" sz="2800"/>
              <a:t>		end;</a:t>
            </a:r>
          </a:p>
          <a:p>
            <a:pPr>
              <a:buFont typeface="Wingdings" pitchFamily="2" charset="2"/>
              <a:buNone/>
              <a:defRPr/>
            </a:pPr>
            <a:r>
              <a:rPr lang="en-US" sz="2800"/>
              <a:t>	3) USCLN:=b;</a:t>
            </a:r>
          </a:p>
          <a:p>
            <a:pPr>
              <a:buFont typeface="Wingdings" pitchFamily="2" charset="2"/>
              <a:buNone/>
              <a:defRPr/>
            </a:pPr>
            <a:r>
              <a:rPr lang="en-US" sz="2800"/>
              <a:t>Return</a:t>
            </a:r>
          </a:p>
        </p:txBody>
      </p:sp>
    </p:spTree>
    <p:extLst>
      <p:ext uri="{BB962C8B-B14F-4D97-AF65-F5344CB8AC3E}">
        <p14:creationId xmlns:p14="http://schemas.microsoft.com/office/powerpoint/2010/main" val="24875442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3BF9CAE5-66B1-4991-843D-34D948ABA807}" type="slidenum">
              <a:rPr lang="en-US"/>
              <a:pPr>
                <a:defRPr/>
              </a:pPr>
              <a:t>56</a:t>
            </a:fld>
            <a:endParaRPr lang="en-US"/>
          </a:p>
        </p:txBody>
      </p:sp>
      <p:sp>
        <p:nvSpPr>
          <p:cNvPr id="263170" name="Rectangle 2"/>
          <p:cNvSpPr>
            <a:spLocks noGrp="1" noChangeArrowheads="1"/>
          </p:cNvSpPr>
          <p:nvPr>
            <p:ph type="title"/>
          </p:nvPr>
        </p:nvSpPr>
        <p:spPr/>
        <p:txBody>
          <a:bodyPr/>
          <a:lstStyle/>
          <a:p>
            <a:pPr>
              <a:defRPr/>
            </a:pPr>
            <a:r>
              <a:rPr lang="en-US" dirty="0" err="1"/>
              <a:t>Bài</a:t>
            </a:r>
            <a:r>
              <a:rPr lang="en-US" dirty="0"/>
              <a:t> </a:t>
            </a:r>
            <a:r>
              <a:rPr lang="en-US" dirty="0" err="1"/>
              <a:t>tập</a:t>
            </a:r>
            <a:r>
              <a:rPr lang="en-US" dirty="0"/>
              <a:t> (</a:t>
            </a:r>
            <a:r>
              <a:rPr lang="en-US" dirty="0" err="1"/>
              <a:t>tiếp</a:t>
            </a:r>
            <a:r>
              <a:rPr lang="en-US" dirty="0"/>
              <a:t>)</a:t>
            </a:r>
          </a:p>
        </p:txBody>
      </p:sp>
      <p:sp>
        <p:nvSpPr>
          <p:cNvPr id="263171" name="Rectangle 3"/>
          <p:cNvSpPr>
            <a:spLocks noGrp="1" noChangeArrowheads="1"/>
          </p:cNvSpPr>
          <p:nvPr>
            <p:ph type="body" idx="1"/>
          </p:nvPr>
        </p:nvSpPr>
        <p:spPr/>
        <p:txBody>
          <a:bodyPr/>
          <a:lstStyle/>
          <a:p>
            <a:pPr>
              <a:buFont typeface="Wingdings" pitchFamily="2" charset="2"/>
              <a:buNone/>
              <a:defRPr/>
            </a:pPr>
            <a:r>
              <a:rPr lang="en-US" sz="2800"/>
              <a:t>8. Hàm C(n,k) với n, k là các giá trị nguyên không âm và k&lt;=n, được định nghĩa như sau:</a:t>
            </a:r>
          </a:p>
          <a:p>
            <a:pPr>
              <a:buFont typeface="Wingdings" pitchFamily="2" charset="2"/>
              <a:buNone/>
              <a:defRPr/>
            </a:pPr>
            <a:r>
              <a:rPr lang="en-US" sz="2800"/>
              <a:t>	C(n,n)=1</a:t>
            </a:r>
          </a:p>
          <a:p>
            <a:pPr>
              <a:buFont typeface="Wingdings" pitchFamily="2" charset="2"/>
              <a:buNone/>
              <a:defRPr/>
            </a:pPr>
            <a:r>
              <a:rPr lang="en-US" sz="2800"/>
              <a:t>	C(n,0)=1</a:t>
            </a:r>
          </a:p>
          <a:p>
            <a:pPr>
              <a:buFont typeface="Wingdings" pitchFamily="2" charset="2"/>
              <a:buNone/>
              <a:defRPr/>
            </a:pPr>
            <a:r>
              <a:rPr lang="en-US" sz="2800"/>
              <a:t>	C(n,k)=C(n-1,k-1)+C(n-1,k) nếu 0&lt; k&lt;n</a:t>
            </a:r>
          </a:p>
          <a:p>
            <a:pPr>
              <a:buFont typeface="Wingdings" pitchFamily="2" charset="2"/>
              <a:buNone/>
              <a:defRPr/>
            </a:pPr>
            <a:r>
              <a:rPr lang="en-US" sz="2800"/>
              <a:t>	Hãy xây dựng giải thuật đệ quy cho bài toán trên</a:t>
            </a:r>
          </a:p>
          <a:p>
            <a:pPr>
              <a:buFont typeface="Wingdings" pitchFamily="2" charset="2"/>
              <a:buNone/>
              <a:defRPr/>
            </a:pPr>
            <a:r>
              <a:rPr lang="en-US" sz="2800"/>
              <a:t> 9. Viết thủ tục đệ quy in ngược một dòng kí tự cho trước.</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r>
              <a:rPr lang="en-US"/>
              <a:t>Ngô Công Thắng</a:t>
            </a:r>
          </a:p>
        </p:txBody>
      </p:sp>
      <p:sp>
        <p:nvSpPr>
          <p:cNvPr id="5" name="Footer Placeholder 4"/>
          <p:cNvSpPr>
            <a:spLocks noGrp="1"/>
          </p:cNvSpPr>
          <p:nvPr>
            <p:ph type="ftr" sz="quarter" idx="11"/>
          </p:nvPr>
        </p:nvSpPr>
        <p:spPr/>
        <p:txBody>
          <a:bodyPr/>
          <a:lstStyle/>
          <a:p>
            <a:pPr>
              <a:defRPr/>
            </a:pPr>
            <a:r>
              <a:rPr lang="en-US"/>
              <a:t>Bài giảng Cấu trúc dữ liệu và giải thuật  -  Chương 02</a:t>
            </a:r>
          </a:p>
        </p:txBody>
      </p:sp>
      <p:sp>
        <p:nvSpPr>
          <p:cNvPr id="6" name="Slide Number Placeholder 5"/>
          <p:cNvSpPr>
            <a:spLocks noGrp="1"/>
          </p:cNvSpPr>
          <p:nvPr>
            <p:ph type="sldNum" sz="quarter" idx="12"/>
          </p:nvPr>
        </p:nvSpPr>
        <p:spPr/>
        <p:txBody>
          <a:bodyPr/>
          <a:lstStyle/>
          <a:p>
            <a:pPr>
              <a:defRPr/>
            </a:pPr>
            <a:r>
              <a:rPr lang="en-US"/>
              <a:t>2.</a:t>
            </a:r>
            <a:fld id="{E6888F60-7947-42DE-AA20-7968C39B568D}" type="slidenum">
              <a:rPr lang="en-US"/>
              <a:pPr>
                <a:defRPr/>
              </a:pPr>
              <a:t>57</a:t>
            </a:fld>
            <a:endParaRPr lang="en-US"/>
          </a:p>
        </p:txBody>
      </p:sp>
      <p:sp>
        <p:nvSpPr>
          <p:cNvPr id="265218" name="Rectangle 2"/>
          <p:cNvSpPr>
            <a:spLocks noGrp="1" noChangeArrowheads="1"/>
          </p:cNvSpPr>
          <p:nvPr>
            <p:ph type="title"/>
          </p:nvPr>
        </p:nvSpPr>
        <p:spPr/>
        <p:txBody>
          <a:bodyPr/>
          <a:lstStyle/>
          <a:p>
            <a:pPr>
              <a:defRPr/>
            </a:pPr>
            <a:r>
              <a:rPr lang="en-US" dirty="0" err="1"/>
              <a:t>Thủ</a:t>
            </a:r>
            <a:r>
              <a:rPr lang="en-US" dirty="0"/>
              <a:t> </a:t>
            </a:r>
            <a:r>
              <a:rPr lang="en-US" dirty="0" err="1"/>
              <a:t>tục</a:t>
            </a:r>
            <a:r>
              <a:rPr lang="en-US" dirty="0"/>
              <a:t> </a:t>
            </a:r>
            <a:r>
              <a:rPr lang="en-US" dirty="0" err="1"/>
              <a:t>đệ</a:t>
            </a:r>
            <a:r>
              <a:rPr lang="en-US" dirty="0"/>
              <a:t> </a:t>
            </a:r>
            <a:r>
              <a:rPr lang="en-US" dirty="0" err="1"/>
              <a:t>quy</a:t>
            </a:r>
            <a:r>
              <a:rPr lang="en-US" dirty="0"/>
              <a:t> </a:t>
            </a:r>
            <a:r>
              <a:rPr lang="en-US" dirty="0" err="1"/>
              <a:t>bài</a:t>
            </a:r>
            <a:r>
              <a:rPr lang="en-US" dirty="0"/>
              <a:t> 8</a:t>
            </a:r>
          </a:p>
        </p:txBody>
      </p:sp>
      <p:sp>
        <p:nvSpPr>
          <p:cNvPr id="265219" name="Rectangle 3"/>
          <p:cNvSpPr>
            <a:spLocks noGrp="1" noChangeArrowheads="1"/>
          </p:cNvSpPr>
          <p:nvPr>
            <p:ph type="body" idx="1"/>
          </p:nvPr>
        </p:nvSpPr>
        <p:spPr/>
        <p:txBody>
          <a:bodyPr/>
          <a:lstStyle/>
          <a:p>
            <a:pPr>
              <a:buFont typeface="Wingdings" pitchFamily="2" charset="2"/>
              <a:buNone/>
              <a:defRPr/>
            </a:pPr>
            <a:r>
              <a:rPr lang="en-US"/>
              <a:t>Function C(n,k:integer)</a:t>
            </a:r>
          </a:p>
          <a:p>
            <a:pPr>
              <a:buFont typeface="Wingdings" pitchFamily="2" charset="2"/>
              <a:buNone/>
              <a:defRPr/>
            </a:pPr>
            <a:r>
              <a:rPr lang="en-US"/>
              <a:t>	If k=0 then C:=1</a:t>
            </a:r>
          </a:p>
          <a:p>
            <a:pPr>
              <a:buFont typeface="Wingdings" pitchFamily="2" charset="2"/>
              <a:buNone/>
              <a:defRPr/>
            </a:pPr>
            <a:r>
              <a:rPr lang="en-US"/>
              <a:t>	else if k=n then C:=1</a:t>
            </a:r>
          </a:p>
          <a:p>
            <a:pPr>
              <a:buFont typeface="Wingdings" pitchFamily="2" charset="2"/>
              <a:buNone/>
              <a:defRPr/>
            </a:pPr>
            <a:r>
              <a:rPr lang="en-US"/>
              <a:t>		   else C:=C(n-1,k-1)+C(n-1,k);</a:t>
            </a:r>
          </a:p>
          <a:p>
            <a:pPr>
              <a:buFont typeface="Wingdings" pitchFamily="2" charset="2"/>
              <a:buNone/>
              <a:defRPr/>
            </a:pPr>
            <a:r>
              <a:rPr lang="en-US"/>
              <a:t>Return</a:t>
            </a:r>
          </a:p>
        </p:txBody>
      </p:sp>
    </p:spTree>
  </p:cSld>
  <p:clrMapOvr>
    <a:masterClrMapping/>
  </p:clrMapOvr>
</p:sld>
</file>

<file path=ppt/theme/theme1.xml><?xml version="1.0" encoding="utf-8"?>
<a:theme xmlns:a="http://schemas.openxmlformats.org/drawingml/2006/main" name="1_Orbit">
  <a:themeElements>
    <a:clrScheme name="1_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fontScheme name="1_Orbi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1_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1_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1_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1_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1_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1_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1_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PhanIICh06new</Template>
  <TotalTime>13392</TotalTime>
  <Words>6783</Words>
  <Application>Microsoft Office PowerPoint</Application>
  <PresentationFormat>On-screen Show (4:3)</PresentationFormat>
  <Paragraphs>566</Paragraphs>
  <Slides>57</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Slide Titles</vt:lpstr>
      </vt:variant>
      <vt:variant>
        <vt:i4>57</vt:i4>
      </vt:variant>
      <vt:variant>
        <vt:lpstr>Custom Shows</vt:lpstr>
      </vt:variant>
      <vt:variant>
        <vt:i4>1</vt:i4>
      </vt:variant>
    </vt:vector>
  </HeadingPairs>
  <TitlesOfParts>
    <vt:vector size="61" baseType="lpstr">
      <vt:lpstr>Arial</vt:lpstr>
      <vt:lpstr>Wingdings</vt:lpstr>
      <vt:lpstr>1_Orbit</vt:lpstr>
      <vt:lpstr>3. Thiết kế và đánh giá giải thuật</vt:lpstr>
      <vt:lpstr>3. Thiết kế và đánh giá giải thuật</vt:lpstr>
      <vt:lpstr>3.1.1. Mô đun hóa và việc giải quyết bài toán</vt:lpstr>
      <vt:lpstr>3.1.1. Mô đun hóa việc giải quyết bài toán (tiếp)</vt:lpstr>
      <vt:lpstr>3.1.1. Mô đun hóa việc giải quyết bài toán (tiếp)</vt:lpstr>
      <vt:lpstr>3.1.1. Mô đun hóa việc giải quyết bài toán (tiếp)</vt:lpstr>
      <vt:lpstr>Sơ đồ giải thuật tổng quát</vt:lpstr>
      <vt:lpstr>Ví dụ (tiếp)</vt:lpstr>
      <vt:lpstr>Sơ đồ giải thuật chi tiết</vt:lpstr>
      <vt:lpstr>3.1.1. Mô đun hóa việc giải quyết bài toán (tiếp)</vt:lpstr>
      <vt:lpstr>3.1.2. Phương pháp tinh chỉnh dần từng bước</vt:lpstr>
      <vt:lpstr>Ví dụ 1: Sắp xếp một dãy n số nguyên theo thứ tự tăng dần</vt:lpstr>
      <vt:lpstr>Ví dụ 1: Sắp xếp một dãy n số nguyên theo thứ tự tăng dần</vt:lpstr>
      <vt:lpstr>Ví dụ 1: Sắp xếp một dãy n số nguyên theo thứ tự tăng dần</vt:lpstr>
      <vt:lpstr>Ví dụ 2: Cho ma trận cấp mxn (m hàng, n cột). Tìm phần tử lớn nhất của các hàng và đổi chỗ nó cho phần tử đầu hàng.</vt:lpstr>
      <vt:lpstr>Ví dụ 2: Cho ma trận cấp mxn (m hàng, n cột). Tìm phần tử lớn nhất của các hàng và đổi chỗ nó cho phần tử đầu hàng.</vt:lpstr>
      <vt:lpstr>Ví dụ 2: Cho ma trận cấp mxn (m hàng, n cột). Tìm phần tử lớn nhất của các hàng và đổi chỗ nó cho phần tử đầu hàng</vt:lpstr>
      <vt:lpstr>3.2. Phân tích, đánh giá giải thuật</vt:lpstr>
      <vt:lpstr>3.2.2. Phân tích thời gian thực hiện giải thuật</vt:lpstr>
      <vt:lpstr>3.2.3. Độ phức tạp tính toán của giải thuật</vt:lpstr>
      <vt:lpstr>3.2.3. Độ phức tạp tính toán của giải thuật (tiếp) </vt:lpstr>
      <vt:lpstr>3.2.3. Độ phức tạp tính toán của giải thuật (tiếp)</vt:lpstr>
      <vt:lpstr>3.2.3. Độ phức tạp tính toán của giải thuật (tiếp)</vt:lpstr>
      <vt:lpstr>3.2.4. Xác định độ phức tạp tính toán</vt:lpstr>
      <vt:lpstr>3.2.4. Xác định độ phức tạp tính toán (tiếp)</vt:lpstr>
      <vt:lpstr>3.2.4. Xác định độ phức tạp tính toán (tiếp)</vt:lpstr>
      <vt:lpstr>3.2.4. Xác định độ phức tạp tính toán (tiếp)</vt:lpstr>
      <vt:lpstr>So sánh thời gian các phép toán</vt:lpstr>
      <vt:lpstr>3.2.4. Xác định độ phức tạp tính toán (tiếp)</vt:lpstr>
      <vt:lpstr>3.2.4. Xác định độ phức tạp tính toán (tiếp)</vt:lpstr>
      <vt:lpstr>3.2.4. Xác định độ phức tạp tính toán (tiếp)</vt:lpstr>
      <vt:lpstr>3.2.4. Xác định độ phức tạp tính toán (tiếp)</vt:lpstr>
      <vt:lpstr>3.2.4. Xác định độ phức tạp tính toán (tiếp)</vt:lpstr>
      <vt:lpstr>3.2.4. Xác định độ phức tạp tính toán (tiếp)</vt:lpstr>
      <vt:lpstr>4. Giải thuật đệ quy</vt:lpstr>
      <vt:lpstr>4.2. Giải thuật đệ quy và thủ tục đệ quy</vt:lpstr>
      <vt:lpstr>Ví dụ: Bài toán tìm 1 từ trong cuốn từ điển</vt:lpstr>
      <vt:lpstr>Ví dụ: Bài toán tìm 1 từ trong cuốn từ điển</vt:lpstr>
      <vt:lpstr>Ví dụ: Bài toán tìm 1 từ trong cuốn từ điển</vt:lpstr>
      <vt:lpstr>4.3. Thiết kế giải thuật đệ quy</vt:lpstr>
      <vt:lpstr>Bài toán 1: Tính n! </vt:lpstr>
      <vt:lpstr>Ưu, nhược điểm của giải thuật đệ quy</vt:lpstr>
      <vt:lpstr>Bài toán 1: Tính n! </vt:lpstr>
      <vt:lpstr>Bài toán 1: Tính n! </vt:lpstr>
      <vt:lpstr>Bài toán 2: Lập dãy số FIBONACCI  1  1  2  3  5  8  13... </vt:lpstr>
      <vt:lpstr>Bài toán 3: Bài toán “Tháp Hà nội” </vt:lpstr>
      <vt:lpstr>Bài toán 3: Bài toán “Tháp Hà nội” </vt:lpstr>
      <vt:lpstr>Bài toán 3: Bài toán “Tháp Hà nội” </vt:lpstr>
      <vt:lpstr>Bài toán 3: Bài toán “Tháp Hà nội” </vt:lpstr>
      <vt:lpstr>Bài toán 3: Bài toán “Tháp Hà nội” </vt:lpstr>
      <vt:lpstr>Bài tập</vt:lpstr>
      <vt:lpstr>Thủ tục đệ quy Bài 6</vt:lpstr>
      <vt:lpstr>Bài tập (tiếp)</vt:lpstr>
      <vt:lpstr>Thủ tục đệ quy bài 7</vt:lpstr>
      <vt:lpstr>Thủ tục đệ quy bài 7</vt:lpstr>
      <vt:lpstr>Bài tập (tiếp)</vt:lpstr>
      <vt:lpstr>Thủ tục đệ quy bài 8</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Java</dc:title>
  <dc:creator>Y. Daniel Liang</dc:creator>
  <cp:lastModifiedBy>Ngô Công Thắng</cp:lastModifiedBy>
  <cp:revision>343</cp:revision>
  <cp:lastPrinted>2018-03-12T17:46:58Z</cp:lastPrinted>
  <dcterms:created xsi:type="dcterms:W3CDTF">1995-06-10T17:31:50Z</dcterms:created>
  <dcterms:modified xsi:type="dcterms:W3CDTF">2022-07-27T07:14:38Z</dcterms:modified>
</cp:coreProperties>
</file>