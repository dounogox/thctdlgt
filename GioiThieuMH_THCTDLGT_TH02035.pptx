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0" r:id="rId1"/>
  </p:sldMasterIdLst>
  <p:notesMasterIdLst>
    <p:notesMasterId r:id="rId9"/>
  </p:notesMasterIdLst>
  <p:sldIdLst>
    <p:sldId id="256" r:id="rId2"/>
    <p:sldId id="367" r:id="rId3"/>
    <p:sldId id="329" r:id="rId4"/>
    <p:sldId id="368" r:id="rId5"/>
    <p:sldId id="364" r:id="rId6"/>
    <p:sldId id="366" r:id="rId7"/>
    <p:sldId id="449" r:id="rId8"/>
  </p:sldIdLst>
  <p:sldSz cx="9144000" cy="6858000" type="screen4x3"/>
  <p:notesSz cx="7315200" cy="96012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98" autoAdjust="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9D3F4BF-DB2D-4913-8773-AC32BA373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E45CB43-2E27-47E1-9256-981D9F988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/>
          <a:p>
            <a:r>
              <a:rPr lang="en-US" altLang="en-US"/>
              <a:t>First Class: Introduction, Prerequisites, Advices, Syllabus</a:t>
            </a:r>
          </a:p>
          <a:p>
            <a:endParaRPr lang="en-US" altLang="en-US"/>
          </a:p>
          <a:p>
            <a:r>
              <a:rPr lang="en-US" altLang="en-US"/>
              <a:t>Lab 1: Create a Java Project, Compile, and Run.</a:t>
            </a:r>
          </a:p>
          <a:p>
            <a:r>
              <a:rPr lang="en-US" altLang="en-US"/>
              <a:t>	Show syntax errors</a:t>
            </a:r>
          </a:p>
          <a:p>
            <a:r>
              <a:rPr lang="en-US" altLang="en-US"/>
              <a:t>         Print program</a:t>
            </a:r>
          </a:p>
          <a:p>
            <a:r>
              <a:rPr lang="en-US" altLang="en-US"/>
              <a:t>         Capture screen shots, and save it in Word, and print it.</a:t>
            </a:r>
          </a:p>
          <a:p>
            <a:endParaRPr lang="en-US" altLang="en-US"/>
          </a:p>
          <a:p>
            <a:r>
              <a:rPr lang="en-US" altLang="en-US"/>
              <a:t>Homework One: Check in the class randomly.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0E65FCA-3363-4E81-A4F5-1F96BB2D9C08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3FDD991-8CF9-4088-895C-E3B7D22BB57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6CC2A586-B46F-442D-B04D-AD37F7A8B3D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0C526B97-1692-4657-BC72-644F1A2E27A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8AE0423-B65C-428C-8AD6-356CF50E7DF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D7205FA3-E270-4E97-A2F9-726162C5B14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5943BD7A-BB4F-4036-95C5-695238F0C46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E4CE9EB1-21DB-4849-A799-55900AA0548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54634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4635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64B1CE8-431C-4563-BB4F-B9099797D4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481462E7-150D-44BE-97AB-6F579268CF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EBDD3EF-A962-48C7-859E-A7631CF44A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40648-1D12-4537-8207-3EE52654A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95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6D1ECAB-0F64-4280-95E0-69A25591F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9B8AFC6-B71A-41D2-8349-C2E412D2F5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071035F-D795-4890-8F43-330309349F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042BFDD9-C6EE-4DF4-B3E1-71C779607E4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7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07B09B0-7363-4E5E-8A49-D714B1E801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CBF1480-AD78-42EB-B084-F3E02283F4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BAC89781-87E3-4B21-AE51-2201C8CF4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3D060689-62F4-406A-BA37-E11C04EA681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53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72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72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5EED34-2B19-44AA-89E8-0202B29571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498E41D-9FE0-4724-8146-4EA4F5715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BBC81FBE-2ED9-47AF-96ED-E17921168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67FDDFB5-EAD1-48C7-BD47-A7A381DF751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715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48B1104-E0D5-4C51-AE8F-B8EAEEB6FC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E7A4242-0051-4F7C-84A2-E7DA464C3F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B4930020-2E9A-4663-ABEA-2B1607505A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F7D79510-DCBA-4F3C-9C8B-8BE3E16C36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81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6B3C4B4-12AF-4B4B-A881-29FE94BF91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A289B64-DF69-4B27-BBFD-9BF5DF896A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713C969-B686-49F1-8700-234CBC876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D71C2815-F9D9-486D-823E-DADAF13E017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22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C9B8424C-6BF2-48B3-A333-DECC18A541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5320CEA0-758F-47A3-8200-D31A0B6D94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2E036EB0-AAEE-424C-AA24-5B7902B60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F4626143-5E25-4CCA-8110-3FBDAA97AA0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5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EE34899-F3E3-4D58-93F0-72EFF95CDD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7F17687-E49C-4A57-83AF-57C9F4BBF6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7C3D1A99-1767-4DDE-B415-58869B60C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13DBDDAA-9F39-4C80-9A70-38BEE7BC646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42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3FF2C66-689E-408B-8CA6-83DEB43E59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E03B50A-9881-4E05-876E-B12852AEB4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792F278-F2DD-4F95-A729-F676C922CE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CAB27DE8-D2B8-4528-B226-D57C81020CB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113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27D1825-EB12-4966-818B-9E8CB31F77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8B2AF0C-44B9-46D4-8F9B-E6C71C1030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7F1E2E4-B774-4995-85C9-ACF5795EF9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020FBC7C-15D3-4C3D-8CCB-C5F9F44B406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340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994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99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0DF3A0E-E4B2-4D44-8730-D2AE21DC22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56C5E3B-7C4B-4568-9799-2274F6C1F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F5355DB-74A7-4E85-810A-F905CA5FC9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0.</a:t>
            </a:r>
            <a:fld id="{B8AD8FC1-E834-4C5C-AF73-8DC62EE5F30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0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15373F9-93FD-4B80-9758-A6BE2CC8083D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153603" name="Freeform 3">
              <a:extLst>
                <a:ext uri="{FF2B5EF4-FFF2-40B4-BE49-F238E27FC236}">
                  <a16:creationId xmlns:a16="http://schemas.microsoft.com/office/drawing/2014/main" id="{507E97F2-0118-47F4-9269-9C4BE3A156D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53604" name="Freeform 4">
              <a:extLst>
                <a:ext uri="{FF2B5EF4-FFF2-40B4-BE49-F238E27FC236}">
                  <a16:creationId xmlns:a16="http://schemas.microsoft.com/office/drawing/2014/main" id="{CEEDF98A-DACF-4009-80E8-F321F05E5D9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53605" name="Freeform 5">
              <a:extLst>
                <a:ext uri="{FF2B5EF4-FFF2-40B4-BE49-F238E27FC236}">
                  <a16:creationId xmlns:a16="http://schemas.microsoft.com/office/drawing/2014/main" id="{A9250A28-49D7-4F0F-A661-0D4D1F68825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53606" name="Freeform 6">
              <a:extLst>
                <a:ext uri="{FF2B5EF4-FFF2-40B4-BE49-F238E27FC236}">
                  <a16:creationId xmlns:a16="http://schemas.microsoft.com/office/drawing/2014/main" id="{F7E2EA50-79BC-4E41-A3D2-EA227A4B039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52800FD8-4550-49B7-9565-D09A60B2E30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A3EB4133-A704-4D23-83AC-6A4E601A15E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56EBEF1E-BD6D-45FD-94D0-8C46273EEED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53610" name="Rectangle 10">
            <a:extLst>
              <a:ext uri="{FF2B5EF4-FFF2-40B4-BE49-F238E27FC236}">
                <a16:creationId xmlns:a16="http://schemas.microsoft.com/office/drawing/2014/main" id="{00BFC791-5DF5-42F5-AF9A-BF7096ED4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3611" name="Rectangle 11">
            <a:extLst>
              <a:ext uri="{FF2B5EF4-FFF2-40B4-BE49-F238E27FC236}">
                <a16:creationId xmlns:a16="http://schemas.microsoft.com/office/drawing/2014/main" id="{16889059-DFF2-4847-9AD7-857DF67E8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67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12" name="Rectangle 12">
            <a:extLst>
              <a:ext uri="{FF2B5EF4-FFF2-40B4-BE49-F238E27FC236}">
                <a16:creationId xmlns:a16="http://schemas.microsoft.com/office/drawing/2014/main" id="{F946632B-9399-4A29-9A24-0AEADF1A51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4775"/>
            <a:ext cx="2133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13" name="Rectangle 13">
            <a:extLst>
              <a:ext uri="{FF2B5EF4-FFF2-40B4-BE49-F238E27FC236}">
                <a16:creationId xmlns:a16="http://schemas.microsoft.com/office/drawing/2014/main" id="{140A36A5-C641-46A3-835B-4B4BF45342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05100" y="6454775"/>
            <a:ext cx="37322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Chapter 1</a:t>
            </a:r>
          </a:p>
        </p:txBody>
      </p:sp>
      <p:sp>
        <p:nvSpPr>
          <p:cNvPr id="153614" name="Rectangle 14">
            <a:extLst>
              <a:ext uri="{FF2B5EF4-FFF2-40B4-BE49-F238E27FC236}">
                <a16:creationId xmlns:a16="http://schemas.microsoft.com/office/drawing/2014/main" id="{94B6D39B-7560-418D-8CD4-49E601DCE0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4775"/>
            <a:ext cx="2133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/>
              <a:t>0.</a:t>
            </a:r>
            <a:fld id="{04301994-073E-467D-B1B5-A532BF5EA3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37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cthang@vnua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gcthang@gmail.com" TargetMode="External"/><Relationship Id="rId2" Type="http://schemas.openxmlformats.org/officeDocument/2006/relationships/hyperlink" Target="mailto:ncthang68@hot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cthang@vnua.edu.v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13">
            <a:extLst>
              <a:ext uri="{FF2B5EF4-FFF2-40B4-BE49-F238E27FC236}">
                <a16:creationId xmlns:a16="http://schemas.microsoft.com/office/drawing/2014/main" id="{58A3DE15-A55E-417B-B4CD-9085FD9ACF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914400"/>
            <a:ext cx="8839200" cy="1981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/>
              <a:t>THỰC HÀNH CẤU TRÚC DỮ LIỆU VÀ GIẢI THUẬT</a:t>
            </a:r>
            <a:br>
              <a:rPr lang="en-US" sz="3200" b="1"/>
            </a:br>
            <a:r>
              <a:rPr lang="en-US" sz="3200" b="1"/>
              <a:t>Practice for </a:t>
            </a:r>
            <a:r>
              <a:rPr lang="en-US" sz="2800" b="1"/>
              <a:t>Data Structure and Algorithms</a:t>
            </a:r>
            <a:br>
              <a:rPr lang="en-US" sz="3200" b="1"/>
            </a:br>
            <a:r>
              <a:rPr lang="en-US" sz="3200" b="1"/>
              <a:t>(TH02035)</a:t>
            </a: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0D7FF54C-DB9E-434A-9012-76466A8B07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71800"/>
            <a:ext cx="7086600" cy="35814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Ngô Công Thắng</a:t>
            </a:r>
            <a:b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Bộ môn Công nghệ phần mềm Khoa Công nghệ thông tin</a:t>
            </a:r>
          </a:p>
          <a:p>
            <a:pPr algn="l" eaLnBrk="1" hangingPunct="1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Website: dse.vnua.edu.vn/ncthang</a:t>
            </a:r>
          </a:p>
          <a:p>
            <a:pPr algn="l" eaLnBrk="1" hangingPunct="1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Email: </a:t>
            </a: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linkClick r:id="rId3"/>
              </a:rPr>
              <a:t>ncthang@vnua.edu.vn</a:t>
            </a:r>
            <a:endParaRPr lang="en-US">
              <a:solidFill>
                <a:srgbClr val="FFFF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l" eaLnBrk="1" hangingPunct="1">
              <a:defRPr/>
            </a:pPr>
            <a:r>
              <a:rPr lang="en-US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ĐT: 0912 817 498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901E-EB3D-42C9-8143-04F9D088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Liên hệ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BEDE4-4B19-4F4C-A4CA-B08B1E772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Nhắn tin, gọi qua MS Teams (ncthang@vnua.edu.vn)</a:t>
            </a:r>
          </a:p>
          <a:p>
            <a:pPr>
              <a:defRPr/>
            </a:pPr>
            <a:r>
              <a:rPr lang="en-US"/>
              <a:t>Skype: </a:t>
            </a:r>
            <a:r>
              <a:rPr lang="en-US">
                <a:hlinkClick r:id="rId2"/>
              </a:rPr>
              <a:t>ncthang68@hotmail.com</a:t>
            </a:r>
            <a:endParaRPr lang="en-US"/>
          </a:p>
          <a:p>
            <a:pPr>
              <a:defRPr/>
            </a:pPr>
            <a:r>
              <a:rPr lang="en-US"/>
              <a:t>Hangouts: </a:t>
            </a:r>
            <a:r>
              <a:rPr lang="en-US">
                <a:hlinkClick r:id="rId3"/>
              </a:rPr>
              <a:t>ngcthang@gmail.com</a:t>
            </a:r>
            <a:endParaRPr lang="en-US"/>
          </a:p>
          <a:p>
            <a:pPr>
              <a:defRPr/>
            </a:pPr>
            <a:r>
              <a:rPr lang="en-US"/>
              <a:t>Email: </a:t>
            </a:r>
            <a:r>
              <a:rPr lang="en-US">
                <a:hlinkClick r:id="rId4"/>
              </a:rPr>
              <a:t>ncthang@vnua.edu.vn</a:t>
            </a:r>
            <a:endParaRPr lang="en-US"/>
          </a:p>
          <a:p>
            <a:pPr>
              <a:defRPr/>
            </a:pPr>
            <a:r>
              <a:rPr lang="en-US"/>
              <a:t>Tin nhắn SMS</a:t>
            </a:r>
          </a:p>
          <a:p>
            <a:pPr>
              <a:defRPr/>
            </a:pPr>
            <a:r>
              <a:rPr lang="en-US"/>
              <a:t>Gọi điện trong trường hợp khẩn cấp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EAECE-3AB6-4C0A-8474-E5777B58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000"/>
              <a:t>0.</a:t>
            </a:r>
            <a:fld id="{ACC6BF8A-2FF0-4184-9EA4-BB7068D67B4F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</a:t>
            </a:fld>
            <a:endParaRPr lang="en-US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8D2CE0-887D-4EC5-AFF1-D055F5DE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000"/>
              <a:t>0.</a:t>
            </a:r>
            <a:fld id="{6090872A-D90A-4FDB-9BD4-3390563BE6BC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3</a:t>
            </a:fld>
            <a:endParaRPr lang="en-US" altLang="en-US" sz="1000"/>
          </a:p>
        </p:txBody>
      </p:sp>
      <p:sp>
        <p:nvSpPr>
          <p:cNvPr id="85000" name="Rectangle 8">
            <a:extLst>
              <a:ext uri="{FF2B5EF4-FFF2-40B4-BE49-F238E27FC236}">
                <a16:creationId xmlns:a16="http://schemas.microsoft.com/office/drawing/2014/main" id="{8445C63C-7116-49F4-9A5A-2C18A3ED3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Mục đích của môn học</a:t>
            </a:r>
          </a:p>
        </p:txBody>
      </p:sp>
      <p:sp>
        <p:nvSpPr>
          <p:cNvPr id="85001" name="Rectangle 9">
            <a:extLst>
              <a:ext uri="{FF2B5EF4-FFF2-40B4-BE49-F238E27FC236}">
                <a16:creationId xmlns:a16="http://schemas.microsoft.com/office/drawing/2014/main" id="{48AFA306-4190-4E2E-A77B-E5C1F61D0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Lập trình cài đặt các cấu trúc dữ liệu và giải thuật đã học trong học phần lý thuyết.</a:t>
            </a:r>
          </a:p>
          <a:p>
            <a:pPr eaLnBrk="1" hangingPunct="1">
              <a:defRPr/>
            </a:pPr>
            <a:r>
              <a:rPr lang="en-US"/>
              <a:t>Nâng cao kỹ năng lập trình.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72A7-A1D7-41B4-AA20-04405055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pPr>
              <a:defRPr/>
            </a:pPr>
            <a:r>
              <a:rPr lang="en-US"/>
              <a:t>Nội dung môn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DB8B-FCED-4B75-A12C-B75478E0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64175"/>
          </a:xfrm>
        </p:spPr>
        <p:txBody>
          <a:bodyPr/>
          <a:lstStyle/>
          <a:p>
            <a:pPr>
              <a:defRPr/>
            </a:pPr>
            <a:r>
              <a:rPr lang="en-US" sz="2800"/>
              <a:t>1) Lý thuyết chung</a:t>
            </a:r>
          </a:p>
          <a:p>
            <a:pPr>
              <a:defRPr/>
            </a:pPr>
            <a:r>
              <a:rPr lang="en-US" sz="2800"/>
              <a:t>2) Các cấu trúc dữ liệu</a:t>
            </a:r>
          </a:p>
          <a:p>
            <a:pPr lvl="1">
              <a:defRPr/>
            </a:pPr>
            <a:r>
              <a:rPr lang="en-US" sz="2400"/>
              <a:t>CTDL tuyến tính</a:t>
            </a:r>
          </a:p>
          <a:p>
            <a:pPr lvl="2">
              <a:defRPr/>
            </a:pPr>
            <a:r>
              <a:rPr lang="en-US" sz="2000"/>
              <a:t>Mảng</a:t>
            </a:r>
          </a:p>
          <a:p>
            <a:pPr lvl="2">
              <a:defRPr/>
            </a:pPr>
            <a:r>
              <a:rPr lang="en-US" sz="2000"/>
              <a:t>Danh sách</a:t>
            </a:r>
          </a:p>
          <a:p>
            <a:pPr lvl="3">
              <a:defRPr/>
            </a:pPr>
            <a:r>
              <a:rPr lang="en-US" sz="1800"/>
              <a:t>Ngăn xếp, Hàng đợi</a:t>
            </a:r>
          </a:p>
          <a:p>
            <a:pPr lvl="3">
              <a:defRPr/>
            </a:pPr>
            <a:r>
              <a:rPr lang="en-US" sz="1800"/>
              <a:t>DSLKD, DSLKK</a:t>
            </a:r>
          </a:p>
          <a:p>
            <a:pPr lvl="1">
              <a:defRPr/>
            </a:pPr>
            <a:r>
              <a:rPr lang="en-US" sz="2400"/>
              <a:t>CTDL phi tuyến</a:t>
            </a:r>
          </a:p>
          <a:p>
            <a:pPr lvl="2">
              <a:defRPr/>
            </a:pPr>
            <a:r>
              <a:rPr lang="en-US" sz="2000"/>
              <a:t>Cây</a:t>
            </a:r>
          </a:p>
          <a:p>
            <a:pPr lvl="2">
              <a:defRPr/>
            </a:pPr>
            <a:r>
              <a:rPr lang="en-US" sz="2000"/>
              <a:t>Đồ thị</a:t>
            </a:r>
          </a:p>
          <a:p>
            <a:pPr>
              <a:defRPr/>
            </a:pPr>
            <a:r>
              <a:rPr lang="en-US" sz="2800"/>
              <a:t>3) Các giải thuật</a:t>
            </a:r>
          </a:p>
          <a:p>
            <a:pPr lvl="1">
              <a:defRPr/>
            </a:pPr>
            <a:r>
              <a:rPr lang="en-US" sz="2400"/>
              <a:t>Sắp xếp: Đ</a:t>
            </a:r>
            <a:r>
              <a:rPr lang="vi-VN" sz="2400"/>
              <a:t>ơ</a:t>
            </a:r>
            <a:r>
              <a:rPr lang="en-US" sz="2400"/>
              <a:t>n giản và nâng cao</a:t>
            </a:r>
          </a:p>
          <a:p>
            <a:pPr lvl="1">
              <a:defRPr/>
            </a:pPr>
            <a:r>
              <a:rPr lang="en-US" sz="2400"/>
              <a:t>Tìm kiếm: Tuần tự và nhị phân (trên mảng và trên cây)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DCFCF-72CF-4721-9605-74022C14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0.</a:t>
            </a:r>
            <a:fld id="{CC83510A-DE3E-4099-84E5-D8595575131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167D5C-F3FA-41F6-A371-1400CBE6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000"/>
              <a:t>0.</a:t>
            </a:r>
            <a:fld id="{58ACD4C6-7997-4145-9F33-38E85D000980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5</a:t>
            </a:fld>
            <a:endParaRPr lang="en-US" altLang="en-US" sz="1000"/>
          </a:p>
        </p:txBody>
      </p:sp>
      <p:sp>
        <p:nvSpPr>
          <p:cNvPr id="142340" name="Rectangle 4">
            <a:extLst>
              <a:ext uri="{FF2B5EF4-FFF2-40B4-BE49-F238E27FC236}">
                <a16:creationId xmlns:a16="http://schemas.microsoft.com/office/drawing/2014/main" id="{7658968F-C00B-40EE-B364-9C9B82A78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Giáo trình và tài liệu tham khảo</a:t>
            </a:r>
          </a:p>
        </p:txBody>
      </p:sp>
      <p:sp>
        <p:nvSpPr>
          <p:cNvPr id="142341" name="Rectangle 5">
            <a:extLst>
              <a:ext uri="{FF2B5EF4-FFF2-40B4-BE49-F238E27FC236}">
                <a16:creationId xmlns:a16="http://schemas.microsoft.com/office/drawing/2014/main" id="{1D171D25-1E40-4D81-98A4-3BD12F6FB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 err="1"/>
              <a:t>Giáo</a:t>
            </a:r>
            <a:r>
              <a:rPr lang="en-US" sz="2800" dirty="0"/>
              <a:t> trình:</a:t>
            </a:r>
          </a:p>
          <a:p>
            <a:pPr lvl="1" eaLnBrk="1" hangingPunct="1">
              <a:defRPr/>
            </a:pPr>
            <a:r>
              <a:rPr lang="en-US" sz="2400" dirty="0" err="1">
                <a:effectLst/>
              </a:rPr>
              <a:t>Đỗ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Xuân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Lôi</a:t>
            </a:r>
            <a:r>
              <a:rPr lang="en-US" sz="2400" dirty="0">
                <a:effectLst/>
              </a:rPr>
              <a:t> (2009). </a:t>
            </a:r>
            <a:r>
              <a:rPr lang="en-US" sz="2400" i="1" dirty="0">
                <a:effectLst/>
              </a:rPr>
              <a:t>Cấu </a:t>
            </a:r>
            <a:r>
              <a:rPr lang="en-US" sz="2400" i="1" dirty="0" err="1">
                <a:effectLst/>
              </a:rPr>
              <a:t>trúc</a:t>
            </a:r>
            <a:r>
              <a:rPr lang="en-US" sz="2400" i="1" dirty="0">
                <a:effectLst/>
              </a:rPr>
              <a:t> dữ liệu và </a:t>
            </a:r>
            <a:r>
              <a:rPr lang="en-US" sz="2400" i="1" dirty="0" err="1">
                <a:effectLst/>
              </a:rPr>
              <a:t>giải</a:t>
            </a:r>
            <a:r>
              <a:rPr lang="en-US" sz="2400" i="1" dirty="0">
                <a:effectLst/>
              </a:rPr>
              <a:t> thuật</a:t>
            </a:r>
            <a:r>
              <a:rPr lang="en-US" sz="2400" dirty="0">
                <a:effectLst/>
              </a:rPr>
              <a:t>. NXB Đại học </a:t>
            </a:r>
            <a:r>
              <a:rPr lang="en-US" sz="2400" dirty="0" err="1">
                <a:effectLst/>
              </a:rPr>
              <a:t>Quốc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gia</a:t>
            </a:r>
            <a:r>
              <a:rPr lang="en-US" sz="2400" dirty="0">
                <a:effectLst/>
              </a:rPr>
              <a:t> Hà Nội.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400"/>
              <a:t>Bài giảng: trong thư mục Class Materials trên Teams</a:t>
            </a:r>
            <a:endParaRPr lang="en-US" sz="2400" dirty="0"/>
          </a:p>
          <a:p>
            <a:pPr eaLnBrk="1" hangingPunct="1">
              <a:defRPr/>
            </a:pPr>
            <a:r>
              <a:rPr lang="en-US" sz="2800" dirty="0"/>
              <a:t>Tài liệu tham khảo:</a:t>
            </a:r>
          </a:p>
          <a:p>
            <a:pPr lvl="1" eaLnBrk="1" hangingPunct="1">
              <a:defRPr/>
            </a:pPr>
            <a:r>
              <a:rPr lang="en-US" sz="2400" dirty="0" err="1">
                <a:effectLst/>
              </a:rPr>
              <a:t>Nguyễn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Đức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Nghĩa</a:t>
            </a:r>
            <a:r>
              <a:rPr lang="en-US" sz="2400" dirty="0">
                <a:effectLst/>
              </a:rPr>
              <a:t> (2013). </a:t>
            </a:r>
            <a:r>
              <a:rPr lang="en-US" sz="2400" i="1" dirty="0">
                <a:effectLst/>
              </a:rPr>
              <a:t>Cấu </a:t>
            </a:r>
            <a:r>
              <a:rPr lang="en-US" sz="2400" i="1" dirty="0" err="1">
                <a:effectLst/>
              </a:rPr>
              <a:t>trúc</a:t>
            </a:r>
            <a:r>
              <a:rPr lang="en-US" sz="2400" i="1" dirty="0">
                <a:effectLst/>
              </a:rPr>
              <a:t> dữ liệu và thuật toán</a:t>
            </a:r>
            <a:r>
              <a:rPr lang="en-US" sz="2400" dirty="0">
                <a:effectLst/>
              </a:rPr>
              <a:t>. NXB </a:t>
            </a:r>
            <a:r>
              <a:rPr lang="en-US" sz="2400" dirty="0" err="1">
                <a:effectLst/>
              </a:rPr>
              <a:t>Bách</a:t>
            </a:r>
            <a:r>
              <a:rPr lang="en-US" sz="2400" dirty="0">
                <a:effectLst/>
              </a:rPr>
              <a:t> khoa Hà Nội.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400" dirty="0">
                <a:effectLst/>
              </a:rPr>
              <a:t>Narasimha </a:t>
            </a:r>
            <a:r>
              <a:rPr lang="en-US" sz="2400" dirty="0" err="1">
                <a:effectLst/>
              </a:rPr>
              <a:t>Karumanchi</a:t>
            </a:r>
            <a:r>
              <a:rPr lang="en-US" sz="2400" dirty="0">
                <a:effectLst/>
              </a:rPr>
              <a:t> (2016). </a:t>
            </a:r>
            <a:r>
              <a:rPr lang="en-US" sz="2400" i="1" dirty="0">
                <a:effectLst/>
              </a:rPr>
              <a:t>Data Structures and Algorithms Made Easy: Data Structures and Algorithmic Puzzles</a:t>
            </a:r>
            <a:r>
              <a:rPr lang="en-US" sz="2400" dirty="0">
                <a:effectLst/>
              </a:rPr>
              <a:t>, Fifth Edition. Publisher: </a:t>
            </a:r>
            <a:r>
              <a:rPr lang="en-US" sz="2400" dirty="0" err="1">
                <a:effectLst/>
              </a:rPr>
              <a:t>CareerMonk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Plublications</a:t>
            </a:r>
            <a:r>
              <a:rPr lang="en-US" sz="2400" dirty="0">
                <a:effectLst/>
              </a:rPr>
              <a:t>.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744DCC-3DF4-4EC7-A867-1088E2A5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000"/>
              <a:t>0.</a:t>
            </a:r>
            <a:fld id="{230218EC-6A41-4056-A76E-50279DE044DA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6</a:t>
            </a:fld>
            <a:endParaRPr lang="en-US" altLang="en-US" sz="1000"/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12A83E95-4F0B-44F3-962C-D1AF7AC74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Hình thức học và kiểm tra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79D4A886-71DE-411A-ABBC-027FC261D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295400"/>
            <a:ext cx="8915400" cy="52847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/>
              <a:t>: 15 tiết (30 tiết trên phòng máy, 6 buổi)</a:t>
            </a:r>
            <a:endParaRPr lang="en-US" dirty="0"/>
          </a:p>
          <a:p>
            <a:pPr eaLnBrk="1" hangingPunct="1">
              <a:defRPr/>
            </a:pP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:</a:t>
            </a:r>
          </a:p>
          <a:p>
            <a:pPr lvl="1" eaLnBrk="1" hangingPunct="1">
              <a:defRPr/>
            </a:pPr>
            <a:r>
              <a:rPr lang="en-US"/>
              <a:t>Vận dụng kỹ thuật lập trình để cài đặt các cấu trúc dữ liệu và giải thuật </a:t>
            </a:r>
            <a:r>
              <a:rPr lang="en-US">
                <a:solidFill>
                  <a:srgbClr val="FFC000"/>
                </a:solidFill>
              </a:rPr>
              <a:t>theo đúng lý thuyết</a:t>
            </a:r>
            <a:r>
              <a:rPr lang="en-US"/>
              <a:t> đã học.</a:t>
            </a:r>
            <a:endParaRPr lang="en-US" dirty="0"/>
          </a:p>
          <a:p>
            <a:pPr lvl="1" eaLnBrk="1" hangingPunct="1">
              <a:defRPr/>
            </a:pPr>
            <a:r>
              <a:rPr lang="en-US"/>
              <a:t>Tự lập trình thêm ở nhà.</a:t>
            </a:r>
            <a:endParaRPr lang="en-US" dirty="0"/>
          </a:p>
          <a:p>
            <a:pPr eaLnBrk="1" hangingPunct="1">
              <a:defRPr/>
            </a:pP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:</a:t>
            </a:r>
          </a:p>
          <a:p>
            <a:pPr lvl="1" eaLnBrk="1" hangingPunct="1">
              <a:defRPr/>
            </a:pPr>
            <a:r>
              <a:rPr lang="en-US"/>
              <a:t>C.Cần: Dự lớp, ý thức làm bài tập, đóng góp</a:t>
            </a:r>
          </a:p>
          <a:p>
            <a:pPr lvl="1" eaLnBrk="1" hangingPunct="1">
              <a:defRPr/>
            </a:pPr>
            <a:r>
              <a:rPr lang="en-US"/>
              <a:t>Kiểm </a:t>
            </a:r>
            <a:r>
              <a:rPr lang="en-US" dirty="0" err="1"/>
              <a:t>tra</a:t>
            </a:r>
            <a:r>
              <a:rPr lang="en-US" dirty="0"/>
              <a:t>: </a:t>
            </a:r>
            <a:r>
              <a:rPr lang="en-US"/>
              <a:t>01 bài kiểm tra lập trình kết thúc MH</a:t>
            </a:r>
          </a:p>
          <a:p>
            <a:pPr lvl="1" eaLnBrk="1" hangingPunct="1">
              <a:defRPr/>
            </a:pPr>
            <a:r>
              <a:rPr lang="en-US"/>
              <a:t>Điểm MH = 0,1xC.Cần + 0,9xK.Tra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95CE-FA33-45E6-B1A5-A6F8753F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Cài đặt cấu trúc dữ liệu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46642-971A-49C8-B166-66D784DC7A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7B52D-713E-4943-91C1-5CF137C9C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giảng Cấu trúc dữ liệu và giải thuật 2 -  Chương 01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BDB3-B0E2-49D1-B636-3303D5E2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1.</a:t>
            </a:r>
            <a:fld id="{6F96B8F5-FA25-4105-B03F-F392023E1584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34822" name="TextBox 7">
            <a:extLst>
              <a:ext uri="{FF2B5EF4-FFF2-40B4-BE49-F238E27FC236}">
                <a16:creationId xmlns:a16="http://schemas.microsoft.com/office/drawing/2014/main" id="{945BE2EA-DB25-43A9-BCB7-E04395AB4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45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Cấu trúc dữ liệu + Giải thuật = Chương trình</a:t>
            </a:r>
          </a:p>
        </p:txBody>
      </p:sp>
      <p:sp>
        <p:nvSpPr>
          <p:cNvPr id="34823" name="TextBox 10">
            <a:extLst>
              <a:ext uri="{FF2B5EF4-FFF2-40B4-BE49-F238E27FC236}">
                <a16:creationId xmlns:a16="http://schemas.microsoft.com/office/drawing/2014/main" id="{D04EE0E7-EAFD-4EB2-80FC-BFA22EA41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2500313"/>
            <a:ext cx="3078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Cấu trúc lưu trữ</a:t>
            </a:r>
          </a:p>
        </p:txBody>
      </p:sp>
      <p:cxnSp>
        <p:nvCxnSpPr>
          <p:cNvPr id="34824" name="Straight Connector 15">
            <a:extLst>
              <a:ext uri="{FF2B5EF4-FFF2-40B4-BE49-F238E27FC236}">
                <a16:creationId xmlns:a16="http://schemas.microsoft.com/office/drawing/2014/main" id="{74F6045C-7E05-4EA6-9D1F-2C0552239D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57363" y="2184400"/>
            <a:ext cx="0" cy="4048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5" name="Straight Connector 16">
            <a:extLst>
              <a:ext uri="{FF2B5EF4-FFF2-40B4-BE49-F238E27FC236}">
                <a16:creationId xmlns:a16="http://schemas.microsoft.com/office/drawing/2014/main" id="{696D8CE2-FEB5-4BD6-A8AC-14C6DC6348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11350" y="2184400"/>
            <a:ext cx="0" cy="4048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26" name="TextBox 17">
            <a:extLst>
              <a:ext uri="{FF2B5EF4-FFF2-40B4-BE49-F238E27FC236}">
                <a16:creationId xmlns:a16="http://schemas.microsoft.com/office/drawing/2014/main" id="{B999130E-8C1C-47E9-96E9-F7E1B6121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2500313"/>
            <a:ext cx="2052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Phép toán</a:t>
            </a:r>
          </a:p>
        </p:txBody>
      </p:sp>
      <p:cxnSp>
        <p:nvCxnSpPr>
          <p:cNvPr id="34827" name="Straight Connector 18">
            <a:extLst>
              <a:ext uri="{FF2B5EF4-FFF2-40B4-BE49-F238E27FC236}">
                <a16:creationId xmlns:a16="http://schemas.microsoft.com/office/drawing/2014/main" id="{20E61769-1AED-4C9A-8720-4BA89BAE81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05350" y="2184400"/>
            <a:ext cx="0" cy="4048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8" name="Straight Connector 19">
            <a:extLst>
              <a:ext uri="{FF2B5EF4-FFF2-40B4-BE49-F238E27FC236}">
                <a16:creationId xmlns:a16="http://schemas.microsoft.com/office/drawing/2014/main" id="{1CD1421D-3FFB-4C51-B28C-FEE4EF01D3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9338" y="2184400"/>
            <a:ext cx="0" cy="4048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C2E67A-4DD4-41D5-863B-1FB654E76562}"/>
              </a:ext>
            </a:extLst>
          </p:cNvPr>
          <p:cNvCxnSpPr/>
          <p:nvPr/>
        </p:nvCxnSpPr>
        <p:spPr bwMode="auto">
          <a:xfrm flipH="1" flipV="1">
            <a:off x="5907088" y="2003425"/>
            <a:ext cx="863600" cy="14255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830" name="TextBox 22">
            <a:extLst>
              <a:ext uri="{FF2B5EF4-FFF2-40B4-BE49-F238E27FC236}">
                <a16:creationId xmlns:a16="http://schemas.microsoft.com/office/drawing/2014/main" id="{AD96300C-582F-4908-8513-3A1F8B500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3443288"/>
            <a:ext cx="34845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Cài đặt (Lập trình)</a:t>
            </a:r>
          </a:p>
        </p:txBody>
      </p:sp>
      <p:sp>
        <p:nvSpPr>
          <p:cNvPr id="34831" name="TextBox 23">
            <a:extLst>
              <a:ext uri="{FF2B5EF4-FFF2-40B4-BE49-F238E27FC236}">
                <a16:creationId xmlns:a16="http://schemas.microsoft.com/office/drawing/2014/main" id="{D03195BF-03BD-4A98-A895-BD6EF3A41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4210050"/>
            <a:ext cx="8456612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AutoNum type="arabicParenR"/>
            </a:pPr>
            <a:r>
              <a:rPr lang="en-US" altLang="en-US"/>
              <a:t>Cài đặt cấu trúc lưu trữ: Khai báo biến và khởi tạo giá trị ban đầu cho biến (nếu cần)</a:t>
            </a:r>
          </a:p>
          <a:p>
            <a:pPr>
              <a:spcBef>
                <a:spcPct val="0"/>
              </a:spcBef>
              <a:buClrTx/>
              <a:buSzTx/>
              <a:buFontTx/>
              <a:buAutoNum type="arabicParenR"/>
            </a:pPr>
            <a:r>
              <a:rPr lang="en-US" altLang="en-US"/>
              <a:t>Cài đặt phép toán: Khai báo và định nghĩa hàm, mỗi hàm là một phép toán</a:t>
            </a:r>
          </a:p>
        </p:txBody>
      </p:sp>
      <p:sp>
        <p:nvSpPr>
          <p:cNvPr id="34832" name="TextBox 2">
            <a:extLst>
              <a:ext uri="{FF2B5EF4-FFF2-40B4-BE49-F238E27FC236}">
                <a16:creationId xmlns:a16="http://schemas.microsoft.com/office/drawing/2014/main" id="{35CA6DCB-874F-4FEA-A35D-5299D5B4B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05138"/>
            <a:ext cx="64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(1)</a:t>
            </a:r>
          </a:p>
        </p:txBody>
      </p:sp>
      <p:sp>
        <p:nvSpPr>
          <p:cNvPr id="34833" name="TextBox 16">
            <a:extLst>
              <a:ext uri="{FF2B5EF4-FFF2-40B4-BE49-F238E27FC236}">
                <a16:creationId xmlns:a16="http://schemas.microsoft.com/office/drawing/2014/main" id="{41E35F0A-6818-4825-8A00-C3053D8D4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3005138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(2)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rbit">
  <a:themeElements>
    <a:clrScheme name="1_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1_Orbi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10607</TotalTime>
  <Words>551</Words>
  <Application>Microsoft Office PowerPoint</Application>
  <PresentationFormat>On-screen Show (4:3)</PresentationFormat>
  <Paragraphs>70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  <vt:variant>
        <vt:lpstr>Custom Shows</vt:lpstr>
      </vt:variant>
      <vt:variant>
        <vt:i4>1</vt:i4>
      </vt:variant>
    </vt:vector>
  </HeadingPairs>
  <TitlesOfParts>
    <vt:vector size="12" baseType="lpstr">
      <vt:lpstr>Arial</vt:lpstr>
      <vt:lpstr>Times New Roman</vt:lpstr>
      <vt:lpstr>Wingdings</vt:lpstr>
      <vt:lpstr>1_Orbit</vt:lpstr>
      <vt:lpstr>THỰC HÀNH CẤU TRÚC DỮ LIỆU VÀ GIẢI THUẬT Practice for Data Structure and Algorithms (TH02035)</vt:lpstr>
      <vt:lpstr>Liên hệ</vt:lpstr>
      <vt:lpstr>Mục đích của môn học</vt:lpstr>
      <vt:lpstr>Nội dung môn học</vt:lpstr>
      <vt:lpstr>Giáo trình và tài liệu tham khảo</vt:lpstr>
      <vt:lpstr>Hình thức học và kiểm tra</vt:lpstr>
      <vt:lpstr>Cài đặt cấu trúc dữ liệu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Java</dc:title>
  <dc:creator>Y. Daniel Liang</dc:creator>
  <cp:lastModifiedBy>Ngô Công Thắng</cp:lastModifiedBy>
  <cp:revision>190</cp:revision>
  <cp:lastPrinted>2019-04-01T15:05:39Z</cp:lastPrinted>
  <dcterms:created xsi:type="dcterms:W3CDTF">1995-06-10T17:31:50Z</dcterms:created>
  <dcterms:modified xsi:type="dcterms:W3CDTF">2022-01-08T05:52:23Z</dcterms:modified>
</cp:coreProperties>
</file>