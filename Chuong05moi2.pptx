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8" r:id="rId2"/>
    <p:sldId id="409" r:id="rId3"/>
    <p:sldId id="410" r:id="rId4"/>
    <p:sldId id="411" r:id="rId5"/>
    <p:sldId id="412" r:id="rId6"/>
    <p:sldId id="413" r:id="rId7"/>
    <p:sldId id="414" r:id="rId8"/>
    <p:sldId id="415" r:id="rId9"/>
    <p:sldId id="416" r:id="rId10"/>
    <p:sldId id="417" r:id="rId11"/>
    <p:sldId id="418" r:id="rId12"/>
    <p:sldId id="419" r:id="rId13"/>
    <p:sldId id="420" r:id="rId14"/>
    <p:sldId id="421" r:id="rId15"/>
    <p:sldId id="422" r:id="rId16"/>
    <p:sldId id="423" r:id="rId17"/>
    <p:sldId id="424" r:id="rId18"/>
    <p:sldId id="425" r:id="rId19"/>
    <p:sldId id="426" r:id="rId20"/>
    <p:sldId id="428" r:id="rId21"/>
    <p:sldId id="429" r:id="rId22"/>
    <p:sldId id="430" r:id="rId23"/>
    <p:sldId id="431" r:id="rId24"/>
    <p:sldId id="432" r:id="rId25"/>
    <p:sldId id="433" r:id="rId26"/>
    <p:sldId id="434" r:id="rId27"/>
    <p:sldId id="427" r:id="rId28"/>
    <p:sldId id="481" r:id="rId29"/>
    <p:sldId id="436" r:id="rId30"/>
    <p:sldId id="437" r:id="rId31"/>
    <p:sldId id="438" r:id="rId32"/>
    <p:sldId id="439" r:id="rId33"/>
    <p:sldId id="440" r:id="rId34"/>
    <p:sldId id="441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  <a:srgbClr val="FF0000"/>
    <a:srgbClr val="3333FF"/>
    <a:srgbClr val="FF3300"/>
    <a:srgbClr val="66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664" autoAdjust="0"/>
  </p:normalViewPr>
  <p:slideViewPr>
    <p:cSldViewPr>
      <p:cViewPr varScale="1">
        <p:scale>
          <a:sx n="59" d="100"/>
          <a:sy n="59" d="100"/>
        </p:scale>
        <p:origin x="14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9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D84394-85FC-4609-A229-888FDAF00F2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6692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B176DF-37B8-4B7E-B316-A6E3C7D212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1872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53FF2B-B9D5-4A47-BE25-88CB9F5D58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7367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603935-921C-468A-83B9-3F4E7E8279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860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DEB69C-0595-455E-A5CF-5012479B65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5281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03BAB0-CA90-4A91-B948-F94EA87392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6344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D1857E-094D-402C-BAAB-D06D86EDD6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8956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05B887-2FE9-468D-834A-97758928FB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0121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BAE8E8-1EAB-4F6A-9FAC-E89441FF97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644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5C6F68-0643-4D08-A283-67CB25E8CB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9736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943CDA-06BE-43C7-8102-E046BE2338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4377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F2095CE6-A7AF-4680-90DD-6D569C5EC3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6820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65994D4-86A9-47F8-9D4C-E604B654A28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en-US" sz="2800" b="1" dirty="0" err="1">
                <a:solidFill>
                  <a:srgbClr val="6600FF"/>
                </a:solidFill>
              </a:rPr>
              <a:t>Chương</a:t>
            </a:r>
            <a:r>
              <a:rPr lang="en-US" altLang="en-US" sz="2800" b="1" dirty="0">
                <a:solidFill>
                  <a:srgbClr val="6600FF"/>
                </a:solidFill>
              </a:rPr>
              <a:t> 5: </a:t>
            </a:r>
            <a:r>
              <a:rPr lang="en-US" altLang="en-US" sz="2800" b="1" dirty="0" err="1">
                <a:solidFill>
                  <a:srgbClr val="6600FF"/>
                </a:solidFill>
              </a:rPr>
              <a:t>Đồ</a:t>
            </a:r>
            <a:r>
              <a:rPr lang="en-US" altLang="en-US" sz="2800" b="1" dirty="0">
                <a:solidFill>
                  <a:srgbClr val="6600FF"/>
                </a:solidFill>
              </a:rPr>
              <a:t> </a:t>
            </a:r>
            <a:r>
              <a:rPr lang="en-US" altLang="en-US" sz="2800" b="1" dirty="0" err="1">
                <a:solidFill>
                  <a:srgbClr val="6600FF"/>
                </a:solidFill>
              </a:rPr>
              <a:t>thị</a:t>
            </a:r>
            <a:endParaRPr lang="en-US" altLang="en-US" sz="2800" b="1" dirty="0">
              <a:solidFill>
                <a:srgbClr val="6600FF"/>
              </a:solidFill>
            </a:endParaRPr>
          </a:p>
          <a:p>
            <a:pPr>
              <a:buFontTx/>
              <a:buNone/>
            </a:pPr>
            <a:r>
              <a:rPr lang="en-US" altLang="en-US" sz="2800" b="1" dirty="0">
                <a:solidFill>
                  <a:srgbClr val="6600FF"/>
                </a:solidFill>
              </a:rPr>
              <a:t>1. </a:t>
            </a:r>
            <a:r>
              <a:rPr lang="en-US" altLang="en-US" sz="2800" b="1" dirty="0" err="1">
                <a:solidFill>
                  <a:srgbClr val="6600FF"/>
                </a:solidFill>
              </a:rPr>
              <a:t>Các</a:t>
            </a:r>
            <a:r>
              <a:rPr lang="en-US" altLang="en-US" sz="2800" b="1" dirty="0">
                <a:solidFill>
                  <a:srgbClr val="6600FF"/>
                </a:solidFill>
              </a:rPr>
              <a:t> </a:t>
            </a:r>
            <a:r>
              <a:rPr lang="en-US" altLang="en-US" sz="2800" b="1" dirty="0" err="1">
                <a:solidFill>
                  <a:srgbClr val="6600FF"/>
                </a:solidFill>
              </a:rPr>
              <a:t>khái</a:t>
            </a:r>
            <a:r>
              <a:rPr lang="en-US" altLang="en-US" sz="2800" b="1" dirty="0">
                <a:solidFill>
                  <a:srgbClr val="6600FF"/>
                </a:solidFill>
              </a:rPr>
              <a:t> </a:t>
            </a:r>
            <a:r>
              <a:rPr lang="en-US" altLang="en-US" sz="2800" b="1" dirty="0" err="1">
                <a:solidFill>
                  <a:srgbClr val="6600FF"/>
                </a:solidFill>
              </a:rPr>
              <a:t>niệm</a:t>
            </a:r>
            <a:r>
              <a:rPr lang="en-US" altLang="en-US" sz="2800" b="1" dirty="0">
                <a:solidFill>
                  <a:srgbClr val="6600FF"/>
                </a:solidFill>
              </a:rPr>
              <a:t> 	</a:t>
            </a:r>
          </a:p>
          <a:p>
            <a:pPr>
              <a:buFontTx/>
              <a:buNone/>
            </a:pPr>
            <a:r>
              <a:rPr lang="en-US" altLang="en-US" sz="2800" b="1" dirty="0">
                <a:solidFill>
                  <a:srgbClr val="6600FF"/>
                </a:solidFill>
              </a:rPr>
              <a:t>1.1. </a:t>
            </a:r>
            <a:r>
              <a:rPr lang="en-US" altLang="en-US" sz="2800" b="1" dirty="0" err="1">
                <a:solidFill>
                  <a:srgbClr val="6600FF"/>
                </a:solidFill>
              </a:rPr>
              <a:t>Định</a:t>
            </a:r>
            <a:r>
              <a:rPr lang="en-US" altLang="en-US" sz="2800" b="1" dirty="0">
                <a:solidFill>
                  <a:srgbClr val="6600FF"/>
                </a:solidFill>
              </a:rPr>
              <a:t> </a:t>
            </a:r>
            <a:r>
              <a:rPr lang="en-US" altLang="en-US" sz="2800" b="1" dirty="0" err="1">
                <a:solidFill>
                  <a:srgbClr val="6600FF"/>
                </a:solidFill>
              </a:rPr>
              <a:t>nghĩa</a:t>
            </a:r>
            <a:r>
              <a:rPr lang="en-US" altLang="en-US" sz="2800" b="1" dirty="0">
                <a:solidFill>
                  <a:srgbClr val="6600FF"/>
                </a:solidFill>
              </a:rPr>
              <a:t> </a:t>
            </a:r>
            <a:r>
              <a:rPr lang="en-US" altLang="en-US" sz="2800" b="1" dirty="0" err="1">
                <a:solidFill>
                  <a:srgbClr val="6600FF"/>
                </a:solidFill>
              </a:rPr>
              <a:t>đồ</a:t>
            </a:r>
            <a:r>
              <a:rPr lang="en-US" altLang="en-US" sz="2800" b="1" dirty="0">
                <a:solidFill>
                  <a:srgbClr val="6600FF"/>
                </a:solidFill>
              </a:rPr>
              <a:t> </a:t>
            </a:r>
            <a:r>
              <a:rPr lang="en-US" altLang="en-US" sz="2800" b="1" dirty="0" err="1">
                <a:solidFill>
                  <a:srgbClr val="6600FF"/>
                </a:solidFill>
              </a:rPr>
              <a:t>thị</a:t>
            </a:r>
            <a:endParaRPr lang="en-US" altLang="en-US" sz="2800" b="1" dirty="0">
              <a:solidFill>
                <a:srgbClr val="6600FF"/>
              </a:solidFill>
            </a:endParaRPr>
          </a:p>
          <a:p>
            <a:pPr>
              <a:buFontTx/>
              <a:buNone/>
            </a:pPr>
            <a:r>
              <a:rPr lang="en-US" altLang="en-US" sz="2800" dirty="0"/>
              <a:t> </a:t>
            </a:r>
            <a:r>
              <a:rPr lang="en-US" altLang="en-US" sz="2800" dirty="0" err="1"/>
              <a:t>Đồ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thị</a:t>
            </a:r>
            <a:r>
              <a:rPr lang="en-US" altLang="en-US" sz="2800" dirty="0"/>
              <a:t> G(V,E) bao </a:t>
            </a:r>
            <a:r>
              <a:rPr lang="en-US" altLang="en-US" sz="2800" dirty="0" err="1"/>
              <a:t>gồm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hữu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hạn</a:t>
            </a:r>
            <a:r>
              <a:rPr lang="en-US" altLang="en-US" sz="2800" dirty="0"/>
              <a:t> V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đỉnh</a:t>
            </a:r>
            <a:r>
              <a:rPr lang="en-US" altLang="en-US" sz="2800" dirty="0"/>
              <a:t> (hay </a:t>
            </a:r>
            <a:r>
              <a:rPr lang="en-US" altLang="en-US" sz="2800" dirty="0" err="1"/>
              <a:t>nút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err="1"/>
              <a:t>tập</a:t>
            </a:r>
            <a:r>
              <a:rPr lang="en-US" altLang="en-US" sz="2800"/>
              <a:t> hữu </a:t>
            </a:r>
            <a:r>
              <a:rPr lang="en-US" altLang="en-US" sz="2800" dirty="0" err="1"/>
              <a:t>hạn</a:t>
            </a:r>
            <a:r>
              <a:rPr lang="en-US" altLang="en-US" sz="2800" dirty="0"/>
              <a:t> E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cặp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đỉnh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mà</a:t>
            </a:r>
            <a:r>
              <a:rPr lang="en-US" altLang="en-US" sz="2800" dirty="0"/>
              <a:t> ta </a:t>
            </a:r>
            <a:r>
              <a:rPr lang="en-US" altLang="en-US" sz="2800" dirty="0" err="1"/>
              <a:t>gọi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cung</a:t>
            </a:r>
            <a:r>
              <a:rPr lang="en-US" altLang="en-US" sz="2800" dirty="0"/>
              <a:t> ( hay </a:t>
            </a:r>
            <a:r>
              <a:rPr lang="en-US" altLang="en-US" sz="2800" dirty="0" err="1"/>
              <a:t>cạnh</a:t>
            </a:r>
            <a:r>
              <a:rPr lang="en-US" altLang="en-US" sz="2800" dirty="0"/>
              <a:t>).</a:t>
            </a:r>
          </a:p>
          <a:p>
            <a:pPr>
              <a:buFontTx/>
              <a:buNone/>
            </a:pPr>
            <a:r>
              <a:rPr lang="en-US" altLang="en-US" sz="2800" dirty="0"/>
              <a:t> </a:t>
            </a:r>
            <a:r>
              <a:rPr lang="en-US" altLang="en-US" sz="2800" dirty="0" err="1"/>
              <a:t>Ví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</a:t>
            </a:r>
            <a:r>
              <a:rPr lang="en-US" altLang="en-US" sz="2800" dirty="0"/>
              <a:t> 1: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gồm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máy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kênh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điện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thoại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máy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đồ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thị</a:t>
            </a:r>
            <a:r>
              <a:rPr lang="en-US" altLang="en-US" sz="2800" dirty="0"/>
              <a:t>. </a:t>
            </a:r>
          </a:p>
          <a:p>
            <a:pPr>
              <a:buFontTx/>
              <a:buNone/>
            </a:pPr>
            <a:r>
              <a:rPr lang="en-US" altLang="en-US" sz="2800" dirty="0"/>
              <a:t> </a:t>
            </a:r>
            <a:r>
              <a:rPr lang="en-US" altLang="en-US" sz="2800" dirty="0" err="1"/>
              <a:t>Ví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</a:t>
            </a:r>
            <a:r>
              <a:rPr lang="en-US" altLang="en-US" sz="2800" dirty="0"/>
              <a:t> 2: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gồm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phố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phố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xã</a:t>
            </a:r>
            <a:r>
              <a:rPr lang="en-US" altLang="en-US" sz="2800" dirty="0"/>
              <a:t> 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đồ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thị</a:t>
            </a:r>
            <a:r>
              <a:rPr lang="en-US" altLang="en-US" sz="2800" dirty="0"/>
              <a:t>.</a:t>
            </a:r>
          </a:p>
          <a:p>
            <a:pPr>
              <a:buFontTx/>
              <a:buNone/>
            </a:pPr>
            <a:r>
              <a:rPr lang="en-US" altLang="en-US" sz="2800" dirty="0">
                <a:solidFill>
                  <a:srgbClr val="6600FF"/>
                </a:solidFill>
              </a:rPr>
              <a:t>1.2. </a:t>
            </a:r>
            <a:r>
              <a:rPr lang="en-US" altLang="en-US" sz="2800" dirty="0" err="1">
                <a:solidFill>
                  <a:srgbClr val="6600FF"/>
                </a:solidFill>
              </a:rPr>
              <a:t>Định</a:t>
            </a:r>
            <a:r>
              <a:rPr lang="en-US" altLang="en-US" sz="2800" dirty="0">
                <a:solidFill>
                  <a:srgbClr val="6600FF"/>
                </a:solidFill>
              </a:rPr>
              <a:t> </a:t>
            </a:r>
            <a:r>
              <a:rPr lang="en-US" altLang="en-US" sz="2800" dirty="0" err="1">
                <a:solidFill>
                  <a:srgbClr val="6600FF"/>
                </a:solidFill>
              </a:rPr>
              <a:t>nghĩa</a:t>
            </a:r>
            <a:r>
              <a:rPr lang="en-US" altLang="en-US" sz="2800" dirty="0">
                <a:solidFill>
                  <a:srgbClr val="6600FF"/>
                </a:solidFill>
              </a:rPr>
              <a:t> </a:t>
            </a:r>
            <a:r>
              <a:rPr lang="en-US" altLang="en-US" sz="2800" dirty="0" err="1">
                <a:solidFill>
                  <a:srgbClr val="6600FF"/>
                </a:solidFill>
              </a:rPr>
              <a:t>đồ</a:t>
            </a:r>
            <a:r>
              <a:rPr lang="en-US" altLang="en-US" sz="2800" dirty="0">
                <a:solidFill>
                  <a:srgbClr val="6600FF"/>
                </a:solidFill>
              </a:rPr>
              <a:t> </a:t>
            </a:r>
            <a:r>
              <a:rPr lang="en-US" altLang="en-US" sz="2800" dirty="0" err="1">
                <a:solidFill>
                  <a:srgbClr val="6600FF"/>
                </a:solidFill>
              </a:rPr>
              <a:t>thị</a:t>
            </a:r>
            <a:r>
              <a:rPr lang="en-US" altLang="en-US" sz="2800" dirty="0">
                <a:solidFill>
                  <a:srgbClr val="6600FF"/>
                </a:solidFill>
              </a:rPr>
              <a:t> </a:t>
            </a:r>
            <a:r>
              <a:rPr lang="en-US" altLang="en-US" sz="2800" dirty="0" err="1">
                <a:solidFill>
                  <a:srgbClr val="6600FF"/>
                </a:solidFill>
              </a:rPr>
              <a:t>vô</a:t>
            </a:r>
            <a:r>
              <a:rPr lang="en-US" altLang="en-US" sz="2800" dirty="0">
                <a:solidFill>
                  <a:srgbClr val="6600FF"/>
                </a:solidFill>
              </a:rPr>
              <a:t> </a:t>
            </a:r>
            <a:r>
              <a:rPr lang="en-US" altLang="en-US" sz="2800" dirty="0" err="1">
                <a:solidFill>
                  <a:srgbClr val="6600FF"/>
                </a:solidFill>
              </a:rPr>
              <a:t>hướng</a:t>
            </a:r>
            <a:endParaRPr lang="en-US" altLang="en-US" sz="2800" dirty="0">
              <a:solidFill>
                <a:srgbClr val="6600FF"/>
              </a:solidFill>
            </a:endParaRPr>
          </a:p>
          <a:p>
            <a:pPr>
              <a:buFontTx/>
              <a:buNone/>
            </a:pPr>
            <a:r>
              <a:rPr lang="en-US" altLang="en-US" sz="2800" dirty="0"/>
              <a:t> </a:t>
            </a:r>
            <a:r>
              <a:rPr lang="en-US" altLang="en-US" sz="2800" dirty="0" err="1"/>
              <a:t>Đồ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vô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hướng</a:t>
            </a:r>
            <a:r>
              <a:rPr lang="en-US" altLang="en-US" sz="2800" dirty="0"/>
              <a:t> G=(V,E) bao </a:t>
            </a:r>
            <a:r>
              <a:rPr lang="en-US" altLang="en-US" sz="2800" dirty="0" err="1"/>
              <a:t>gồm</a:t>
            </a:r>
            <a:r>
              <a:rPr lang="en-US" altLang="en-US" sz="2800" dirty="0"/>
              <a:t> V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đỉnh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E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cặp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đỉnh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gọi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cung</a:t>
            </a:r>
            <a:r>
              <a:rPr lang="en-US" altLang="en-US" sz="2800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178" name="Object 2"/>
          <p:cNvGraphicFramePr>
            <a:graphicFrameLocks noGrp="1" noChangeAspect="1"/>
          </p:cNvGraphicFramePr>
          <p:nvPr>
            <p:ph type="body" idx="1"/>
          </p:nvPr>
        </p:nvGraphicFramePr>
        <p:xfrm>
          <a:off x="304800" y="679450"/>
          <a:ext cx="8686800" cy="549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88639" imgH="3480423" progId="Word.Document.8">
                  <p:embed/>
                </p:oleObj>
              </mc:Choice>
              <mc:Fallback>
                <p:oleObj name="Document" r:id="rId2" imgW="5788639" imgH="3480423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679450"/>
                        <a:ext cx="8686800" cy="5497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400"/>
              <a:t>* Nếu (v1, v2) là một cung trong tập E(G) thì v1 và v2 </a:t>
            </a:r>
            <a:r>
              <a:rPr lang="en-US" altLang="en-US" sz="2400">
                <a:solidFill>
                  <a:srgbClr val="6600FF"/>
                </a:solidFill>
              </a:rPr>
              <a:t>gọi là lân cận của nhau hay hai đỉnh kề, v2 là đỉnh kề của v1.</a:t>
            </a:r>
          </a:p>
          <a:p>
            <a:pPr>
              <a:buFontTx/>
              <a:buNone/>
            </a:pPr>
            <a:r>
              <a:rPr lang="en-US" altLang="en-US" sz="2400"/>
              <a:t> </a:t>
            </a:r>
            <a:r>
              <a:rPr lang="fr-FR" altLang="en-US" sz="2400"/>
              <a:t>Ví dụ trên 1,2 là lân cân, 1,3 là lân cận.</a:t>
            </a:r>
          </a:p>
          <a:p>
            <a:pPr>
              <a:buFontTx/>
              <a:buNone/>
            </a:pPr>
            <a:r>
              <a:rPr lang="fr-FR" altLang="en-US" sz="2400"/>
              <a:t>* </a:t>
            </a:r>
            <a:r>
              <a:rPr lang="fr-FR" altLang="en-US" sz="2400">
                <a:solidFill>
                  <a:srgbClr val="6600FF"/>
                </a:solidFill>
              </a:rPr>
              <a:t>Một đường đi từ đỉnh u đến đỉnh v trong đồ thị</a:t>
            </a:r>
            <a:r>
              <a:rPr lang="fr-FR" altLang="en-US" sz="2400"/>
              <a:t> là một dãy các đỉnh </a:t>
            </a:r>
          </a:p>
          <a:p>
            <a:pPr>
              <a:buFontTx/>
              <a:buNone/>
            </a:pPr>
            <a:r>
              <a:rPr lang="fr-FR" altLang="en-US" sz="2400"/>
              <a:t> u=x0, x1, ..., xn-1, xn=v mà dãy các cạnh (x0, x1), (x1, x2), ..., (xn-1, xn) là các cung thuộc E(G) .</a:t>
            </a:r>
          </a:p>
          <a:p>
            <a:pPr>
              <a:buFontTx/>
              <a:buNone/>
            </a:pPr>
            <a:r>
              <a:rPr lang="fr-FR" altLang="en-US" sz="2400">
                <a:solidFill>
                  <a:srgbClr val="6600FF"/>
                </a:solidFill>
              </a:rPr>
              <a:t>* Số lượng cung trên đường đi gọi là độ dài của đường đi</a:t>
            </a:r>
            <a:r>
              <a:rPr lang="fr-FR" altLang="en-US" sz="2400"/>
              <a:t>.</a:t>
            </a:r>
          </a:p>
          <a:p>
            <a:pPr>
              <a:buFontTx/>
              <a:buNone/>
            </a:pPr>
            <a:r>
              <a:rPr lang="fr-FR" altLang="en-US" sz="2400"/>
              <a:t> Ví dụ đường đi từ 1 đến 4 có độ dài là 2.</a:t>
            </a:r>
          </a:p>
          <a:p>
            <a:pPr>
              <a:buFontTx/>
              <a:buNone/>
            </a:pPr>
            <a:r>
              <a:rPr lang="fr-FR" altLang="en-US" sz="2400">
                <a:solidFill>
                  <a:srgbClr val="6600FF"/>
                </a:solidFill>
              </a:rPr>
              <a:t>* Đường đi đơn</a:t>
            </a:r>
            <a:r>
              <a:rPr lang="fr-FR" altLang="en-US" sz="2400"/>
              <a:t>: Là đường đi mà mọi đỉnh trên đó, trừ đỉnh đầu và đỉnh cuối đều khác nhau.</a:t>
            </a:r>
          </a:p>
          <a:p>
            <a:pPr>
              <a:buFontTx/>
              <a:buNone/>
            </a:pPr>
            <a:r>
              <a:rPr lang="fr-FR" altLang="en-US" sz="2400">
                <a:solidFill>
                  <a:srgbClr val="6600FF"/>
                </a:solidFill>
              </a:rPr>
              <a:t>* Một chu trình</a:t>
            </a:r>
            <a:r>
              <a:rPr lang="fr-FR" altLang="en-US" sz="2400"/>
              <a:t> là một đường đi đơn mà đỉnh đầu và đỉnh cuối trùng nhau.</a:t>
            </a:r>
          </a:p>
          <a:p>
            <a:pPr>
              <a:buFontTx/>
              <a:buNone/>
            </a:pPr>
            <a:r>
              <a:rPr lang="fr-FR" altLang="en-US"/>
              <a:t> </a:t>
            </a:r>
            <a:r>
              <a:rPr lang="fr-FR" altLang="en-US" sz="2800"/>
              <a:t>Ví dụ: 1→ 3 → 5→ 4→1</a:t>
            </a:r>
            <a:endParaRPr lang="en-US" altLang="en-US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226" name="Object 2"/>
          <p:cNvGraphicFramePr>
            <a:graphicFrameLocks noGrp="1" noChangeAspect="1"/>
          </p:cNvGraphicFramePr>
          <p:nvPr>
            <p:ph type="body" idx="1"/>
          </p:nvPr>
        </p:nvGraphicFramePr>
        <p:xfrm>
          <a:off x="304800" y="381000"/>
          <a:ext cx="8686800" cy="464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88639" imgH="2251784" progId="Word.Document.8">
                  <p:embed/>
                </p:oleObj>
              </mc:Choice>
              <mc:Fallback>
                <p:oleObj name="Document" r:id="rId2" imgW="5788639" imgH="2251784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81000"/>
                        <a:ext cx="8686800" cy="464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250" name="Object 2"/>
          <p:cNvGraphicFramePr>
            <a:graphicFrameLocks noGrp="1" noChangeAspect="1"/>
          </p:cNvGraphicFramePr>
          <p:nvPr>
            <p:ph type="body" idx="1"/>
          </p:nvPr>
        </p:nvGraphicFramePr>
        <p:xfrm>
          <a:off x="0" y="381000"/>
          <a:ext cx="9144000" cy="541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88639" imgH="3275650" progId="Word.Document.8">
                  <p:embed/>
                </p:oleObj>
              </mc:Choice>
              <mc:Fallback>
                <p:oleObj name="Document" r:id="rId2" imgW="5788639" imgH="327565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81000"/>
                        <a:ext cx="9144000" cy="541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274" name="Object 2"/>
          <p:cNvGraphicFramePr>
            <a:graphicFrameLocks noGrp="1" noChangeAspect="1"/>
          </p:cNvGraphicFramePr>
          <p:nvPr>
            <p:ph type="body" idx="1"/>
          </p:nvPr>
        </p:nvGraphicFramePr>
        <p:xfrm>
          <a:off x="0" y="228600"/>
          <a:ext cx="9144000" cy="647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88639" imgH="2661330" progId="Word.Document.8">
                  <p:embed/>
                </p:oleObj>
              </mc:Choice>
              <mc:Fallback>
                <p:oleObj name="Document" r:id="rId2" imgW="5788639" imgH="266133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28600"/>
                        <a:ext cx="9144000" cy="647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298" name="Object 2"/>
          <p:cNvGraphicFramePr>
            <a:graphicFrameLocks noGrp="1" noChangeAspect="1"/>
          </p:cNvGraphicFramePr>
          <p:nvPr>
            <p:ph type="body" idx="1"/>
            <p:extLst>
              <p:ext uri="{D42A27DB-BD31-4B8C-83A1-F6EECF244321}">
                <p14:modId xmlns:p14="http://schemas.microsoft.com/office/powerpoint/2010/main" val="4178891078"/>
              </p:ext>
            </p:extLst>
          </p:nvPr>
        </p:nvGraphicFramePr>
        <p:xfrm>
          <a:off x="6350" y="482600"/>
          <a:ext cx="9129713" cy="551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82162" imgH="3489436" progId="Word.Document.8">
                  <p:embed/>
                </p:oleObj>
              </mc:Choice>
              <mc:Fallback>
                <p:oleObj name="Document" r:id="rId2" imgW="5782162" imgH="3489436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" y="482600"/>
                        <a:ext cx="9129713" cy="5510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22" name="Object 2"/>
          <p:cNvGraphicFramePr>
            <a:graphicFrameLocks noGrp="1" noChangeAspect="1"/>
          </p:cNvGraphicFramePr>
          <p:nvPr>
            <p:ph type="body" idx="1"/>
            <p:extLst>
              <p:ext uri="{D42A27DB-BD31-4B8C-83A1-F6EECF244321}">
                <p14:modId xmlns:p14="http://schemas.microsoft.com/office/powerpoint/2010/main" val="2207833298"/>
              </p:ext>
            </p:extLst>
          </p:nvPr>
        </p:nvGraphicFramePr>
        <p:xfrm>
          <a:off x="152400" y="457200"/>
          <a:ext cx="899160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88639" imgH="2456557" progId="Word.Document.8">
                  <p:embed/>
                </p:oleObj>
              </mc:Choice>
              <mc:Fallback>
                <p:oleObj name="Document" r:id="rId2" imgW="5788639" imgH="2456557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57200"/>
                        <a:ext cx="8991600" cy="457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A6723A45-2BD9-4BDC-9A7A-76D84BD7791D}"/>
              </a:ext>
            </a:extLst>
          </p:cNvPr>
          <p:cNvSpPr/>
          <p:nvPr/>
        </p:nvSpPr>
        <p:spPr>
          <a:xfrm>
            <a:off x="2895600" y="5516434"/>
            <a:ext cx="304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1DD85D-422A-4C97-B061-26A4E7C725F8}"/>
              </a:ext>
            </a:extLst>
          </p:cNvPr>
          <p:cNvSpPr/>
          <p:nvPr/>
        </p:nvSpPr>
        <p:spPr>
          <a:xfrm>
            <a:off x="3200400" y="5516434"/>
            <a:ext cx="304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13C420-2832-45ED-BB0E-47BA0408E52E}"/>
              </a:ext>
            </a:extLst>
          </p:cNvPr>
          <p:cNvSpPr/>
          <p:nvPr/>
        </p:nvSpPr>
        <p:spPr>
          <a:xfrm>
            <a:off x="3505200" y="5516434"/>
            <a:ext cx="304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E6614F-A7FB-4E39-9AB6-B13663C3C506}"/>
              </a:ext>
            </a:extLst>
          </p:cNvPr>
          <p:cNvSpPr/>
          <p:nvPr/>
        </p:nvSpPr>
        <p:spPr>
          <a:xfrm>
            <a:off x="3804920" y="5516434"/>
            <a:ext cx="304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31A6A7-CF1E-4972-B124-F2DFEE303CA6}"/>
              </a:ext>
            </a:extLst>
          </p:cNvPr>
          <p:cNvSpPr/>
          <p:nvPr/>
        </p:nvSpPr>
        <p:spPr>
          <a:xfrm>
            <a:off x="4119882" y="5516434"/>
            <a:ext cx="304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C3133C-9A8A-4F6F-AEC5-2BCC7A8A5CAB}"/>
              </a:ext>
            </a:extLst>
          </p:cNvPr>
          <p:cNvSpPr/>
          <p:nvPr/>
        </p:nvSpPr>
        <p:spPr>
          <a:xfrm>
            <a:off x="4424682" y="5516434"/>
            <a:ext cx="304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86D76A-0018-49E9-965D-EDAEA569AC07}"/>
              </a:ext>
            </a:extLst>
          </p:cNvPr>
          <p:cNvSpPr/>
          <p:nvPr/>
        </p:nvSpPr>
        <p:spPr>
          <a:xfrm>
            <a:off x="4729482" y="5516434"/>
            <a:ext cx="304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AF8FC5-FEE2-4871-B79E-1F7E6E5B6FC8}"/>
              </a:ext>
            </a:extLst>
          </p:cNvPr>
          <p:cNvSpPr/>
          <p:nvPr/>
        </p:nvSpPr>
        <p:spPr>
          <a:xfrm>
            <a:off x="5029202" y="5516434"/>
            <a:ext cx="304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CD372F-5712-48D7-9CD4-33580447B77A}"/>
              </a:ext>
            </a:extLst>
          </p:cNvPr>
          <p:cNvSpPr/>
          <p:nvPr/>
        </p:nvSpPr>
        <p:spPr>
          <a:xfrm>
            <a:off x="5334004" y="5516434"/>
            <a:ext cx="304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5BA6A6-94D8-4CEA-91A2-2583D9F6C738}"/>
              </a:ext>
            </a:extLst>
          </p:cNvPr>
          <p:cNvSpPr/>
          <p:nvPr/>
        </p:nvSpPr>
        <p:spPr>
          <a:xfrm>
            <a:off x="5638804" y="5516434"/>
            <a:ext cx="304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FA0D23-B414-418E-B5CE-98C4CD633D8F}"/>
              </a:ext>
            </a:extLst>
          </p:cNvPr>
          <p:cNvSpPr/>
          <p:nvPr/>
        </p:nvSpPr>
        <p:spPr>
          <a:xfrm>
            <a:off x="5943604" y="5516434"/>
            <a:ext cx="304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D3BF5C-D2C1-4489-8628-35A1E528A633}"/>
              </a:ext>
            </a:extLst>
          </p:cNvPr>
          <p:cNvSpPr/>
          <p:nvPr/>
        </p:nvSpPr>
        <p:spPr>
          <a:xfrm>
            <a:off x="6243324" y="5516434"/>
            <a:ext cx="304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201C6C-FC4F-4956-8688-A0A3043CA55F}"/>
              </a:ext>
            </a:extLst>
          </p:cNvPr>
          <p:cNvSpPr/>
          <p:nvPr/>
        </p:nvSpPr>
        <p:spPr>
          <a:xfrm>
            <a:off x="6558286" y="5516434"/>
            <a:ext cx="304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2E683C-63F7-4072-B35D-FE3BCF30C939}"/>
              </a:ext>
            </a:extLst>
          </p:cNvPr>
          <p:cNvSpPr/>
          <p:nvPr/>
        </p:nvSpPr>
        <p:spPr>
          <a:xfrm>
            <a:off x="6863086" y="5516434"/>
            <a:ext cx="304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928567-DB70-4E48-8148-FC7684F83AED}"/>
              </a:ext>
            </a:extLst>
          </p:cNvPr>
          <p:cNvSpPr/>
          <p:nvPr/>
        </p:nvSpPr>
        <p:spPr>
          <a:xfrm>
            <a:off x="7167886" y="5516434"/>
            <a:ext cx="304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6039C2-E09D-453D-96DA-42E4CEA9E3E8}"/>
              </a:ext>
            </a:extLst>
          </p:cNvPr>
          <p:cNvSpPr/>
          <p:nvPr/>
        </p:nvSpPr>
        <p:spPr>
          <a:xfrm>
            <a:off x="7467606" y="5516434"/>
            <a:ext cx="304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7FF45D-59B6-4EFB-BE2F-9B6BF03D97CC}"/>
              </a:ext>
            </a:extLst>
          </p:cNvPr>
          <p:cNvSpPr txBox="1"/>
          <p:nvPr/>
        </p:nvSpPr>
        <p:spPr>
          <a:xfrm>
            <a:off x="2473956" y="5516434"/>
            <a:ext cx="386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V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1A9536-4F49-4DDE-8260-64427A6B28DB}"/>
              </a:ext>
            </a:extLst>
          </p:cNvPr>
          <p:cNvSpPr txBox="1"/>
          <p:nvPr/>
        </p:nvSpPr>
        <p:spPr>
          <a:xfrm>
            <a:off x="2915914" y="5897434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0D3C61-8840-4746-9F30-5DEC3D742DC3}"/>
              </a:ext>
            </a:extLst>
          </p:cNvPr>
          <p:cNvSpPr txBox="1"/>
          <p:nvPr/>
        </p:nvSpPr>
        <p:spPr>
          <a:xfrm>
            <a:off x="3210562" y="5897434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730978-BF07-4BBD-A931-83C1C6F8588B}"/>
              </a:ext>
            </a:extLst>
          </p:cNvPr>
          <p:cNvSpPr txBox="1"/>
          <p:nvPr/>
        </p:nvSpPr>
        <p:spPr>
          <a:xfrm>
            <a:off x="3507732" y="5897434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89D3CC-7B88-402E-9DB9-C07297AE808A}"/>
              </a:ext>
            </a:extLst>
          </p:cNvPr>
          <p:cNvSpPr txBox="1"/>
          <p:nvPr/>
        </p:nvSpPr>
        <p:spPr>
          <a:xfrm>
            <a:off x="7467606" y="5897434"/>
            <a:ext cx="3809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A9ED2A-FAF4-4185-99A6-4D6580080D3C}"/>
              </a:ext>
            </a:extLst>
          </p:cNvPr>
          <p:cNvSpPr txBox="1"/>
          <p:nvPr/>
        </p:nvSpPr>
        <p:spPr>
          <a:xfrm>
            <a:off x="2920996" y="5545863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1701B2-1949-4880-922C-4E97A1707E8E}"/>
              </a:ext>
            </a:extLst>
          </p:cNvPr>
          <p:cNvSpPr txBox="1"/>
          <p:nvPr/>
        </p:nvSpPr>
        <p:spPr>
          <a:xfrm>
            <a:off x="3181346" y="5562600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3521F2-9A10-4019-AA00-2C9B722CA189}"/>
              </a:ext>
            </a:extLst>
          </p:cNvPr>
          <p:cNvSpPr txBox="1"/>
          <p:nvPr/>
        </p:nvSpPr>
        <p:spPr>
          <a:xfrm>
            <a:off x="3486154" y="5562600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02A498-10A5-4543-8EF7-8E574AA82417}"/>
              </a:ext>
            </a:extLst>
          </p:cNvPr>
          <p:cNvSpPr txBox="1"/>
          <p:nvPr/>
        </p:nvSpPr>
        <p:spPr>
          <a:xfrm>
            <a:off x="3811274" y="5562600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D97DBC-7402-47F9-BAC4-688F7F86C265}"/>
              </a:ext>
            </a:extLst>
          </p:cNvPr>
          <p:cNvSpPr txBox="1"/>
          <p:nvPr/>
        </p:nvSpPr>
        <p:spPr>
          <a:xfrm>
            <a:off x="4124963" y="5562600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CB2BF7-1CD0-4A7D-9E8C-8EC86DF6B5EB}"/>
              </a:ext>
            </a:extLst>
          </p:cNvPr>
          <p:cNvSpPr txBox="1"/>
          <p:nvPr/>
        </p:nvSpPr>
        <p:spPr>
          <a:xfrm>
            <a:off x="4419601" y="5562600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7D3153-9919-47D8-8FF0-6BD66FA44704}"/>
              </a:ext>
            </a:extLst>
          </p:cNvPr>
          <p:cNvSpPr txBox="1"/>
          <p:nvPr/>
        </p:nvSpPr>
        <p:spPr>
          <a:xfrm>
            <a:off x="5039363" y="5562600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691607-DCC7-425B-B840-C460C9D02F63}"/>
              </a:ext>
            </a:extLst>
          </p:cNvPr>
          <p:cNvSpPr txBox="1"/>
          <p:nvPr/>
        </p:nvSpPr>
        <p:spPr>
          <a:xfrm>
            <a:off x="4734563" y="5562600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879A1F-AFAD-4E45-A18A-50EBCD54EEA2}"/>
              </a:ext>
            </a:extLst>
          </p:cNvPr>
          <p:cNvSpPr txBox="1"/>
          <p:nvPr/>
        </p:nvSpPr>
        <p:spPr>
          <a:xfrm>
            <a:off x="5356865" y="5562600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F9E14A-9563-4A94-9EA3-5E50167E38A8}"/>
              </a:ext>
            </a:extLst>
          </p:cNvPr>
          <p:cNvSpPr txBox="1"/>
          <p:nvPr/>
        </p:nvSpPr>
        <p:spPr>
          <a:xfrm>
            <a:off x="5651503" y="5562600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E913D3-1D71-447B-BD57-52B7A2F598FA}"/>
              </a:ext>
            </a:extLst>
          </p:cNvPr>
          <p:cNvSpPr txBox="1"/>
          <p:nvPr/>
        </p:nvSpPr>
        <p:spPr>
          <a:xfrm>
            <a:off x="6271265" y="5562600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39E0A0-0230-430B-9D78-FEF952AB1521}"/>
              </a:ext>
            </a:extLst>
          </p:cNvPr>
          <p:cNvSpPr txBox="1"/>
          <p:nvPr/>
        </p:nvSpPr>
        <p:spPr>
          <a:xfrm>
            <a:off x="5966465" y="5562600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D25EB6-97E1-4C48-BBDE-3A3AABC5AE83}"/>
              </a:ext>
            </a:extLst>
          </p:cNvPr>
          <p:cNvSpPr txBox="1"/>
          <p:nvPr/>
        </p:nvSpPr>
        <p:spPr>
          <a:xfrm>
            <a:off x="6596383" y="5562600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604099-C224-4DC0-84E7-40AD6484A249}"/>
              </a:ext>
            </a:extLst>
          </p:cNvPr>
          <p:cNvSpPr txBox="1"/>
          <p:nvPr/>
        </p:nvSpPr>
        <p:spPr>
          <a:xfrm>
            <a:off x="6842768" y="5562600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77FEA9-A9AF-45E4-926B-95DEE364F57A}"/>
              </a:ext>
            </a:extLst>
          </p:cNvPr>
          <p:cNvSpPr txBox="1"/>
          <p:nvPr/>
        </p:nvSpPr>
        <p:spPr>
          <a:xfrm>
            <a:off x="7167886" y="5562600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AC87EB1-82B9-401B-90E8-728214A21E34}"/>
              </a:ext>
            </a:extLst>
          </p:cNvPr>
          <p:cNvSpPr txBox="1"/>
          <p:nvPr/>
        </p:nvSpPr>
        <p:spPr>
          <a:xfrm>
            <a:off x="7468883" y="5562600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D71F85-BBA1-4151-A3C5-D91834A4A886}"/>
              </a:ext>
            </a:extLst>
          </p:cNvPr>
          <p:cNvSpPr txBox="1"/>
          <p:nvPr/>
        </p:nvSpPr>
        <p:spPr>
          <a:xfrm>
            <a:off x="2529826" y="2895599"/>
            <a:ext cx="608077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- Dùng biến n để chứa số đỉnh của đồ thị.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- Dùng vector lưu trữ V có 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 ô nhớ với chỉ số từ 1 đến n*n để lưu các phần tử của ma trận kề giống như lưu trữ mảng 2 chiều.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- Phần tử a</a:t>
            </a:r>
            <a:r>
              <a:rPr 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được lưu trữ ở ô nhớ V[k], với k = (i-1)*n + j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- Với đồ thị có trọng số thì các số 1 được thay bằng trọng số tương ứng.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346" name="Object 2"/>
          <p:cNvGraphicFramePr>
            <a:graphicFrameLocks noGrp="1" noChangeAspect="1"/>
          </p:cNvGraphicFramePr>
          <p:nvPr>
            <p:ph type="body" idx="1"/>
            <p:extLst>
              <p:ext uri="{D42A27DB-BD31-4B8C-83A1-F6EECF244321}">
                <p14:modId xmlns:p14="http://schemas.microsoft.com/office/powerpoint/2010/main" val="2564654983"/>
              </p:ext>
            </p:extLst>
          </p:nvPr>
        </p:nvGraphicFramePr>
        <p:xfrm>
          <a:off x="457200" y="685800"/>
          <a:ext cx="8458200" cy="534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84885" imgH="3678225" progId="Word.Document.8">
                  <p:embed/>
                </p:oleObj>
              </mc:Choice>
              <mc:Fallback>
                <p:oleObj name="Document" r:id="rId2" imgW="5784885" imgH="367822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685800"/>
                        <a:ext cx="8458200" cy="5348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6370" name="Object 2"/>
          <p:cNvGraphicFramePr>
            <a:graphicFrameLocks noGrp="1" noChangeAspect="1"/>
          </p:cNvGraphicFramePr>
          <p:nvPr>
            <p:ph type="body" idx="1"/>
            <p:extLst>
              <p:ext uri="{D42A27DB-BD31-4B8C-83A1-F6EECF244321}">
                <p14:modId xmlns:p14="http://schemas.microsoft.com/office/powerpoint/2010/main" val="775978284"/>
              </p:ext>
            </p:extLst>
          </p:nvPr>
        </p:nvGraphicFramePr>
        <p:xfrm>
          <a:off x="311150" y="457200"/>
          <a:ext cx="8582025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84885" imgH="2249823" progId="Word.Document.8">
                  <p:embed/>
                </p:oleObj>
              </mc:Choice>
              <mc:Fallback>
                <p:oleObj name="Document" r:id="rId2" imgW="5784885" imgH="2249823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50" y="457200"/>
                        <a:ext cx="8582025" cy="358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6C5E80C-9C08-4519-9A63-9BB87684BB9D}"/>
              </a:ext>
            </a:extLst>
          </p:cNvPr>
          <p:cNvSpPr txBox="1"/>
          <p:nvPr/>
        </p:nvSpPr>
        <p:spPr>
          <a:xfrm>
            <a:off x="250825" y="3689753"/>
            <a:ext cx="87210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/>
              <a:t>- Đồ thị có n đỉnh sẽ có n danh sách kề của n đỉnh. Mỗi danh sách kề được lưu trữ trong một danh sách nút nhớ, mỗi nhớ có cấu trúc gồm 2 trường.</a:t>
            </a:r>
          </a:p>
          <a:p>
            <a:pPr algn="just"/>
            <a:r>
              <a:rPr lang="en-US"/>
              <a:t>- Nút cuối cùng trong mỗi danh sách nút nhớ có link bằng rỗng.</a:t>
            </a:r>
          </a:p>
          <a:p>
            <a:pPr algn="just"/>
            <a:r>
              <a:rPr lang="en-US"/>
              <a:t>- Dùng vector V có n ô nhớ kế tiếp với chỉ số từ 1 đến n để chứa địa chỉ nút đầu của n danh sách nút nhớ. Địa chỉ nút đầu tiên của danh sách kề với đỉnh i được lưu trữ trong ô nhớ V[i].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394" name="Object 2"/>
          <p:cNvGraphicFramePr>
            <a:graphicFrameLocks noGrp="1" noChangeAspect="1"/>
          </p:cNvGraphicFramePr>
          <p:nvPr>
            <p:ph type="body" idx="1"/>
            <p:extLst>
              <p:ext uri="{D42A27DB-BD31-4B8C-83A1-F6EECF244321}">
                <p14:modId xmlns:p14="http://schemas.microsoft.com/office/powerpoint/2010/main" val="3010201478"/>
              </p:ext>
            </p:extLst>
          </p:nvPr>
        </p:nvGraphicFramePr>
        <p:xfrm>
          <a:off x="244475" y="2363788"/>
          <a:ext cx="9056688" cy="366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4806" imgH="2408608" progId="Word.Document.8">
                  <p:embed/>
                </p:oleObj>
              </mc:Choice>
              <mc:Fallback>
                <p:oleObj name="Document" r:id="rId2" imgW="5944806" imgH="240860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" y="2363788"/>
                        <a:ext cx="9056688" cy="3668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E0ECDF2F-BD59-4316-81CF-401E4AD07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28600"/>
            <a:ext cx="1725533" cy="12191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5A72E5-F998-465C-B8F8-6F2AA18A6A3F}"/>
              </a:ext>
            </a:extLst>
          </p:cNvPr>
          <p:cNvSpPr txBox="1"/>
          <p:nvPr/>
        </p:nvSpPr>
        <p:spPr>
          <a:xfrm>
            <a:off x="2895600" y="349885"/>
            <a:ext cx="1905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Danh</a:t>
            </a:r>
            <a:r>
              <a:rPr lang="en-US" sz="2000" dirty="0"/>
              <a:t> </a:t>
            </a:r>
            <a:r>
              <a:rPr lang="en-US" sz="2000" dirty="0" err="1"/>
              <a:t>sách</a:t>
            </a:r>
            <a:r>
              <a:rPr lang="en-US" sz="2000" dirty="0"/>
              <a:t> </a:t>
            </a:r>
            <a:r>
              <a:rPr lang="en-US" sz="2000" dirty="0" err="1"/>
              <a:t>kề</a:t>
            </a:r>
            <a:r>
              <a:rPr lang="en-US" sz="2000" dirty="0"/>
              <a:t>:</a:t>
            </a:r>
          </a:p>
          <a:p>
            <a:r>
              <a:rPr lang="en-US" sz="2000" dirty="0"/>
              <a:t>1: 2, 3, 4</a:t>
            </a:r>
          </a:p>
          <a:p>
            <a:r>
              <a:rPr lang="en-US" sz="2000" dirty="0"/>
              <a:t>2: 1, 4</a:t>
            </a:r>
          </a:p>
          <a:p>
            <a:r>
              <a:rPr lang="en-US" sz="2000" dirty="0"/>
              <a:t>3: 1, 4</a:t>
            </a:r>
          </a:p>
          <a:p>
            <a:r>
              <a:rPr lang="en-US" sz="2000" dirty="0"/>
              <a:t>4: 1, 2,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EFBCCD-F0C6-481C-BF87-7B9DDD7F0D5D}"/>
              </a:ext>
            </a:extLst>
          </p:cNvPr>
          <p:cNvSpPr txBox="1"/>
          <p:nvPr/>
        </p:nvSpPr>
        <p:spPr>
          <a:xfrm>
            <a:off x="5334000" y="838199"/>
            <a:ext cx="2819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DFS(4): 4 1 2 3</a:t>
            </a:r>
          </a:p>
          <a:p>
            <a:endParaRPr lang="en-US" sz="2000"/>
          </a:p>
          <a:p>
            <a:r>
              <a:rPr lang="en-US" sz="2000"/>
              <a:t>BFS(1): 1 2 3 4</a:t>
            </a:r>
          </a:p>
          <a:p>
            <a:r>
              <a:rPr lang="en-US" sz="2000"/>
              <a:t>1 2 3 4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418" name="Object 2"/>
          <p:cNvGraphicFramePr>
            <a:graphicFrameLocks noGrp="1" noChangeAspect="1"/>
          </p:cNvGraphicFramePr>
          <p:nvPr>
            <p:ph type="body" idx="1"/>
          </p:nvPr>
        </p:nvGraphicFramePr>
        <p:xfrm>
          <a:off x="0" y="228600"/>
          <a:ext cx="9144000" cy="627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4806" imgH="4080682" progId="Word.Document.8">
                  <p:embed/>
                </p:oleObj>
              </mc:Choice>
              <mc:Fallback>
                <p:oleObj name="Document" r:id="rId2" imgW="5944806" imgH="4080682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28600"/>
                        <a:ext cx="9144000" cy="6276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200" b="1">
                <a:solidFill>
                  <a:srgbClr val="6600FF"/>
                </a:solidFill>
              </a:rPr>
              <a:t>3. Phép duyệt đồ thị</a:t>
            </a:r>
            <a:endParaRPr lang="en-US" altLang="en-US" sz="2200">
              <a:solidFill>
                <a:srgbClr val="6600FF"/>
              </a:solidFill>
            </a:endParaRPr>
          </a:p>
          <a:p>
            <a:pPr>
              <a:buFontTx/>
              <a:buNone/>
            </a:pPr>
            <a:r>
              <a:rPr lang="en-US" altLang="en-US" sz="2200"/>
              <a:t>* Xét đồ thị vô hướng G(V,E) và một đỉnh v</a:t>
            </a:r>
            <a:r>
              <a:rPr lang="en-US" altLang="en-US" sz="2200">
                <a:sym typeface="Symbol" pitchFamily="18" charset="2"/>
              </a:rPr>
              <a:t></a:t>
            </a:r>
            <a:r>
              <a:rPr lang="en-US" altLang="en-US" sz="2200"/>
              <a:t>V. Ta cần thăm tất cả các đỉnh của G mà có thể “ với tới” từ đỉnh v ( nghĩa là đồ thị liên thông).</a:t>
            </a:r>
          </a:p>
          <a:p>
            <a:pPr>
              <a:buFontTx/>
              <a:buNone/>
            </a:pPr>
            <a:r>
              <a:rPr lang="en-US" altLang="en-US" sz="2200"/>
              <a:t> Có 2 cách duyệt đồ thị:</a:t>
            </a:r>
          </a:p>
          <a:p>
            <a:pPr>
              <a:buFontTx/>
              <a:buNone/>
            </a:pPr>
            <a:r>
              <a:rPr lang="en-US" altLang="en-US" sz="2200"/>
              <a:t>  - Phép tìm kiếm theo chiều sâu (Depth first search, DFS)</a:t>
            </a:r>
          </a:p>
          <a:p>
            <a:pPr>
              <a:buFontTx/>
              <a:buNone/>
            </a:pPr>
            <a:r>
              <a:rPr lang="en-US" altLang="en-US" sz="2200"/>
              <a:t>  - Phép tìm kiếm theo chiều rộng (Breadth first search, BFS)</a:t>
            </a:r>
            <a:endParaRPr lang="en-US" altLang="en-US" sz="2200" b="1"/>
          </a:p>
          <a:p>
            <a:pPr>
              <a:buFontTx/>
              <a:buNone/>
            </a:pPr>
            <a:r>
              <a:rPr lang="en-US" altLang="en-US" sz="2200" b="1">
                <a:solidFill>
                  <a:srgbClr val="0000CC"/>
                </a:solidFill>
              </a:rPr>
              <a:t>3.1. Phép tìm kiếm theo chiều sâu ( Depth first search )</a:t>
            </a:r>
            <a:endParaRPr lang="en-US" altLang="en-US" sz="2200">
              <a:solidFill>
                <a:srgbClr val="0000CC"/>
              </a:solidFill>
            </a:endParaRPr>
          </a:p>
          <a:p>
            <a:pPr>
              <a:buFontTx/>
              <a:buNone/>
            </a:pPr>
            <a:r>
              <a:rPr lang="en-US" altLang="en-US" sz="2200"/>
              <a:t> Xét đồ thị vô hướng. Phép tìm kiếm theo chiều sâu thể hiện như sau:</a:t>
            </a:r>
          </a:p>
          <a:p>
            <a:pPr>
              <a:buFontTx/>
              <a:buNone/>
            </a:pPr>
            <a:r>
              <a:rPr lang="en-US" altLang="en-US" sz="2200"/>
              <a:t>- Đỉnh xuất phát v được thăm.</a:t>
            </a:r>
          </a:p>
          <a:p>
            <a:pPr>
              <a:buFontTx/>
              <a:buNone/>
            </a:pPr>
            <a:r>
              <a:rPr lang="en-US" altLang="en-US" sz="2200"/>
              <a:t>- Tiếp theo đó ta thăm đỉnh w là đỉnh chưa được thăm và là lân cận của v. Phép tìm kiếm theo chiều sâu xuất phát từ w lại được thực hiện. </a:t>
            </a:r>
          </a:p>
          <a:p>
            <a:pPr>
              <a:buFontTx/>
              <a:buNone/>
            </a:pPr>
            <a:r>
              <a:rPr lang="en-US" altLang="en-US" sz="2200"/>
              <a:t> Trong trường hợp đỉnh u đã được thăm mà mọi đỉnh lân cận của nó đã được thăm rồi thì ta quay lại đỉnh cuối cùng vừa được thăm ( mà đỉnh này còn đỉnh w là lân cận của nó chưa được thăm) và phép tìm kiếm theo chiều sâu xuất phát từ w lại được thực hiện.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466" name="Object 2"/>
          <p:cNvGraphicFramePr>
            <a:graphicFrameLocks noGrp="1" noChangeAspect="1"/>
          </p:cNvGraphicFramePr>
          <p:nvPr>
            <p:ph type="body" idx="1"/>
            <p:extLst>
              <p:ext uri="{D42A27DB-BD31-4B8C-83A1-F6EECF244321}">
                <p14:modId xmlns:p14="http://schemas.microsoft.com/office/powerpoint/2010/main" val="475252724"/>
              </p:ext>
            </p:extLst>
          </p:nvPr>
        </p:nvGraphicFramePr>
        <p:xfrm>
          <a:off x="0" y="304800"/>
          <a:ext cx="9144000" cy="573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88639" imgH="3685196" progId="Word.Document.8">
                  <p:embed/>
                </p:oleObj>
              </mc:Choice>
              <mc:Fallback>
                <p:oleObj name="Document" r:id="rId2" imgW="5788639" imgH="3685196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04800"/>
                        <a:ext cx="9144000" cy="5730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65EA9E5-309E-48D2-9A84-53FDAA0E7062}"/>
              </a:ext>
            </a:extLst>
          </p:cNvPr>
          <p:cNvSpPr txBox="1"/>
          <p:nvPr/>
        </p:nvSpPr>
        <p:spPr>
          <a:xfrm>
            <a:off x="457200" y="1219200"/>
            <a:ext cx="1828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1: 2  3</a:t>
            </a:r>
          </a:p>
          <a:p>
            <a:r>
              <a:rPr lang="en-US"/>
              <a:t>2: 1  4  5</a:t>
            </a:r>
          </a:p>
          <a:p>
            <a:r>
              <a:rPr lang="en-US"/>
              <a:t>3: 1  6  7</a:t>
            </a:r>
          </a:p>
          <a:p>
            <a:r>
              <a:rPr lang="en-US"/>
              <a:t>4: 2  8</a:t>
            </a:r>
          </a:p>
          <a:p>
            <a:r>
              <a:rPr lang="en-US"/>
              <a:t>5: 2  8</a:t>
            </a:r>
          </a:p>
          <a:p>
            <a:r>
              <a:rPr lang="en-US"/>
              <a:t>6: 3  8</a:t>
            </a:r>
          </a:p>
          <a:p>
            <a:r>
              <a:rPr lang="en-US"/>
              <a:t>7: 3  8</a:t>
            </a:r>
          </a:p>
          <a:p>
            <a:r>
              <a:rPr lang="en-US"/>
              <a:t>8: 4  5  6  7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09EDB1-40D2-4307-B156-465B8EF76AC8}"/>
              </a:ext>
            </a:extLst>
          </p:cNvPr>
          <p:cNvSpPr txBox="1"/>
          <p:nvPr/>
        </p:nvSpPr>
        <p:spPr>
          <a:xfrm>
            <a:off x="446926" y="5904755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BFS(6): 6 3  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3D13CC-3642-7A05-DAE0-9484E595947A}"/>
              </a:ext>
            </a:extLst>
          </p:cNvPr>
          <p:cNvSpPr/>
          <p:nvPr/>
        </p:nvSpPr>
        <p:spPr>
          <a:xfrm>
            <a:off x="2209800" y="822325"/>
            <a:ext cx="6705600" cy="5082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000"/>
              <a:t> </a:t>
            </a:r>
            <a:r>
              <a:rPr lang="en-US" altLang="en-US" sz="2000">
                <a:solidFill>
                  <a:srgbClr val="6600FF"/>
                </a:solidFill>
              </a:rPr>
              <a:t>Phép duyệt theo chiều sâu đi theo trình tự sau:</a:t>
            </a:r>
          </a:p>
          <a:p>
            <a:pPr>
              <a:buFontTx/>
              <a:buNone/>
            </a:pPr>
            <a:r>
              <a:rPr lang="en-US" altLang="en-US" sz="2000"/>
              <a:t>v1 </a:t>
            </a:r>
            <a:r>
              <a:rPr lang="en-US" altLang="en-US" sz="2000">
                <a:sym typeface="Symbol" pitchFamily="18" charset="2"/>
              </a:rPr>
              <a:t></a:t>
            </a:r>
            <a:r>
              <a:rPr lang="en-US" altLang="en-US" sz="2000"/>
              <a:t> v2 </a:t>
            </a:r>
            <a:r>
              <a:rPr lang="en-US" altLang="en-US" sz="2000">
                <a:sym typeface="Symbol" pitchFamily="18" charset="2"/>
              </a:rPr>
              <a:t></a:t>
            </a:r>
            <a:r>
              <a:rPr lang="en-US" altLang="en-US" sz="2000"/>
              <a:t> v4 </a:t>
            </a:r>
            <a:r>
              <a:rPr lang="en-US" altLang="en-US" sz="2000">
                <a:sym typeface="Symbol" pitchFamily="18" charset="2"/>
              </a:rPr>
              <a:t></a:t>
            </a:r>
            <a:r>
              <a:rPr lang="en-US" altLang="en-US" sz="2000"/>
              <a:t> v8 </a:t>
            </a:r>
            <a:r>
              <a:rPr lang="en-US" altLang="en-US" sz="2000">
                <a:sym typeface="Symbol" pitchFamily="18" charset="2"/>
              </a:rPr>
              <a:t></a:t>
            </a:r>
            <a:r>
              <a:rPr lang="en-US" altLang="en-US" sz="2000"/>
              <a:t> v5  </a:t>
            </a:r>
            <a:r>
              <a:rPr lang="en-US" altLang="en-US" sz="2000">
                <a:sym typeface="Symbol" pitchFamily="18" charset="2"/>
              </a:rPr>
              <a:t></a:t>
            </a:r>
            <a:r>
              <a:rPr lang="en-US" altLang="en-US" sz="2000"/>
              <a:t> v6 </a:t>
            </a:r>
            <a:r>
              <a:rPr lang="en-US" altLang="en-US" sz="2000">
                <a:sym typeface="Symbol" pitchFamily="18" charset="2"/>
              </a:rPr>
              <a:t></a:t>
            </a:r>
            <a:r>
              <a:rPr lang="en-US" altLang="en-US" sz="2000"/>
              <a:t> v3 </a:t>
            </a:r>
            <a:r>
              <a:rPr lang="en-US" altLang="en-US" sz="2000">
                <a:sym typeface="Symbol" pitchFamily="18" charset="2"/>
              </a:rPr>
              <a:t></a:t>
            </a:r>
            <a:r>
              <a:rPr lang="en-US" altLang="en-US" sz="2000"/>
              <a:t> v7</a:t>
            </a:r>
          </a:p>
          <a:p>
            <a:pPr>
              <a:buFontTx/>
              <a:buNone/>
            </a:pPr>
            <a:r>
              <a:rPr lang="en-US" altLang="en-US" sz="2000"/>
              <a:t>* Thủ tục phép duyệt theo chiều sâu như sau:</a:t>
            </a:r>
          </a:p>
          <a:p>
            <a:pPr>
              <a:buFontTx/>
              <a:buNone/>
            </a:pPr>
            <a:r>
              <a:rPr lang="en-US" altLang="en-US" sz="2000"/>
              <a:t> Cho một đồ thị  G(V,E) vô hướng có n đỉnh và véc tơ Visited(n) gồm n phần tử, ban đầu véc tơ này có giá trị =0. Thuật giải này thực hiện thăm mọi đỉnh “ với tới được “ từ đỉnh v.</a:t>
            </a:r>
          </a:p>
          <a:p>
            <a:pPr>
              <a:buFontTx/>
              <a:buNone/>
            </a:pPr>
            <a:r>
              <a:rPr lang="en-US" altLang="en-US" sz="2000"/>
              <a:t>  Procedure  DFS(v)</a:t>
            </a:r>
          </a:p>
          <a:p>
            <a:pPr>
              <a:buNone/>
            </a:pPr>
            <a:r>
              <a:rPr lang="en-US" altLang="en-US" sz="2000"/>
              <a:t>	1) Write(v); {Thăm đỉnh v}</a:t>
            </a:r>
          </a:p>
          <a:p>
            <a:pPr>
              <a:buFontTx/>
              <a:buNone/>
            </a:pPr>
            <a:r>
              <a:rPr lang="en-US" altLang="en-US" sz="2000"/>
              <a:t>	2) Visited[v]:=1; { đánh dấu v  được thăm }</a:t>
            </a:r>
          </a:p>
          <a:p>
            <a:pPr>
              <a:buFontTx/>
              <a:buNone/>
            </a:pPr>
            <a:r>
              <a:rPr lang="en-US" altLang="en-US" sz="2000"/>
              <a:t>	3) FOR  mỗi đỉnh w lân cận với v   DO</a:t>
            </a:r>
          </a:p>
          <a:p>
            <a:pPr>
              <a:buFontTx/>
              <a:buNone/>
            </a:pPr>
            <a:r>
              <a:rPr lang="en-US" altLang="en-US" sz="2000"/>
              <a:t>		If  Visited[w] = 0  then    CALL  DFS(w);</a:t>
            </a:r>
          </a:p>
          <a:p>
            <a:pPr>
              <a:buFontTx/>
              <a:buNone/>
            </a:pPr>
            <a:r>
              <a:rPr lang="en-US" altLang="en-US" sz="2000"/>
              <a:t>  Return</a:t>
            </a:r>
          </a:p>
          <a:p>
            <a:pPr>
              <a:buFontTx/>
              <a:buNone/>
            </a:pPr>
            <a:r>
              <a:rPr lang="en-US" altLang="en-US" sz="2000">
                <a:solidFill>
                  <a:srgbClr val="6600FF"/>
                </a:solidFill>
              </a:rPr>
              <a:t>* Đánh giá thuật toán:</a:t>
            </a:r>
          </a:p>
          <a:p>
            <a:pPr>
              <a:buFontTx/>
              <a:buNone/>
            </a:pPr>
            <a:r>
              <a:rPr lang="en-US" altLang="en-US" sz="2000"/>
              <a:t>	+ Trường hợp biểu diễn đồ thị dùng danh sách móc nối: G có e cung, mỗi nút với tới 1 lần, nên thời gian tìm kiếm là O(e).</a:t>
            </a:r>
          </a:p>
          <a:p>
            <a:pPr>
              <a:buFontTx/>
              <a:buNone/>
            </a:pPr>
            <a:r>
              <a:rPr lang="en-US" altLang="en-US" sz="2000"/>
              <a:t>          + Trường hợp biểu diễn đồ thị dùng ma trận lân cận : thì thời gian xác định mọi điểm lân cận của v là O(n). Có n đỉnh nên thời gian tìm kiếm là O(n</a:t>
            </a:r>
            <a:r>
              <a:rPr lang="en-US" altLang="en-US" sz="2000" baseline="30000"/>
              <a:t>2</a:t>
            </a:r>
            <a:r>
              <a:rPr lang="en-US" altLang="en-US" sz="2000"/>
              <a:t>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400" b="1">
                <a:solidFill>
                  <a:srgbClr val="6600FF"/>
                </a:solidFill>
              </a:rPr>
              <a:t>3.2. Phép tìm kiếm theo chiều rộng (Breadth first search )</a:t>
            </a:r>
            <a:endParaRPr lang="en-US" altLang="en-US" sz="2400">
              <a:solidFill>
                <a:srgbClr val="6600FF"/>
              </a:solidFill>
            </a:endParaRPr>
          </a:p>
          <a:p>
            <a:pPr>
              <a:buFontTx/>
              <a:buNone/>
            </a:pPr>
            <a:r>
              <a:rPr lang="en-US" altLang="en-US" sz="2400"/>
              <a:t>  Xét đồ thị vô hướng. Phép tìm kiếm theo chiều rộng thể hiện như sau:</a:t>
            </a:r>
          </a:p>
          <a:p>
            <a:pPr>
              <a:buFontTx/>
              <a:buNone/>
            </a:pPr>
            <a:r>
              <a:rPr lang="en-US" altLang="en-US" sz="2400"/>
              <a:t>- Đỉnh xuất phát v được thăm.</a:t>
            </a:r>
          </a:p>
          <a:p>
            <a:pPr>
              <a:buFontTx/>
              <a:buNone/>
            </a:pPr>
            <a:r>
              <a:rPr lang="en-US" altLang="en-US" sz="2400"/>
              <a:t>- Tiếp theo các đỉnh chưa được thăm mà là lân cận của v sẽ được thăm, rồi đến các đỉnh chưa được thăm là lân cận lần lượt của các đỉnh này và cứ tương tự như vậy.</a:t>
            </a:r>
          </a:p>
          <a:p>
            <a:pPr>
              <a:buFontTx/>
              <a:buNone/>
            </a:pPr>
            <a:r>
              <a:rPr lang="en-US" altLang="en-US" sz="2400"/>
              <a:t> Ví dụ 1 ở trên: Phép duyệt theo chiều rộng đi theo trình tự sau:</a:t>
            </a:r>
          </a:p>
          <a:p>
            <a:pPr>
              <a:buFontTx/>
              <a:buNone/>
            </a:pPr>
            <a:r>
              <a:rPr lang="en-US" altLang="en-US" sz="2400"/>
              <a:t>v1 </a:t>
            </a:r>
            <a:r>
              <a:rPr lang="en-US" altLang="en-US" sz="2400">
                <a:sym typeface="Symbol" pitchFamily="18" charset="2"/>
              </a:rPr>
              <a:t></a:t>
            </a:r>
            <a:r>
              <a:rPr lang="en-US" altLang="en-US" sz="2400"/>
              <a:t> v2 </a:t>
            </a:r>
            <a:r>
              <a:rPr lang="en-US" altLang="en-US" sz="2400">
                <a:sym typeface="Symbol" pitchFamily="18" charset="2"/>
              </a:rPr>
              <a:t></a:t>
            </a:r>
            <a:r>
              <a:rPr lang="en-US" altLang="en-US" sz="2400"/>
              <a:t> v3 </a:t>
            </a:r>
            <a:r>
              <a:rPr lang="en-US" altLang="en-US" sz="2400">
                <a:sym typeface="Symbol" pitchFamily="18" charset="2"/>
              </a:rPr>
              <a:t></a:t>
            </a:r>
            <a:r>
              <a:rPr lang="en-US" altLang="en-US" sz="2400"/>
              <a:t> v4 </a:t>
            </a:r>
            <a:r>
              <a:rPr lang="en-US" altLang="en-US" sz="2400">
                <a:sym typeface="Symbol" pitchFamily="18" charset="2"/>
              </a:rPr>
              <a:t></a:t>
            </a:r>
            <a:r>
              <a:rPr lang="en-US" altLang="en-US" sz="2400"/>
              <a:t> v5 </a:t>
            </a:r>
            <a:r>
              <a:rPr lang="en-US" altLang="en-US" sz="2400">
                <a:sym typeface="Symbol" pitchFamily="18" charset="2"/>
              </a:rPr>
              <a:t></a:t>
            </a:r>
            <a:r>
              <a:rPr lang="en-US" altLang="en-US" sz="2400"/>
              <a:t> v6 </a:t>
            </a:r>
            <a:r>
              <a:rPr lang="en-US" altLang="en-US" sz="2400">
                <a:sym typeface="Symbol" pitchFamily="18" charset="2"/>
              </a:rPr>
              <a:t></a:t>
            </a:r>
            <a:r>
              <a:rPr lang="en-US" altLang="en-US" sz="2400"/>
              <a:t> v7 </a:t>
            </a:r>
            <a:r>
              <a:rPr lang="en-US" altLang="en-US" sz="2400">
                <a:sym typeface="Symbol" pitchFamily="18" charset="2"/>
              </a:rPr>
              <a:t></a:t>
            </a:r>
            <a:r>
              <a:rPr lang="en-US" altLang="en-US" sz="2400"/>
              <a:t> v8 </a:t>
            </a:r>
          </a:p>
          <a:p>
            <a:pPr>
              <a:buFontTx/>
              <a:buNone/>
            </a:pPr>
            <a:r>
              <a:rPr lang="en-US" altLang="en-US" sz="2400">
                <a:solidFill>
                  <a:srgbClr val="6600FF"/>
                </a:solidFill>
              </a:rPr>
              <a:t>* Thủ tục phép duyệt theo chiều rộng như sau:</a:t>
            </a:r>
          </a:p>
          <a:p>
            <a:pPr>
              <a:buFontTx/>
              <a:buNone/>
            </a:pPr>
            <a:r>
              <a:rPr lang="en-US" altLang="en-US" sz="2400"/>
              <a:t> Cho một đồ thị  G(V,E) vô hướng có n đỉnh và véc tơ Visited(n) gồm n phần tử, ban đầu véc tơ này có giá trị =0. Thuật giải này thực hiện thăm mọi đỉnh “ với tới được “ từ đỉnh v. Bắt đầu từ đỉnh v. Mọi đỉnh i được thăm đánh dấu bằng Visited(i):=1.</a:t>
            </a:r>
          </a:p>
          <a:p>
            <a:pPr>
              <a:buFontTx/>
              <a:buNone/>
            </a:pPr>
            <a:r>
              <a:rPr lang="en-US" altLang="en-US" sz="2400"/>
              <a:t> Dùng hàng đợi Q  có kích thước n; F, R là lối trước và lối sau của hàng đợi. Khi thăm 1 đình thì loại bỏ khỏi hàng đợi; khi chưa thăm thì bổ sung vào hàng đợi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70104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500" dirty="0"/>
              <a:t> Procedure  BFS(v)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500" dirty="0"/>
              <a:t>	1) Write(v</a:t>
            </a:r>
            <a:r>
              <a:rPr lang="en-US" altLang="en-US" sz="2500"/>
              <a:t>); {Thăm đỉnh </a:t>
            </a:r>
            <a:r>
              <a:rPr lang="en-US" altLang="en-US" sz="2500" dirty="0"/>
              <a:t>v}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500" dirty="0"/>
              <a:t>    2) Visited[v]:=1</a:t>
            </a:r>
            <a:r>
              <a:rPr lang="en-US" altLang="en-US" sz="2500"/>
              <a:t>; {Đánh </a:t>
            </a:r>
            <a:r>
              <a:rPr lang="en-US" altLang="en-US" sz="2500" dirty="0" err="1"/>
              <a:t>dấu</a:t>
            </a:r>
            <a:r>
              <a:rPr lang="en-US" altLang="en-US" sz="2500" dirty="0"/>
              <a:t> </a:t>
            </a:r>
            <a:r>
              <a:rPr lang="en-US" altLang="en-US" sz="2500"/>
              <a:t>v đã thăm}</a:t>
            </a:r>
            <a:endParaRPr lang="en-US" altLang="en-US" sz="2500" dirty="0"/>
          </a:p>
          <a:p>
            <a:pPr>
              <a:lnSpc>
                <a:spcPct val="80000"/>
              </a:lnSpc>
              <a:buNone/>
            </a:pPr>
            <a:r>
              <a:rPr lang="en-US" altLang="en-US" sz="2500" dirty="0"/>
              <a:t>	3</a:t>
            </a:r>
            <a:r>
              <a:rPr lang="en-US" altLang="en-US" sz="2500"/>
              <a:t>) CALL  CQInsert(Q,v); {Đưa v vào hàng đợi Q}</a:t>
            </a:r>
            <a:endParaRPr lang="en-US" altLang="en-US" sz="25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500" dirty="0"/>
              <a:t>	4) While  Q </a:t>
            </a:r>
            <a:r>
              <a:rPr lang="en-US" altLang="en-US" sz="2500" dirty="0" err="1"/>
              <a:t>chưa</a:t>
            </a:r>
            <a:r>
              <a:rPr lang="en-US" altLang="en-US" sz="2500" dirty="0"/>
              <a:t> </a:t>
            </a:r>
            <a:r>
              <a:rPr lang="en-US" altLang="en-US" sz="2500" dirty="0" err="1"/>
              <a:t>rỗng</a:t>
            </a:r>
            <a:r>
              <a:rPr lang="en-US" altLang="en-US" sz="2500" dirty="0"/>
              <a:t>  DO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500" dirty="0"/>
              <a:t> 		</a:t>
            </a:r>
            <a:r>
              <a:rPr lang="en-US" altLang="en-US" sz="2500" dirty="0">
                <a:solidFill>
                  <a:srgbClr val="0000CC"/>
                </a:solidFill>
              </a:rPr>
              <a:t>Begin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500" dirty="0"/>
              <a:t>		</a:t>
            </a:r>
            <a:r>
              <a:rPr lang="en-US" altLang="en-US" sz="2500"/>
              <a:t>   v := CQDelete(Q</a:t>
            </a:r>
            <a:r>
              <a:rPr lang="en-US" altLang="en-US" sz="2500" dirty="0"/>
              <a:t>)     { </a:t>
            </a:r>
            <a:r>
              <a:rPr lang="en-US" altLang="en-US" sz="2500" dirty="0" err="1"/>
              <a:t>loại</a:t>
            </a:r>
            <a:r>
              <a:rPr lang="en-US" altLang="en-US" sz="2500" dirty="0"/>
              <a:t> </a:t>
            </a:r>
            <a:r>
              <a:rPr lang="en-US" altLang="en-US" sz="2500" dirty="0" err="1"/>
              <a:t>bỏ</a:t>
            </a:r>
            <a:r>
              <a:rPr lang="en-US" altLang="en-US" sz="2500" dirty="0"/>
              <a:t> v </a:t>
            </a:r>
            <a:r>
              <a:rPr lang="en-US" altLang="en-US" sz="2500" dirty="0" err="1"/>
              <a:t>ra</a:t>
            </a:r>
            <a:r>
              <a:rPr lang="en-US" altLang="en-US" sz="2500" dirty="0"/>
              <a:t> </a:t>
            </a:r>
            <a:r>
              <a:rPr lang="en-US" altLang="en-US" sz="2500" dirty="0" err="1"/>
              <a:t>khỏi</a:t>
            </a:r>
            <a:r>
              <a:rPr lang="en-US" altLang="en-US" sz="2500" dirty="0"/>
              <a:t> Q}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500" dirty="0"/>
              <a:t>		   FOR  </a:t>
            </a:r>
            <a:r>
              <a:rPr lang="en-US" altLang="en-US" sz="2500" dirty="0" err="1"/>
              <a:t>mỗi</a:t>
            </a:r>
            <a:r>
              <a:rPr lang="en-US" altLang="en-US" sz="2500" dirty="0"/>
              <a:t> </a:t>
            </a:r>
            <a:r>
              <a:rPr lang="en-US" altLang="en-US" sz="2500" dirty="0" err="1"/>
              <a:t>đỉnh</a:t>
            </a:r>
            <a:r>
              <a:rPr lang="en-US" altLang="en-US" sz="2500" dirty="0"/>
              <a:t> w </a:t>
            </a:r>
            <a:r>
              <a:rPr lang="en-US" altLang="en-US" sz="2500" dirty="0" err="1"/>
              <a:t>lân</a:t>
            </a:r>
            <a:r>
              <a:rPr lang="en-US" altLang="en-US" sz="2500" dirty="0"/>
              <a:t> </a:t>
            </a:r>
            <a:r>
              <a:rPr lang="en-US" altLang="en-US" sz="2500" dirty="0" err="1"/>
              <a:t>cận</a:t>
            </a:r>
            <a:r>
              <a:rPr lang="en-US" altLang="en-US" sz="2500" dirty="0"/>
              <a:t> </a:t>
            </a:r>
            <a:r>
              <a:rPr lang="en-US" altLang="en-US" sz="2500" dirty="0" err="1"/>
              <a:t>với</a:t>
            </a:r>
            <a:r>
              <a:rPr lang="en-US" altLang="en-US" sz="2500" dirty="0"/>
              <a:t> v   DO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500" dirty="0"/>
              <a:t>	</a:t>
            </a:r>
            <a:r>
              <a:rPr lang="en-US" altLang="en-US" sz="2500" dirty="0">
                <a:solidFill>
                  <a:srgbClr val="FF3300"/>
                </a:solidFill>
              </a:rPr>
              <a:t>	     Begin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500" dirty="0"/>
              <a:t>		       If  Visited[w]=0  then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500" dirty="0"/>
              <a:t>			</a:t>
            </a:r>
            <a:r>
              <a:rPr lang="en-US" altLang="en-US" sz="2500" dirty="0">
                <a:solidFill>
                  <a:srgbClr val="CC00FF"/>
                </a:solidFill>
              </a:rPr>
              <a:t>Begin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500" dirty="0"/>
              <a:t>			  Write(w); Visited[w]:=1;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500" dirty="0"/>
              <a:t>			  </a:t>
            </a:r>
            <a:r>
              <a:rPr lang="en-US" altLang="en-US" sz="2500"/>
              <a:t>CALL  CQInsert(Q,w); </a:t>
            </a:r>
            <a:r>
              <a:rPr lang="en-US" altLang="en-US" sz="2500" dirty="0"/>
              <a:t>{ </a:t>
            </a:r>
            <a:r>
              <a:rPr lang="en-US" altLang="en-US" sz="2500" dirty="0" err="1"/>
              <a:t>Bổ</a:t>
            </a:r>
            <a:r>
              <a:rPr lang="en-US" altLang="en-US" sz="2500" dirty="0"/>
              <a:t> sung w </a:t>
            </a:r>
            <a:r>
              <a:rPr lang="en-US" altLang="en-US" sz="2500" dirty="0" err="1"/>
              <a:t>vào</a:t>
            </a:r>
            <a:r>
              <a:rPr lang="en-US" altLang="en-US" sz="2500" dirty="0"/>
              <a:t> Q}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500" dirty="0"/>
              <a:t>			</a:t>
            </a:r>
            <a:r>
              <a:rPr lang="en-US" altLang="en-US" sz="2500" dirty="0">
                <a:solidFill>
                  <a:srgbClr val="CC00FF"/>
                </a:solidFill>
              </a:rPr>
              <a:t>End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500" dirty="0"/>
              <a:t>	</a:t>
            </a:r>
            <a:r>
              <a:rPr lang="en-US" altLang="en-US" sz="2500" dirty="0">
                <a:solidFill>
                  <a:srgbClr val="FF3300"/>
                </a:solidFill>
              </a:rPr>
              <a:t>	     End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500" dirty="0"/>
              <a:t>		</a:t>
            </a:r>
            <a:r>
              <a:rPr lang="en-US" altLang="en-US" sz="2500" dirty="0">
                <a:solidFill>
                  <a:srgbClr val="0000CC"/>
                </a:solidFill>
              </a:rPr>
              <a:t>End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500" dirty="0"/>
              <a:t>Return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400">
                <a:solidFill>
                  <a:srgbClr val="6600FF"/>
                </a:solidFill>
              </a:rPr>
              <a:t>* Đánh giá giải thuật:</a:t>
            </a:r>
            <a:r>
              <a:rPr lang="en-US" altLang="en-US" sz="2400"/>
              <a:t>  Vòng lặp While lặp lại n lần .</a:t>
            </a:r>
          </a:p>
          <a:p>
            <a:pPr>
              <a:buFontTx/>
              <a:buNone/>
            </a:pPr>
            <a:r>
              <a:rPr lang="en-US" altLang="en-US" sz="2400"/>
              <a:t>	- Nếu biểu diễn đồ thị bằng ma trận lân cận thì thời gian thực hiện là O(n</a:t>
            </a:r>
            <a:r>
              <a:rPr lang="en-US" altLang="en-US" sz="2400" baseline="30000"/>
              <a:t>2</a:t>
            </a:r>
            <a:r>
              <a:rPr lang="en-US" altLang="en-US" sz="2400"/>
              <a:t>).</a:t>
            </a:r>
          </a:p>
          <a:p>
            <a:pPr>
              <a:buFontTx/>
              <a:buNone/>
            </a:pPr>
            <a:r>
              <a:rPr lang="en-US" altLang="en-US" sz="2400"/>
              <a:t>	- Nếu biểu diễn đồ thị bằng danh sách lân cận thì thời gian thực hiện là O(e).</a:t>
            </a:r>
          </a:p>
          <a:p>
            <a:pPr>
              <a:buFontTx/>
              <a:buNone/>
            </a:pPr>
            <a:r>
              <a:rPr lang="en-US" altLang="en-US" sz="2400" b="1">
                <a:solidFill>
                  <a:srgbClr val="6600FF"/>
                </a:solidFill>
              </a:rPr>
              <a:t>4. Cây khung và cây khung với giá trị cực tiểu</a:t>
            </a:r>
          </a:p>
          <a:p>
            <a:pPr>
              <a:buFontTx/>
              <a:buNone/>
            </a:pPr>
            <a:r>
              <a:rPr lang="en-US" altLang="en-US" sz="2400" b="1">
                <a:solidFill>
                  <a:srgbClr val="6600FF"/>
                </a:solidFill>
              </a:rPr>
              <a:t>4.1. Cây khung</a:t>
            </a:r>
          </a:p>
          <a:p>
            <a:pPr>
              <a:buFontTx/>
              <a:buNone/>
            </a:pPr>
            <a:r>
              <a:rPr lang="en-US" altLang="en-US" sz="2400"/>
              <a:t>* Nếu G là đồ thị liên thông thì phép tìm kiếm theo chiều sâu hoặc theo chiều rộng xuất phát từ 1 đỉnh thăm mọi đỉnh. Như vậy các cung trong G phân thành 2 tập:</a:t>
            </a:r>
          </a:p>
          <a:p>
            <a:pPr>
              <a:buFontTx/>
              <a:buNone/>
            </a:pPr>
            <a:r>
              <a:rPr lang="en-US" altLang="en-US" sz="2400"/>
              <a:t>	- Tập T chứa các cung đã được duyệt qua.</a:t>
            </a:r>
          </a:p>
          <a:p>
            <a:pPr>
              <a:buFontTx/>
              <a:buNone/>
            </a:pPr>
            <a:r>
              <a:rPr lang="en-US" altLang="en-US" sz="2400"/>
              <a:t>	- Tập b gồm các cung còn lại.</a:t>
            </a:r>
          </a:p>
          <a:p>
            <a:pPr>
              <a:buFontTx/>
              <a:buNone/>
            </a:pPr>
            <a:r>
              <a:rPr lang="en-US" altLang="en-US" sz="2400"/>
              <a:t>* Tất cả các cung và các đỉnh trong T sẽ tạo thành một cây con bao gồm mọi đỉnh của G. Cây con như vậy gọi là cây khung của 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586" name="Object 2"/>
          <p:cNvGraphicFramePr>
            <a:graphicFrameLocks noGrp="1" noChangeAspect="1"/>
          </p:cNvGraphicFramePr>
          <p:nvPr>
            <p:ph type="body" idx="1"/>
          </p:nvPr>
        </p:nvGraphicFramePr>
        <p:xfrm>
          <a:off x="228600" y="381000"/>
          <a:ext cx="8915400" cy="586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88639" imgH="2661330" progId="Word.Document.8">
                  <p:embed/>
                </p:oleObj>
              </mc:Choice>
              <mc:Fallback>
                <p:oleObj name="Document" r:id="rId2" imgW="5788639" imgH="266133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81000"/>
                        <a:ext cx="8915400" cy="586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634" name="Object 2"/>
          <p:cNvGraphicFramePr>
            <a:graphicFrameLocks noGrp="1" noChangeAspect="1"/>
          </p:cNvGraphicFramePr>
          <p:nvPr>
            <p:ph type="body" idx="1"/>
          </p:nvPr>
        </p:nvGraphicFramePr>
        <p:xfrm>
          <a:off x="0" y="304800"/>
          <a:ext cx="9144000" cy="617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88639" imgH="3752612" progId="Word.Document.8">
                  <p:embed/>
                </p:oleObj>
              </mc:Choice>
              <mc:Fallback>
                <p:oleObj name="Document" r:id="rId2" imgW="5788639" imgH="3752612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04800"/>
                        <a:ext cx="9144000" cy="6172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658" name="Object 2"/>
          <p:cNvGraphicFramePr>
            <a:graphicFrameLocks noGrp="1" noChangeAspect="1"/>
          </p:cNvGraphicFramePr>
          <p:nvPr>
            <p:ph type="body" idx="1"/>
          </p:nvPr>
        </p:nvGraphicFramePr>
        <p:xfrm>
          <a:off x="0" y="517525"/>
          <a:ext cx="9144000" cy="582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88639" imgH="3685196" progId="Word.Document.8">
                  <p:embed/>
                </p:oleObj>
              </mc:Choice>
              <mc:Fallback>
                <p:oleObj name="Document" r:id="rId2" imgW="5788639" imgH="3685196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17525"/>
                        <a:ext cx="9144000" cy="5821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9682" name="Object 2"/>
          <p:cNvGraphicFramePr>
            <a:graphicFrameLocks noGrp="1" noChangeAspect="1"/>
          </p:cNvGraphicFramePr>
          <p:nvPr>
            <p:ph type="body" idx="1"/>
          </p:nvPr>
        </p:nvGraphicFramePr>
        <p:xfrm>
          <a:off x="0" y="304800"/>
          <a:ext cx="9144000" cy="586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88639" imgH="3480423" progId="Word.Document.8">
                  <p:embed/>
                </p:oleObj>
              </mc:Choice>
              <mc:Fallback>
                <p:oleObj name="Document" r:id="rId2" imgW="5788639" imgH="3480423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04800"/>
                        <a:ext cx="9144000" cy="586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400" b="1">
                <a:solidFill>
                  <a:srgbClr val="6600FF"/>
                </a:solidFill>
              </a:rPr>
              <a:t>4.2. Cây khung với giá trị cực tiểu</a:t>
            </a:r>
          </a:p>
          <a:p>
            <a:pPr>
              <a:buFontTx/>
              <a:buNone/>
            </a:pPr>
            <a:endParaRPr lang="en-US" altLang="en-US" sz="2400" b="1">
              <a:solidFill>
                <a:srgbClr val="6600FF"/>
              </a:solidFill>
            </a:endParaRPr>
          </a:p>
          <a:p>
            <a:pPr>
              <a:buFontTx/>
              <a:buNone/>
            </a:pPr>
            <a:r>
              <a:rPr lang="en-US" altLang="en-US" sz="2400">
                <a:solidFill>
                  <a:srgbClr val="6600FF"/>
                </a:solidFill>
              </a:rPr>
              <a:t>* Bài toán:</a:t>
            </a:r>
            <a:r>
              <a:rPr lang="en-US" altLang="en-US" sz="2400"/>
              <a:t> Xác định cây khung với giá trị cực tiểu của đồ thị liên thông có trọng số.</a:t>
            </a:r>
          </a:p>
          <a:p>
            <a:pPr>
              <a:buFontTx/>
              <a:buNone/>
            </a:pPr>
            <a:r>
              <a:rPr lang="en-US" altLang="en-US" sz="2400"/>
              <a:t>  Gía trị của cây khung là tổng các trọng số ứng với các cạnh của cây khung.</a:t>
            </a:r>
          </a:p>
          <a:p>
            <a:pPr>
              <a:buFontTx/>
              <a:buNone/>
            </a:pPr>
            <a:r>
              <a:rPr lang="en-US" altLang="en-US" sz="2400"/>
              <a:t>* Có nhiều giải thuật xác định cây khung với giá trị cực tiểu nhưng trong phần này ta chỉ xét giải thuật Kruskal. Với giải thuật này cây khung T sẽ được xây dựng dần từng cung một. Các cung đưa vào T thoả mãn:</a:t>
            </a:r>
          </a:p>
          <a:p>
            <a:pPr>
              <a:buFontTx/>
              <a:buNone/>
            </a:pPr>
            <a:r>
              <a:rPr lang="en-US" altLang="en-US" sz="2400"/>
              <a:t>	- Cung có giá trị cực tiểu trong các cung còn lại.</a:t>
            </a:r>
          </a:p>
          <a:p>
            <a:pPr>
              <a:buFontTx/>
              <a:buNone/>
            </a:pPr>
            <a:r>
              <a:rPr lang="en-US" altLang="en-US" sz="2400"/>
              <a:t>	- Không tạo ra chu trình với các cung đã có của 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800">
                <a:solidFill>
                  <a:srgbClr val="6600FF"/>
                </a:solidFill>
              </a:rPr>
              <a:t>* Giải thuật Kruskal được viết như sau:</a:t>
            </a:r>
          </a:p>
          <a:p>
            <a:pPr>
              <a:buFontTx/>
              <a:buNone/>
            </a:pPr>
            <a:r>
              <a:rPr lang="en-US" altLang="en-US" sz="2800"/>
              <a:t>	1. T=</a:t>
            </a:r>
            <a:r>
              <a:rPr lang="en-US" altLang="en-US" sz="2800">
                <a:sym typeface="Symbol" pitchFamily="18" charset="2"/>
              </a:rPr>
              <a:t></a:t>
            </a:r>
            <a:r>
              <a:rPr lang="en-US" altLang="en-US" sz="2800"/>
              <a:t> { T rỗng </a:t>
            </a:r>
          </a:p>
          <a:p>
            <a:pPr>
              <a:buFontTx/>
              <a:buNone/>
            </a:pPr>
            <a:r>
              <a:rPr lang="en-US" altLang="en-US" sz="2800"/>
              <a:t>	2.  While   T chứa ít hơn (n-1) cung  Do</a:t>
            </a:r>
          </a:p>
          <a:p>
            <a:pPr>
              <a:buFontTx/>
              <a:buNone/>
            </a:pPr>
            <a:r>
              <a:rPr lang="en-US" altLang="en-US" sz="2800"/>
              <a:t>	3.    Begin  Chọn 1 cung (v,w) từ E có giá trị nhỏ nhất.</a:t>
            </a:r>
          </a:p>
          <a:p>
            <a:pPr>
              <a:buFontTx/>
              <a:buNone/>
            </a:pPr>
            <a:r>
              <a:rPr lang="en-US" altLang="en-US" sz="2800"/>
              <a:t>	4.      Loại (v,w) ra khỏi E</a:t>
            </a:r>
          </a:p>
          <a:p>
            <a:pPr>
              <a:buFontTx/>
              <a:buNone/>
            </a:pPr>
            <a:r>
              <a:rPr lang="en-US" altLang="en-US" sz="2800"/>
              <a:t>	5.      If  (v,w) không tạo nên chu trình trong T  Then  đưa (v,w) vào T.</a:t>
            </a:r>
          </a:p>
          <a:p>
            <a:pPr>
              <a:buFontTx/>
              <a:buNone/>
            </a:pPr>
            <a:r>
              <a:rPr lang="en-US" altLang="en-US" sz="2800"/>
              <a:t>                 End;    </a:t>
            </a:r>
          </a:p>
          <a:p>
            <a:pPr>
              <a:buFontTx/>
              <a:buNone/>
            </a:pPr>
            <a:r>
              <a:rPr lang="en-US" altLang="en-US" sz="2800"/>
              <a:t>	6. Return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2754" name="Object 2"/>
          <p:cNvGraphicFramePr>
            <a:graphicFrameLocks noGrp="1" noChangeAspect="1"/>
          </p:cNvGraphicFramePr>
          <p:nvPr>
            <p:ph type="body" idx="1"/>
          </p:nvPr>
        </p:nvGraphicFramePr>
        <p:xfrm>
          <a:off x="0" y="355600"/>
          <a:ext cx="9144000" cy="614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88639" imgH="3889969" progId="Word.Document.8">
                  <p:embed/>
                </p:oleObj>
              </mc:Choice>
              <mc:Fallback>
                <p:oleObj name="Document" r:id="rId2" imgW="5788639" imgH="3889969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55600"/>
                        <a:ext cx="9144000" cy="6145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778" name="Object 2"/>
          <p:cNvGraphicFramePr>
            <a:graphicFrameLocks noGrp="1" noChangeAspect="1"/>
          </p:cNvGraphicFramePr>
          <p:nvPr>
            <p:ph type="body" idx="1"/>
          </p:nvPr>
        </p:nvGraphicFramePr>
        <p:xfrm>
          <a:off x="0" y="679450"/>
          <a:ext cx="9144000" cy="549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88639" imgH="3480423" progId="Word.Document.8">
                  <p:embed/>
                </p:oleObj>
              </mc:Choice>
              <mc:Fallback>
                <p:oleObj name="Document" r:id="rId2" imgW="5788639" imgH="3480423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79450"/>
                        <a:ext cx="9144000" cy="5497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800">
                <a:solidFill>
                  <a:srgbClr val="6600FF"/>
                </a:solidFill>
              </a:rPr>
              <a:t>* Đánh giá giải thuật:</a:t>
            </a:r>
            <a:r>
              <a:rPr lang="en-US" altLang="en-US" sz="2800"/>
              <a:t> </a:t>
            </a:r>
          </a:p>
          <a:p>
            <a:pPr>
              <a:buFontTx/>
              <a:buNone/>
            </a:pPr>
            <a:r>
              <a:rPr lang="en-US" altLang="en-US" sz="2800"/>
              <a:t>	Thời gian thực hiện giải thuật xác định qua thực hiện bước 3 và 4.</a:t>
            </a:r>
          </a:p>
          <a:p>
            <a:pPr>
              <a:buFontTx/>
              <a:buNone/>
            </a:pPr>
            <a:r>
              <a:rPr lang="en-US" altLang="en-US" sz="2800"/>
              <a:t>Trường hợp xấu nhất sẽ là O(e.log e)  trong đó e là số cung của đồ thị G.</a:t>
            </a:r>
          </a:p>
          <a:p>
            <a:pPr>
              <a:buFontTx/>
              <a:buNone/>
            </a:pPr>
            <a:r>
              <a:rPr lang="en-US" altLang="en-US" sz="2800" b="1">
                <a:solidFill>
                  <a:srgbClr val="6600FF"/>
                </a:solidFill>
              </a:rPr>
              <a:t>5. Bài toán tìm đường đi ngắn nhất</a:t>
            </a:r>
            <a:r>
              <a:rPr lang="en-US" altLang="en-US" sz="2800"/>
              <a:t> </a:t>
            </a:r>
          </a:p>
          <a:p>
            <a:pPr>
              <a:buFontTx/>
              <a:buNone/>
            </a:pPr>
            <a:r>
              <a:rPr lang="en-US" altLang="en-US" sz="2800"/>
              <a:t>( Bài toán một nguồn mọi đích)</a:t>
            </a:r>
          </a:p>
          <a:p>
            <a:pPr>
              <a:buFontTx/>
              <a:buNone/>
            </a:pPr>
            <a:r>
              <a:rPr lang="en-US" altLang="en-US" sz="2800"/>
              <a:t>( Single source all destination )</a:t>
            </a:r>
          </a:p>
          <a:p>
            <a:pPr>
              <a:buFontTx/>
              <a:buNone/>
            </a:pPr>
            <a:r>
              <a:rPr lang="en-US" altLang="en-US" sz="2800"/>
              <a:t>* Cho đồ thị có hướng G(V,E), một hàm trọng số w(e) cho các cung e của G và một đỉnh nguồn v0 .</a:t>
            </a:r>
          </a:p>
          <a:p>
            <a:pPr>
              <a:buFontTx/>
              <a:buNone/>
            </a:pPr>
            <a:r>
              <a:rPr lang="en-US" altLang="en-US" sz="2800"/>
              <a:t>  	</a:t>
            </a:r>
            <a:r>
              <a:rPr lang="en-US" altLang="en-US" sz="2800">
                <a:solidFill>
                  <a:srgbClr val="6600FF"/>
                </a:solidFill>
              </a:rPr>
              <a:t>Bài toán đặt ra là:</a:t>
            </a:r>
            <a:r>
              <a:rPr lang="en-US" altLang="en-US" sz="2800"/>
              <a:t> Xác định đường đi ngắn nhất từ v0 đến mọi đỉnh còn lại của G ( độ dài đường đi là tổng các trọng số trên các cung đường đi đó và các trọng số đều dương 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4980" name="Object 4"/>
          <p:cNvGraphicFramePr>
            <a:graphicFrameLocks noGrp="1" noChangeAspect="1"/>
          </p:cNvGraphicFramePr>
          <p:nvPr>
            <p:ph type="body" idx="1"/>
          </p:nvPr>
        </p:nvGraphicFramePr>
        <p:xfrm>
          <a:off x="0" y="355600"/>
          <a:ext cx="9144000" cy="614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3500" imgH="3685196" progId="Word.Document.8">
                  <p:embed/>
                </p:oleObj>
              </mc:Choice>
              <mc:Fallback>
                <p:oleObj name="Document" r:id="rId2" imgW="5483500" imgH="3685196" progId="Word.Document.8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55600"/>
                        <a:ext cx="9144000" cy="614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800"/>
              <a:t>* Gọi S là tập các đỉnh kể cả v0 mà đường đi ngắn nhất xác lập.</a:t>
            </a:r>
          </a:p>
          <a:p>
            <a:pPr>
              <a:buFontTx/>
              <a:buNone/>
            </a:pPr>
            <a:r>
              <a:rPr lang="en-US" altLang="en-US" sz="2800"/>
              <a:t>   Đối với 1 đỉnh w </a:t>
            </a:r>
            <a:r>
              <a:rPr lang="en-US" altLang="en-US" sz="2800">
                <a:sym typeface="Symbol" pitchFamily="18" charset="2"/>
              </a:rPr>
              <a:t></a:t>
            </a:r>
            <a:r>
              <a:rPr lang="en-US" altLang="en-US" sz="2800"/>
              <a:t> S, gọi Dist(w) là độ dài của đường đi ngắn nhất từ v0 qua các đỉnh trong S và kết thúc ở w thì sẽ có một số nhận xét sau:</a:t>
            </a:r>
          </a:p>
          <a:p>
            <a:pPr>
              <a:buFontTx/>
              <a:buNone/>
            </a:pPr>
            <a:r>
              <a:rPr lang="en-US" altLang="en-US" sz="2800"/>
              <a:t>	1. Nếu đường đi ngắn nhất tới w thì đường đi đó bắt đầu từ v0 kết thúc ở w và chỉ đi qua những đỉnh thuộc S.</a:t>
            </a:r>
          </a:p>
          <a:p>
            <a:pPr>
              <a:buFontTx/>
              <a:buNone/>
            </a:pPr>
            <a:r>
              <a:rPr lang="en-US" altLang="en-US" sz="2800"/>
              <a:t>	2. Đích của đường đi sinh ra tiếp theo phải là một đỉnh w nào đó </a:t>
            </a:r>
            <a:r>
              <a:rPr lang="en-US" altLang="en-US" sz="2800">
                <a:sym typeface="Symbol" pitchFamily="18" charset="2"/>
              </a:rPr>
              <a:t></a:t>
            </a:r>
            <a:r>
              <a:rPr lang="en-US" altLang="en-US" sz="2800"/>
              <a:t> S mà có Dist(w) ngắn nhất so với mọi đỉnh </a:t>
            </a:r>
            <a:r>
              <a:rPr lang="en-US" altLang="en-US" sz="2800">
                <a:sym typeface="Symbol" pitchFamily="18" charset="2"/>
              </a:rPr>
              <a:t></a:t>
            </a:r>
            <a:r>
              <a:rPr lang="en-US" altLang="en-US" sz="2800"/>
              <a:t> S .</a:t>
            </a:r>
          </a:p>
          <a:p>
            <a:pPr>
              <a:buFontTx/>
              <a:buNone/>
            </a:pPr>
            <a:r>
              <a:rPr lang="en-US" altLang="en-US" sz="2800"/>
              <a:t>	3. Nếu đã chọn được một đỉnh w như trong nhận xét 2 ở trên và sinh ra một đường đi ngắn nhất từ v0 đến w thì w sẽ trở thành 1 phần tử của 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609600" indent="-609600">
              <a:buFontTx/>
              <a:buNone/>
            </a:pPr>
            <a:r>
              <a:rPr lang="en-US" altLang="en-US" sz="2000">
                <a:solidFill>
                  <a:srgbClr val="6600FF"/>
                </a:solidFill>
              </a:rPr>
              <a:t>* Dưa trên các quan điểm như các nhận xét nêu trên Diskstra đưa ra giải thuật tìm đường đi ngắn nhất như sau:</a:t>
            </a:r>
          </a:p>
          <a:p>
            <a:pPr marL="609600" indent="-609600">
              <a:buFontTx/>
              <a:buNone/>
            </a:pPr>
            <a:r>
              <a:rPr lang="en-US" altLang="en-US" sz="2000"/>
              <a:t>	- Giả thiết n đỉnh của G được đánh số từ 1 tới n.</a:t>
            </a:r>
          </a:p>
          <a:p>
            <a:pPr marL="609600" indent="-609600">
              <a:buFontTx/>
              <a:buNone/>
            </a:pPr>
            <a:r>
              <a:rPr lang="en-US" altLang="en-US" sz="2000"/>
              <a:t> 	- Tập S được thể hiện bằng véc tơ bít:  S[i] = 0 nếu đỉnh i </a:t>
            </a:r>
            <a:r>
              <a:rPr lang="en-US" altLang="en-US" sz="2000">
                <a:sym typeface="Symbol" pitchFamily="18" charset="2"/>
              </a:rPr>
              <a:t></a:t>
            </a:r>
            <a:r>
              <a:rPr lang="en-US" altLang="en-US" sz="2000"/>
              <a:t> S </a:t>
            </a:r>
          </a:p>
          <a:p>
            <a:pPr marL="609600" indent="-609600">
              <a:buFontTx/>
              <a:buNone/>
            </a:pPr>
            <a:r>
              <a:rPr lang="en-US" altLang="en-US" sz="2000"/>
              <a:t>						       S[i] = 1 nếu đỉnh i </a:t>
            </a:r>
            <a:r>
              <a:rPr lang="en-US" altLang="en-US" sz="2000">
                <a:sym typeface="Symbol" pitchFamily="18" charset="2"/>
              </a:rPr>
              <a:t></a:t>
            </a:r>
            <a:r>
              <a:rPr lang="en-US" altLang="en-US" sz="2000"/>
              <a:t>S </a:t>
            </a:r>
          </a:p>
          <a:p>
            <a:pPr marL="609600" indent="-609600">
              <a:buFontTx/>
              <a:buNone/>
            </a:pPr>
            <a:r>
              <a:rPr lang="en-US" altLang="en-US" sz="2000"/>
              <a:t>	- Độ dài trọng số biểu diễn bằng ma trận lân cận Cost:</a:t>
            </a:r>
          </a:p>
          <a:p>
            <a:pPr marL="609600" indent="-609600">
              <a:buFontTx/>
              <a:buNone/>
            </a:pPr>
            <a:r>
              <a:rPr lang="en-US" altLang="en-US" sz="2000"/>
              <a:t>		Cost[i,j] là trọng số cung (i,j)</a:t>
            </a:r>
          </a:p>
          <a:p>
            <a:pPr marL="609600" indent="-609600">
              <a:buFontTx/>
              <a:buNone/>
            </a:pPr>
            <a:r>
              <a:rPr lang="en-US" altLang="en-US" sz="2000"/>
              <a:t>		Cost[i,j] = + </a:t>
            </a:r>
            <a:r>
              <a:rPr lang="en-US" altLang="en-US" sz="2000">
                <a:sym typeface="Symbol" pitchFamily="18" charset="2"/>
              </a:rPr>
              <a:t></a:t>
            </a:r>
            <a:r>
              <a:rPr lang="en-US" altLang="en-US" sz="2000"/>
              <a:t>  nếu cung (i,j) không có.</a:t>
            </a:r>
          </a:p>
          <a:p>
            <a:pPr marL="609600" indent="-609600">
              <a:buFontTx/>
              <a:buNone/>
            </a:pPr>
            <a:r>
              <a:rPr lang="en-US" altLang="en-US" sz="2000"/>
              <a:t>		Cost[i,j] = 0  nếu i=j</a:t>
            </a:r>
          </a:p>
          <a:p>
            <a:pPr marL="609600" indent="-609600">
              <a:buFontTx/>
              <a:buNone/>
            </a:pPr>
            <a:r>
              <a:rPr lang="en-US" altLang="en-US" sz="2000"/>
              <a:t> Ví dụ trên thì ma trận lân cân Cost như sau:</a:t>
            </a:r>
          </a:p>
          <a:p>
            <a:pPr marL="609600" indent="-609600">
              <a:buFontTx/>
              <a:buNone/>
            </a:pPr>
            <a:r>
              <a:rPr lang="en-US" altLang="en-US" sz="2000"/>
              <a:t> 		v0	v1	v2	v3	v4	v5</a:t>
            </a:r>
          </a:p>
          <a:p>
            <a:pPr marL="609600" indent="-609600">
              <a:buFontTx/>
              <a:buNone/>
            </a:pPr>
            <a:r>
              <a:rPr lang="en-US" altLang="en-US" sz="2000"/>
              <a:t>	v0	0	50	10	+ </a:t>
            </a:r>
            <a:r>
              <a:rPr lang="en-US" altLang="en-US" sz="2000">
                <a:sym typeface="Symbol" pitchFamily="18" charset="2"/>
              </a:rPr>
              <a:t></a:t>
            </a:r>
            <a:r>
              <a:rPr lang="en-US" altLang="en-US" sz="2000"/>
              <a:t>	45	+ </a:t>
            </a:r>
            <a:r>
              <a:rPr lang="en-US" altLang="en-US" sz="2000">
                <a:sym typeface="Symbol" pitchFamily="18" charset="2"/>
              </a:rPr>
              <a:t></a:t>
            </a:r>
            <a:endParaRPr lang="en-US" altLang="en-US" sz="2000"/>
          </a:p>
          <a:p>
            <a:pPr marL="609600" indent="-609600">
              <a:buFontTx/>
              <a:buNone/>
            </a:pPr>
            <a:r>
              <a:rPr lang="en-US" altLang="en-US" sz="2000"/>
              <a:t>	v1	+ </a:t>
            </a:r>
            <a:r>
              <a:rPr lang="en-US" altLang="en-US" sz="2000">
                <a:sym typeface="Symbol" pitchFamily="18" charset="2"/>
              </a:rPr>
              <a:t></a:t>
            </a:r>
            <a:r>
              <a:rPr lang="en-US" altLang="en-US" sz="2000"/>
              <a:t>	0	15	+ </a:t>
            </a:r>
            <a:r>
              <a:rPr lang="en-US" altLang="en-US" sz="2000">
                <a:sym typeface="Symbol" pitchFamily="18" charset="2"/>
              </a:rPr>
              <a:t></a:t>
            </a:r>
            <a:r>
              <a:rPr lang="en-US" altLang="en-US" sz="2000"/>
              <a:t>	10	+ </a:t>
            </a:r>
            <a:r>
              <a:rPr lang="en-US" altLang="en-US" sz="2000">
                <a:sym typeface="Symbol" pitchFamily="18" charset="2"/>
              </a:rPr>
              <a:t></a:t>
            </a:r>
            <a:endParaRPr lang="en-US" altLang="en-US" sz="2000"/>
          </a:p>
          <a:p>
            <a:pPr marL="609600" indent="-609600">
              <a:buFontTx/>
              <a:buNone/>
            </a:pPr>
            <a:r>
              <a:rPr lang="en-US" altLang="en-US" sz="2000"/>
              <a:t>	v2	20	+ </a:t>
            </a:r>
            <a:r>
              <a:rPr lang="en-US" altLang="en-US" sz="2000">
                <a:sym typeface="Symbol" pitchFamily="18" charset="2"/>
              </a:rPr>
              <a:t></a:t>
            </a:r>
            <a:r>
              <a:rPr lang="en-US" altLang="en-US" sz="2000"/>
              <a:t>	0	15	+ </a:t>
            </a:r>
            <a:r>
              <a:rPr lang="en-US" altLang="en-US" sz="2000">
                <a:sym typeface="Symbol" pitchFamily="18" charset="2"/>
              </a:rPr>
              <a:t></a:t>
            </a:r>
            <a:r>
              <a:rPr lang="en-US" altLang="en-US" sz="2000"/>
              <a:t>	+ </a:t>
            </a:r>
            <a:r>
              <a:rPr lang="en-US" altLang="en-US" sz="2000">
                <a:sym typeface="Symbol" pitchFamily="18" charset="2"/>
              </a:rPr>
              <a:t></a:t>
            </a:r>
            <a:endParaRPr lang="en-US" altLang="en-US" sz="2000"/>
          </a:p>
          <a:p>
            <a:pPr marL="609600" indent="-609600">
              <a:buFontTx/>
              <a:buNone/>
            </a:pPr>
            <a:r>
              <a:rPr lang="en-US" altLang="en-US" sz="2000"/>
              <a:t>	v3	+ </a:t>
            </a:r>
            <a:r>
              <a:rPr lang="en-US" altLang="en-US" sz="2000">
                <a:sym typeface="Symbol" pitchFamily="18" charset="2"/>
              </a:rPr>
              <a:t></a:t>
            </a:r>
            <a:r>
              <a:rPr lang="en-US" altLang="en-US" sz="2000"/>
              <a:t>	20	+ </a:t>
            </a:r>
            <a:r>
              <a:rPr lang="en-US" altLang="en-US" sz="2000">
                <a:sym typeface="Symbol" pitchFamily="18" charset="2"/>
              </a:rPr>
              <a:t></a:t>
            </a:r>
            <a:r>
              <a:rPr lang="en-US" altLang="en-US" sz="2000"/>
              <a:t>	0	35	+ </a:t>
            </a:r>
            <a:r>
              <a:rPr lang="en-US" altLang="en-US" sz="2000">
                <a:sym typeface="Symbol" pitchFamily="18" charset="2"/>
              </a:rPr>
              <a:t></a:t>
            </a:r>
            <a:endParaRPr lang="en-US" altLang="en-US" sz="2000"/>
          </a:p>
          <a:p>
            <a:pPr marL="609600" indent="-609600">
              <a:buFontTx/>
              <a:buNone/>
            </a:pPr>
            <a:r>
              <a:rPr lang="en-US" altLang="en-US" sz="2000"/>
              <a:t>	v4	+ </a:t>
            </a:r>
            <a:r>
              <a:rPr lang="en-US" altLang="en-US" sz="2000">
                <a:sym typeface="Symbol" pitchFamily="18" charset="2"/>
              </a:rPr>
              <a:t></a:t>
            </a:r>
            <a:r>
              <a:rPr lang="en-US" altLang="en-US" sz="2000"/>
              <a:t>	+ </a:t>
            </a:r>
            <a:r>
              <a:rPr lang="en-US" altLang="en-US" sz="2000">
                <a:sym typeface="Symbol" pitchFamily="18" charset="2"/>
              </a:rPr>
              <a:t></a:t>
            </a:r>
            <a:r>
              <a:rPr lang="en-US" altLang="en-US" sz="2000"/>
              <a:t>	+ </a:t>
            </a:r>
            <a:r>
              <a:rPr lang="en-US" altLang="en-US" sz="2000">
                <a:sym typeface="Symbol" pitchFamily="18" charset="2"/>
              </a:rPr>
              <a:t></a:t>
            </a:r>
            <a:r>
              <a:rPr lang="en-US" altLang="en-US" sz="2000"/>
              <a:t>	30	0	+ </a:t>
            </a:r>
            <a:r>
              <a:rPr lang="en-US" altLang="en-US" sz="2000">
                <a:sym typeface="Symbol" pitchFamily="18" charset="2"/>
              </a:rPr>
              <a:t></a:t>
            </a:r>
            <a:endParaRPr lang="en-US" altLang="en-US" sz="2000"/>
          </a:p>
          <a:p>
            <a:pPr marL="609600" indent="-609600">
              <a:buFontTx/>
              <a:buNone/>
            </a:pPr>
            <a:r>
              <a:rPr lang="en-US" altLang="en-US" sz="2000"/>
              <a:t>	v5	+ </a:t>
            </a:r>
            <a:r>
              <a:rPr lang="en-US" altLang="en-US" sz="2000">
                <a:sym typeface="Symbol" pitchFamily="18" charset="2"/>
              </a:rPr>
              <a:t></a:t>
            </a:r>
            <a:r>
              <a:rPr lang="en-US" altLang="en-US" sz="2000"/>
              <a:t>	+ </a:t>
            </a:r>
            <a:r>
              <a:rPr lang="en-US" altLang="en-US" sz="2000">
                <a:sym typeface="Symbol" pitchFamily="18" charset="2"/>
              </a:rPr>
              <a:t></a:t>
            </a:r>
            <a:r>
              <a:rPr lang="en-US" altLang="en-US" sz="2000"/>
              <a:t>	+ </a:t>
            </a:r>
            <a:r>
              <a:rPr lang="en-US" altLang="en-US" sz="2000">
                <a:sym typeface="Symbol" pitchFamily="18" charset="2"/>
              </a:rPr>
              <a:t></a:t>
            </a:r>
            <a:r>
              <a:rPr lang="en-US" altLang="en-US" sz="2000"/>
              <a:t>	3	+ </a:t>
            </a:r>
            <a:r>
              <a:rPr lang="en-US" altLang="en-US" sz="2000">
                <a:sym typeface="Symbol" pitchFamily="18" charset="2"/>
              </a:rPr>
              <a:t></a:t>
            </a:r>
            <a:r>
              <a:rPr lang="en-US" altLang="en-US" sz="2000"/>
              <a:t>	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000">
                <a:solidFill>
                  <a:srgbClr val="6600FF"/>
                </a:solidFill>
              </a:rPr>
              <a:t>* Giải thuật:</a:t>
            </a:r>
          </a:p>
          <a:p>
            <a:pPr>
              <a:buFontTx/>
              <a:buNone/>
            </a:pPr>
            <a:r>
              <a:rPr lang="en-US" altLang="en-US" sz="2000"/>
              <a:t>	Procedure  Shortest_Path(v,Cost,Dist,n)</a:t>
            </a:r>
          </a:p>
          <a:p>
            <a:pPr>
              <a:buFontTx/>
              <a:buNone/>
            </a:pPr>
            <a:r>
              <a:rPr lang="en-US" altLang="en-US" sz="2000"/>
              <a:t>	{ Dist(j) 1&lt;= j &lt;=n là độ dài đường đi ngắn nhất từ v đến j trong đồ thị có hướng G có n đỉnh, Dist(v)=0. G được biểu diễn bởi ma trận lân cận Cost có kích thước n x n. }</a:t>
            </a:r>
          </a:p>
          <a:p>
            <a:pPr>
              <a:buFontTx/>
              <a:buNone/>
            </a:pPr>
            <a:r>
              <a:rPr lang="en-US" altLang="en-US" sz="2000"/>
              <a:t>	1. For  i:=1 To n Do Begin</a:t>
            </a:r>
          </a:p>
          <a:p>
            <a:pPr>
              <a:buFontTx/>
              <a:buNone/>
            </a:pPr>
            <a:r>
              <a:rPr lang="en-US" altLang="en-US" sz="2000"/>
              <a:t>		    S[i]:=0;  Dist[i]:= Cost[v,i];</a:t>
            </a:r>
          </a:p>
          <a:p>
            <a:pPr>
              <a:buFontTx/>
              <a:buNone/>
            </a:pPr>
            <a:r>
              <a:rPr lang="en-US" altLang="en-US" sz="2000"/>
              <a:t>		End;</a:t>
            </a:r>
          </a:p>
          <a:p>
            <a:pPr>
              <a:buFontTx/>
              <a:buNone/>
            </a:pPr>
            <a:r>
              <a:rPr lang="en-US" altLang="en-US" sz="2000"/>
              <a:t>	2. S[v]:=1; Dist[v]:=0; k:=1;  { đưa v vào S }</a:t>
            </a:r>
          </a:p>
          <a:p>
            <a:pPr>
              <a:buFontTx/>
              <a:buNone/>
            </a:pPr>
            <a:r>
              <a:rPr lang="en-US" altLang="en-US" sz="2000"/>
              <a:t>	3. While  k&lt;n  { xác định n-1 đường đi từ đỉnh v }</a:t>
            </a:r>
          </a:p>
          <a:p>
            <a:pPr>
              <a:buFontTx/>
              <a:buNone/>
            </a:pPr>
            <a:r>
              <a:rPr lang="en-US" altLang="en-US" sz="2000"/>
              <a:t>	4. Begin</a:t>
            </a:r>
          </a:p>
          <a:p>
            <a:pPr>
              <a:buFontTx/>
              <a:buNone/>
            </a:pPr>
            <a:r>
              <a:rPr lang="en-US" altLang="en-US" sz="2000"/>
              <a:t>		Chọn u sao cho Dist[u]= min(Dist[i]))  với  S[i]=0;</a:t>
            </a:r>
          </a:p>
          <a:p>
            <a:pPr>
              <a:buFontTx/>
              <a:buNone/>
            </a:pPr>
            <a:r>
              <a:rPr lang="en-US" altLang="en-US" sz="2000"/>
              <a:t>	5. S[u]:=1; k:=k+1;  { đưa u vào S}</a:t>
            </a:r>
          </a:p>
          <a:p>
            <a:pPr>
              <a:buFontTx/>
              <a:buNone/>
            </a:pPr>
            <a:r>
              <a:rPr lang="en-US" altLang="en-US" sz="2000"/>
              <a:t>	6. For  mọi w với S[w]=0 Do</a:t>
            </a:r>
          </a:p>
          <a:p>
            <a:pPr>
              <a:buFontTx/>
              <a:buNone/>
            </a:pPr>
            <a:r>
              <a:rPr lang="en-US" altLang="en-US" sz="2000"/>
              <a:t>	7.    Dist[w]:= min(Dist[w], Dist[u]+Cost[u,w])  { tính lại khoảng cách theo đường đi ngắn nhất }</a:t>
            </a:r>
          </a:p>
          <a:p>
            <a:pPr>
              <a:buFontTx/>
              <a:buNone/>
            </a:pPr>
            <a:r>
              <a:rPr lang="en-US" altLang="en-US" sz="2000"/>
              <a:t>	  End;</a:t>
            </a:r>
          </a:p>
          <a:p>
            <a:pPr>
              <a:buFontTx/>
              <a:buNone/>
            </a:pPr>
            <a:r>
              <a:rPr lang="en-US" altLang="en-US" sz="2000"/>
              <a:t>	8. Return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en-US" sz="2400">
                <a:solidFill>
                  <a:srgbClr val="6600FF"/>
                </a:solidFill>
              </a:rPr>
              <a:t>Bài tập</a:t>
            </a:r>
          </a:p>
          <a:p>
            <a:pPr>
              <a:buFontTx/>
              <a:buNone/>
            </a:pPr>
            <a:r>
              <a:rPr lang="en-US" altLang="en-US" sz="2400"/>
              <a:t>1. Nêu khái niệm đồ thị, đồ thị vô hướng, đồ thị có hướng, đường đi, cây khung, cây khung với gía trị cực tiểu.</a:t>
            </a:r>
          </a:p>
          <a:p>
            <a:pPr>
              <a:buFontTx/>
              <a:buNone/>
            </a:pPr>
            <a:r>
              <a:rPr lang="en-US" altLang="en-US" sz="2400"/>
              <a:t>2. Cho đồ thị sau đây. </a:t>
            </a:r>
          </a:p>
          <a:p>
            <a:pPr>
              <a:buFontTx/>
              <a:buNone/>
            </a:pPr>
            <a:r>
              <a:rPr lang="en-US" altLang="en-US" sz="2400"/>
              <a:t>	a- Hãy biễu diễn đồ thị bằng ma trận lân cận, bằng danh sách lân cận</a:t>
            </a:r>
          </a:p>
          <a:p>
            <a:pPr>
              <a:buFontTx/>
              <a:buNone/>
            </a:pPr>
            <a:r>
              <a:rPr lang="en-US" altLang="en-US" sz="2400"/>
              <a:t>	b- Duyệt đồ thị theo chiều sâu, duyệt đồ thị theo chiều rộng.</a:t>
            </a:r>
          </a:p>
          <a:p>
            <a:pPr>
              <a:buFontTx/>
              <a:buNone/>
            </a:pPr>
            <a:r>
              <a:rPr lang="en-US" altLang="en-US" sz="2400"/>
              <a:t>	c- Tìm cây khung theo chiều sâu, cây khung theo chiều rộng.</a:t>
            </a:r>
          </a:p>
          <a:p>
            <a:pPr>
              <a:buFontTx/>
              <a:buNone/>
            </a:pPr>
            <a:r>
              <a:rPr lang="en-US" altLang="en-US" sz="2400"/>
              <a:t>	d-Tìm cây khung với giá trị cực tiểu.</a:t>
            </a:r>
          </a:p>
          <a:p>
            <a:pPr>
              <a:buFontTx/>
              <a:buNone/>
            </a:pPr>
            <a:r>
              <a:rPr lang="en-US" altLang="en-US" sz="2400"/>
              <a:t>	e- Viết chương trình trong Pascal tìm cây khung với giá trị cực tiểu.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922" name="Object 2"/>
          <p:cNvGraphicFramePr>
            <a:graphicFrameLocks noGrp="1" noChangeAspect="1"/>
          </p:cNvGraphicFramePr>
          <p:nvPr>
            <p:ph type="body" idx="1"/>
          </p:nvPr>
        </p:nvGraphicFramePr>
        <p:xfrm>
          <a:off x="0" y="841375"/>
          <a:ext cx="9144000" cy="517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88639" imgH="3275650" progId="Word.Document.8">
                  <p:embed/>
                </p:oleObj>
              </mc:Choice>
              <mc:Fallback>
                <p:oleObj name="Document" r:id="rId2" imgW="5788639" imgH="327565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841375"/>
                        <a:ext cx="9144000" cy="5173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0946" name="Object 2"/>
          <p:cNvGraphicFramePr>
            <a:graphicFrameLocks noGrp="1" noChangeAspect="1"/>
          </p:cNvGraphicFramePr>
          <p:nvPr>
            <p:ph type="body" idx="1"/>
          </p:nvPr>
        </p:nvGraphicFramePr>
        <p:xfrm>
          <a:off x="165100" y="0"/>
          <a:ext cx="88138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88639" imgH="4503928" progId="Word.Document.8">
                  <p:embed/>
                </p:oleObj>
              </mc:Choice>
              <mc:Fallback>
                <p:oleObj name="Document" r:id="rId2" imgW="5788639" imgH="450392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" y="0"/>
                        <a:ext cx="8813800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5013</TotalTime>
  <Words>2886</Words>
  <Application>Microsoft Office PowerPoint</Application>
  <PresentationFormat>On-screen Show (4:3)</PresentationFormat>
  <Paragraphs>188</Paragraphs>
  <Slides>34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Times New Roman</vt:lpstr>
      <vt:lpstr>Default Design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HAU1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 Cong Thang</dc:creator>
  <cp:lastModifiedBy>Ngô Công Thắng</cp:lastModifiedBy>
  <cp:revision>270</cp:revision>
  <dcterms:created xsi:type="dcterms:W3CDTF">2007-01-22T15:59:17Z</dcterms:created>
  <dcterms:modified xsi:type="dcterms:W3CDTF">2022-06-22T07:15:17Z</dcterms:modified>
</cp:coreProperties>
</file>