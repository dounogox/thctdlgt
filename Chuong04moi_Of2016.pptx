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1"/>
  </p:sldMasterIdLst>
  <p:notesMasterIdLst>
    <p:notesMasterId r:id="rId48"/>
  </p:notesMasterIdLst>
  <p:sldIdLst>
    <p:sldId id="403" r:id="rId2"/>
    <p:sldId id="404" r:id="rId3"/>
    <p:sldId id="405" r:id="rId4"/>
    <p:sldId id="406" r:id="rId5"/>
    <p:sldId id="407" r:id="rId6"/>
    <p:sldId id="408" r:id="rId7"/>
    <p:sldId id="409" r:id="rId8"/>
    <p:sldId id="410" r:id="rId9"/>
    <p:sldId id="411" r:id="rId10"/>
    <p:sldId id="412" r:id="rId11"/>
    <p:sldId id="413" r:id="rId12"/>
    <p:sldId id="414" r:id="rId13"/>
    <p:sldId id="415" r:id="rId14"/>
    <p:sldId id="416" r:id="rId15"/>
    <p:sldId id="417" r:id="rId16"/>
    <p:sldId id="418" r:id="rId17"/>
    <p:sldId id="419" r:id="rId18"/>
    <p:sldId id="420" r:id="rId19"/>
    <p:sldId id="421" r:id="rId20"/>
    <p:sldId id="422" r:id="rId21"/>
    <p:sldId id="423" r:id="rId22"/>
    <p:sldId id="450" r:id="rId23"/>
    <p:sldId id="424" r:id="rId24"/>
    <p:sldId id="425" r:id="rId25"/>
    <p:sldId id="426" r:id="rId26"/>
    <p:sldId id="451" r:id="rId27"/>
    <p:sldId id="427" r:id="rId28"/>
    <p:sldId id="428" r:id="rId29"/>
    <p:sldId id="429" r:id="rId30"/>
    <p:sldId id="430" r:id="rId31"/>
    <p:sldId id="431" r:id="rId32"/>
    <p:sldId id="435" r:id="rId33"/>
    <p:sldId id="449" r:id="rId34"/>
    <p:sldId id="452" r:id="rId35"/>
    <p:sldId id="436" r:id="rId36"/>
    <p:sldId id="432" r:id="rId37"/>
    <p:sldId id="433" r:id="rId38"/>
    <p:sldId id="438" r:id="rId39"/>
    <p:sldId id="437" r:id="rId40"/>
    <p:sldId id="442" r:id="rId41"/>
    <p:sldId id="443" r:id="rId42"/>
    <p:sldId id="444" r:id="rId43"/>
    <p:sldId id="445" r:id="rId44"/>
    <p:sldId id="446" r:id="rId45"/>
    <p:sldId id="447" r:id="rId46"/>
    <p:sldId id="448" r:id="rId4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27" autoAdjust="0"/>
    <p:restoredTop sz="94698" autoAdjust="0"/>
  </p:normalViewPr>
  <p:slideViewPr>
    <p:cSldViewPr snapToGrid="0">
      <p:cViewPr varScale="1">
        <p:scale>
          <a:sx n="59" d="100"/>
          <a:sy n="59" d="100"/>
        </p:scale>
        <p:origin x="1364" y="60"/>
      </p:cViewPr>
      <p:guideLst>
        <p:guide orient="horz" pos="864"/>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0" d="100"/>
          <a:sy n="40" d="100"/>
        </p:scale>
        <p:origin x="-14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E68CAEC6-23B5-4533-8ED8-BBC3B6128339}"/>
              </a:ext>
            </a:extLst>
          </p:cNvPr>
          <p:cNvGrpSpPr>
            <a:grpSpLocks/>
          </p:cNvGrpSpPr>
          <p:nvPr/>
        </p:nvGrpSpPr>
        <p:grpSpPr bwMode="auto">
          <a:xfrm>
            <a:off x="0" y="3902075"/>
            <a:ext cx="3400425" cy="2949575"/>
            <a:chOff x="0" y="2458"/>
            <a:chExt cx="2142" cy="1858"/>
          </a:xfrm>
        </p:grpSpPr>
        <p:sp>
          <p:nvSpPr>
            <p:cNvPr id="5" name="Freeform 3">
              <a:extLst>
                <a:ext uri="{FF2B5EF4-FFF2-40B4-BE49-F238E27FC236}">
                  <a16:creationId xmlns:a16="http://schemas.microsoft.com/office/drawing/2014/main" id="{94648E4D-7AAC-4B89-948F-C54B167686A3}"/>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en-US">
                <a:latin typeface="Arial" charset="0"/>
                <a:cs typeface="Arial" charset="0"/>
              </a:endParaRPr>
            </a:p>
          </p:txBody>
        </p:sp>
        <p:sp>
          <p:nvSpPr>
            <p:cNvPr id="6" name="Freeform 4">
              <a:extLst>
                <a:ext uri="{FF2B5EF4-FFF2-40B4-BE49-F238E27FC236}">
                  <a16:creationId xmlns:a16="http://schemas.microsoft.com/office/drawing/2014/main" id="{5523E1A7-1198-419D-89A2-F7EC8FB2FF05}"/>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p:spPr>
          <p:txBody>
            <a:bodyPr/>
            <a:lstStyle/>
            <a:p>
              <a:pPr eaLnBrk="1" hangingPunct="1">
                <a:defRPr/>
              </a:pPr>
              <a:endParaRPr lang="en-US">
                <a:latin typeface="Arial" charset="0"/>
                <a:cs typeface="Arial" charset="0"/>
              </a:endParaRPr>
            </a:p>
          </p:txBody>
        </p:sp>
        <p:sp>
          <p:nvSpPr>
            <p:cNvPr id="7" name="Freeform 5">
              <a:extLst>
                <a:ext uri="{FF2B5EF4-FFF2-40B4-BE49-F238E27FC236}">
                  <a16:creationId xmlns:a16="http://schemas.microsoft.com/office/drawing/2014/main" id="{953ECE63-058C-4C0E-9928-D130CAB9D8D7}"/>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en-US">
                <a:latin typeface="Arial" charset="0"/>
                <a:cs typeface="Arial" charset="0"/>
              </a:endParaRPr>
            </a:p>
          </p:txBody>
        </p:sp>
        <p:sp>
          <p:nvSpPr>
            <p:cNvPr id="8" name="Freeform 6">
              <a:extLst>
                <a:ext uri="{FF2B5EF4-FFF2-40B4-BE49-F238E27FC236}">
                  <a16:creationId xmlns:a16="http://schemas.microsoft.com/office/drawing/2014/main" id="{CBF460A2-4108-4F45-8ED0-771BEEF876AC}"/>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en-US">
                <a:latin typeface="Arial" charset="0"/>
                <a:cs typeface="Arial" charset="0"/>
              </a:endParaRPr>
            </a:p>
          </p:txBody>
        </p:sp>
        <p:sp>
          <p:nvSpPr>
            <p:cNvPr id="9" name="Oval 7">
              <a:extLst>
                <a:ext uri="{FF2B5EF4-FFF2-40B4-BE49-F238E27FC236}">
                  <a16:creationId xmlns:a16="http://schemas.microsoft.com/office/drawing/2014/main" id="{26532C76-F9C7-4CF7-8838-517E8991135D}"/>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 name="Oval 8">
              <a:extLst>
                <a:ext uri="{FF2B5EF4-FFF2-40B4-BE49-F238E27FC236}">
                  <a16:creationId xmlns:a16="http://schemas.microsoft.com/office/drawing/2014/main" id="{80AAE168-A3E0-47DA-9E2D-5D526F41300A}"/>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Oval 9">
              <a:extLst>
                <a:ext uri="{FF2B5EF4-FFF2-40B4-BE49-F238E27FC236}">
                  <a16:creationId xmlns:a16="http://schemas.microsoft.com/office/drawing/2014/main" id="{D7E1B3E1-D1BB-4709-A107-A02AB83781E9}"/>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7466"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en-US" noProof="0"/>
              <a:t>Click to edit Master title style</a:t>
            </a:r>
          </a:p>
        </p:txBody>
      </p:sp>
      <p:sp>
        <p:nvSpPr>
          <p:cNvPr id="147467"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2">
            <a:extLst>
              <a:ext uri="{FF2B5EF4-FFF2-40B4-BE49-F238E27FC236}">
                <a16:creationId xmlns:a16="http://schemas.microsoft.com/office/drawing/2014/main" id="{90523200-B6CD-4053-A4DB-4D335B724C11}"/>
              </a:ext>
            </a:extLst>
          </p:cNvPr>
          <p:cNvSpPr>
            <a:spLocks noGrp="1" noChangeArrowheads="1"/>
          </p:cNvSpPr>
          <p:nvPr>
            <p:ph type="dt" sz="quarter" idx="10"/>
          </p:nvPr>
        </p:nvSpPr>
        <p:spPr>
          <a:xfrm>
            <a:off x="457200" y="6248400"/>
            <a:ext cx="2133600" cy="457200"/>
          </a:xfrm>
        </p:spPr>
        <p:txBody>
          <a:bodyPr/>
          <a:lstStyle>
            <a:lvl1pPr>
              <a:defRPr/>
            </a:lvl1pPr>
          </a:lstStyle>
          <a:p>
            <a:pPr>
              <a:defRPr/>
            </a:pPr>
            <a:r>
              <a:rPr lang="en-US"/>
              <a:t>Ngô Công Thắng</a:t>
            </a:r>
          </a:p>
        </p:txBody>
      </p:sp>
      <p:sp>
        <p:nvSpPr>
          <p:cNvPr id="13" name="Rectangle 13">
            <a:extLst>
              <a:ext uri="{FF2B5EF4-FFF2-40B4-BE49-F238E27FC236}">
                <a16:creationId xmlns:a16="http://schemas.microsoft.com/office/drawing/2014/main" id="{442AFE2E-3A3A-44D1-8D9A-CDE7A9E5D7CC}"/>
              </a:ext>
            </a:extLst>
          </p:cNvPr>
          <p:cNvSpPr>
            <a:spLocks noGrp="1" noChangeArrowheads="1"/>
          </p:cNvSpPr>
          <p:nvPr>
            <p:ph type="ftr" sz="quarter" idx="11"/>
          </p:nvPr>
        </p:nvSpPr>
        <p:spPr>
          <a:xfrm>
            <a:off x="3124200" y="6248400"/>
            <a:ext cx="2895600" cy="457200"/>
          </a:xfrm>
        </p:spPr>
        <p:txBody>
          <a:bodyPr/>
          <a:lstStyle>
            <a:lvl1pPr>
              <a:defRPr/>
            </a:lvl1pPr>
          </a:lstStyle>
          <a:p>
            <a:pPr>
              <a:defRPr/>
            </a:pPr>
            <a:r>
              <a:rPr lang="vi-VN"/>
              <a:t>Bài giảng Cấu trúc dữ liệu và giải thuật  -  Chương 04</a:t>
            </a:r>
            <a:endParaRPr lang="en-US"/>
          </a:p>
        </p:txBody>
      </p:sp>
      <p:sp>
        <p:nvSpPr>
          <p:cNvPr id="14" name="Rectangle 14">
            <a:extLst>
              <a:ext uri="{FF2B5EF4-FFF2-40B4-BE49-F238E27FC236}">
                <a16:creationId xmlns:a16="http://schemas.microsoft.com/office/drawing/2014/main" id="{8EC9D9ED-DF5B-4B97-BC65-0A346410A2DF}"/>
              </a:ext>
            </a:extLst>
          </p:cNvPr>
          <p:cNvSpPr>
            <a:spLocks noGrp="1" noChangeArrowheads="1"/>
          </p:cNvSpPr>
          <p:nvPr>
            <p:ph type="sldNum" sz="quarter" idx="12"/>
          </p:nvPr>
        </p:nvSpPr>
        <p:spPr>
          <a:xfrm>
            <a:off x="6553200" y="6248400"/>
            <a:ext cx="2133600" cy="457200"/>
          </a:xfrm>
        </p:spPr>
        <p:txBody>
          <a:bodyPr/>
          <a:lstStyle>
            <a:lvl1pPr>
              <a:defRPr smtClean="0"/>
            </a:lvl1pPr>
          </a:lstStyle>
          <a:p>
            <a:pPr>
              <a:defRPr/>
            </a:pPr>
            <a:fld id="{E3520A60-9B36-4622-AB18-89F7F6666CB1}" type="slidenum">
              <a:rPr lang="en-US" altLang="en-US"/>
              <a:pPr>
                <a:defRPr/>
              </a:pPr>
              <a:t>‹#›</a:t>
            </a:fld>
            <a:endParaRPr lang="en-US" altLang="en-US"/>
          </a:p>
        </p:txBody>
      </p:sp>
    </p:spTree>
    <p:extLst>
      <p:ext uri="{BB962C8B-B14F-4D97-AF65-F5344CB8AC3E}">
        <p14:creationId xmlns:p14="http://schemas.microsoft.com/office/powerpoint/2010/main" val="2619264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2324C419-2539-412C-84CA-A21717B567E0}"/>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a:extLst>
              <a:ext uri="{FF2B5EF4-FFF2-40B4-BE49-F238E27FC236}">
                <a16:creationId xmlns:a16="http://schemas.microsoft.com/office/drawing/2014/main" id="{46037CC8-66FA-491D-A2DF-D85B3F8300DE}"/>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6" name="Rectangle 14">
            <a:extLst>
              <a:ext uri="{FF2B5EF4-FFF2-40B4-BE49-F238E27FC236}">
                <a16:creationId xmlns:a16="http://schemas.microsoft.com/office/drawing/2014/main" id="{4D19E0B6-86B4-4AAC-8096-A7C5170CE7C8}"/>
              </a:ext>
            </a:extLst>
          </p:cNvPr>
          <p:cNvSpPr>
            <a:spLocks noGrp="1" noChangeArrowheads="1"/>
          </p:cNvSpPr>
          <p:nvPr>
            <p:ph type="sldNum" sz="quarter" idx="12"/>
          </p:nvPr>
        </p:nvSpPr>
        <p:spPr>
          <a:ln/>
        </p:spPr>
        <p:txBody>
          <a:bodyPr/>
          <a:lstStyle>
            <a:lvl1pPr>
              <a:defRPr/>
            </a:lvl1pPr>
          </a:lstStyle>
          <a:p>
            <a:pPr>
              <a:defRPr/>
            </a:pPr>
            <a:r>
              <a:rPr lang="en-US" altLang="en-US"/>
              <a:t>4.</a:t>
            </a:r>
            <a:fld id="{57B2BA11-4571-4E9C-924F-F933A4D9EFC2}" type="slidenum">
              <a:rPr lang="en-US" altLang="en-US" smtClean="0"/>
              <a:pPr>
                <a:defRPr/>
              </a:pPr>
              <a:t>‹#›</a:t>
            </a:fld>
            <a:endParaRPr lang="en-US" altLang="en-US"/>
          </a:p>
        </p:txBody>
      </p:sp>
    </p:spTree>
    <p:extLst>
      <p:ext uri="{BB962C8B-B14F-4D97-AF65-F5344CB8AC3E}">
        <p14:creationId xmlns:p14="http://schemas.microsoft.com/office/powerpoint/2010/main" val="2231024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a:extLst>
              <a:ext uri="{FF2B5EF4-FFF2-40B4-BE49-F238E27FC236}">
                <a16:creationId xmlns:a16="http://schemas.microsoft.com/office/drawing/2014/main" id="{EA75EEAF-3092-4E08-8BAA-B1AAD8A7E79F}"/>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a:extLst>
              <a:ext uri="{FF2B5EF4-FFF2-40B4-BE49-F238E27FC236}">
                <a16:creationId xmlns:a16="http://schemas.microsoft.com/office/drawing/2014/main" id="{DD02A297-356A-4409-A072-F44E9A8BF5B1}"/>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6" name="Rectangle 14">
            <a:extLst>
              <a:ext uri="{FF2B5EF4-FFF2-40B4-BE49-F238E27FC236}">
                <a16:creationId xmlns:a16="http://schemas.microsoft.com/office/drawing/2014/main" id="{F626CFF8-2174-4A0A-9611-05A72607C814}"/>
              </a:ext>
            </a:extLst>
          </p:cNvPr>
          <p:cNvSpPr>
            <a:spLocks noGrp="1" noChangeArrowheads="1"/>
          </p:cNvSpPr>
          <p:nvPr>
            <p:ph type="sldNum" sz="quarter" idx="12"/>
          </p:nvPr>
        </p:nvSpPr>
        <p:spPr>
          <a:ln/>
        </p:spPr>
        <p:txBody>
          <a:bodyPr/>
          <a:lstStyle>
            <a:lvl1pPr>
              <a:defRPr/>
            </a:lvl1pPr>
          </a:lstStyle>
          <a:p>
            <a:pPr>
              <a:defRPr/>
            </a:pPr>
            <a:r>
              <a:rPr lang="en-US" altLang="en-US"/>
              <a:t>4.</a:t>
            </a:r>
            <a:fld id="{01CDBE11-485E-4FDA-A9E4-2A9C6EBB020B}" type="slidenum">
              <a:rPr lang="en-US" altLang="en-US" smtClean="0"/>
              <a:pPr>
                <a:defRPr/>
              </a:pPr>
              <a:t>‹#›</a:t>
            </a:fld>
            <a:endParaRPr lang="en-US" altLang="en-US"/>
          </a:p>
        </p:txBody>
      </p:sp>
    </p:spTree>
    <p:extLst>
      <p:ext uri="{BB962C8B-B14F-4D97-AF65-F5344CB8AC3E}">
        <p14:creationId xmlns:p14="http://schemas.microsoft.com/office/powerpoint/2010/main" val="3412655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67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7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C0C00AEF-C688-4582-A0EF-C8B4E99F079E}"/>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a:extLst>
              <a:ext uri="{FF2B5EF4-FFF2-40B4-BE49-F238E27FC236}">
                <a16:creationId xmlns:a16="http://schemas.microsoft.com/office/drawing/2014/main" id="{FF03C562-1890-48AF-9557-17E96DDC0CBA}"/>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7" name="Rectangle 14">
            <a:extLst>
              <a:ext uri="{FF2B5EF4-FFF2-40B4-BE49-F238E27FC236}">
                <a16:creationId xmlns:a16="http://schemas.microsoft.com/office/drawing/2014/main" id="{BD8AD748-4B27-4836-8377-9234F03DF6F4}"/>
              </a:ext>
            </a:extLst>
          </p:cNvPr>
          <p:cNvSpPr>
            <a:spLocks noGrp="1" noChangeArrowheads="1"/>
          </p:cNvSpPr>
          <p:nvPr>
            <p:ph type="sldNum" sz="quarter" idx="12"/>
          </p:nvPr>
        </p:nvSpPr>
        <p:spPr>
          <a:ln/>
        </p:spPr>
        <p:txBody>
          <a:bodyPr/>
          <a:lstStyle>
            <a:lvl1pPr>
              <a:defRPr/>
            </a:lvl1pPr>
          </a:lstStyle>
          <a:p>
            <a:pPr>
              <a:defRPr/>
            </a:pPr>
            <a:r>
              <a:rPr lang="en-US" altLang="en-US"/>
              <a:t>4.</a:t>
            </a:r>
            <a:fld id="{153558A4-4AA2-47DD-80E0-7325E7E2D8BB}" type="slidenum">
              <a:rPr lang="en-US" altLang="en-US" smtClean="0"/>
              <a:pPr>
                <a:defRPr/>
              </a:pPr>
              <a:t>‹#›</a:t>
            </a:fld>
            <a:endParaRPr lang="en-US" altLang="en-US"/>
          </a:p>
        </p:txBody>
      </p:sp>
    </p:spTree>
    <p:extLst>
      <p:ext uri="{BB962C8B-B14F-4D97-AF65-F5344CB8AC3E}">
        <p14:creationId xmlns:p14="http://schemas.microsoft.com/office/powerpoint/2010/main" val="175316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85BFFCEA-045F-4DA6-B027-8D3658D25175}"/>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8" name="Rectangle 13">
            <a:extLst>
              <a:ext uri="{FF2B5EF4-FFF2-40B4-BE49-F238E27FC236}">
                <a16:creationId xmlns:a16="http://schemas.microsoft.com/office/drawing/2014/main" id="{38277799-BD7D-49AD-9035-7C7A8028A1CB}"/>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9" name="Rectangle 14">
            <a:extLst>
              <a:ext uri="{FF2B5EF4-FFF2-40B4-BE49-F238E27FC236}">
                <a16:creationId xmlns:a16="http://schemas.microsoft.com/office/drawing/2014/main" id="{757E8539-739B-4216-9299-9ADF13E67387}"/>
              </a:ext>
            </a:extLst>
          </p:cNvPr>
          <p:cNvSpPr>
            <a:spLocks noGrp="1" noChangeArrowheads="1"/>
          </p:cNvSpPr>
          <p:nvPr>
            <p:ph type="sldNum" sz="quarter" idx="12"/>
          </p:nvPr>
        </p:nvSpPr>
        <p:spPr>
          <a:ln/>
        </p:spPr>
        <p:txBody>
          <a:bodyPr/>
          <a:lstStyle>
            <a:lvl1pPr>
              <a:defRPr/>
            </a:lvl1pPr>
          </a:lstStyle>
          <a:p>
            <a:pPr>
              <a:defRPr/>
            </a:pPr>
            <a:r>
              <a:rPr lang="en-US" altLang="en-US"/>
              <a:t>4.</a:t>
            </a:r>
            <a:fld id="{3D29578B-BFC3-4B88-8822-FD771BBC1BF8}" type="slidenum">
              <a:rPr lang="en-US" altLang="en-US" smtClean="0"/>
              <a:pPr>
                <a:defRPr/>
              </a:pPr>
              <a:t>‹#›</a:t>
            </a:fld>
            <a:endParaRPr lang="en-US" altLang="en-US"/>
          </a:p>
        </p:txBody>
      </p:sp>
    </p:spTree>
    <p:extLst>
      <p:ext uri="{BB962C8B-B14F-4D97-AF65-F5344CB8AC3E}">
        <p14:creationId xmlns:p14="http://schemas.microsoft.com/office/powerpoint/2010/main" val="3741793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F36050B6-70B2-4430-BA58-ABF52FA634AA}"/>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4" name="Rectangle 13">
            <a:extLst>
              <a:ext uri="{FF2B5EF4-FFF2-40B4-BE49-F238E27FC236}">
                <a16:creationId xmlns:a16="http://schemas.microsoft.com/office/drawing/2014/main" id="{89E1FE7B-03A4-4337-84CC-C3AF16B56058}"/>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5" name="Rectangle 14">
            <a:extLst>
              <a:ext uri="{FF2B5EF4-FFF2-40B4-BE49-F238E27FC236}">
                <a16:creationId xmlns:a16="http://schemas.microsoft.com/office/drawing/2014/main" id="{37D22330-2B3A-49FB-836D-81BA3055C12A}"/>
              </a:ext>
            </a:extLst>
          </p:cNvPr>
          <p:cNvSpPr>
            <a:spLocks noGrp="1" noChangeArrowheads="1"/>
          </p:cNvSpPr>
          <p:nvPr>
            <p:ph type="sldNum" sz="quarter" idx="12"/>
          </p:nvPr>
        </p:nvSpPr>
        <p:spPr>
          <a:ln/>
        </p:spPr>
        <p:txBody>
          <a:bodyPr/>
          <a:lstStyle>
            <a:lvl1pPr>
              <a:defRPr/>
            </a:lvl1pPr>
          </a:lstStyle>
          <a:p>
            <a:pPr>
              <a:defRPr/>
            </a:pPr>
            <a:r>
              <a:rPr lang="en-US" altLang="en-US"/>
              <a:t>4.</a:t>
            </a:r>
            <a:fld id="{56D04F81-34F1-4137-9E1C-F003AB4A5F77}" type="slidenum">
              <a:rPr lang="en-US" altLang="en-US" smtClean="0"/>
              <a:pPr>
                <a:defRPr/>
              </a:pPr>
              <a:t>‹#›</a:t>
            </a:fld>
            <a:endParaRPr lang="en-US" altLang="en-US"/>
          </a:p>
        </p:txBody>
      </p:sp>
    </p:spTree>
    <p:extLst>
      <p:ext uri="{BB962C8B-B14F-4D97-AF65-F5344CB8AC3E}">
        <p14:creationId xmlns:p14="http://schemas.microsoft.com/office/powerpoint/2010/main" val="241722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42347600-62AD-4456-9BB9-1158AF893123}"/>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3" name="Rectangle 13">
            <a:extLst>
              <a:ext uri="{FF2B5EF4-FFF2-40B4-BE49-F238E27FC236}">
                <a16:creationId xmlns:a16="http://schemas.microsoft.com/office/drawing/2014/main" id="{B0557D1A-35F3-4A16-9C68-76F51BC1F86C}"/>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4" name="Rectangle 14">
            <a:extLst>
              <a:ext uri="{FF2B5EF4-FFF2-40B4-BE49-F238E27FC236}">
                <a16:creationId xmlns:a16="http://schemas.microsoft.com/office/drawing/2014/main" id="{2E683F96-AB7D-4737-AA7A-DC35B1C72B56}"/>
              </a:ext>
            </a:extLst>
          </p:cNvPr>
          <p:cNvSpPr>
            <a:spLocks noGrp="1" noChangeArrowheads="1"/>
          </p:cNvSpPr>
          <p:nvPr>
            <p:ph type="sldNum" sz="quarter" idx="12"/>
          </p:nvPr>
        </p:nvSpPr>
        <p:spPr>
          <a:ln/>
        </p:spPr>
        <p:txBody>
          <a:bodyPr/>
          <a:lstStyle>
            <a:lvl1pPr>
              <a:defRPr/>
            </a:lvl1pPr>
          </a:lstStyle>
          <a:p>
            <a:pPr>
              <a:defRPr/>
            </a:pPr>
            <a:r>
              <a:rPr lang="en-US" altLang="en-US"/>
              <a:t>4.</a:t>
            </a:r>
            <a:fld id="{EE82830B-64E0-481C-9ACF-96448FC9CD95}" type="slidenum">
              <a:rPr lang="en-US" altLang="en-US" smtClean="0"/>
              <a:pPr>
                <a:defRPr/>
              </a:pPr>
              <a:t>‹#›</a:t>
            </a:fld>
            <a:endParaRPr lang="en-US" altLang="en-US"/>
          </a:p>
        </p:txBody>
      </p:sp>
    </p:spTree>
    <p:extLst>
      <p:ext uri="{BB962C8B-B14F-4D97-AF65-F5344CB8AC3E}">
        <p14:creationId xmlns:p14="http://schemas.microsoft.com/office/powerpoint/2010/main" val="2609598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3CF35668-7A41-415E-9E42-FE5AB90C37FF}"/>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a:extLst>
              <a:ext uri="{FF2B5EF4-FFF2-40B4-BE49-F238E27FC236}">
                <a16:creationId xmlns:a16="http://schemas.microsoft.com/office/drawing/2014/main" id="{310160A9-05D1-4CD2-BF69-62F9A8C2E199}"/>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7" name="Rectangle 14">
            <a:extLst>
              <a:ext uri="{FF2B5EF4-FFF2-40B4-BE49-F238E27FC236}">
                <a16:creationId xmlns:a16="http://schemas.microsoft.com/office/drawing/2014/main" id="{447462F0-4B16-42D4-A3EF-0DBD3D9FC7FF}"/>
              </a:ext>
            </a:extLst>
          </p:cNvPr>
          <p:cNvSpPr>
            <a:spLocks noGrp="1" noChangeArrowheads="1"/>
          </p:cNvSpPr>
          <p:nvPr>
            <p:ph type="sldNum" sz="quarter" idx="12"/>
          </p:nvPr>
        </p:nvSpPr>
        <p:spPr>
          <a:ln/>
        </p:spPr>
        <p:txBody>
          <a:bodyPr/>
          <a:lstStyle>
            <a:lvl1pPr>
              <a:defRPr/>
            </a:lvl1pPr>
          </a:lstStyle>
          <a:p>
            <a:pPr>
              <a:defRPr/>
            </a:pPr>
            <a:r>
              <a:rPr lang="en-US" altLang="en-US"/>
              <a:t>4.</a:t>
            </a:r>
            <a:fld id="{F5471000-CFB0-421A-86C3-1D81A4B04D24}" type="slidenum">
              <a:rPr lang="en-US" altLang="en-US" smtClean="0"/>
              <a:pPr>
                <a:defRPr/>
              </a:pPr>
              <a:t>‹#›</a:t>
            </a:fld>
            <a:endParaRPr lang="en-US" altLang="en-US"/>
          </a:p>
        </p:txBody>
      </p:sp>
    </p:spTree>
    <p:extLst>
      <p:ext uri="{BB962C8B-B14F-4D97-AF65-F5344CB8AC3E}">
        <p14:creationId xmlns:p14="http://schemas.microsoft.com/office/powerpoint/2010/main" val="159794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7625361F-5B25-4A67-A406-0150B32BD1F0}"/>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a:extLst>
              <a:ext uri="{FF2B5EF4-FFF2-40B4-BE49-F238E27FC236}">
                <a16:creationId xmlns:a16="http://schemas.microsoft.com/office/drawing/2014/main" id="{8A59225A-6AA9-4A7A-A87E-063D885BB62D}"/>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7" name="Rectangle 14">
            <a:extLst>
              <a:ext uri="{FF2B5EF4-FFF2-40B4-BE49-F238E27FC236}">
                <a16:creationId xmlns:a16="http://schemas.microsoft.com/office/drawing/2014/main" id="{E44A2E45-E93B-4499-9292-C17F070DFC2F}"/>
              </a:ext>
            </a:extLst>
          </p:cNvPr>
          <p:cNvSpPr>
            <a:spLocks noGrp="1" noChangeArrowheads="1"/>
          </p:cNvSpPr>
          <p:nvPr>
            <p:ph type="sldNum" sz="quarter" idx="12"/>
          </p:nvPr>
        </p:nvSpPr>
        <p:spPr>
          <a:ln/>
        </p:spPr>
        <p:txBody>
          <a:bodyPr/>
          <a:lstStyle>
            <a:lvl1pPr>
              <a:defRPr/>
            </a:lvl1pPr>
          </a:lstStyle>
          <a:p>
            <a:pPr>
              <a:defRPr/>
            </a:pPr>
            <a:r>
              <a:rPr lang="en-US" altLang="en-US"/>
              <a:t>4.</a:t>
            </a:r>
            <a:fld id="{AFAC664B-4C0F-47D7-9BD2-83242B3963D7}" type="slidenum">
              <a:rPr lang="en-US" altLang="en-US" smtClean="0"/>
              <a:pPr>
                <a:defRPr/>
              </a:pPr>
              <a:t>‹#›</a:t>
            </a:fld>
            <a:endParaRPr lang="en-US" altLang="en-US"/>
          </a:p>
        </p:txBody>
      </p:sp>
    </p:spTree>
    <p:extLst>
      <p:ext uri="{BB962C8B-B14F-4D97-AF65-F5344CB8AC3E}">
        <p14:creationId xmlns:p14="http://schemas.microsoft.com/office/powerpoint/2010/main" val="485792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363102D3-0AE6-4185-AB7B-6B24DDD488D5}"/>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a:extLst>
              <a:ext uri="{FF2B5EF4-FFF2-40B4-BE49-F238E27FC236}">
                <a16:creationId xmlns:a16="http://schemas.microsoft.com/office/drawing/2014/main" id="{F2B08C7B-CAA7-4027-8A30-C957C1CB4730}"/>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6" name="Rectangle 14">
            <a:extLst>
              <a:ext uri="{FF2B5EF4-FFF2-40B4-BE49-F238E27FC236}">
                <a16:creationId xmlns:a16="http://schemas.microsoft.com/office/drawing/2014/main" id="{71C2C6A2-C3B7-4212-A0E8-9528D47555FF}"/>
              </a:ext>
            </a:extLst>
          </p:cNvPr>
          <p:cNvSpPr>
            <a:spLocks noGrp="1" noChangeArrowheads="1"/>
          </p:cNvSpPr>
          <p:nvPr>
            <p:ph type="sldNum" sz="quarter" idx="12"/>
          </p:nvPr>
        </p:nvSpPr>
        <p:spPr>
          <a:ln/>
        </p:spPr>
        <p:txBody>
          <a:bodyPr/>
          <a:lstStyle>
            <a:lvl1pPr>
              <a:defRPr/>
            </a:lvl1pPr>
          </a:lstStyle>
          <a:p>
            <a:pPr>
              <a:defRPr/>
            </a:pPr>
            <a:r>
              <a:rPr lang="en-US" altLang="en-US"/>
              <a:t>4.</a:t>
            </a:r>
            <a:fld id="{FCDFEEC4-B8A4-4B94-895E-FE7C9B0F9D06}" type="slidenum">
              <a:rPr lang="en-US" altLang="en-US" smtClean="0"/>
              <a:pPr>
                <a:defRPr/>
              </a:pPr>
              <a:t>‹#›</a:t>
            </a:fld>
            <a:endParaRPr lang="en-US" altLang="en-US"/>
          </a:p>
        </p:txBody>
      </p:sp>
    </p:spTree>
    <p:extLst>
      <p:ext uri="{BB962C8B-B14F-4D97-AF65-F5344CB8AC3E}">
        <p14:creationId xmlns:p14="http://schemas.microsoft.com/office/powerpoint/2010/main" val="313449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23346C6C-74E7-4157-B774-2FFC72FEDFF9}"/>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a:extLst>
              <a:ext uri="{FF2B5EF4-FFF2-40B4-BE49-F238E27FC236}">
                <a16:creationId xmlns:a16="http://schemas.microsoft.com/office/drawing/2014/main" id="{9ABE8336-B152-4245-97BB-AD30C581D6BF}"/>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6" name="Rectangle 14">
            <a:extLst>
              <a:ext uri="{FF2B5EF4-FFF2-40B4-BE49-F238E27FC236}">
                <a16:creationId xmlns:a16="http://schemas.microsoft.com/office/drawing/2014/main" id="{CB1C6383-D3A8-4D2A-8D80-B224F058C3F7}"/>
              </a:ext>
            </a:extLst>
          </p:cNvPr>
          <p:cNvSpPr>
            <a:spLocks noGrp="1" noChangeArrowheads="1"/>
          </p:cNvSpPr>
          <p:nvPr>
            <p:ph type="sldNum" sz="quarter" idx="12"/>
          </p:nvPr>
        </p:nvSpPr>
        <p:spPr>
          <a:ln/>
        </p:spPr>
        <p:txBody>
          <a:bodyPr/>
          <a:lstStyle>
            <a:lvl1pPr>
              <a:defRPr/>
            </a:lvl1pPr>
          </a:lstStyle>
          <a:p>
            <a:pPr>
              <a:defRPr/>
            </a:pPr>
            <a:r>
              <a:rPr lang="en-US" altLang="en-US"/>
              <a:t>4.</a:t>
            </a:r>
            <a:fld id="{FF43B928-45A6-47D5-8482-BEFC7CC60B89}" type="slidenum">
              <a:rPr lang="en-US" altLang="en-US" smtClean="0"/>
              <a:pPr>
                <a:defRPr/>
              </a:pPr>
              <a:t>‹#›</a:t>
            </a:fld>
            <a:endParaRPr lang="en-US" altLang="en-US"/>
          </a:p>
        </p:txBody>
      </p:sp>
    </p:spTree>
    <p:extLst>
      <p:ext uri="{BB962C8B-B14F-4D97-AF65-F5344CB8AC3E}">
        <p14:creationId xmlns:p14="http://schemas.microsoft.com/office/powerpoint/2010/main" val="2188178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FA74B617-7416-42BE-9624-26917D1ECB36}"/>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a:extLst>
              <a:ext uri="{FF2B5EF4-FFF2-40B4-BE49-F238E27FC236}">
                <a16:creationId xmlns:a16="http://schemas.microsoft.com/office/drawing/2014/main" id="{4E2BFF9F-3EB2-4050-BA2F-D7D02EE552D8}"/>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7" name="Rectangle 14">
            <a:extLst>
              <a:ext uri="{FF2B5EF4-FFF2-40B4-BE49-F238E27FC236}">
                <a16:creationId xmlns:a16="http://schemas.microsoft.com/office/drawing/2014/main" id="{2CE9440C-BA20-49D5-928E-62EAD3CB8D48}"/>
              </a:ext>
            </a:extLst>
          </p:cNvPr>
          <p:cNvSpPr>
            <a:spLocks noGrp="1" noChangeArrowheads="1"/>
          </p:cNvSpPr>
          <p:nvPr>
            <p:ph type="sldNum" sz="quarter" idx="12"/>
          </p:nvPr>
        </p:nvSpPr>
        <p:spPr>
          <a:ln/>
        </p:spPr>
        <p:txBody>
          <a:bodyPr/>
          <a:lstStyle>
            <a:lvl1pPr>
              <a:defRPr/>
            </a:lvl1pPr>
          </a:lstStyle>
          <a:p>
            <a:pPr>
              <a:defRPr/>
            </a:pPr>
            <a:r>
              <a:rPr lang="en-US" altLang="en-US"/>
              <a:t>4.</a:t>
            </a:r>
            <a:fld id="{2B63C90B-21BB-4133-BDB2-CEF501F199EB}" type="slidenum">
              <a:rPr lang="en-US" altLang="en-US" smtClean="0"/>
              <a:pPr>
                <a:defRPr/>
              </a:pPr>
              <a:t>‹#›</a:t>
            </a:fld>
            <a:endParaRPr lang="en-US" altLang="en-US"/>
          </a:p>
        </p:txBody>
      </p:sp>
    </p:spTree>
    <p:extLst>
      <p:ext uri="{BB962C8B-B14F-4D97-AF65-F5344CB8AC3E}">
        <p14:creationId xmlns:p14="http://schemas.microsoft.com/office/powerpoint/2010/main" val="4046244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259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011613"/>
            <a:ext cx="8229600" cy="226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28E1F550-4079-4F6A-A373-2D0606FC5731}"/>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a:extLst>
              <a:ext uri="{FF2B5EF4-FFF2-40B4-BE49-F238E27FC236}">
                <a16:creationId xmlns:a16="http://schemas.microsoft.com/office/drawing/2014/main" id="{724CAF40-2DC5-43B6-864F-DE76DB1CF4D1}"/>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7" name="Rectangle 14">
            <a:extLst>
              <a:ext uri="{FF2B5EF4-FFF2-40B4-BE49-F238E27FC236}">
                <a16:creationId xmlns:a16="http://schemas.microsoft.com/office/drawing/2014/main" id="{39CFC0D3-0EBF-4774-B588-BDC6826622B0}"/>
              </a:ext>
            </a:extLst>
          </p:cNvPr>
          <p:cNvSpPr>
            <a:spLocks noGrp="1" noChangeArrowheads="1"/>
          </p:cNvSpPr>
          <p:nvPr>
            <p:ph type="sldNum" sz="quarter" idx="12"/>
          </p:nvPr>
        </p:nvSpPr>
        <p:spPr>
          <a:ln/>
        </p:spPr>
        <p:txBody>
          <a:bodyPr/>
          <a:lstStyle>
            <a:lvl1pPr>
              <a:defRPr/>
            </a:lvl1pPr>
          </a:lstStyle>
          <a:p>
            <a:pPr>
              <a:defRPr/>
            </a:pPr>
            <a:r>
              <a:rPr lang="en-US" altLang="en-US"/>
              <a:t>4.</a:t>
            </a:r>
            <a:fld id="{74CAEB87-9FC6-45E5-8CB1-88A1ADE12D5A}" type="slidenum">
              <a:rPr lang="en-US" altLang="en-US" smtClean="0"/>
              <a:pPr>
                <a:defRPr/>
              </a:pPr>
              <a:t>‹#›</a:t>
            </a:fld>
            <a:endParaRPr lang="en-US" altLang="en-US"/>
          </a:p>
        </p:txBody>
      </p:sp>
    </p:spTree>
    <p:extLst>
      <p:ext uri="{BB962C8B-B14F-4D97-AF65-F5344CB8AC3E}">
        <p14:creationId xmlns:p14="http://schemas.microsoft.com/office/powerpoint/2010/main" val="3964747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259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4011613"/>
            <a:ext cx="8229600" cy="226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A3706B31-28B9-4634-941C-284DE7D14A04}"/>
              </a:ext>
            </a:extLst>
          </p:cNvPr>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a:extLst>
              <a:ext uri="{FF2B5EF4-FFF2-40B4-BE49-F238E27FC236}">
                <a16:creationId xmlns:a16="http://schemas.microsoft.com/office/drawing/2014/main" id="{28E34395-96AE-4ACB-8E76-BA89128480C9}"/>
              </a:ext>
            </a:extLst>
          </p:cNvPr>
          <p:cNvSpPr>
            <a:spLocks noGrp="1" noChangeArrowheads="1"/>
          </p:cNvSpPr>
          <p:nvPr>
            <p:ph type="ftr" sz="quarter" idx="11"/>
          </p:nvPr>
        </p:nvSpPr>
        <p:spPr>
          <a:ln/>
        </p:spPr>
        <p:txBody>
          <a:bodyPr/>
          <a:lstStyle>
            <a:lvl1pPr>
              <a:defRPr/>
            </a:lvl1pPr>
          </a:lstStyle>
          <a:p>
            <a:pPr>
              <a:defRPr/>
            </a:pPr>
            <a:r>
              <a:rPr lang="vi-VN"/>
              <a:t>Bài giảng Cấu trúc dữ liệu và giải thuật  -  Chương 04</a:t>
            </a:r>
            <a:endParaRPr lang="en-US"/>
          </a:p>
        </p:txBody>
      </p:sp>
      <p:sp>
        <p:nvSpPr>
          <p:cNvPr id="7" name="Rectangle 14">
            <a:extLst>
              <a:ext uri="{FF2B5EF4-FFF2-40B4-BE49-F238E27FC236}">
                <a16:creationId xmlns:a16="http://schemas.microsoft.com/office/drawing/2014/main" id="{FCB20CEE-B078-4548-8E6F-2A7E99667DF2}"/>
              </a:ext>
            </a:extLst>
          </p:cNvPr>
          <p:cNvSpPr>
            <a:spLocks noGrp="1" noChangeArrowheads="1"/>
          </p:cNvSpPr>
          <p:nvPr>
            <p:ph type="sldNum" sz="quarter" idx="12"/>
          </p:nvPr>
        </p:nvSpPr>
        <p:spPr>
          <a:ln/>
        </p:spPr>
        <p:txBody>
          <a:bodyPr/>
          <a:lstStyle>
            <a:lvl1pPr>
              <a:defRPr/>
            </a:lvl1pPr>
          </a:lstStyle>
          <a:p>
            <a:pPr>
              <a:defRPr/>
            </a:pPr>
            <a:r>
              <a:rPr lang="en-US" altLang="en-US"/>
              <a:t>4.</a:t>
            </a:r>
            <a:fld id="{C2B0E294-7D3D-426E-AD17-252CD90350CC}" type="slidenum">
              <a:rPr lang="en-US" altLang="en-US" smtClean="0"/>
              <a:pPr>
                <a:defRPr/>
              </a:pPr>
              <a:t>‹#›</a:t>
            </a:fld>
            <a:endParaRPr lang="en-US" altLang="en-US"/>
          </a:p>
        </p:txBody>
      </p:sp>
    </p:spTree>
    <p:extLst>
      <p:ext uri="{BB962C8B-B14F-4D97-AF65-F5344CB8AC3E}">
        <p14:creationId xmlns:p14="http://schemas.microsoft.com/office/powerpoint/2010/main" val="109189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CAF73285-015A-49CB-A42D-0AF3A7AEBCC4}"/>
              </a:ext>
            </a:extLst>
          </p:cNvPr>
          <p:cNvGrpSpPr>
            <a:grpSpLocks/>
          </p:cNvGrpSpPr>
          <p:nvPr/>
        </p:nvGrpSpPr>
        <p:grpSpPr bwMode="auto">
          <a:xfrm>
            <a:off x="0" y="3902075"/>
            <a:ext cx="3400425" cy="2949575"/>
            <a:chOff x="0" y="2458"/>
            <a:chExt cx="2142" cy="1858"/>
          </a:xfrm>
        </p:grpSpPr>
        <p:sp>
          <p:nvSpPr>
            <p:cNvPr id="146435" name="Freeform 3">
              <a:extLst>
                <a:ext uri="{FF2B5EF4-FFF2-40B4-BE49-F238E27FC236}">
                  <a16:creationId xmlns:a16="http://schemas.microsoft.com/office/drawing/2014/main" id="{0AAE40FB-BDDE-4097-B23D-C45B2CF1042F}"/>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en-US">
                <a:latin typeface="Arial" charset="0"/>
                <a:cs typeface="Arial" charset="0"/>
              </a:endParaRPr>
            </a:p>
          </p:txBody>
        </p:sp>
        <p:sp>
          <p:nvSpPr>
            <p:cNvPr id="146436" name="Freeform 4">
              <a:extLst>
                <a:ext uri="{FF2B5EF4-FFF2-40B4-BE49-F238E27FC236}">
                  <a16:creationId xmlns:a16="http://schemas.microsoft.com/office/drawing/2014/main" id="{66271678-313A-4B44-9581-DC868F6B0094}"/>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p:spPr>
          <p:txBody>
            <a:bodyPr/>
            <a:lstStyle/>
            <a:p>
              <a:pPr eaLnBrk="1" hangingPunct="1">
                <a:defRPr/>
              </a:pPr>
              <a:endParaRPr lang="en-US">
                <a:latin typeface="Arial" charset="0"/>
                <a:cs typeface="Arial" charset="0"/>
              </a:endParaRPr>
            </a:p>
          </p:txBody>
        </p:sp>
        <p:sp>
          <p:nvSpPr>
            <p:cNvPr id="146437" name="Freeform 5">
              <a:extLst>
                <a:ext uri="{FF2B5EF4-FFF2-40B4-BE49-F238E27FC236}">
                  <a16:creationId xmlns:a16="http://schemas.microsoft.com/office/drawing/2014/main" id="{849F2E90-46A0-45F0-96FD-E84F6D4387FB}"/>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en-US">
                <a:latin typeface="Arial" charset="0"/>
                <a:cs typeface="Arial" charset="0"/>
              </a:endParaRPr>
            </a:p>
          </p:txBody>
        </p:sp>
        <p:sp>
          <p:nvSpPr>
            <p:cNvPr id="146438" name="Freeform 6">
              <a:extLst>
                <a:ext uri="{FF2B5EF4-FFF2-40B4-BE49-F238E27FC236}">
                  <a16:creationId xmlns:a16="http://schemas.microsoft.com/office/drawing/2014/main" id="{8406B2C2-BC15-4C2A-AA54-DB715E66FF20}"/>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en-US">
                <a:latin typeface="Arial" charset="0"/>
                <a:cs typeface="Arial" charset="0"/>
              </a:endParaRPr>
            </a:p>
          </p:txBody>
        </p:sp>
        <p:sp>
          <p:nvSpPr>
            <p:cNvPr id="1036" name="Oval 7">
              <a:extLst>
                <a:ext uri="{FF2B5EF4-FFF2-40B4-BE49-F238E27FC236}">
                  <a16:creationId xmlns:a16="http://schemas.microsoft.com/office/drawing/2014/main" id="{DC0AF601-F365-4A0A-B620-026EDD079BA0}"/>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7" name="Oval 8">
              <a:extLst>
                <a:ext uri="{FF2B5EF4-FFF2-40B4-BE49-F238E27FC236}">
                  <a16:creationId xmlns:a16="http://schemas.microsoft.com/office/drawing/2014/main" id="{F0E34FD2-68A6-4509-AC69-E500F9F8D431}"/>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8" name="Oval 9">
              <a:extLst>
                <a:ext uri="{FF2B5EF4-FFF2-40B4-BE49-F238E27FC236}">
                  <a16:creationId xmlns:a16="http://schemas.microsoft.com/office/drawing/2014/main" id="{249D51C9-EB86-471C-AF00-FE9559F14CBA}"/>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6442" name="Rectangle 10">
            <a:extLst>
              <a:ext uri="{FF2B5EF4-FFF2-40B4-BE49-F238E27FC236}">
                <a16:creationId xmlns:a16="http://schemas.microsoft.com/office/drawing/2014/main" id="{D4407164-FA4F-4828-809A-7ECBBD6BE86E}"/>
              </a:ext>
            </a:extLst>
          </p:cNvPr>
          <p:cNvSpPr>
            <a:spLocks noGrp="1" noChangeArrowheads="1"/>
          </p:cNvSpPr>
          <p:nvPr>
            <p:ph type="title"/>
          </p:nvPr>
        </p:nvSpPr>
        <p:spPr bwMode="auto">
          <a:xfrm>
            <a:off x="457200" y="277813"/>
            <a:ext cx="8229600" cy="1139825"/>
          </a:xfrm>
          <a:prstGeom prst="rect">
            <a:avLst/>
          </a:prstGeom>
          <a:noFill/>
          <a:ln>
            <a:noFill/>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46443" name="Rectangle 11">
            <a:extLst>
              <a:ext uri="{FF2B5EF4-FFF2-40B4-BE49-F238E27FC236}">
                <a16:creationId xmlns:a16="http://schemas.microsoft.com/office/drawing/2014/main" id="{173873DF-B837-4376-B75E-6A17E980274E}"/>
              </a:ext>
            </a:extLst>
          </p:cNvPr>
          <p:cNvSpPr>
            <a:spLocks noGrp="1" noChangeArrowheads="1"/>
          </p:cNvSpPr>
          <p:nvPr>
            <p:ph type="body" idx="1"/>
          </p:nvPr>
        </p:nvSpPr>
        <p:spPr bwMode="auto">
          <a:xfrm>
            <a:off x="457200" y="1600200"/>
            <a:ext cx="8229600" cy="4672013"/>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6444" name="Rectangle 12">
            <a:extLst>
              <a:ext uri="{FF2B5EF4-FFF2-40B4-BE49-F238E27FC236}">
                <a16:creationId xmlns:a16="http://schemas.microsoft.com/office/drawing/2014/main" id="{E8444770-895F-414D-9688-641AF8258D12}"/>
              </a:ext>
            </a:extLst>
          </p:cNvPr>
          <p:cNvSpPr>
            <a:spLocks noGrp="1" noChangeArrowheads="1"/>
          </p:cNvSpPr>
          <p:nvPr>
            <p:ph type="dt" sz="half" idx="2"/>
          </p:nvPr>
        </p:nvSpPr>
        <p:spPr bwMode="auto">
          <a:xfrm>
            <a:off x="457200" y="6454775"/>
            <a:ext cx="2133600" cy="276225"/>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10199"/>
                  </a:outerShdw>
                </a:effectLst>
                <a:latin typeface="Arial" charset="0"/>
                <a:cs typeface="Arial" charset="0"/>
              </a:defRPr>
            </a:lvl1pPr>
          </a:lstStyle>
          <a:p>
            <a:pPr>
              <a:defRPr/>
            </a:pPr>
            <a:r>
              <a:rPr lang="en-US"/>
              <a:t>Ngô Công Thắng</a:t>
            </a:r>
          </a:p>
        </p:txBody>
      </p:sp>
      <p:sp>
        <p:nvSpPr>
          <p:cNvPr id="146445" name="Rectangle 13">
            <a:extLst>
              <a:ext uri="{FF2B5EF4-FFF2-40B4-BE49-F238E27FC236}">
                <a16:creationId xmlns:a16="http://schemas.microsoft.com/office/drawing/2014/main" id="{A9A15F70-D3EE-4AC9-B2F9-5F2553157856}"/>
              </a:ext>
            </a:extLst>
          </p:cNvPr>
          <p:cNvSpPr>
            <a:spLocks noGrp="1" noChangeArrowheads="1"/>
          </p:cNvSpPr>
          <p:nvPr>
            <p:ph type="ftr" sz="quarter" idx="3"/>
          </p:nvPr>
        </p:nvSpPr>
        <p:spPr bwMode="auto">
          <a:xfrm>
            <a:off x="2705100" y="6454775"/>
            <a:ext cx="4519613" cy="2762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10199"/>
                  </a:outerShdw>
                </a:effectLst>
                <a:latin typeface="Arial" charset="0"/>
                <a:cs typeface="Arial" charset="0"/>
              </a:defRPr>
            </a:lvl1pPr>
          </a:lstStyle>
          <a:p>
            <a:pPr>
              <a:defRPr/>
            </a:pPr>
            <a:r>
              <a:rPr lang="vi-VN"/>
              <a:t>Bài giảng Cấu trúc dữ liệu và giải thuật  -  Chương 04</a:t>
            </a:r>
            <a:endParaRPr lang="en-US"/>
          </a:p>
        </p:txBody>
      </p:sp>
      <p:sp>
        <p:nvSpPr>
          <p:cNvPr id="146446" name="Rectangle 14">
            <a:extLst>
              <a:ext uri="{FF2B5EF4-FFF2-40B4-BE49-F238E27FC236}">
                <a16:creationId xmlns:a16="http://schemas.microsoft.com/office/drawing/2014/main" id="{BF86B627-0A4A-4F18-AAD1-2F99448C2309}"/>
              </a:ext>
            </a:extLst>
          </p:cNvPr>
          <p:cNvSpPr>
            <a:spLocks noGrp="1" noChangeArrowheads="1"/>
          </p:cNvSpPr>
          <p:nvPr>
            <p:ph type="sldNum" sz="quarter" idx="4"/>
          </p:nvPr>
        </p:nvSpPr>
        <p:spPr bwMode="auto">
          <a:xfrm>
            <a:off x="7351713" y="6454775"/>
            <a:ext cx="1335087" cy="2762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r>
              <a:rPr lang="en-US" altLang="en-US"/>
              <a:t>4.</a:t>
            </a:r>
            <a:fld id="{54444EC5-7483-4D25-8A87-E93B31570C50}" type="slidenum">
              <a:rPr lang="en-US" altLang="en-US" smtClean="0"/>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4354" r:id="rId1"/>
    <p:sldLayoutId id="2147484341" r:id="rId2"/>
    <p:sldLayoutId id="2147484342" r:id="rId3"/>
    <p:sldLayoutId id="2147484343" r:id="rId4"/>
    <p:sldLayoutId id="2147484344" r:id="rId5"/>
    <p:sldLayoutId id="2147484345" r:id="rId6"/>
    <p:sldLayoutId id="2147484346" r:id="rId7"/>
    <p:sldLayoutId id="2147484347" r:id="rId8"/>
    <p:sldLayoutId id="2147484348" r:id="rId9"/>
    <p:sldLayoutId id="2147484349" r:id="rId10"/>
    <p:sldLayoutId id="2147484350" r:id="rId11"/>
    <p:sldLayoutId id="2147484351" r:id="rId12"/>
    <p:sldLayoutId id="2147484352" r:id="rId13"/>
    <p:sldLayoutId id="2147484353" r:id="rId14"/>
  </p:sldLayoutIdLst>
  <p:hf hdr="0"/>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l"/>
        <a:defRPr sz="3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sz="2800">
          <a:solidFill>
            <a:schemeClr val="tx1"/>
          </a:solidFill>
          <a:effectLst>
            <a:outerShdw blurRad="38100" dist="38100" dir="2700000" algn="tl">
              <a:srgbClr val="010199"/>
            </a:outerShdw>
          </a:effectLst>
          <a:latin typeface="+mn-lt"/>
          <a:cs typeface="+mn-cs"/>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400">
          <a:solidFill>
            <a:schemeClr val="tx1"/>
          </a:solidFill>
          <a:effectLst>
            <a:outerShdw blurRad="38100" dist="38100" dir="2700000" algn="tl">
              <a:srgbClr val="010199"/>
            </a:outerShdw>
          </a:effectLst>
          <a:latin typeface="+mn-lt"/>
          <a:cs typeface="+mn-cs"/>
        </a:defRPr>
      </a:lvl3pPr>
      <a:lvl4pPr marL="1600200" indent="-228600" algn="l" rtl="0" eaLnBrk="0" fontAlgn="base" hangingPunct="0">
        <a:spcBef>
          <a:spcPct val="20000"/>
        </a:spcBef>
        <a:spcAft>
          <a:spcPct val="0"/>
        </a:spcAft>
        <a:buClr>
          <a:schemeClr val="folHlink"/>
        </a:buClr>
        <a:buSzPct val="75000"/>
        <a:buFont typeface="Wingdings" panose="05000000000000000000" pitchFamily="2" charset="2"/>
        <a:buChar char="l"/>
        <a:defRPr sz="2000">
          <a:solidFill>
            <a:schemeClr val="tx1"/>
          </a:solidFill>
          <a:effectLst>
            <a:outerShdw blurRad="38100" dist="38100" dir="2700000" algn="tl">
              <a:srgbClr val="010199"/>
            </a:outerShdw>
          </a:effectLst>
          <a:latin typeface="+mn-lt"/>
          <a:cs typeface="+mn-cs"/>
        </a:defRPr>
      </a:lvl4pPr>
      <a:lvl5pPr marL="2057400" indent="-228600" algn="l" rtl="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effectLst>
            <a:outerShdw blurRad="38100" dist="38100" dir="2700000" algn="tl">
              <a:srgbClr val="010199"/>
            </a:outerShdw>
          </a:effectLst>
          <a:latin typeface="+mn-lt"/>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40.xml"/><Relationship Id="rId4" Type="http://schemas.openxmlformats.org/officeDocument/2006/relationships/slide" Target="slide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slide" Target="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2B7354-640E-49F3-8ED2-CDD90DE70824}"/>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8CD1AAE3-A30B-4779-949B-2DB1399F4D44}"/>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10274" name="Rectangle 2">
            <a:extLst>
              <a:ext uri="{FF2B5EF4-FFF2-40B4-BE49-F238E27FC236}">
                <a16:creationId xmlns:a16="http://schemas.microsoft.com/office/drawing/2014/main" id="{73475620-212F-443F-A997-24F1430BA404}"/>
              </a:ext>
            </a:extLst>
          </p:cNvPr>
          <p:cNvSpPr>
            <a:spLocks noGrp="1" noChangeArrowheads="1"/>
          </p:cNvSpPr>
          <p:nvPr>
            <p:ph type="title"/>
          </p:nvPr>
        </p:nvSpPr>
        <p:spPr/>
        <p:txBody>
          <a:bodyPr/>
          <a:lstStyle/>
          <a:p>
            <a:pPr eaLnBrk="1" hangingPunct="1">
              <a:defRPr/>
            </a:pPr>
            <a:r>
              <a:rPr lang="en-US"/>
              <a:t>Chương 4: Cây (Tree)</a:t>
            </a:r>
          </a:p>
        </p:txBody>
      </p:sp>
      <p:sp>
        <p:nvSpPr>
          <p:cNvPr id="310275" name="Rectangle 3">
            <a:extLst>
              <a:ext uri="{FF2B5EF4-FFF2-40B4-BE49-F238E27FC236}">
                <a16:creationId xmlns:a16="http://schemas.microsoft.com/office/drawing/2014/main" id="{FCD079B6-F0DC-4A58-9197-2AEEF5CA139A}"/>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a:hlinkClick r:id="rId2" action="ppaction://hlinksldjump"/>
              </a:rPr>
              <a:t>1. Định nghĩa và khái niệm</a:t>
            </a:r>
            <a:endParaRPr lang="en-US"/>
          </a:p>
          <a:p>
            <a:pPr eaLnBrk="1" hangingPunct="1">
              <a:buFont typeface="Wingdings" panose="05000000000000000000" pitchFamily="2" charset="2"/>
              <a:buNone/>
              <a:defRPr/>
            </a:pPr>
            <a:r>
              <a:rPr lang="en-US">
                <a:hlinkClick r:id="rId3" action="ppaction://hlinksldjump"/>
              </a:rPr>
              <a:t>2. Cây nhị phân</a:t>
            </a:r>
            <a:endParaRPr lang="en-US"/>
          </a:p>
          <a:p>
            <a:pPr eaLnBrk="1" hangingPunct="1">
              <a:buFont typeface="Wingdings" panose="05000000000000000000" pitchFamily="2" charset="2"/>
              <a:buNone/>
              <a:defRPr/>
            </a:pPr>
            <a:r>
              <a:rPr lang="en-US">
                <a:hlinkClick r:id="rId4" action="ppaction://hlinksldjump"/>
              </a:rPr>
              <a:t>3. Cây tổng quát</a:t>
            </a:r>
            <a:endParaRPr lang="en-US"/>
          </a:p>
          <a:p>
            <a:pPr eaLnBrk="1" hangingPunct="1">
              <a:buFont typeface="Wingdings" panose="05000000000000000000" pitchFamily="2" charset="2"/>
              <a:buNone/>
              <a:defRPr/>
            </a:pPr>
            <a:r>
              <a:rPr lang="en-US">
                <a:hlinkClick r:id="rId5" action="ppaction://hlinksldjump"/>
              </a:rPr>
              <a:t>4. Ứng dụng</a:t>
            </a:r>
            <a:endParaRPr lang="en-US"/>
          </a:p>
        </p:txBody>
      </p:sp>
      <p:sp>
        <p:nvSpPr>
          <p:cNvPr id="2" name="Slide Number Placeholder 1">
            <a:extLst>
              <a:ext uri="{FF2B5EF4-FFF2-40B4-BE49-F238E27FC236}">
                <a16:creationId xmlns:a16="http://schemas.microsoft.com/office/drawing/2014/main" id="{EFD88943-148B-4BB4-B68E-D27658164476}"/>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5ABCB6E2-793B-4993-B719-159402B90D09}" type="slidenum">
              <a:rPr lang="en-US" altLang="en-US" sz="1000" smtClean="0"/>
              <a:pPr>
                <a:spcBef>
                  <a:spcPct val="0"/>
                </a:spcBef>
                <a:buClrTx/>
                <a:buSzTx/>
                <a:buFontTx/>
                <a:buNone/>
                <a:defRPr/>
              </a:pPr>
              <a:t>1</a:t>
            </a:fld>
            <a:endParaRPr lang="en-US" alt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D600E6-A8FD-4F64-B059-271F3763A58D}"/>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E6390781-8A5A-47F1-95FE-6F573220CB3F}"/>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11298" name="Rectangle 2">
            <a:extLst>
              <a:ext uri="{FF2B5EF4-FFF2-40B4-BE49-F238E27FC236}">
                <a16:creationId xmlns:a16="http://schemas.microsoft.com/office/drawing/2014/main" id="{5456FA07-D30E-450B-AE5D-CC189BF11515}"/>
              </a:ext>
            </a:extLst>
          </p:cNvPr>
          <p:cNvSpPr>
            <a:spLocks noGrp="1" noChangeArrowheads="1"/>
          </p:cNvSpPr>
          <p:nvPr>
            <p:ph type="title"/>
          </p:nvPr>
        </p:nvSpPr>
        <p:spPr/>
        <p:txBody>
          <a:bodyPr/>
          <a:lstStyle/>
          <a:p>
            <a:pPr eaLnBrk="1" hangingPunct="1">
              <a:defRPr/>
            </a:pPr>
            <a:r>
              <a:rPr lang="en-US"/>
              <a:t>1. Định nghĩa và khái niệm</a:t>
            </a:r>
          </a:p>
        </p:txBody>
      </p:sp>
      <p:sp>
        <p:nvSpPr>
          <p:cNvPr id="311299" name="Rectangle 3">
            <a:extLst>
              <a:ext uri="{FF2B5EF4-FFF2-40B4-BE49-F238E27FC236}">
                <a16:creationId xmlns:a16="http://schemas.microsoft.com/office/drawing/2014/main" id="{A23471EC-4867-4251-8064-C61061A68C17}"/>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a:t>1.1. Định nghĩa cây (tree)</a:t>
            </a:r>
          </a:p>
          <a:p>
            <a:pPr eaLnBrk="1" hangingPunct="1">
              <a:defRPr/>
            </a:pPr>
            <a:r>
              <a:rPr lang="en-US"/>
              <a:t>Cây là một tập hợp hữu hạn các nút, trong đó có một nút đặc biệt gọi là gốc (root). Giữa các nút có mối quan hệ phân cấp gọi là quan hệ cha con.</a:t>
            </a:r>
          </a:p>
          <a:p>
            <a:pPr eaLnBrk="1" hangingPunct="1">
              <a:defRPr/>
            </a:pPr>
            <a:r>
              <a:rPr lang="en-US"/>
              <a:t>Một cây không có nút nào gọi là cây rỗng (null tree).</a:t>
            </a:r>
          </a:p>
          <a:p>
            <a:pPr eaLnBrk="1" hangingPunct="1">
              <a:defRPr/>
            </a:pPr>
            <a:r>
              <a:rPr lang="en-US"/>
              <a:t>Các ví dụ về cây</a:t>
            </a:r>
          </a:p>
        </p:txBody>
      </p:sp>
      <p:sp>
        <p:nvSpPr>
          <p:cNvPr id="2" name="Slide Number Placeholder 1">
            <a:extLst>
              <a:ext uri="{FF2B5EF4-FFF2-40B4-BE49-F238E27FC236}">
                <a16:creationId xmlns:a16="http://schemas.microsoft.com/office/drawing/2014/main" id="{5F7F111C-331A-4A75-B44F-0EB058253517}"/>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D0ED87AD-E6C0-4742-A986-E29869FCF094}" type="slidenum">
              <a:rPr lang="en-US" altLang="en-US" sz="1000" smtClean="0"/>
              <a:pPr>
                <a:spcBef>
                  <a:spcPct val="0"/>
                </a:spcBef>
                <a:buClrTx/>
                <a:buSzTx/>
                <a:buFontTx/>
                <a:buNone/>
                <a:defRPr/>
              </a:pPr>
              <a:t>2</a:t>
            </a:fld>
            <a:endParaRPr lang="en-US" alt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a:extLst>
              <a:ext uri="{FF2B5EF4-FFF2-40B4-BE49-F238E27FC236}">
                <a16:creationId xmlns:a16="http://schemas.microsoft.com/office/drawing/2014/main" id="{0DC1BA0C-8305-44DC-AC51-E5649E621A3A}"/>
              </a:ext>
            </a:extLst>
          </p:cNvPr>
          <p:cNvSpPr>
            <a:spLocks noGrp="1"/>
          </p:cNvSpPr>
          <p:nvPr>
            <p:ph type="dt" sz="quarter" idx="10"/>
          </p:nvPr>
        </p:nvSpPr>
        <p:spPr/>
        <p:txBody>
          <a:bodyPr/>
          <a:lstStyle/>
          <a:p>
            <a:pPr>
              <a:defRPr/>
            </a:pPr>
            <a:r>
              <a:rPr lang="en-US"/>
              <a:t>Ngô Công Thắng</a:t>
            </a:r>
          </a:p>
        </p:txBody>
      </p:sp>
      <p:sp>
        <p:nvSpPr>
          <p:cNvPr id="7" name="Footer Placeholder 5">
            <a:extLst>
              <a:ext uri="{FF2B5EF4-FFF2-40B4-BE49-F238E27FC236}">
                <a16:creationId xmlns:a16="http://schemas.microsoft.com/office/drawing/2014/main" id="{BCA4048B-4100-4EFE-AFBF-8B44C3CC4FCF}"/>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12322" name="Rectangle 2">
            <a:extLst>
              <a:ext uri="{FF2B5EF4-FFF2-40B4-BE49-F238E27FC236}">
                <a16:creationId xmlns:a16="http://schemas.microsoft.com/office/drawing/2014/main" id="{A1FDEFFE-AD02-4158-A614-603D1661B0BE}"/>
              </a:ext>
            </a:extLst>
          </p:cNvPr>
          <p:cNvSpPr>
            <a:spLocks noGrp="1" noChangeArrowheads="1"/>
          </p:cNvSpPr>
          <p:nvPr>
            <p:ph type="title"/>
          </p:nvPr>
        </p:nvSpPr>
        <p:spPr/>
        <p:txBody>
          <a:bodyPr/>
          <a:lstStyle/>
          <a:p>
            <a:pPr eaLnBrk="1" hangingPunct="1">
              <a:defRPr/>
            </a:pPr>
            <a:r>
              <a:rPr lang="en-US" sz="4000"/>
              <a:t>Ví dụ 1: Mục lục của một chương được biểu diễn dạng cây</a:t>
            </a:r>
          </a:p>
        </p:txBody>
      </p:sp>
      <p:sp>
        <p:nvSpPr>
          <p:cNvPr id="312325" name="Rectangle 5">
            <a:extLst>
              <a:ext uri="{FF2B5EF4-FFF2-40B4-BE49-F238E27FC236}">
                <a16:creationId xmlns:a16="http://schemas.microsoft.com/office/drawing/2014/main" id="{B0E5E54A-ECDD-4D0C-9AE5-28E56AA1ED5A}"/>
              </a:ext>
            </a:extLst>
          </p:cNvPr>
          <p:cNvSpPr>
            <a:spLocks noGrp="1" noChangeArrowheads="1"/>
          </p:cNvSpPr>
          <p:nvPr>
            <p:ph type="body" sz="half" idx="1"/>
          </p:nvPr>
        </p:nvSpPr>
        <p:spPr/>
        <p:txBody>
          <a:bodyPr/>
          <a:lstStyle/>
          <a:p>
            <a:pPr eaLnBrk="1" hangingPunct="1">
              <a:buFont typeface="Wingdings" panose="05000000000000000000" pitchFamily="2" charset="2"/>
              <a:buNone/>
              <a:defRPr/>
            </a:pPr>
            <a:r>
              <a:rPr lang="en-US" sz="2800"/>
              <a:t>Chương 6</a:t>
            </a:r>
          </a:p>
          <a:p>
            <a:pPr eaLnBrk="1" hangingPunct="1">
              <a:buFont typeface="Wingdings" panose="05000000000000000000" pitchFamily="2" charset="2"/>
              <a:buNone/>
              <a:defRPr/>
            </a:pPr>
            <a:r>
              <a:rPr lang="en-US" sz="2800"/>
              <a:t>	  6.1</a:t>
            </a:r>
          </a:p>
          <a:p>
            <a:pPr eaLnBrk="1" hangingPunct="1">
              <a:buFont typeface="Wingdings" panose="05000000000000000000" pitchFamily="2" charset="2"/>
              <a:buNone/>
              <a:defRPr/>
            </a:pPr>
            <a:r>
              <a:rPr lang="en-US" sz="2800"/>
              <a:t>	  6.2</a:t>
            </a:r>
          </a:p>
          <a:p>
            <a:pPr eaLnBrk="1" hangingPunct="1">
              <a:buFont typeface="Wingdings" panose="05000000000000000000" pitchFamily="2" charset="2"/>
              <a:buNone/>
              <a:defRPr/>
            </a:pPr>
            <a:r>
              <a:rPr lang="en-US" sz="2800"/>
              <a:t>	     6.2.1</a:t>
            </a:r>
          </a:p>
          <a:p>
            <a:pPr eaLnBrk="1" hangingPunct="1">
              <a:buFont typeface="Wingdings" panose="05000000000000000000" pitchFamily="2" charset="2"/>
              <a:buNone/>
              <a:defRPr/>
            </a:pPr>
            <a:r>
              <a:rPr lang="en-US" sz="2800"/>
              <a:t>	     6.2.2</a:t>
            </a:r>
          </a:p>
          <a:p>
            <a:pPr eaLnBrk="1" hangingPunct="1">
              <a:buFont typeface="Wingdings" panose="05000000000000000000" pitchFamily="2" charset="2"/>
              <a:buNone/>
              <a:defRPr/>
            </a:pPr>
            <a:r>
              <a:rPr lang="en-US" sz="2800"/>
              <a:t>	  6.3</a:t>
            </a:r>
          </a:p>
          <a:p>
            <a:pPr eaLnBrk="1" hangingPunct="1">
              <a:buFont typeface="Wingdings" panose="05000000000000000000" pitchFamily="2" charset="2"/>
              <a:buNone/>
              <a:defRPr/>
            </a:pPr>
            <a:r>
              <a:rPr lang="en-US" sz="2800"/>
              <a:t>	     6.3.1</a:t>
            </a:r>
          </a:p>
          <a:p>
            <a:pPr eaLnBrk="1" hangingPunct="1">
              <a:buFont typeface="Wingdings" panose="05000000000000000000" pitchFamily="2" charset="2"/>
              <a:buNone/>
              <a:defRPr/>
            </a:pPr>
            <a:r>
              <a:rPr lang="en-US" sz="2800"/>
              <a:t>	     6.3.2</a:t>
            </a:r>
          </a:p>
        </p:txBody>
      </p:sp>
      <p:pic>
        <p:nvPicPr>
          <p:cNvPr id="5126" name="Picture 7">
            <a:extLst>
              <a:ext uri="{FF2B5EF4-FFF2-40B4-BE49-F238E27FC236}">
                <a16:creationId xmlns:a16="http://schemas.microsoft.com/office/drawing/2014/main" id="{7FE28060-936A-4A55-9042-33C26970842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573338" y="1658938"/>
            <a:ext cx="6338887" cy="4367212"/>
          </a:xfrm>
          <a:noFill/>
          <a:extLst>
            <a:ext uri="{909E8E84-426E-40DD-AFC4-6F175D3DCCD1}">
              <a14:hiddenFill xmlns:a14="http://schemas.microsoft.com/office/drawing/2010/main">
                <a:solidFill>
                  <a:srgbClr val="FFFFFF"/>
                </a:solidFill>
              </a14:hiddenFill>
            </a:ext>
          </a:extLst>
        </p:spPr>
      </p:pic>
      <p:sp>
        <p:nvSpPr>
          <p:cNvPr id="5127" name="AutoShape 8">
            <a:hlinkClick r:id="" action="ppaction://hlinkshowjump?jump=lastslideviewed" highlightClick="1"/>
            <a:extLst>
              <a:ext uri="{FF2B5EF4-FFF2-40B4-BE49-F238E27FC236}">
                <a16:creationId xmlns:a16="http://schemas.microsoft.com/office/drawing/2014/main" id="{4F061241-7ED4-49CF-BBAF-8ABD3291A863}"/>
              </a:ext>
            </a:extLst>
          </p:cNvPr>
          <p:cNvSpPr>
            <a:spLocks noChangeArrowheads="1"/>
          </p:cNvSpPr>
          <p:nvPr/>
        </p:nvSpPr>
        <p:spPr bwMode="auto">
          <a:xfrm>
            <a:off x="7699375" y="6334125"/>
            <a:ext cx="384175" cy="304800"/>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715FA73E-0418-4AD2-B67C-2564A123F034}"/>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EB39D8D1-31C9-4FF6-A575-0F1D1C434794}" type="slidenum">
              <a:rPr lang="en-US" altLang="en-US" sz="1000" smtClean="0"/>
              <a:pPr>
                <a:spcBef>
                  <a:spcPct val="0"/>
                </a:spcBef>
                <a:buClrTx/>
                <a:buSzTx/>
                <a:buFontTx/>
                <a:buNone/>
                <a:defRPr/>
              </a:pPr>
              <a:t>3</a:t>
            </a:fld>
            <a:endParaRPr lang="en-US" alt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a:extLst>
              <a:ext uri="{FF2B5EF4-FFF2-40B4-BE49-F238E27FC236}">
                <a16:creationId xmlns:a16="http://schemas.microsoft.com/office/drawing/2014/main" id="{27214D08-8042-49C2-8A74-E871B8F28C96}"/>
              </a:ext>
            </a:extLst>
          </p:cNvPr>
          <p:cNvSpPr>
            <a:spLocks noGrp="1"/>
          </p:cNvSpPr>
          <p:nvPr>
            <p:ph type="dt" sz="quarter" idx="10"/>
          </p:nvPr>
        </p:nvSpPr>
        <p:spPr/>
        <p:txBody>
          <a:bodyPr/>
          <a:lstStyle/>
          <a:p>
            <a:pPr>
              <a:defRPr/>
            </a:pPr>
            <a:r>
              <a:rPr lang="en-US"/>
              <a:t>Ngô Công Thắng</a:t>
            </a:r>
          </a:p>
        </p:txBody>
      </p:sp>
      <p:sp>
        <p:nvSpPr>
          <p:cNvPr id="7" name="Footer Placeholder 5">
            <a:extLst>
              <a:ext uri="{FF2B5EF4-FFF2-40B4-BE49-F238E27FC236}">
                <a16:creationId xmlns:a16="http://schemas.microsoft.com/office/drawing/2014/main" id="{6E822ED4-3E36-4AA9-A90B-5F6BE8891DCB}"/>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15394" name="Rectangle 2">
            <a:extLst>
              <a:ext uri="{FF2B5EF4-FFF2-40B4-BE49-F238E27FC236}">
                <a16:creationId xmlns:a16="http://schemas.microsoft.com/office/drawing/2014/main" id="{C38DE15A-CC6C-4CD1-886C-8D8D4F4FA792}"/>
              </a:ext>
            </a:extLst>
          </p:cNvPr>
          <p:cNvSpPr>
            <a:spLocks noGrp="1" noChangeArrowheads="1"/>
          </p:cNvSpPr>
          <p:nvPr>
            <p:ph type="title"/>
          </p:nvPr>
        </p:nvSpPr>
        <p:spPr/>
        <p:txBody>
          <a:bodyPr/>
          <a:lstStyle/>
          <a:p>
            <a:pPr eaLnBrk="1" hangingPunct="1">
              <a:defRPr/>
            </a:pPr>
            <a:r>
              <a:rPr lang="en-US" sz="4000"/>
              <a:t>Ví dụ 2: Biểu thức số học được biểu diễn dạng cây</a:t>
            </a:r>
          </a:p>
        </p:txBody>
      </p:sp>
      <p:sp>
        <p:nvSpPr>
          <p:cNvPr id="315396" name="Rectangle 4">
            <a:extLst>
              <a:ext uri="{FF2B5EF4-FFF2-40B4-BE49-F238E27FC236}">
                <a16:creationId xmlns:a16="http://schemas.microsoft.com/office/drawing/2014/main" id="{3A4550AE-1336-478E-BC89-A09DE1667C4B}"/>
              </a:ext>
            </a:extLst>
          </p:cNvPr>
          <p:cNvSpPr>
            <a:spLocks noGrp="1" noChangeArrowheads="1"/>
          </p:cNvSpPr>
          <p:nvPr>
            <p:ph type="body" sz="half" idx="1"/>
          </p:nvPr>
        </p:nvSpPr>
        <p:spPr/>
        <p:txBody>
          <a:bodyPr/>
          <a:lstStyle/>
          <a:p>
            <a:pPr eaLnBrk="1" hangingPunct="1">
              <a:buFont typeface="Wingdings" panose="05000000000000000000" pitchFamily="2" charset="2"/>
              <a:buNone/>
              <a:defRPr/>
            </a:pPr>
            <a:r>
              <a:rPr lang="en-US" sz="2800"/>
              <a:t>x+y*(z-t)+u/v</a:t>
            </a:r>
          </a:p>
        </p:txBody>
      </p:sp>
      <p:pic>
        <p:nvPicPr>
          <p:cNvPr id="6150" name="Picture 6">
            <a:extLst>
              <a:ext uri="{FF2B5EF4-FFF2-40B4-BE49-F238E27FC236}">
                <a16:creationId xmlns:a16="http://schemas.microsoft.com/office/drawing/2014/main" id="{F97479BA-9D16-4C8A-BC4E-9F8A7884887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774950" y="1649413"/>
            <a:ext cx="5673725" cy="4762500"/>
          </a:xfrm>
          <a:noFill/>
          <a:extLst>
            <a:ext uri="{909E8E84-426E-40DD-AFC4-6F175D3DCCD1}">
              <a14:hiddenFill xmlns:a14="http://schemas.microsoft.com/office/drawing/2010/main">
                <a:solidFill>
                  <a:srgbClr val="FFFFFF"/>
                </a:solidFill>
              </a14:hiddenFill>
            </a:ext>
          </a:extLst>
        </p:spPr>
      </p:pic>
      <p:sp>
        <p:nvSpPr>
          <p:cNvPr id="6151" name="AutoShape 7">
            <a:hlinkClick r:id="" action="ppaction://hlinkshowjump?jump=lastslideviewed" highlightClick="1"/>
            <a:extLst>
              <a:ext uri="{FF2B5EF4-FFF2-40B4-BE49-F238E27FC236}">
                <a16:creationId xmlns:a16="http://schemas.microsoft.com/office/drawing/2014/main" id="{41AE5F31-6B45-4F65-B6A8-1E42061AD028}"/>
              </a:ext>
            </a:extLst>
          </p:cNvPr>
          <p:cNvSpPr>
            <a:spLocks noChangeArrowheads="1"/>
          </p:cNvSpPr>
          <p:nvPr/>
        </p:nvSpPr>
        <p:spPr bwMode="auto">
          <a:xfrm>
            <a:off x="7726363" y="6467475"/>
            <a:ext cx="304800" cy="211138"/>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2E673B7F-5F09-4C35-988B-DCA9F9495E5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A9022938-2EB0-405F-A032-9DD6F897F6D8}" type="slidenum">
              <a:rPr lang="en-US" altLang="en-US" sz="1000" smtClean="0"/>
              <a:pPr>
                <a:spcBef>
                  <a:spcPct val="0"/>
                </a:spcBef>
                <a:buClrTx/>
                <a:buSzTx/>
                <a:buFontTx/>
                <a:buNone/>
                <a:defRPr/>
              </a:pPr>
              <a:t>4</a:t>
            </a:fld>
            <a:endParaRPr lang="en-US" alt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4">
            <a:extLst>
              <a:ext uri="{FF2B5EF4-FFF2-40B4-BE49-F238E27FC236}">
                <a16:creationId xmlns:a16="http://schemas.microsoft.com/office/drawing/2014/main" id="{DD6EA476-0CA9-403C-8420-C05691782303}"/>
              </a:ext>
            </a:extLst>
          </p:cNvPr>
          <p:cNvSpPr>
            <a:spLocks noGrp="1"/>
          </p:cNvSpPr>
          <p:nvPr>
            <p:ph type="dt" sz="quarter" idx="10"/>
          </p:nvPr>
        </p:nvSpPr>
        <p:spPr/>
        <p:txBody>
          <a:bodyPr/>
          <a:lstStyle/>
          <a:p>
            <a:pPr>
              <a:defRPr/>
            </a:pPr>
            <a:r>
              <a:rPr lang="en-US"/>
              <a:t>Ngô Công Thắng</a:t>
            </a:r>
          </a:p>
        </p:txBody>
      </p:sp>
      <p:sp>
        <p:nvSpPr>
          <p:cNvPr id="8" name="Footer Placeholder 5">
            <a:extLst>
              <a:ext uri="{FF2B5EF4-FFF2-40B4-BE49-F238E27FC236}">
                <a16:creationId xmlns:a16="http://schemas.microsoft.com/office/drawing/2014/main" id="{0FA00F41-F724-409E-9197-CD322597346D}"/>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17442" name="Rectangle 2">
            <a:extLst>
              <a:ext uri="{FF2B5EF4-FFF2-40B4-BE49-F238E27FC236}">
                <a16:creationId xmlns:a16="http://schemas.microsoft.com/office/drawing/2014/main" id="{73E7138F-A6CD-4A79-AE29-343BBF2E78F2}"/>
              </a:ext>
            </a:extLst>
          </p:cNvPr>
          <p:cNvSpPr>
            <a:spLocks noGrp="1" noChangeArrowheads="1"/>
          </p:cNvSpPr>
          <p:nvPr>
            <p:ph type="title"/>
          </p:nvPr>
        </p:nvSpPr>
        <p:spPr/>
        <p:txBody>
          <a:bodyPr/>
          <a:lstStyle/>
          <a:p>
            <a:pPr eaLnBrk="1" hangingPunct="1">
              <a:defRPr/>
            </a:pPr>
            <a:r>
              <a:rPr lang="en-US" sz="4000"/>
              <a:t>Ví dụ 3: Các tập bao nhau được biểu diễn dạng cây</a:t>
            </a:r>
          </a:p>
        </p:txBody>
      </p:sp>
      <p:sp>
        <p:nvSpPr>
          <p:cNvPr id="317444" name="Rectangle 4">
            <a:extLst>
              <a:ext uri="{FF2B5EF4-FFF2-40B4-BE49-F238E27FC236}">
                <a16:creationId xmlns:a16="http://schemas.microsoft.com/office/drawing/2014/main" id="{D4AE0982-F06D-4049-BDD4-373FB6D6A7F3}"/>
              </a:ext>
            </a:extLst>
          </p:cNvPr>
          <p:cNvSpPr>
            <a:spLocks noGrp="1" noChangeArrowheads="1"/>
          </p:cNvSpPr>
          <p:nvPr>
            <p:ph type="body" sz="half" idx="1"/>
          </p:nvPr>
        </p:nvSpPr>
        <p:spPr/>
        <p:txBody>
          <a:bodyPr/>
          <a:lstStyle/>
          <a:p>
            <a:pPr eaLnBrk="1" hangingPunct="1">
              <a:defRPr/>
            </a:pPr>
            <a:r>
              <a:rPr lang="en-US" sz="2800"/>
              <a:t>Có các tập bao nhau A, B, C, D, E, F</a:t>
            </a:r>
          </a:p>
        </p:txBody>
      </p:sp>
      <p:pic>
        <p:nvPicPr>
          <p:cNvPr id="7174" name="Picture 8">
            <a:extLst>
              <a:ext uri="{FF2B5EF4-FFF2-40B4-BE49-F238E27FC236}">
                <a16:creationId xmlns:a16="http://schemas.microsoft.com/office/drawing/2014/main" id="{64152F7B-6202-466F-BFC4-D1D19A0BB1D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92088" y="2687638"/>
            <a:ext cx="4519612" cy="3148012"/>
          </a:xfrm>
          <a:noFill/>
          <a:extLst>
            <a:ext uri="{909E8E84-426E-40DD-AFC4-6F175D3DCCD1}">
              <a14:hiddenFill xmlns:a14="http://schemas.microsoft.com/office/drawing/2010/main">
                <a:solidFill>
                  <a:srgbClr val="FFFFFF"/>
                </a:solidFill>
              </a14:hiddenFill>
            </a:ext>
          </a:extLst>
        </p:spPr>
      </p:pic>
      <p:pic>
        <p:nvPicPr>
          <p:cNvPr id="7175" name="Picture 9">
            <a:extLst>
              <a:ext uri="{FF2B5EF4-FFF2-40B4-BE49-F238E27FC236}">
                <a16:creationId xmlns:a16="http://schemas.microsoft.com/office/drawing/2014/main" id="{52FBE03F-3228-48B7-921D-644A7D704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25" y="1855788"/>
            <a:ext cx="4222750" cy="397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AutoShape 10">
            <a:hlinkClick r:id="" action="ppaction://hlinkshowjump?jump=lastslideviewed" highlightClick="1"/>
            <a:extLst>
              <a:ext uri="{FF2B5EF4-FFF2-40B4-BE49-F238E27FC236}">
                <a16:creationId xmlns:a16="http://schemas.microsoft.com/office/drawing/2014/main" id="{5456872A-7F4F-43EF-B047-F4D3BA6E08ED}"/>
              </a:ext>
            </a:extLst>
          </p:cNvPr>
          <p:cNvSpPr>
            <a:spLocks noChangeArrowheads="1"/>
          </p:cNvSpPr>
          <p:nvPr/>
        </p:nvSpPr>
        <p:spPr bwMode="auto">
          <a:xfrm>
            <a:off x="7672388" y="6400800"/>
            <a:ext cx="490537" cy="292100"/>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F198BC3E-85E7-497F-BF18-FF61BCA096AB}"/>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9011948A-4542-4DEB-AB26-6F4A6D1F7293}" type="slidenum">
              <a:rPr lang="en-US" altLang="en-US" sz="1000" smtClean="0"/>
              <a:pPr>
                <a:spcBef>
                  <a:spcPct val="0"/>
                </a:spcBef>
                <a:buClrTx/>
                <a:buSzTx/>
                <a:buFontTx/>
                <a:buNone/>
                <a:defRPr/>
              </a:pPr>
              <a:t>5</a:t>
            </a:fld>
            <a:endParaRPr lang="en-US" alt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2CCFC77A-D0C0-463D-9586-49FF6C33C12A}"/>
              </a:ext>
            </a:extLst>
          </p:cNvPr>
          <p:cNvSpPr>
            <a:spLocks noGrp="1"/>
          </p:cNvSpPr>
          <p:nvPr>
            <p:ph type="dt" sz="quarter" idx="10"/>
          </p:nvPr>
        </p:nvSpPr>
        <p:spPr/>
        <p:txBody>
          <a:bodyPr/>
          <a:lstStyle/>
          <a:p>
            <a:pPr>
              <a:defRPr/>
            </a:pPr>
            <a:r>
              <a:rPr lang="en-US"/>
              <a:t>Ngô Công Thắng</a:t>
            </a:r>
          </a:p>
        </p:txBody>
      </p:sp>
      <p:sp>
        <p:nvSpPr>
          <p:cNvPr id="6" name="Footer Placeholder 4">
            <a:extLst>
              <a:ext uri="{FF2B5EF4-FFF2-40B4-BE49-F238E27FC236}">
                <a16:creationId xmlns:a16="http://schemas.microsoft.com/office/drawing/2014/main" id="{48E1EFF6-E67A-43AB-A2D5-CA3ED1C3A170}"/>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19490" name="Rectangle 2">
            <a:extLst>
              <a:ext uri="{FF2B5EF4-FFF2-40B4-BE49-F238E27FC236}">
                <a16:creationId xmlns:a16="http://schemas.microsoft.com/office/drawing/2014/main" id="{D58B81AC-7793-4A89-848B-14671264C4A5}"/>
              </a:ext>
            </a:extLst>
          </p:cNvPr>
          <p:cNvSpPr>
            <a:spLocks noGrp="1" noChangeArrowheads="1"/>
          </p:cNvSpPr>
          <p:nvPr>
            <p:ph type="title"/>
          </p:nvPr>
        </p:nvSpPr>
        <p:spPr/>
        <p:txBody>
          <a:bodyPr/>
          <a:lstStyle/>
          <a:p>
            <a:pPr eaLnBrk="1" hangingPunct="1">
              <a:defRPr/>
            </a:pPr>
            <a:r>
              <a:rPr lang="en-US"/>
              <a:t>1.2. Các khái niệm</a:t>
            </a:r>
          </a:p>
        </p:txBody>
      </p:sp>
      <p:sp>
        <p:nvSpPr>
          <p:cNvPr id="319491" name="Rectangle 3">
            <a:extLst>
              <a:ext uri="{FF2B5EF4-FFF2-40B4-BE49-F238E27FC236}">
                <a16:creationId xmlns:a16="http://schemas.microsoft.com/office/drawing/2014/main" id="{78C5D1A4-F218-4EE9-BCB3-96891010351E}"/>
              </a:ext>
            </a:extLst>
          </p:cNvPr>
          <p:cNvSpPr>
            <a:spLocks noGrp="1" noChangeArrowheads="1"/>
          </p:cNvSpPr>
          <p:nvPr>
            <p:ph type="body" idx="1"/>
          </p:nvPr>
        </p:nvSpPr>
        <p:spPr/>
        <p:txBody>
          <a:bodyPr/>
          <a:lstStyle/>
          <a:p>
            <a:pPr eaLnBrk="1" hangingPunct="1">
              <a:lnSpc>
                <a:spcPct val="90000"/>
              </a:lnSpc>
              <a:defRPr/>
            </a:pPr>
            <a:r>
              <a:rPr lang="en-US"/>
              <a:t>Gốc (Root): Gốc là nút đặc biệt không có nút cha.</a:t>
            </a:r>
          </a:p>
          <a:p>
            <a:pPr lvl="1" eaLnBrk="1" hangingPunct="1">
              <a:lnSpc>
                <a:spcPct val="90000"/>
              </a:lnSpc>
              <a:buFont typeface="Wingdings" panose="05000000000000000000" pitchFamily="2" charset="2"/>
              <a:buNone/>
              <a:defRPr/>
            </a:pPr>
            <a:r>
              <a:rPr lang="fr-FR">
                <a:hlinkClick r:id="rId2" action="ppaction://hlinksldjump"/>
              </a:rPr>
              <a:t>Ví dụ 3</a:t>
            </a:r>
            <a:r>
              <a:rPr lang="fr-FR"/>
              <a:t>: A là gốc.  A là cha của B, E, F.</a:t>
            </a:r>
          </a:p>
          <a:p>
            <a:pPr lvl="1" eaLnBrk="1" hangingPunct="1">
              <a:lnSpc>
                <a:spcPct val="90000"/>
              </a:lnSpc>
              <a:buFont typeface="Wingdings" panose="05000000000000000000" pitchFamily="2" charset="2"/>
              <a:buNone/>
              <a:defRPr/>
            </a:pPr>
            <a:r>
              <a:rPr lang="fr-FR"/>
              <a:t>	B, E, F là con của A.</a:t>
            </a:r>
          </a:p>
          <a:p>
            <a:pPr lvl="1" eaLnBrk="1" hangingPunct="1">
              <a:lnSpc>
                <a:spcPct val="90000"/>
              </a:lnSpc>
              <a:buFont typeface="Wingdings" panose="05000000000000000000" pitchFamily="2" charset="2"/>
              <a:buNone/>
              <a:defRPr/>
            </a:pPr>
            <a:r>
              <a:rPr lang="fr-FR"/>
              <a:t>	B, E, F cũng là gốc của các cây con của A</a:t>
            </a:r>
          </a:p>
          <a:p>
            <a:pPr eaLnBrk="1" hangingPunct="1">
              <a:lnSpc>
                <a:spcPct val="90000"/>
              </a:lnSpc>
              <a:defRPr/>
            </a:pPr>
            <a:r>
              <a:rPr lang="fr-FR"/>
              <a:t>Cấp (Degree): Số con của một nút gọi là cấp của nút đó.</a:t>
            </a:r>
          </a:p>
          <a:p>
            <a:pPr lvl="1" eaLnBrk="1" hangingPunct="1">
              <a:lnSpc>
                <a:spcPct val="90000"/>
              </a:lnSpc>
              <a:buFont typeface="Wingdings" panose="05000000000000000000" pitchFamily="2" charset="2"/>
              <a:buNone/>
              <a:defRPr/>
            </a:pPr>
            <a:r>
              <a:rPr lang="fr-FR">
                <a:hlinkClick r:id="rId2" action="ppaction://hlinksldjump"/>
              </a:rPr>
              <a:t>Ví dụ 3</a:t>
            </a:r>
            <a:r>
              <a:rPr lang="fr-FR"/>
              <a:t>:  A có cấp là 3. E, F có cấp là 0.</a:t>
            </a:r>
          </a:p>
          <a:p>
            <a:pPr lvl="1" eaLnBrk="1" hangingPunct="1">
              <a:lnSpc>
                <a:spcPct val="90000"/>
              </a:lnSpc>
              <a:buFont typeface="Wingdings" panose="05000000000000000000" pitchFamily="2" charset="2"/>
              <a:buNone/>
              <a:defRPr/>
            </a:pPr>
            <a:r>
              <a:rPr lang="fr-FR"/>
              <a:t>			B có cấp là 2.</a:t>
            </a:r>
            <a:endParaRPr lang="en-US"/>
          </a:p>
        </p:txBody>
      </p:sp>
      <p:sp>
        <p:nvSpPr>
          <p:cNvPr id="8198" name="AutoShape 4">
            <a:hlinkClick r:id="" action="ppaction://hlinkshowjump?jump=lastslideviewed" highlightClick="1"/>
            <a:extLst>
              <a:ext uri="{FF2B5EF4-FFF2-40B4-BE49-F238E27FC236}">
                <a16:creationId xmlns:a16="http://schemas.microsoft.com/office/drawing/2014/main" id="{B5979A7E-626F-4F18-97F3-5A3F04470AC3}"/>
              </a:ext>
            </a:extLst>
          </p:cNvPr>
          <p:cNvSpPr>
            <a:spLocks noChangeArrowheads="1"/>
          </p:cNvSpPr>
          <p:nvPr/>
        </p:nvSpPr>
        <p:spPr bwMode="auto">
          <a:xfrm>
            <a:off x="7832725" y="6413500"/>
            <a:ext cx="384175" cy="265113"/>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D8CAB239-BF49-4D00-A01F-3432144CEC8B}"/>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DE188FE0-3322-40BD-A421-DB6F97F47EA5}" type="slidenum">
              <a:rPr lang="en-US" altLang="en-US" sz="1000" smtClean="0"/>
              <a:pPr>
                <a:spcBef>
                  <a:spcPct val="0"/>
                </a:spcBef>
                <a:buClrTx/>
                <a:buSzTx/>
                <a:buFontTx/>
                <a:buNone/>
                <a:defRPr/>
              </a:pPr>
              <a:t>6</a:t>
            </a:fld>
            <a:endParaRPr lang="en-US" alt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6EE02D29-C656-4312-93D4-390B6EE31886}"/>
              </a:ext>
            </a:extLst>
          </p:cNvPr>
          <p:cNvSpPr>
            <a:spLocks noGrp="1"/>
          </p:cNvSpPr>
          <p:nvPr>
            <p:ph type="dt" sz="quarter" idx="10"/>
          </p:nvPr>
        </p:nvSpPr>
        <p:spPr/>
        <p:txBody>
          <a:bodyPr/>
          <a:lstStyle/>
          <a:p>
            <a:pPr>
              <a:defRPr/>
            </a:pPr>
            <a:r>
              <a:rPr lang="en-US"/>
              <a:t>Ngô Công Thắng</a:t>
            </a:r>
          </a:p>
        </p:txBody>
      </p:sp>
      <p:sp>
        <p:nvSpPr>
          <p:cNvPr id="6" name="Footer Placeholder 4">
            <a:extLst>
              <a:ext uri="{FF2B5EF4-FFF2-40B4-BE49-F238E27FC236}">
                <a16:creationId xmlns:a16="http://schemas.microsoft.com/office/drawing/2014/main" id="{BC3674E6-5B19-48D4-9EC2-CB09A29F8430}"/>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0514" name="Rectangle 2">
            <a:extLst>
              <a:ext uri="{FF2B5EF4-FFF2-40B4-BE49-F238E27FC236}">
                <a16:creationId xmlns:a16="http://schemas.microsoft.com/office/drawing/2014/main" id="{4D4997E9-17F9-4298-BCE3-409CF95ECF35}"/>
              </a:ext>
            </a:extLst>
          </p:cNvPr>
          <p:cNvSpPr>
            <a:spLocks noGrp="1" noChangeArrowheads="1"/>
          </p:cNvSpPr>
          <p:nvPr>
            <p:ph type="title"/>
          </p:nvPr>
        </p:nvSpPr>
        <p:spPr/>
        <p:txBody>
          <a:bodyPr/>
          <a:lstStyle/>
          <a:p>
            <a:pPr eaLnBrk="1" hangingPunct="1">
              <a:defRPr/>
            </a:pPr>
            <a:r>
              <a:rPr lang="en-US"/>
              <a:t>1.2. Các khái niệm (</a:t>
            </a:r>
            <a:r>
              <a:rPr lang="en-US" i="1"/>
              <a:t>tiếp</a:t>
            </a:r>
            <a:r>
              <a:rPr lang="en-US"/>
              <a:t>)</a:t>
            </a:r>
          </a:p>
        </p:txBody>
      </p:sp>
      <p:sp>
        <p:nvSpPr>
          <p:cNvPr id="320515" name="Rectangle 3">
            <a:extLst>
              <a:ext uri="{FF2B5EF4-FFF2-40B4-BE49-F238E27FC236}">
                <a16:creationId xmlns:a16="http://schemas.microsoft.com/office/drawing/2014/main" id="{89678792-E232-4C68-A357-E5349F2EB416}"/>
              </a:ext>
            </a:extLst>
          </p:cNvPr>
          <p:cNvSpPr>
            <a:spLocks noGrp="1" noChangeArrowheads="1"/>
          </p:cNvSpPr>
          <p:nvPr>
            <p:ph type="body" idx="1"/>
          </p:nvPr>
        </p:nvSpPr>
        <p:spPr/>
        <p:txBody>
          <a:bodyPr/>
          <a:lstStyle/>
          <a:p>
            <a:pPr eaLnBrk="1" hangingPunct="1">
              <a:defRPr/>
            </a:pPr>
            <a:r>
              <a:rPr lang="fr-FR" sz="2800"/>
              <a:t>Lá (Leaf): Nút có cấp bằng không gọi là lá hay nút tận cùng.</a:t>
            </a:r>
            <a:endParaRPr lang="en-US" sz="2800"/>
          </a:p>
          <a:p>
            <a:pPr lvl="1" eaLnBrk="1" hangingPunct="1">
              <a:buFont typeface="Wingdings" panose="05000000000000000000" pitchFamily="2" charset="2"/>
              <a:buNone/>
              <a:defRPr/>
            </a:pPr>
            <a:r>
              <a:rPr lang="fr-FR" sz="2400">
                <a:hlinkClick r:id="rId2" action="ppaction://hlinksldjump"/>
              </a:rPr>
              <a:t>Ví dụ 3</a:t>
            </a:r>
            <a:r>
              <a:rPr lang="fr-FR" sz="2400"/>
              <a:t>: C,D,E,F là lá.</a:t>
            </a:r>
          </a:p>
          <a:p>
            <a:pPr eaLnBrk="1" hangingPunct="1">
              <a:defRPr/>
            </a:pPr>
            <a:r>
              <a:rPr lang="fr-FR" sz="2800"/>
              <a:t>Nút nhánh (Branch Node): Nút không là lá được gọi là nút nhánh hay nút trong.</a:t>
            </a:r>
          </a:p>
          <a:p>
            <a:pPr lvl="1" eaLnBrk="1" hangingPunct="1">
              <a:buFont typeface="Wingdings" panose="05000000000000000000" pitchFamily="2" charset="2"/>
              <a:buNone/>
              <a:defRPr/>
            </a:pPr>
            <a:r>
              <a:rPr lang="fr-FR" sz="2400" i="1">
                <a:hlinkClick r:id="rId2" action="ppaction://hlinksldjump"/>
              </a:rPr>
              <a:t>Ví dụ 3</a:t>
            </a:r>
            <a:r>
              <a:rPr lang="fr-FR" sz="2400" i="1"/>
              <a:t>:</a:t>
            </a:r>
            <a:r>
              <a:rPr lang="fr-FR" sz="2400"/>
              <a:t>  B là nút nhánh.</a:t>
            </a:r>
          </a:p>
          <a:p>
            <a:pPr eaLnBrk="1" hangingPunct="1">
              <a:defRPr/>
            </a:pPr>
            <a:r>
              <a:rPr lang="fr-FR" sz="2800"/>
              <a:t>Mức (Level): Gốc cây có mức là 1. Nếu nút cha có mức là i thì nút con có mức là i+1.</a:t>
            </a:r>
          </a:p>
          <a:p>
            <a:pPr lvl="1" eaLnBrk="1" hangingPunct="1">
              <a:buFont typeface="Wingdings" panose="05000000000000000000" pitchFamily="2" charset="2"/>
              <a:buNone/>
              <a:defRPr/>
            </a:pPr>
            <a:r>
              <a:rPr lang="fr-FR" sz="2400">
                <a:hlinkClick r:id="rId2" action="ppaction://hlinksldjump"/>
              </a:rPr>
              <a:t>Ví dụ 3</a:t>
            </a:r>
            <a:r>
              <a:rPr lang="fr-FR" sz="2400"/>
              <a:t>:  A có mức là 1. B, E, F có mức là 2.</a:t>
            </a:r>
          </a:p>
          <a:p>
            <a:pPr lvl="1" eaLnBrk="1" hangingPunct="1">
              <a:buFont typeface="Wingdings" panose="05000000000000000000" pitchFamily="2" charset="2"/>
              <a:buNone/>
              <a:defRPr/>
            </a:pPr>
            <a:r>
              <a:rPr lang="fr-FR" sz="2400"/>
              <a:t>			C, D có mức là 3.</a:t>
            </a:r>
            <a:endParaRPr lang="en-US" sz="2400"/>
          </a:p>
        </p:txBody>
      </p:sp>
      <p:sp>
        <p:nvSpPr>
          <p:cNvPr id="9222" name="AutoShape 4">
            <a:hlinkClick r:id="" action="ppaction://hlinkshowjump?jump=lastslideviewed" highlightClick="1"/>
            <a:extLst>
              <a:ext uri="{FF2B5EF4-FFF2-40B4-BE49-F238E27FC236}">
                <a16:creationId xmlns:a16="http://schemas.microsoft.com/office/drawing/2014/main" id="{53B50842-83AD-4BFC-AA70-6D79FE7C63B3}"/>
              </a:ext>
            </a:extLst>
          </p:cNvPr>
          <p:cNvSpPr>
            <a:spLocks noChangeArrowheads="1"/>
          </p:cNvSpPr>
          <p:nvPr/>
        </p:nvSpPr>
        <p:spPr bwMode="auto">
          <a:xfrm>
            <a:off x="7721600" y="6402388"/>
            <a:ext cx="522288" cy="260350"/>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391B8235-CA72-48A9-8635-5D96B69A4F5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2658BD1A-212A-427A-9D1A-5099F28DA1CF}" type="slidenum">
              <a:rPr lang="en-US" altLang="en-US" sz="1000" smtClean="0"/>
              <a:pPr>
                <a:spcBef>
                  <a:spcPct val="0"/>
                </a:spcBef>
                <a:buClrTx/>
                <a:buSzTx/>
                <a:buFontTx/>
                <a:buNone/>
                <a:defRPr/>
              </a:pPr>
              <a:t>7</a:t>
            </a:fld>
            <a:endParaRPr lang="en-US" alt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FA2D37-7E1F-42D6-9184-71BA4BE8898E}"/>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17FE9493-B1DB-44A9-8AD5-90E485115C9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1538" name="Rectangle 2">
            <a:extLst>
              <a:ext uri="{FF2B5EF4-FFF2-40B4-BE49-F238E27FC236}">
                <a16:creationId xmlns:a16="http://schemas.microsoft.com/office/drawing/2014/main" id="{D2B85943-8B14-4183-B54D-9583F6C1EF1F}"/>
              </a:ext>
            </a:extLst>
          </p:cNvPr>
          <p:cNvSpPr>
            <a:spLocks noGrp="1" noChangeArrowheads="1"/>
          </p:cNvSpPr>
          <p:nvPr>
            <p:ph type="title"/>
          </p:nvPr>
        </p:nvSpPr>
        <p:spPr/>
        <p:txBody>
          <a:bodyPr/>
          <a:lstStyle/>
          <a:p>
            <a:pPr eaLnBrk="1" hangingPunct="1">
              <a:defRPr/>
            </a:pPr>
            <a:r>
              <a:rPr lang="en-US"/>
              <a:t>1.2. Các khái niệm (</a:t>
            </a:r>
            <a:r>
              <a:rPr lang="en-US" i="1"/>
              <a:t>tiếp</a:t>
            </a:r>
            <a:r>
              <a:rPr lang="en-US"/>
              <a:t>)</a:t>
            </a:r>
          </a:p>
        </p:txBody>
      </p:sp>
      <p:sp>
        <p:nvSpPr>
          <p:cNvPr id="321539" name="Rectangle 3">
            <a:extLst>
              <a:ext uri="{FF2B5EF4-FFF2-40B4-BE49-F238E27FC236}">
                <a16:creationId xmlns:a16="http://schemas.microsoft.com/office/drawing/2014/main" id="{E043DD0B-64B3-4C53-9BD6-DA3E8D9A5704}"/>
              </a:ext>
            </a:extLst>
          </p:cNvPr>
          <p:cNvSpPr>
            <a:spLocks noGrp="1" noChangeArrowheads="1"/>
          </p:cNvSpPr>
          <p:nvPr>
            <p:ph type="body" idx="1"/>
          </p:nvPr>
        </p:nvSpPr>
        <p:spPr/>
        <p:txBody>
          <a:bodyPr/>
          <a:lstStyle/>
          <a:p>
            <a:pPr eaLnBrk="1" hangingPunct="1">
              <a:lnSpc>
                <a:spcPct val="80000"/>
              </a:lnSpc>
              <a:defRPr/>
            </a:pPr>
            <a:r>
              <a:rPr lang="fr-FR" sz="2800"/>
              <a:t>Chiều cao của cây (Height) hay chiều sâu của cây (Depth): Là số mức lớn nhất của nút có trên cây.</a:t>
            </a:r>
            <a:endParaRPr lang="en-US" sz="2800"/>
          </a:p>
          <a:p>
            <a:pPr lvl="1" eaLnBrk="1" hangingPunct="1">
              <a:lnSpc>
                <a:spcPct val="80000"/>
              </a:lnSpc>
              <a:buFont typeface="Wingdings" panose="05000000000000000000" pitchFamily="2" charset="2"/>
              <a:buNone/>
              <a:defRPr/>
            </a:pPr>
            <a:r>
              <a:rPr lang="fr-FR" sz="2400">
                <a:hlinkClick r:id="rId2" action="ppaction://hlinksldjump"/>
              </a:rPr>
              <a:t>Ví dụ 1</a:t>
            </a:r>
            <a:r>
              <a:rPr lang="fr-FR" sz="2400"/>
              <a:t>: Cây có chiều cao là 3</a:t>
            </a:r>
          </a:p>
          <a:p>
            <a:pPr lvl="1" eaLnBrk="1" hangingPunct="1">
              <a:lnSpc>
                <a:spcPct val="80000"/>
              </a:lnSpc>
              <a:buFont typeface="Wingdings" panose="05000000000000000000" pitchFamily="2" charset="2"/>
              <a:buNone/>
              <a:defRPr/>
            </a:pPr>
            <a:r>
              <a:rPr lang="fr-FR" sz="2400">
                <a:hlinkClick r:id="rId3" action="ppaction://hlinksldjump"/>
              </a:rPr>
              <a:t>Ví dụ 2</a:t>
            </a:r>
            <a:r>
              <a:rPr lang="fr-FR" sz="2400"/>
              <a:t>: Cây có chiều cao là 5</a:t>
            </a:r>
          </a:p>
          <a:p>
            <a:pPr lvl="1" eaLnBrk="1" hangingPunct="1">
              <a:lnSpc>
                <a:spcPct val="80000"/>
              </a:lnSpc>
              <a:buFont typeface="Wingdings" panose="05000000000000000000" pitchFamily="2" charset="2"/>
              <a:buNone/>
              <a:defRPr/>
            </a:pPr>
            <a:r>
              <a:rPr lang="fr-FR" sz="2400">
                <a:hlinkClick r:id="rId4" action="ppaction://hlinksldjump"/>
              </a:rPr>
              <a:t>Ví dụ 3</a:t>
            </a:r>
            <a:r>
              <a:rPr lang="fr-FR" sz="2400"/>
              <a:t>: Cây có chiều cao là 3</a:t>
            </a:r>
          </a:p>
          <a:p>
            <a:pPr eaLnBrk="1" hangingPunct="1">
              <a:lnSpc>
                <a:spcPct val="80000"/>
              </a:lnSpc>
              <a:defRPr/>
            </a:pPr>
            <a:r>
              <a:rPr lang="fr-FR" sz="2800"/>
              <a:t>Đường đi (Path): Nếu n</a:t>
            </a:r>
            <a:r>
              <a:rPr lang="fr-FR" sz="2800" baseline="-25000"/>
              <a:t>1</a:t>
            </a:r>
            <a:r>
              <a:rPr lang="fr-FR" sz="2800"/>
              <a:t>, n</a:t>
            </a:r>
            <a:r>
              <a:rPr lang="fr-FR" sz="2800" baseline="-25000"/>
              <a:t>2</a:t>
            </a:r>
            <a:r>
              <a:rPr lang="fr-FR" sz="2800"/>
              <a:t>, ..., n</a:t>
            </a:r>
            <a:r>
              <a:rPr lang="fr-FR" sz="2800" baseline="-25000"/>
              <a:t>k</a:t>
            </a:r>
            <a:r>
              <a:rPr lang="fr-FR" sz="2800"/>
              <a:t> là các dãy nút mà n</a:t>
            </a:r>
            <a:r>
              <a:rPr lang="fr-FR" sz="2800" baseline="-25000"/>
              <a:t>i</a:t>
            </a:r>
            <a:r>
              <a:rPr lang="fr-FR" sz="2800"/>
              <a:t> là cha của n</a:t>
            </a:r>
            <a:r>
              <a:rPr lang="fr-FR" sz="2800" baseline="-25000"/>
              <a:t>i+1</a:t>
            </a:r>
            <a:r>
              <a:rPr lang="fr-FR" sz="2800"/>
              <a:t> (1</a:t>
            </a:r>
            <a:r>
              <a:rPr lang="fr-FR" sz="2800">
                <a:sym typeface="Symbol" pitchFamily="18" charset="2"/>
              </a:rPr>
              <a:t></a:t>
            </a:r>
            <a:r>
              <a:rPr lang="fr-FR" sz="2800"/>
              <a:t>i&lt;k) thì dãy đó gọi là đường đi từ n</a:t>
            </a:r>
            <a:r>
              <a:rPr lang="fr-FR" sz="2800" baseline="-25000"/>
              <a:t>1</a:t>
            </a:r>
            <a:r>
              <a:rPr lang="fr-FR" sz="2800"/>
              <a:t> đến n</a:t>
            </a:r>
            <a:r>
              <a:rPr lang="fr-FR" sz="2800" baseline="-25000"/>
              <a:t>k</a:t>
            </a:r>
            <a:r>
              <a:rPr lang="fr-FR" sz="2800"/>
              <a:t>. Độ dài của đường đi bằng số nút trừ đi 1. .</a:t>
            </a:r>
          </a:p>
          <a:p>
            <a:pPr lvl="1" eaLnBrk="1" hangingPunct="1">
              <a:lnSpc>
                <a:spcPct val="80000"/>
              </a:lnSpc>
              <a:buFont typeface="Wingdings" panose="05000000000000000000" pitchFamily="2" charset="2"/>
              <a:buNone/>
              <a:defRPr/>
            </a:pPr>
            <a:r>
              <a:rPr lang="fr-FR" sz="2400">
                <a:hlinkClick r:id="rId4" action="ppaction://hlinksldjump"/>
              </a:rPr>
              <a:t>Ví dụ 3</a:t>
            </a:r>
            <a:r>
              <a:rPr lang="fr-FR" sz="2400"/>
              <a:t>: Đường đi từ A đến C cố độ dài là 3-1=2.</a:t>
            </a:r>
          </a:p>
          <a:p>
            <a:pPr lvl="1" eaLnBrk="1" hangingPunct="1">
              <a:lnSpc>
                <a:spcPct val="80000"/>
              </a:lnSpc>
              <a:buFont typeface="Wingdings" panose="05000000000000000000" pitchFamily="2" charset="2"/>
              <a:buNone/>
              <a:defRPr/>
            </a:pPr>
            <a:r>
              <a:rPr lang="fr-FR" sz="2400"/>
              <a:t>		        Đường đi từ A đến E cố độ dài là 2-1=1.</a:t>
            </a:r>
          </a:p>
        </p:txBody>
      </p:sp>
      <p:sp>
        <p:nvSpPr>
          <p:cNvPr id="2" name="Slide Number Placeholder 1">
            <a:extLst>
              <a:ext uri="{FF2B5EF4-FFF2-40B4-BE49-F238E27FC236}">
                <a16:creationId xmlns:a16="http://schemas.microsoft.com/office/drawing/2014/main" id="{01241BC7-ABDD-4B5A-B1A6-45DBDB39E784}"/>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279B9A89-1200-4BE1-AB55-915F8102BA5A}" type="slidenum">
              <a:rPr lang="en-US" altLang="en-US" sz="1000" smtClean="0"/>
              <a:pPr>
                <a:spcBef>
                  <a:spcPct val="0"/>
                </a:spcBef>
                <a:buClrTx/>
                <a:buSzTx/>
                <a:buFontTx/>
                <a:buNone/>
                <a:defRPr/>
              </a:pPr>
              <a:t>8</a:t>
            </a:fld>
            <a:endParaRPr lang="en-US" alt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33BBDA2-CA79-4D7E-821B-85B987F0E81F}"/>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94F82DA0-402C-4A17-9494-DC9E8DCA805A}"/>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2562" name="Rectangle 2">
            <a:extLst>
              <a:ext uri="{FF2B5EF4-FFF2-40B4-BE49-F238E27FC236}">
                <a16:creationId xmlns:a16="http://schemas.microsoft.com/office/drawing/2014/main" id="{8EFB2C2E-387F-4970-8D4A-99BACEDFB6CA}"/>
              </a:ext>
            </a:extLst>
          </p:cNvPr>
          <p:cNvSpPr>
            <a:spLocks noGrp="1" noChangeArrowheads="1"/>
          </p:cNvSpPr>
          <p:nvPr>
            <p:ph type="title"/>
          </p:nvPr>
        </p:nvSpPr>
        <p:spPr/>
        <p:txBody>
          <a:bodyPr/>
          <a:lstStyle/>
          <a:p>
            <a:pPr eaLnBrk="1" hangingPunct="1">
              <a:defRPr/>
            </a:pPr>
            <a:r>
              <a:rPr lang="en-US"/>
              <a:t>1.2. Các khái niệm (</a:t>
            </a:r>
            <a:r>
              <a:rPr lang="en-US" i="1"/>
              <a:t>tiếp</a:t>
            </a:r>
            <a:r>
              <a:rPr lang="en-US"/>
              <a:t>)</a:t>
            </a:r>
          </a:p>
        </p:txBody>
      </p:sp>
      <p:sp>
        <p:nvSpPr>
          <p:cNvPr id="322563" name="Rectangle 3">
            <a:extLst>
              <a:ext uri="{FF2B5EF4-FFF2-40B4-BE49-F238E27FC236}">
                <a16:creationId xmlns:a16="http://schemas.microsoft.com/office/drawing/2014/main" id="{ADE70B67-230B-41ED-AFCF-16230D714777}"/>
              </a:ext>
            </a:extLst>
          </p:cNvPr>
          <p:cNvSpPr>
            <a:spLocks noGrp="1" noChangeArrowheads="1"/>
          </p:cNvSpPr>
          <p:nvPr>
            <p:ph type="body" sz="half" idx="1"/>
          </p:nvPr>
        </p:nvSpPr>
        <p:spPr/>
        <p:txBody>
          <a:bodyPr/>
          <a:lstStyle/>
          <a:p>
            <a:pPr eaLnBrk="1" hangingPunct="1">
              <a:lnSpc>
                <a:spcPct val="90000"/>
              </a:lnSpc>
              <a:defRPr/>
            </a:pPr>
            <a:r>
              <a:rPr lang="fr-FR" sz="2800"/>
              <a:t>Nếu phân biệt thứ tự các cây con của một nút thì cây đang xét là cây có thứ tự, ngược lại là cây không có thứ tự.</a:t>
            </a:r>
          </a:p>
          <a:p>
            <a:pPr eaLnBrk="1" hangingPunct="1">
              <a:lnSpc>
                <a:spcPct val="90000"/>
              </a:lnSpc>
              <a:defRPr/>
            </a:pPr>
            <a:r>
              <a:rPr lang="vi-VN" sz="2800"/>
              <a:t>Thường thì thứ tự các cây con của một nút được đặt từ trái sang phải</a:t>
            </a:r>
            <a:r>
              <a:rPr lang="en-US" sz="2800"/>
              <a:t>.</a:t>
            </a:r>
          </a:p>
        </p:txBody>
      </p:sp>
      <p:pic>
        <p:nvPicPr>
          <p:cNvPr id="11270" name="Picture 5">
            <a:extLst>
              <a:ext uri="{FF2B5EF4-FFF2-40B4-BE49-F238E27FC236}">
                <a16:creationId xmlns:a16="http://schemas.microsoft.com/office/drawing/2014/main" id="{29278B1C-560C-4664-9DCA-18B8C5A0D85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t="1538"/>
          <a:stretch>
            <a:fillRect/>
          </a:stretch>
        </p:blipFill>
        <p:spPr>
          <a:xfrm>
            <a:off x="987425" y="3967163"/>
            <a:ext cx="7362825" cy="2297112"/>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F63AED3-96BF-4D41-9BC3-34360ECBCE5E}"/>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4630B7D4-043C-4FF7-8018-C92506018215}" type="slidenum">
              <a:rPr lang="en-US" altLang="en-US" sz="1000" smtClean="0"/>
              <a:pPr>
                <a:spcBef>
                  <a:spcPct val="0"/>
                </a:spcBef>
                <a:buClrTx/>
                <a:buSzTx/>
                <a:buFontTx/>
                <a:buNone/>
                <a:defRPr/>
              </a:pPr>
              <a:t>9</a:t>
            </a:fld>
            <a:endParaRPr lang="en-US" alt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D85B4D2-2A41-447A-9860-396DA2C26462}"/>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1CE39FA6-AC6B-428F-9D77-58A2556089F5}"/>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4610" name="Rectangle 2">
            <a:extLst>
              <a:ext uri="{FF2B5EF4-FFF2-40B4-BE49-F238E27FC236}">
                <a16:creationId xmlns:a16="http://schemas.microsoft.com/office/drawing/2014/main" id="{200EB753-BB20-4B83-91B7-6E83798F9137}"/>
              </a:ext>
            </a:extLst>
          </p:cNvPr>
          <p:cNvSpPr>
            <a:spLocks noGrp="1" noChangeArrowheads="1"/>
          </p:cNvSpPr>
          <p:nvPr>
            <p:ph type="title"/>
          </p:nvPr>
        </p:nvSpPr>
        <p:spPr/>
        <p:txBody>
          <a:bodyPr/>
          <a:lstStyle/>
          <a:p>
            <a:pPr eaLnBrk="1" hangingPunct="1">
              <a:defRPr/>
            </a:pPr>
            <a:r>
              <a:rPr lang="en-US"/>
              <a:t>1.2. Các khái niệm (</a:t>
            </a:r>
            <a:r>
              <a:rPr lang="en-US" i="1"/>
              <a:t>tiếp</a:t>
            </a:r>
            <a:r>
              <a:rPr lang="en-US"/>
              <a:t>)</a:t>
            </a:r>
          </a:p>
        </p:txBody>
      </p:sp>
      <p:sp>
        <p:nvSpPr>
          <p:cNvPr id="324611" name="Rectangle 3">
            <a:extLst>
              <a:ext uri="{FF2B5EF4-FFF2-40B4-BE49-F238E27FC236}">
                <a16:creationId xmlns:a16="http://schemas.microsoft.com/office/drawing/2014/main" id="{19167025-2429-4474-905D-8BB9BF612228}"/>
              </a:ext>
            </a:extLst>
          </p:cNvPr>
          <p:cNvSpPr>
            <a:spLocks noGrp="1" noChangeArrowheads="1"/>
          </p:cNvSpPr>
          <p:nvPr>
            <p:ph type="body" idx="1"/>
          </p:nvPr>
        </p:nvSpPr>
        <p:spPr/>
        <p:txBody>
          <a:bodyPr/>
          <a:lstStyle/>
          <a:p>
            <a:pPr eaLnBrk="1" hangingPunct="1">
              <a:defRPr/>
            </a:pPr>
            <a:r>
              <a:rPr lang="vi-VN"/>
              <a:t>Đối với cây, ngoài quan hệ cha con</a:t>
            </a:r>
            <a:r>
              <a:rPr lang="en-US"/>
              <a:t>,</a:t>
            </a:r>
            <a:r>
              <a:rPr lang="vi-VN"/>
              <a:t> người ta còn mở rộng phỏng theo quan hệ trong gia tộc.</a:t>
            </a:r>
            <a:endParaRPr lang="en-US"/>
          </a:p>
          <a:p>
            <a:pPr eaLnBrk="1" hangingPunct="1">
              <a:defRPr/>
            </a:pPr>
            <a:r>
              <a:rPr lang="vi-VN"/>
              <a:t>Rừng </a:t>
            </a:r>
            <a:r>
              <a:rPr lang="en-US"/>
              <a:t>(Forest)</a:t>
            </a:r>
            <a:r>
              <a:rPr lang="vi-VN"/>
              <a:t>: Nếu có một tập hữu hạn các cây phân biệt thì ta gọi tập đó là rừng</a:t>
            </a:r>
            <a:r>
              <a:rPr lang="en-US"/>
              <a:t>.</a:t>
            </a:r>
          </a:p>
          <a:p>
            <a:pPr eaLnBrk="1" hangingPunct="1">
              <a:defRPr/>
            </a:pPr>
            <a:r>
              <a:rPr lang="en-US"/>
              <a:t>Nếu bỏ nút gốc của một cây thì ta sẽ có một rừng. </a:t>
            </a:r>
          </a:p>
        </p:txBody>
      </p:sp>
      <p:sp>
        <p:nvSpPr>
          <p:cNvPr id="2" name="Slide Number Placeholder 1">
            <a:extLst>
              <a:ext uri="{FF2B5EF4-FFF2-40B4-BE49-F238E27FC236}">
                <a16:creationId xmlns:a16="http://schemas.microsoft.com/office/drawing/2014/main" id="{63C40684-4F47-4696-A6CC-31379599450F}"/>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44495E52-75D1-4C99-AD54-A8E14A0A96E8}" type="slidenum">
              <a:rPr lang="en-US" altLang="en-US" sz="1000" smtClean="0"/>
              <a:pPr>
                <a:spcBef>
                  <a:spcPct val="0"/>
                </a:spcBef>
                <a:buClrTx/>
                <a:buSzTx/>
                <a:buFontTx/>
                <a:buNone/>
                <a:defRPr/>
              </a:pPr>
              <a:t>10</a:t>
            </a:fld>
            <a:endParaRPr lang="en-US" alt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C160E9-4CAC-4369-885B-747B12CB7C60}"/>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C99006C5-5E30-46AF-A416-7456FBD51968}"/>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5634" name="Rectangle 2">
            <a:extLst>
              <a:ext uri="{FF2B5EF4-FFF2-40B4-BE49-F238E27FC236}">
                <a16:creationId xmlns:a16="http://schemas.microsoft.com/office/drawing/2014/main" id="{2230638E-5791-40F8-AAFB-0360A1C22685}"/>
              </a:ext>
            </a:extLst>
          </p:cNvPr>
          <p:cNvSpPr>
            <a:spLocks noGrp="1" noChangeArrowheads="1"/>
          </p:cNvSpPr>
          <p:nvPr>
            <p:ph type="title"/>
          </p:nvPr>
        </p:nvSpPr>
        <p:spPr/>
        <p:txBody>
          <a:bodyPr/>
          <a:lstStyle/>
          <a:p>
            <a:pPr eaLnBrk="1" hangingPunct="1">
              <a:defRPr/>
            </a:pPr>
            <a:r>
              <a:rPr lang="en-US"/>
              <a:t>2. Cây nhị phân</a:t>
            </a:r>
          </a:p>
        </p:txBody>
      </p:sp>
      <p:sp>
        <p:nvSpPr>
          <p:cNvPr id="325635" name="Rectangle 3">
            <a:extLst>
              <a:ext uri="{FF2B5EF4-FFF2-40B4-BE49-F238E27FC236}">
                <a16:creationId xmlns:a16="http://schemas.microsoft.com/office/drawing/2014/main" id="{991C28DF-42F2-4620-A387-D700D9D6FE0A}"/>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vi-VN"/>
              <a:t>2.1. Định nghĩa và tính chất</a:t>
            </a:r>
            <a:endParaRPr lang="en-US"/>
          </a:p>
          <a:p>
            <a:pPr eaLnBrk="1" hangingPunct="1">
              <a:buFont typeface="Wingdings" panose="05000000000000000000" pitchFamily="2" charset="2"/>
              <a:buNone/>
              <a:defRPr/>
            </a:pPr>
            <a:r>
              <a:rPr lang="vi-VN"/>
              <a:t>2.1.1. Định nghĩa cây nhị phân</a:t>
            </a:r>
            <a:endParaRPr lang="en-US"/>
          </a:p>
          <a:p>
            <a:pPr eaLnBrk="1" hangingPunct="1">
              <a:defRPr/>
            </a:pPr>
            <a:r>
              <a:rPr lang="vi-VN"/>
              <a:t>Cây nhị phân là dạng đặc biệt của cấu trúc cây, mọi nút trên cây chỉ có tối đa là 2 con</a:t>
            </a:r>
            <a:r>
              <a:rPr lang="en-US"/>
              <a:t>.</a:t>
            </a:r>
          </a:p>
          <a:p>
            <a:pPr eaLnBrk="1" hangingPunct="1">
              <a:defRPr/>
            </a:pPr>
            <a:r>
              <a:rPr lang="en-US"/>
              <a:t>Cây nhị phân là cây có thứ tự, nó </a:t>
            </a:r>
            <a:r>
              <a:rPr lang="vi-VN"/>
              <a:t>phân biệt cây con trái và cây con phải.</a:t>
            </a:r>
            <a:endParaRPr lang="en-US"/>
          </a:p>
        </p:txBody>
      </p:sp>
      <p:sp>
        <p:nvSpPr>
          <p:cNvPr id="2" name="Slide Number Placeholder 1">
            <a:extLst>
              <a:ext uri="{FF2B5EF4-FFF2-40B4-BE49-F238E27FC236}">
                <a16:creationId xmlns:a16="http://schemas.microsoft.com/office/drawing/2014/main" id="{1A85F332-177D-4B46-8AE2-084DD5BCF828}"/>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7D5225BC-94AD-4A5F-9CDD-6AC8835C8C75}" type="slidenum">
              <a:rPr lang="en-US" altLang="en-US" sz="1000" smtClean="0"/>
              <a:pPr>
                <a:spcBef>
                  <a:spcPct val="0"/>
                </a:spcBef>
                <a:buClrTx/>
                <a:buSzTx/>
                <a:buFontTx/>
                <a:buNone/>
                <a:defRPr/>
              </a:pPr>
              <a:t>11</a:t>
            </a:fld>
            <a:endParaRPr lang="en-US" alt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1E53386-09F0-45D8-A929-FB5AD4F84A95}"/>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747E1548-2416-42CF-907E-4B26DE63B13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6658" name="Rectangle 2">
            <a:extLst>
              <a:ext uri="{FF2B5EF4-FFF2-40B4-BE49-F238E27FC236}">
                <a16:creationId xmlns:a16="http://schemas.microsoft.com/office/drawing/2014/main" id="{3189894B-9FC3-4BE0-9E05-833AC6888A70}"/>
              </a:ext>
            </a:extLst>
          </p:cNvPr>
          <p:cNvSpPr>
            <a:spLocks noGrp="1" noChangeArrowheads="1"/>
          </p:cNvSpPr>
          <p:nvPr>
            <p:ph type="title"/>
          </p:nvPr>
        </p:nvSpPr>
        <p:spPr/>
        <p:txBody>
          <a:bodyPr/>
          <a:lstStyle/>
          <a:p>
            <a:pPr eaLnBrk="1" hangingPunct="1">
              <a:defRPr/>
            </a:pPr>
            <a:r>
              <a:rPr lang="vi-VN" sz="3600"/>
              <a:t>Ví dụ</a:t>
            </a:r>
            <a:r>
              <a:rPr lang="en-US" sz="3600"/>
              <a:t> 1</a:t>
            </a:r>
            <a:r>
              <a:rPr lang="vi-VN" sz="3600"/>
              <a:t>: Hai cây sau đây là khác nhau</a:t>
            </a:r>
            <a:endParaRPr lang="en-US" sz="3600"/>
          </a:p>
        </p:txBody>
      </p:sp>
      <p:pic>
        <p:nvPicPr>
          <p:cNvPr id="14341" name="Picture 5">
            <a:extLst>
              <a:ext uri="{FF2B5EF4-FFF2-40B4-BE49-F238E27FC236}">
                <a16:creationId xmlns:a16="http://schemas.microsoft.com/office/drawing/2014/main" id="{73F87267-C702-4BB4-BCB9-E4B87D9B76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 y="1638300"/>
            <a:ext cx="8513763" cy="4379913"/>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112840F5-5D83-4014-AC60-CB4102344CFA}"/>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216C9A06-9D93-4F66-B162-59047351C782}" type="slidenum">
              <a:rPr lang="en-US" altLang="en-US" sz="1000" smtClean="0"/>
              <a:pPr>
                <a:spcBef>
                  <a:spcPct val="0"/>
                </a:spcBef>
                <a:buClrTx/>
                <a:buSzTx/>
                <a:buFontTx/>
                <a:buNone/>
                <a:defRPr/>
              </a:pPr>
              <a:t>12</a:t>
            </a:fld>
            <a:endParaRPr lang="en-US" alt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80351A62-C76F-4F28-8206-4022C9F73107}"/>
              </a:ext>
            </a:extLst>
          </p:cNvPr>
          <p:cNvSpPr>
            <a:spLocks noGrp="1"/>
          </p:cNvSpPr>
          <p:nvPr>
            <p:ph type="dt" sz="quarter" idx="10"/>
          </p:nvPr>
        </p:nvSpPr>
        <p:spPr/>
        <p:txBody>
          <a:bodyPr/>
          <a:lstStyle/>
          <a:p>
            <a:pPr>
              <a:defRPr/>
            </a:pPr>
            <a:r>
              <a:rPr lang="en-US"/>
              <a:t>Ngô Công Thắng</a:t>
            </a:r>
          </a:p>
        </p:txBody>
      </p:sp>
      <p:sp>
        <p:nvSpPr>
          <p:cNvPr id="7" name="Footer Placeholder 4">
            <a:extLst>
              <a:ext uri="{FF2B5EF4-FFF2-40B4-BE49-F238E27FC236}">
                <a16:creationId xmlns:a16="http://schemas.microsoft.com/office/drawing/2014/main" id="{0A9766C1-93E3-4001-9959-DD54A9A824B0}"/>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28706" name="Rectangle 2">
            <a:extLst>
              <a:ext uri="{FF2B5EF4-FFF2-40B4-BE49-F238E27FC236}">
                <a16:creationId xmlns:a16="http://schemas.microsoft.com/office/drawing/2014/main" id="{45FC9920-1F54-4582-BF4B-D96C76D98307}"/>
              </a:ext>
            </a:extLst>
          </p:cNvPr>
          <p:cNvSpPr>
            <a:spLocks noGrp="1" noChangeArrowheads="1"/>
          </p:cNvSpPr>
          <p:nvPr>
            <p:ph type="title"/>
          </p:nvPr>
        </p:nvSpPr>
        <p:spPr/>
        <p:txBody>
          <a:bodyPr/>
          <a:lstStyle/>
          <a:p>
            <a:pPr eaLnBrk="1" hangingPunct="1">
              <a:defRPr/>
            </a:pPr>
            <a:r>
              <a:rPr lang="en-US" sz="4000"/>
              <a:t>Ví dụ 2: </a:t>
            </a:r>
            <a:r>
              <a:rPr lang="vi-VN" sz="4000"/>
              <a:t>Cây nhị phân suy biến có dạng một danh sách tuyến tính</a:t>
            </a:r>
            <a:endParaRPr lang="en-US" sz="4000"/>
          </a:p>
        </p:txBody>
      </p:sp>
      <p:pic>
        <p:nvPicPr>
          <p:cNvPr id="15365" name="Picture 7">
            <a:extLst>
              <a:ext uri="{FF2B5EF4-FFF2-40B4-BE49-F238E27FC236}">
                <a16:creationId xmlns:a16="http://schemas.microsoft.com/office/drawing/2014/main" id="{3F018583-A0A6-47F6-8504-5708D2C6FC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8313" y="1724025"/>
            <a:ext cx="8277225" cy="4529138"/>
          </a:xfrm>
          <a:noFill/>
          <a:extLst>
            <a:ext uri="{909E8E84-426E-40DD-AFC4-6F175D3DCCD1}">
              <a14:hiddenFill xmlns:a14="http://schemas.microsoft.com/office/drawing/2010/main">
                <a:solidFill>
                  <a:srgbClr val="FFFFFF"/>
                </a:solidFill>
              </a14:hiddenFill>
            </a:ext>
          </a:extLst>
        </p:spPr>
      </p:pic>
      <p:sp>
        <p:nvSpPr>
          <p:cNvPr id="15366" name="Text Box 10">
            <a:extLst>
              <a:ext uri="{FF2B5EF4-FFF2-40B4-BE49-F238E27FC236}">
                <a16:creationId xmlns:a16="http://schemas.microsoft.com/office/drawing/2014/main" id="{070AFD0F-1D28-4973-8F13-95C5009E0F43}"/>
              </a:ext>
            </a:extLst>
          </p:cNvPr>
          <p:cNvSpPr txBox="1">
            <a:spLocks noChangeArrowheads="1"/>
          </p:cNvSpPr>
          <p:nvPr/>
        </p:nvSpPr>
        <p:spPr bwMode="auto">
          <a:xfrm>
            <a:off x="536575" y="2351088"/>
            <a:ext cx="22209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800">
                <a:solidFill>
                  <a:schemeClr val="bg1"/>
                </a:solidFill>
              </a:rPr>
              <a:t>Cây lệch trái</a:t>
            </a:r>
          </a:p>
        </p:txBody>
      </p:sp>
      <p:sp>
        <p:nvSpPr>
          <p:cNvPr id="15367" name="Text Box 11">
            <a:extLst>
              <a:ext uri="{FF2B5EF4-FFF2-40B4-BE49-F238E27FC236}">
                <a16:creationId xmlns:a16="http://schemas.microsoft.com/office/drawing/2014/main" id="{DB8025F6-1AFE-4AEC-AEDC-AEE4AE44A161}"/>
              </a:ext>
            </a:extLst>
          </p:cNvPr>
          <p:cNvSpPr txBox="1">
            <a:spLocks noChangeArrowheads="1"/>
          </p:cNvSpPr>
          <p:nvPr/>
        </p:nvSpPr>
        <p:spPr bwMode="auto">
          <a:xfrm>
            <a:off x="6399213" y="2525713"/>
            <a:ext cx="2454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800">
                <a:solidFill>
                  <a:schemeClr val="bg1"/>
                </a:solidFill>
              </a:rPr>
              <a:t>Cây lệch phải</a:t>
            </a:r>
          </a:p>
        </p:txBody>
      </p:sp>
      <p:sp>
        <p:nvSpPr>
          <p:cNvPr id="2" name="Slide Number Placeholder 1">
            <a:extLst>
              <a:ext uri="{FF2B5EF4-FFF2-40B4-BE49-F238E27FC236}">
                <a16:creationId xmlns:a16="http://schemas.microsoft.com/office/drawing/2014/main" id="{9CB2E3FA-FCCF-4603-9F64-04195388F1CA}"/>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AC2B448F-80D8-4DAB-8451-94151B230E2D}" type="slidenum">
              <a:rPr lang="en-US" altLang="en-US" sz="1000" smtClean="0"/>
              <a:pPr>
                <a:spcBef>
                  <a:spcPct val="0"/>
                </a:spcBef>
                <a:buClrTx/>
                <a:buSzTx/>
                <a:buFontTx/>
                <a:buNone/>
                <a:defRPr/>
              </a:pPr>
              <a:t>13</a:t>
            </a:fld>
            <a:endParaRPr lang="en-US"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E2C33215-5A8F-481C-BCBF-CBF7186A729B}"/>
              </a:ext>
            </a:extLst>
          </p:cNvPr>
          <p:cNvSpPr>
            <a:spLocks noGrp="1"/>
          </p:cNvSpPr>
          <p:nvPr>
            <p:ph type="dt" sz="quarter" idx="10"/>
          </p:nvPr>
        </p:nvSpPr>
        <p:spPr/>
        <p:txBody>
          <a:bodyPr/>
          <a:lstStyle/>
          <a:p>
            <a:pPr>
              <a:defRPr/>
            </a:pPr>
            <a:r>
              <a:rPr lang="en-US"/>
              <a:t>Ngô Công Thắng</a:t>
            </a:r>
          </a:p>
        </p:txBody>
      </p:sp>
      <p:sp>
        <p:nvSpPr>
          <p:cNvPr id="6" name="Footer Placeholder 4">
            <a:extLst>
              <a:ext uri="{FF2B5EF4-FFF2-40B4-BE49-F238E27FC236}">
                <a16:creationId xmlns:a16="http://schemas.microsoft.com/office/drawing/2014/main" id="{1E5B63D1-15E6-494E-8918-8DE677A7A0EF}"/>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0754" name="Rectangle 2">
            <a:extLst>
              <a:ext uri="{FF2B5EF4-FFF2-40B4-BE49-F238E27FC236}">
                <a16:creationId xmlns:a16="http://schemas.microsoft.com/office/drawing/2014/main" id="{7ADCD7D3-4100-4F06-A7D9-2B4DA8FFD554}"/>
              </a:ext>
            </a:extLst>
          </p:cNvPr>
          <p:cNvSpPr>
            <a:spLocks noGrp="1" noChangeArrowheads="1"/>
          </p:cNvSpPr>
          <p:nvPr>
            <p:ph type="title"/>
          </p:nvPr>
        </p:nvSpPr>
        <p:spPr/>
        <p:txBody>
          <a:bodyPr/>
          <a:lstStyle/>
          <a:p>
            <a:pPr eaLnBrk="1" hangingPunct="1">
              <a:defRPr/>
            </a:pPr>
            <a:r>
              <a:rPr lang="en-US" sz="3600"/>
              <a:t>Ví dụ 2: </a:t>
            </a:r>
            <a:r>
              <a:rPr lang="vi-VN" sz="3600"/>
              <a:t>Cây nhị phân suy biến có dạng một danh sách tuyến tính</a:t>
            </a:r>
            <a:r>
              <a:rPr lang="en-US" sz="3600"/>
              <a:t> (</a:t>
            </a:r>
            <a:r>
              <a:rPr lang="en-US" sz="3600" i="1"/>
              <a:t>tiếp</a:t>
            </a:r>
            <a:r>
              <a:rPr lang="en-US" sz="3600"/>
              <a:t>)</a:t>
            </a:r>
          </a:p>
        </p:txBody>
      </p:sp>
      <p:pic>
        <p:nvPicPr>
          <p:cNvPr id="16389" name="Picture 5">
            <a:extLst>
              <a:ext uri="{FF2B5EF4-FFF2-40B4-BE49-F238E27FC236}">
                <a16:creationId xmlns:a16="http://schemas.microsoft.com/office/drawing/2014/main" id="{93E82978-AD2A-48B9-BEF2-1E764F553D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01700" y="1625600"/>
            <a:ext cx="7310438" cy="4486275"/>
          </a:xfrm>
          <a:noFill/>
          <a:extLst>
            <a:ext uri="{909E8E84-426E-40DD-AFC4-6F175D3DCCD1}">
              <a14:hiddenFill xmlns:a14="http://schemas.microsoft.com/office/drawing/2010/main">
                <a:solidFill>
                  <a:srgbClr val="FFFFFF"/>
                </a:solidFill>
              </a14:hiddenFill>
            </a:ext>
          </a:extLst>
        </p:spPr>
      </p:pic>
      <p:sp>
        <p:nvSpPr>
          <p:cNvPr id="16390" name="Text Box 6">
            <a:extLst>
              <a:ext uri="{FF2B5EF4-FFF2-40B4-BE49-F238E27FC236}">
                <a16:creationId xmlns:a16="http://schemas.microsoft.com/office/drawing/2014/main" id="{CAE57219-C0F6-4A67-A774-F3A8379F42B8}"/>
              </a:ext>
            </a:extLst>
          </p:cNvPr>
          <p:cNvSpPr txBox="1">
            <a:spLocks noChangeArrowheads="1"/>
          </p:cNvSpPr>
          <p:nvPr/>
        </p:nvSpPr>
        <p:spPr bwMode="auto">
          <a:xfrm>
            <a:off x="3597275" y="2568575"/>
            <a:ext cx="20335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800">
                <a:solidFill>
                  <a:schemeClr val="bg1"/>
                </a:solidFill>
              </a:rPr>
              <a:t>Cây zíc zắc</a:t>
            </a:r>
          </a:p>
        </p:txBody>
      </p:sp>
      <p:sp>
        <p:nvSpPr>
          <p:cNvPr id="2" name="Slide Number Placeholder 1">
            <a:extLst>
              <a:ext uri="{FF2B5EF4-FFF2-40B4-BE49-F238E27FC236}">
                <a16:creationId xmlns:a16="http://schemas.microsoft.com/office/drawing/2014/main" id="{6F80115A-DC7B-4C32-8848-73BD086296F7}"/>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503FB2ED-E1F3-40D8-8583-B8B68ACB603F}" type="slidenum">
              <a:rPr lang="en-US" altLang="en-US" sz="1000" smtClean="0"/>
              <a:pPr>
                <a:spcBef>
                  <a:spcPct val="0"/>
                </a:spcBef>
                <a:buClrTx/>
                <a:buSzTx/>
                <a:buFontTx/>
                <a:buNone/>
                <a:defRPr/>
              </a:pPr>
              <a:t>14</a:t>
            </a:fld>
            <a:endParaRPr lang="en-US" alt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56EED1D-831A-4F63-893F-F432B5ECCBB8}"/>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980B4BC2-AE6F-4ED9-903A-D8AFCC53FB8F}"/>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1778" name="Rectangle 2">
            <a:extLst>
              <a:ext uri="{FF2B5EF4-FFF2-40B4-BE49-F238E27FC236}">
                <a16:creationId xmlns:a16="http://schemas.microsoft.com/office/drawing/2014/main" id="{B699BCE9-DAEC-4FD1-AA7B-550474601459}"/>
              </a:ext>
            </a:extLst>
          </p:cNvPr>
          <p:cNvSpPr>
            <a:spLocks noGrp="1" noChangeArrowheads="1"/>
          </p:cNvSpPr>
          <p:nvPr>
            <p:ph type="title"/>
          </p:nvPr>
        </p:nvSpPr>
        <p:spPr/>
        <p:txBody>
          <a:bodyPr/>
          <a:lstStyle/>
          <a:p>
            <a:pPr eaLnBrk="1" hangingPunct="1">
              <a:defRPr/>
            </a:pPr>
            <a:r>
              <a:rPr lang="vi-VN" sz="3600"/>
              <a:t>2.1.1. Định nghĩa cây nhị phân</a:t>
            </a:r>
            <a:r>
              <a:rPr lang="en-US" sz="3600"/>
              <a:t> (</a:t>
            </a:r>
            <a:r>
              <a:rPr lang="en-US" sz="3600" i="1"/>
              <a:t>tiếp</a:t>
            </a:r>
            <a:r>
              <a:rPr lang="en-US" sz="3600"/>
              <a:t>)</a:t>
            </a:r>
          </a:p>
        </p:txBody>
      </p:sp>
      <p:sp>
        <p:nvSpPr>
          <p:cNvPr id="331780" name="Rectangle 4">
            <a:extLst>
              <a:ext uri="{FF2B5EF4-FFF2-40B4-BE49-F238E27FC236}">
                <a16:creationId xmlns:a16="http://schemas.microsoft.com/office/drawing/2014/main" id="{D89D6125-074D-4BBA-B538-4A6B552DB2B1}"/>
              </a:ext>
            </a:extLst>
          </p:cNvPr>
          <p:cNvSpPr>
            <a:spLocks noGrp="1" noChangeArrowheads="1"/>
          </p:cNvSpPr>
          <p:nvPr>
            <p:ph type="body" sz="half" idx="1"/>
          </p:nvPr>
        </p:nvSpPr>
        <p:spPr>
          <a:xfrm>
            <a:off x="457200" y="1600200"/>
            <a:ext cx="8229600" cy="1460500"/>
          </a:xfrm>
        </p:spPr>
        <p:txBody>
          <a:bodyPr/>
          <a:lstStyle/>
          <a:p>
            <a:pPr eaLnBrk="1" hangingPunct="1">
              <a:defRPr/>
            </a:pPr>
            <a:r>
              <a:rPr lang="vi-VN" sz="2800"/>
              <a:t>Cây nhị phân hoàn chỉnh</a:t>
            </a:r>
            <a:r>
              <a:rPr lang="en-US" sz="2800"/>
              <a:t>:</a:t>
            </a:r>
            <a:r>
              <a:rPr lang="vi-VN" sz="2800"/>
              <a:t> </a:t>
            </a:r>
            <a:r>
              <a:rPr lang="en-US" sz="2800"/>
              <a:t>L</a:t>
            </a:r>
            <a:r>
              <a:rPr lang="vi-VN" sz="2800"/>
              <a:t>à cây nhị phân mà các </a:t>
            </a:r>
            <a:r>
              <a:rPr lang="vi-VN" sz="2800">
                <a:hlinkClick r:id="rId2" action="ppaction://hlinksldjump"/>
              </a:rPr>
              <a:t>nút </a:t>
            </a:r>
            <a:r>
              <a:rPr lang="en-US" sz="2800">
                <a:hlinkClick r:id="rId2" action="ppaction://hlinksldjump"/>
              </a:rPr>
              <a:t>nhánh</a:t>
            </a:r>
            <a:r>
              <a:rPr lang="en-US" sz="2800"/>
              <a:t> </a:t>
            </a:r>
            <a:r>
              <a:rPr lang="vi-VN" sz="2800"/>
              <a:t>ở các </a:t>
            </a:r>
            <a:r>
              <a:rPr lang="vi-VN" sz="2800">
                <a:hlinkClick r:id="rId2" action="ppaction://hlinksldjump"/>
              </a:rPr>
              <a:t>mức</a:t>
            </a:r>
            <a:r>
              <a:rPr lang="vi-VN" sz="2800"/>
              <a:t> đều </a:t>
            </a:r>
            <a:r>
              <a:rPr lang="en-US" sz="2800"/>
              <a:t>có hai nút con</a:t>
            </a:r>
            <a:r>
              <a:rPr lang="vi-VN" sz="2800"/>
              <a:t>.</a:t>
            </a:r>
            <a:endParaRPr lang="en-US" sz="2800"/>
          </a:p>
        </p:txBody>
      </p:sp>
      <p:pic>
        <p:nvPicPr>
          <p:cNvPr id="17414" name="Picture 6">
            <a:extLst>
              <a:ext uri="{FF2B5EF4-FFF2-40B4-BE49-F238E27FC236}">
                <a16:creationId xmlns:a16="http://schemas.microsoft.com/office/drawing/2014/main" id="{BE2078F4-5281-4434-8C13-01E0481E197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454150" y="2994025"/>
            <a:ext cx="6500813" cy="3365500"/>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21BECDE-CAE1-462E-BF7D-75A117FF86F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53676CA3-86CB-466C-8D02-BAF38FD773FA}" type="slidenum">
              <a:rPr lang="en-US" altLang="en-US" sz="1000" smtClean="0"/>
              <a:pPr>
                <a:spcBef>
                  <a:spcPct val="0"/>
                </a:spcBef>
                <a:buClrTx/>
                <a:buSzTx/>
                <a:buFontTx/>
                <a:buNone/>
                <a:defRPr/>
              </a:pPr>
              <a:t>15</a:t>
            </a:fld>
            <a:endParaRPr lang="en-US" alt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a:extLst>
              <a:ext uri="{FF2B5EF4-FFF2-40B4-BE49-F238E27FC236}">
                <a16:creationId xmlns:a16="http://schemas.microsoft.com/office/drawing/2014/main" id="{41511132-2FD3-4B60-B925-135E9F52A6B1}"/>
              </a:ext>
            </a:extLst>
          </p:cNvPr>
          <p:cNvSpPr>
            <a:spLocks noGrp="1"/>
          </p:cNvSpPr>
          <p:nvPr>
            <p:ph type="dt" sz="quarter" idx="10"/>
          </p:nvPr>
        </p:nvSpPr>
        <p:spPr/>
        <p:txBody>
          <a:bodyPr/>
          <a:lstStyle/>
          <a:p>
            <a:pPr>
              <a:defRPr/>
            </a:pPr>
            <a:r>
              <a:rPr lang="en-US"/>
              <a:t>Ngô Công Thắng</a:t>
            </a:r>
          </a:p>
        </p:txBody>
      </p:sp>
      <p:sp>
        <p:nvSpPr>
          <p:cNvPr id="7" name="Footer Placeholder 5">
            <a:extLst>
              <a:ext uri="{FF2B5EF4-FFF2-40B4-BE49-F238E27FC236}">
                <a16:creationId xmlns:a16="http://schemas.microsoft.com/office/drawing/2014/main" id="{CA722DA5-32BF-4255-9EC9-3B6ECBED3E1A}"/>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4850" name="Rectangle 2">
            <a:extLst>
              <a:ext uri="{FF2B5EF4-FFF2-40B4-BE49-F238E27FC236}">
                <a16:creationId xmlns:a16="http://schemas.microsoft.com/office/drawing/2014/main" id="{3E397DCB-5685-4447-9B44-B022310F8495}"/>
              </a:ext>
            </a:extLst>
          </p:cNvPr>
          <p:cNvSpPr>
            <a:spLocks noGrp="1" noChangeArrowheads="1"/>
          </p:cNvSpPr>
          <p:nvPr>
            <p:ph type="title"/>
          </p:nvPr>
        </p:nvSpPr>
        <p:spPr/>
        <p:txBody>
          <a:bodyPr/>
          <a:lstStyle/>
          <a:p>
            <a:pPr eaLnBrk="1" hangingPunct="1">
              <a:defRPr/>
            </a:pPr>
            <a:r>
              <a:rPr lang="vi-VN" sz="3600"/>
              <a:t>2.1.1. Định nghĩa cây nhị phân</a:t>
            </a:r>
            <a:r>
              <a:rPr lang="en-US" sz="3600"/>
              <a:t> (</a:t>
            </a:r>
            <a:r>
              <a:rPr lang="en-US" sz="3600" i="1"/>
              <a:t>tiếp</a:t>
            </a:r>
            <a:r>
              <a:rPr lang="en-US" sz="3600"/>
              <a:t>)</a:t>
            </a:r>
          </a:p>
        </p:txBody>
      </p:sp>
      <p:sp>
        <p:nvSpPr>
          <p:cNvPr id="334851" name="Rectangle 3">
            <a:extLst>
              <a:ext uri="{FF2B5EF4-FFF2-40B4-BE49-F238E27FC236}">
                <a16:creationId xmlns:a16="http://schemas.microsoft.com/office/drawing/2014/main" id="{009FE684-CF23-42AD-9934-FFD757F8C525}"/>
              </a:ext>
            </a:extLst>
          </p:cNvPr>
          <p:cNvSpPr>
            <a:spLocks noGrp="1" noChangeArrowheads="1"/>
          </p:cNvSpPr>
          <p:nvPr>
            <p:ph type="body" sz="half" idx="1"/>
          </p:nvPr>
        </p:nvSpPr>
        <p:spPr>
          <a:xfrm>
            <a:off x="457200" y="1600200"/>
            <a:ext cx="8229600" cy="1765300"/>
          </a:xfrm>
        </p:spPr>
        <p:txBody>
          <a:bodyPr/>
          <a:lstStyle/>
          <a:p>
            <a:pPr eaLnBrk="1" hangingPunct="1">
              <a:lnSpc>
                <a:spcPct val="90000"/>
              </a:lnSpc>
              <a:defRPr/>
            </a:pPr>
            <a:r>
              <a:rPr lang="vi-VN" sz="2800"/>
              <a:t>Cây nhị phân đầy đủ: Là cây nhị phân </a:t>
            </a:r>
            <a:r>
              <a:rPr lang="en-US" sz="2800"/>
              <a:t>mà các nút ở mọi mức của nút nhánh đều có hai con</a:t>
            </a:r>
            <a:r>
              <a:rPr lang="vi-VN" sz="2800"/>
              <a:t>.</a:t>
            </a:r>
            <a:r>
              <a:rPr lang="en-US" sz="2800"/>
              <a:t> Cây nhị phân đầy đủ là trường hợp đặc biệt của cây nhị phân hoàn chỉnh.</a:t>
            </a:r>
          </a:p>
        </p:txBody>
      </p:sp>
      <p:pic>
        <p:nvPicPr>
          <p:cNvPr id="18438" name="Picture 6">
            <a:extLst>
              <a:ext uri="{FF2B5EF4-FFF2-40B4-BE49-F238E27FC236}">
                <a16:creationId xmlns:a16="http://schemas.microsoft.com/office/drawing/2014/main" id="{EA8F7D11-5F5B-416A-A6A5-65EEA45C799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57250" y="3255963"/>
            <a:ext cx="6935788" cy="2887662"/>
          </a:xfrm>
          <a:noFill/>
          <a:extLst>
            <a:ext uri="{909E8E84-426E-40DD-AFC4-6F175D3DCCD1}">
              <a14:hiddenFill xmlns:a14="http://schemas.microsoft.com/office/drawing/2010/main">
                <a:solidFill>
                  <a:srgbClr val="FFFFFF"/>
                </a:solidFill>
              </a14:hiddenFill>
            </a:ext>
          </a:extLst>
        </p:spPr>
      </p:pic>
      <p:sp>
        <p:nvSpPr>
          <p:cNvPr id="18439" name="AutoShape 7">
            <a:hlinkClick r:id="" action="ppaction://hlinkshowjump?jump=lastslideviewed" highlightClick="1"/>
            <a:extLst>
              <a:ext uri="{FF2B5EF4-FFF2-40B4-BE49-F238E27FC236}">
                <a16:creationId xmlns:a16="http://schemas.microsoft.com/office/drawing/2014/main" id="{D074201C-05D9-41DC-89E0-0E6D39A87462}"/>
              </a:ext>
            </a:extLst>
          </p:cNvPr>
          <p:cNvSpPr>
            <a:spLocks noChangeArrowheads="1"/>
          </p:cNvSpPr>
          <p:nvPr/>
        </p:nvSpPr>
        <p:spPr bwMode="auto">
          <a:xfrm>
            <a:off x="7726363" y="6388100"/>
            <a:ext cx="330200" cy="304800"/>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81022DD1-F236-41C4-AE95-17D8A65D1092}"/>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EC67DFB5-039F-4375-876E-41DFC61518C9}" type="slidenum">
              <a:rPr lang="en-US" altLang="en-US" sz="1000" smtClean="0"/>
              <a:pPr>
                <a:spcBef>
                  <a:spcPct val="0"/>
                </a:spcBef>
                <a:buClrTx/>
                <a:buSzTx/>
                <a:buFontTx/>
                <a:buNone/>
                <a:defRPr/>
              </a:pPr>
              <a:t>16</a:t>
            </a:fld>
            <a:endParaRPr lang="en-US" alt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AD034F-D1BE-41C0-BF00-FD8F2EC055B8}"/>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41752653-D8AF-4319-8692-BCDA36D8AC2C}"/>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5874" name="Rectangle 2">
            <a:extLst>
              <a:ext uri="{FF2B5EF4-FFF2-40B4-BE49-F238E27FC236}">
                <a16:creationId xmlns:a16="http://schemas.microsoft.com/office/drawing/2014/main" id="{54E39CA9-ACE4-460A-A31B-0FDD23A1921A}"/>
              </a:ext>
            </a:extLst>
          </p:cNvPr>
          <p:cNvSpPr>
            <a:spLocks noGrp="1" noChangeArrowheads="1"/>
          </p:cNvSpPr>
          <p:nvPr>
            <p:ph type="title"/>
          </p:nvPr>
        </p:nvSpPr>
        <p:spPr/>
        <p:txBody>
          <a:bodyPr/>
          <a:lstStyle/>
          <a:p>
            <a:pPr eaLnBrk="1" hangingPunct="1">
              <a:defRPr/>
            </a:pPr>
            <a:r>
              <a:rPr lang="vi-VN"/>
              <a:t>2.1.2. Tính chất</a:t>
            </a:r>
            <a:endParaRPr lang="en-US"/>
          </a:p>
        </p:txBody>
      </p:sp>
      <p:sp>
        <p:nvSpPr>
          <p:cNvPr id="335875" name="Rectangle 3">
            <a:extLst>
              <a:ext uri="{FF2B5EF4-FFF2-40B4-BE49-F238E27FC236}">
                <a16:creationId xmlns:a16="http://schemas.microsoft.com/office/drawing/2014/main" id="{849E0046-BB43-4C59-B07D-ECCAA276BF2B}"/>
              </a:ext>
            </a:extLst>
          </p:cNvPr>
          <p:cNvSpPr>
            <a:spLocks noGrp="1" noChangeArrowheads="1"/>
          </p:cNvSpPr>
          <p:nvPr>
            <p:ph type="body" idx="1"/>
          </p:nvPr>
        </p:nvSpPr>
        <p:spPr/>
        <p:txBody>
          <a:bodyPr/>
          <a:lstStyle/>
          <a:p>
            <a:pPr eaLnBrk="1" hangingPunct="1">
              <a:defRPr/>
            </a:pPr>
            <a:r>
              <a:rPr lang="vi-VN"/>
              <a:t>Số lượng nút </a:t>
            </a:r>
            <a:r>
              <a:rPr lang="en-US"/>
              <a:t>tối đa </a:t>
            </a:r>
            <a:r>
              <a:rPr lang="vi-VN"/>
              <a:t>ở mức i trên 1 cây nhị phân là 2</a:t>
            </a:r>
            <a:r>
              <a:rPr lang="en-US" baseline="30000"/>
              <a:t>(i</a:t>
            </a:r>
            <a:r>
              <a:rPr lang="vi-VN" baseline="30000"/>
              <a:t>-1</a:t>
            </a:r>
            <a:r>
              <a:rPr lang="en-US" baseline="30000"/>
              <a:t>)</a:t>
            </a:r>
            <a:r>
              <a:rPr lang="vi-VN"/>
              <a:t> (i</a:t>
            </a:r>
            <a:r>
              <a:rPr lang="en-US">
                <a:sym typeface="Symbol" pitchFamily="18" charset="2"/>
              </a:rPr>
              <a:t></a:t>
            </a:r>
            <a:r>
              <a:rPr lang="vi-VN"/>
              <a:t>1)</a:t>
            </a:r>
            <a:r>
              <a:rPr lang="en-US"/>
              <a:t>.</a:t>
            </a:r>
          </a:p>
          <a:p>
            <a:pPr eaLnBrk="1" hangingPunct="1">
              <a:defRPr/>
            </a:pPr>
            <a:r>
              <a:rPr lang="vi-VN"/>
              <a:t>Số lượng nút </a:t>
            </a:r>
            <a:r>
              <a:rPr lang="en-US"/>
              <a:t>tối đa </a:t>
            </a:r>
            <a:r>
              <a:rPr lang="vi-VN"/>
              <a:t>trên 1 cây nhị phân có chiều cao h là 2</a:t>
            </a:r>
            <a:r>
              <a:rPr lang="vi-VN" baseline="30000"/>
              <a:t>h</a:t>
            </a:r>
            <a:r>
              <a:rPr lang="en-US" baseline="30000"/>
              <a:t> </a:t>
            </a:r>
            <a:r>
              <a:rPr lang="vi-VN"/>
              <a:t>–</a:t>
            </a:r>
            <a:r>
              <a:rPr lang="en-US"/>
              <a:t> </a:t>
            </a:r>
            <a:r>
              <a:rPr lang="vi-VN"/>
              <a:t>1</a:t>
            </a:r>
            <a:r>
              <a:rPr lang="en-US"/>
              <a:t>.</a:t>
            </a:r>
          </a:p>
        </p:txBody>
      </p:sp>
      <p:sp>
        <p:nvSpPr>
          <p:cNvPr id="2" name="Slide Number Placeholder 1">
            <a:extLst>
              <a:ext uri="{FF2B5EF4-FFF2-40B4-BE49-F238E27FC236}">
                <a16:creationId xmlns:a16="http://schemas.microsoft.com/office/drawing/2014/main" id="{4D2FC9DE-A2C5-4CF4-AB05-0700E5D80ED6}"/>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E93B0F0D-464B-4493-A3F3-DD937739115A}" type="slidenum">
              <a:rPr lang="en-US" altLang="en-US" sz="1000" smtClean="0"/>
              <a:pPr>
                <a:spcBef>
                  <a:spcPct val="0"/>
                </a:spcBef>
                <a:buClrTx/>
                <a:buSzTx/>
                <a:buFontTx/>
                <a:buNone/>
                <a:defRPr/>
              </a:pPr>
              <a:t>17</a:t>
            </a:fld>
            <a:endParaRPr lang="en-US" alt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Rectangle 3">
            <a:extLst>
              <a:ext uri="{FF2B5EF4-FFF2-40B4-BE49-F238E27FC236}">
                <a16:creationId xmlns:a16="http://schemas.microsoft.com/office/drawing/2014/main" id="{9F7910B1-B7AB-437D-954B-AB6B81E3A590}"/>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vi-VN"/>
              <a:t>2.2.1. Lưu trữ kế tiếp</a:t>
            </a:r>
            <a:endParaRPr lang="en-US"/>
          </a:p>
          <a:p>
            <a:pPr eaLnBrk="1" hangingPunct="1">
              <a:defRPr/>
            </a:pPr>
            <a:r>
              <a:rPr lang="vi-VN"/>
              <a:t>Với cây nhị phân đầy đủ, ta đánh số các nút từ 1 trở đi, </a:t>
            </a:r>
            <a:r>
              <a:rPr lang="en-US"/>
              <a:t>từ trên xuống dưới, </a:t>
            </a:r>
            <a:r>
              <a:rPr lang="vi-VN"/>
              <a:t>từ trái qua phải.</a:t>
            </a:r>
            <a:endParaRPr lang="en-US"/>
          </a:p>
          <a:p>
            <a:pPr eaLnBrk="1" hangingPunct="1">
              <a:defRPr/>
            </a:pPr>
            <a:r>
              <a:rPr lang="vi-VN"/>
              <a:t>Dùng </a:t>
            </a:r>
            <a:r>
              <a:rPr lang="en-US"/>
              <a:t>vector</a:t>
            </a:r>
            <a:r>
              <a:rPr lang="vi-VN"/>
              <a:t> lưu trữ </a:t>
            </a:r>
            <a:r>
              <a:rPr lang="en-US"/>
              <a:t>V có n ô nhớ với chỉ số từ 1 đến n để lưu trữ các nút </a:t>
            </a:r>
            <a:r>
              <a:rPr lang="vi-VN"/>
              <a:t>của cây,</a:t>
            </a:r>
            <a:r>
              <a:rPr lang="en-US"/>
              <a:t> </a:t>
            </a:r>
            <a:r>
              <a:rPr lang="vi-VN"/>
              <a:t>nút thứ i được lưu trữ ở </a:t>
            </a:r>
            <a:r>
              <a:rPr lang="en-US"/>
              <a:t>ô nhớ</a:t>
            </a:r>
            <a:r>
              <a:rPr lang="vi-VN"/>
              <a:t> V</a:t>
            </a:r>
            <a:r>
              <a:rPr lang="en-US"/>
              <a:t>[</a:t>
            </a:r>
            <a:r>
              <a:rPr lang="vi-VN"/>
              <a:t>i</a:t>
            </a:r>
            <a:r>
              <a:rPr lang="en-US"/>
              <a:t>]. </a:t>
            </a:r>
            <a:r>
              <a:rPr lang="en-US">
                <a:hlinkClick r:id="rId2" action="ppaction://hlinksldjump"/>
              </a:rPr>
              <a:t>Ví dụ</a:t>
            </a:r>
            <a:r>
              <a:rPr lang="en-US"/>
              <a:t>:</a:t>
            </a:r>
          </a:p>
        </p:txBody>
      </p:sp>
      <p:sp>
        <p:nvSpPr>
          <p:cNvPr id="5" name="Date Placeholder 3">
            <a:extLst>
              <a:ext uri="{FF2B5EF4-FFF2-40B4-BE49-F238E27FC236}">
                <a16:creationId xmlns:a16="http://schemas.microsoft.com/office/drawing/2014/main" id="{291AB42A-D2EB-43AC-812F-1A5A17EF79C8}"/>
              </a:ext>
            </a:extLst>
          </p:cNvPr>
          <p:cNvSpPr>
            <a:spLocks noGrp="1"/>
          </p:cNvSpPr>
          <p:nvPr>
            <p:ph type="dt" sz="quarter" idx="10"/>
          </p:nvPr>
        </p:nvSpPr>
        <p:spPr/>
        <p:txBody>
          <a:bodyPr/>
          <a:lstStyle/>
          <a:p>
            <a:pPr>
              <a:defRPr/>
            </a:pPr>
            <a:r>
              <a:rPr lang="en-US"/>
              <a:t>Ngô Công Thắng</a:t>
            </a:r>
          </a:p>
        </p:txBody>
      </p:sp>
      <p:sp>
        <p:nvSpPr>
          <p:cNvPr id="6" name="Footer Placeholder 4">
            <a:extLst>
              <a:ext uri="{FF2B5EF4-FFF2-40B4-BE49-F238E27FC236}">
                <a16:creationId xmlns:a16="http://schemas.microsoft.com/office/drawing/2014/main" id="{C6D596F2-ED30-4CD3-BB8F-F5FB9D1D12F7}"/>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6898" name="Rectangle 2">
            <a:extLst>
              <a:ext uri="{FF2B5EF4-FFF2-40B4-BE49-F238E27FC236}">
                <a16:creationId xmlns:a16="http://schemas.microsoft.com/office/drawing/2014/main" id="{37565A8F-BBE3-4D6F-8E1B-A90D29FD78D7}"/>
              </a:ext>
            </a:extLst>
          </p:cNvPr>
          <p:cNvSpPr>
            <a:spLocks noGrp="1" noChangeArrowheads="1"/>
          </p:cNvSpPr>
          <p:nvPr>
            <p:ph type="title"/>
          </p:nvPr>
        </p:nvSpPr>
        <p:spPr/>
        <p:txBody>
          <a:bodyPr/>
          <a:lstStyle/>
          <a:p>
            <a:pPr eaLnBrk="1" hangingPunct="1">
              <a:defRPr/>
            </a:pPr>
            <a:r>
              <a:rPr lang="vi-VN"/>
              <a:t>2.2. Lưu trữ cây nhị phân</a:t>
            </a:r>
            <a:endParaRPr lang="en-US"/>
          </a:p>
        </p:txBody>
      </p:sp>
      <p:sp>
        <p:nvSpPr>
          <p:cNvPr id="2" name="Slide Number Placeholder 1">
            <a:extLst>
              <a:ext uri="{FF2B5EF4-FFF2-40B4-BE49-F238E27FC236}">
                <a16:creationId xmlns:a16="http://schemas.microsoft.com/office/drawing/2014/main" id="{40ED06A8-AAAB-4C7A-8572-3179753ABE27}"/>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C2F4DFCE-976F-45DB-BDAC-FB7B7EBABA8A}" type="slidenum">
              <a:rPr lang="en-US" altLang="en-US" sz="1000" smtClean="0"/>
              <a:pPr>
                <a:spcBef>
                  <a:spcPct val="0"/>
                </a:spcBef>
                <a:buClrTx/>
                <a:buSzTx/>
                <a:buFontTx/>
                <a:buNone/>
                <a:defRPr/>
              </a:pPr>
              <a:t>18</a:t>
            </a:fld>
            <a:endParaRPr lang="en-US" altLang="en-US" sz="1000"/>
          </a:p>
        </p:txBody>
      </p:sp>
      <p:grpSp>
        <p:nvGrpSpPr>
          <p:cNvPr id="3" name="Group 2">
            <a:extLst>
              <a:ext uri="{FF2B5EF4-FFF2-40B4-BE49-F238E27FC236}">
                <a16:creationId xmlns:a16="http://schemas.microsoft.com/office/drawing/2014/main" id="{D4729217-B43A-406B-8A24-05E0C00AA64D}"/>
              </a:ext>
            </a:extLst>
          </p:cNvPr>
          <p:cNvGrpSpPr/>
          <p:nvPr/>
        </p:nvGrpSpPr>
        <p:grpSpPr>
          <a:xfrm>
            <a:off x="1198108" y="720441"/>
            <a:ext cx="6934200" cy="2891631"/>
            <a:chOff x="1104900" y="2192338"/>
            <a:chExt cx="6934200" cy="2891631"/>
          </a:xfrm>
        </p:grpSpPr>
        <p:pic>
          <p:nvPicPr>
            <p:cNvPr id="20482" name="Picture 6">
              <a:extLst>
                <a:ext uri="{FF2B5EF4-FFF2-40B4-BE49-F238E27FC236}">
                  <a16:creationId xmlns:a16="http://schemas.microsoft.com/office/drawing/2014/main" id="{FF3797FD-309C-4827-8F56-A282C7126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192338"/>
              <a:ext cx="693420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9" name="TextBox 2">
              <a:extLst>
                <a:ext uri="{FF2B5EF4-FFF2-40B4-BE49-F238E27FC236}">
                  <a16:creationId xmlns:a16="http://schemas.microsoft.com/office/drawing/2014/main" id="{6A67CAB3-A9B5-4B10-AEBA-D8A4CEC8A8AD}"/>
                </a:ext>
              </a:extLst>
            </p:cNvPr>
            <p:cNvSpPr txBox="1">
              <a:spLocks noChangeArrowheads="1"/>
            </p:cNvSpPr>
            <p:nvPr/>
          </p:nvSpPr>
          <p:spPr bwMode="auto">
            <a:xfrm>
              <a:off x="3596958" y="2732405"/>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1</a:t>
              </a:r>
            </a:p>
          </p:txBody>
        </p:sp>
        <p:sp>
          <p:nvSpPr>
            <p:cNvPr id="10" name="TextBox 2">
              <a:extLst>
                <a:ext uri="{FF2B5EF4-FFF2-40B4-BE49-F238E27FC236}">
                  <a16:creationId xmlns:a16="http://schemas.microsoft.com/office/drawing/2014/main" id="{3B17C6A8-8882-4883-B3A6-4FA3DFB3CF5E}"/>
                </a:ext>
              </a:extLst>
            </p:cNvPr>
            <p:cNvSpPr txBox="1">
              <a:spLocks noChangeArrowheads="1"/>
            </p:cNvSpPr>
            <p:nvPr/>
          </p:nvSpPr>
          <p:spPr bwMode="auto">
            <a:xfrm>
              <a:off x="2246313" y="3751262"/>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2</a:t>
              </a:r>
            </a:p>
          </p:txBody>
        </p:sp>
        <p:sp>
          <p:nvSpPr>
            <p:cNvPr id="11" name="TextBox 2">
              <a:extLst>
                <a:ext uri="{FF2B5EF4-FFF2-40B4-BE49-F238E27FC236}">
                  <a16:creationId xmlns:a16="http://schemas.microsoft.com/office/drawing/2014/main" id="{7B8D97F1-A585-40A7-9BAC-FF5B77DC37F6}"/>
                </a:ext>
              </a:extLst>
            </p:cNvPr>
            <p:cNvSpPr txBox="1">
              <a:spLocks noChangeArrowheads="1"/>
            </p:cNvSpPr>
            <p:nvPr/>
          </p:nvSpPr>
          <p:spPr bwMode="auto">
            <a:xfrm>
              <a:off x="4650899" y="3751262"/>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3</a:t>
              </a:r>
            </a:p>
          </p:txBody>
        </p:sp>
        <p:sp>
          <p:nvSpPr>
            <p:cNvPr id="12" name="TextBox 2">
              <a:extLst>
                <a:ext uri="{FF2B5EF4-FFF2-40B4-BE49-F238E27FC236}">
                  <a16:creationId xmlns:a16="http://schemas.microsoft.com/office/drawing/2014/main" id="{65910770-19B2-4773-BB53-D65C5DE6A588}"/>
                </a:ext>
              </a:extLst>
            </p:cNvPr>
            <p:cNvSpPr txBox="1">
              <a:spLocks noChangeArrowheads="1"/>
            </p:cNvSpPr>
            <p:nvPr/>
          </p:nvSpPr>
          <p:spPr bwMode="auto">
            <a:xfrm>
              <a:off x="1179513" y="4629943"/>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4</a:t>
              </a:r>
            </a:p>
          </p:txBody>
        </p:sp>
        <p:sp>
          <p:nvSpPr>
            <p:cNvPr id="13" name="TextBox 2">
              <a:extLst>
                <a:ext uri="{FF2B5EF4-FFF2-40B4-BE49-F238E27FC236}">
                  <a16:creationId xmlns:a16="http://schemas.microsoft.com/office/drawing/2014/main" id="{6244CE80-A1E8-403E-9744-AB98AF0719D9}"/>
                </a:ext>
              </a:extLst>
            </p:cNvPr>
            <p:cNvSpPr txBox="1">
              <a:spLocks noChangeArrowheads="1"/>
            </p:cNvSpPr>
            <p:nvPr/>
          </p:nvSpPr>
          <p:spPr bwMode="auto">
            <a:xfrm>
              <a:off x="3181033" y="4615656"/>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5</a:t>
              </a:r>
            </a:p>
          </p:txBody>
        </p:sp>
        <p:sp>
          <p:nvSpPr>
            <p:cNvPr id="14" name="TextBox 2">
              <a:extLst>
                <a:ext uri="{FF2B5EF4-FFF2-40B4-BE49-F238E27FC236}">
                  <a16:creationId xmlns:a16="http://schemas.microsoft.com/office/drawing/2014/main" id="{F33BF6D0-FB75-4324-ADFD-947737527D42}"/>
                </a:ext>
              </a:extLst>
            </p:cNvPr>
            <p:cNvSpPr txBox="1">
              <a:spLocks noChangeArrowheads="1"/>
            </p:cNvSpPr>
            <p:nvPr/>
          </p:nvSpPr>
          <p:spPr bwMode="auto">
            <a:xfrm>
              <a:off x="4792662" y="4714081"/>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6</a:t>
              </a:r>
            </a:p>
          </p:txBody>
        </p:sp>
        <p:sp>
          <p:nvSpPr>
            <p:cNvPr id="15" name="TextBox 2">
              <a:extLst>
                <a:ext uri="{FF2B5EF4-FFF2-40B4-BE49-F238E27FC236}">
                  <a16:creationId xmlns:a16="http://schemas.microsoft.com/office/drawing/2014/main" id="{A998FA9F-36C3-47C9-8D28-AF754A0C9BB3}"/>
                </a:ext>
              </a:extLst>
            </p:cNvPr>
            <p:cNvSpPr txBox="1">
              <a:spLocks noChangeArrowheads="1"/>
            </p:cNvSpPr>
            <p:nvPr/>
          </p:nvSpPr>
          <p:spPr bwMode="auto">
            <a:xfrm>
              <a:off x="6395244" y="4656137"/>
              <a:ext cx="344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00000"/>
                  </a:solidFill>
                </a:rPr>
                <a:t>7</a:t>
              </a:r>
            </a:p>
          </p:txBody>
        </p:sp>
      </p:grpSp>
      <p:pic>
        <p:nvPicPr>
          <p:cNvPr id="17" name="Picture 9">
            <a:extLst>
              <a:ext uri="{FF2B5EF4-FFF2-40B4-BE49-F238E27FC236}">
                <a16:creationId xmlns:a16="http://schemas.microsoft.com/office/drawing/2014/main" id="{E4FFE1DA-3D6D-FF34-E296-ACBE195145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913" y="5365750"/>
            <a:ext cx="5770562"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49BEA3-AB70-49BE-A008-7F3BE3314BF2}"/>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3BFEA6A3-FBF3-4D72-9B7D-B61037C9887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7922" name="Rectangle 2">
            <a:extLst>
              <a:ext uri="{FF2B5EF4-FFF2-40B4-BE49-F238E27FC236}">
                <a16:creationId xmlns:a16="http://schemas.microsoft.com/office/drawing/2014/main" id="{6305FE42-2467-49BB-8529-2330799A5DCF}"/>
              </a:ext>
            </a:extLst>
          </p:cNvPr>
          <p:cNvSpPr>
            <a:spLocks noGrp="1" noChangeArrowheads="1"/>
          </p:cNvSpPr>
          <p:nvPr>
            <p:ph type="title"/>
          </p:nvPr>
        </p:nvSpPr>
        <p:spPr/>
        <p:txBody>
          <a:bodyPr/>
          <a:lstStyle/>
          <a:p>
            <a:pPr eaLnBrk="1" hangingPunct="1">
              <a:defRPr/>
            </a:pPr>
            <a:r>
              <a:rPr lang="vi-VN"/>
              <a:t>2.2.1. Lưu trữ kế tiếp</a:t>
            </a:r>
            <a:r>
              <a:rPr lang="en-US"/>
              <a:t> (</a:t>
            </a:r>
            <a:r>
              <a:rPr lang="en-US" i="1"/>
              <a:t>tiếp</a:t>
            </a:r>
            <a:r>
              <a:rPr lang="en-US"/>
              <a:t>)</a:t>
            </a:r>
          </a:p>
        </p:txBody>
      </p:sp>
      <p:sp>
        <p:nvSpPr>
          <p:cNvPr id="337923" name="Rectangle 3">
            <a:extLst>
              <a:ext uri="{FF2B5EF4-FFF2-40B4-BE49-F238E27FC236}">
                <a16:creationId xmlns:a16="http://schemas.microsoft.com/office/drawing/2014/main" id="{B91999AD-805A-4240-A3CE-BA65894C0D07}"/>
              </a:ext>
            </a:extLst>
          </p:cNvPr>
          <p:cNvSpPr>
            <a:spLocks noGrp="1" noChangeArrowheads="1"/>
          </p:cNvSpPr>
          <p:nvPr>
            <p:ph type="body" idx="1"/>
          </p:nvPr>
        </p:nvSpPr>
        <p:spPr/>
        <p:txBody>
          <a:bodyPr/>
          <a:lstStyle/>
          <a:p>
            <a:pPr algn="just" eaLnBrk="1" hangingPunct="1">
              <a:defRPr/>
            </a:pPr>
            <a:r>
              <a:rPr lang="en-US"/>
              <a:t>Với </a:t>
            </a:r>
            <a:r>
              <a:rPr lang="en-US" dirty="0" err="1"/>
              <a:t>cách</a:t>
            </a:r>
            <a:r>
              <a:rPr lang="en-US" dirty="0"/>
              <a:t> </a:t>
            </a:r>
            <a:r>
              <a:rPr lang="en-US" dirty="0" err="1"/>
              <a:t>lưu</a:t>
            </a:r>
            <a:r>
              <a:rPr lang="en-US" dirty="0"/>
              <a:t> </a:t>
            </a:r>
            <a:r>
              <a:rPr lang="en-US" err="1"/>
              <a:t>trữ</a:t>
            </a:r>
            <a:r>
              <a:rPr lang="en-US"/>
              <a:t> kế tiếp này, </a:t>
            </a:r>
            <a:r>
              <a:rPr lang="en-US" dirty="0" err="1"/>
              <a:t>khi</a:t>
            </a:r>
            <a:r>
              <a:rPr lang="en-US" dirty="0"/>
              <a:t> </a:t>
            </a:r>
            <a:r>
              <a:rPr lang="en-US" err="1"/>
              <a:t>biết</a:t>
            </a:r>
            <a:r>
              <a:rPr lang="en-US"/>
              <a:t> chỉ số của nút cha sẽ </a:t>
            </a:r>
            <a:r>
              <a:rPr lang="en-US" dirty="0" err="1"/>
              <a:t>tính</a:t>
            </a:r>
            <a:r>
              <a:rPr lang="en-US" dirty="0"/>
              <a:t> </a:t>
            </a:r>
            <a:r>
              <a:rPr lang="en-US" err="1"/>
              <a:t>được</a:t>
            </a:r>
            <a:r>
              <a:rPr lang="en-US"/>
              <a:t> chỉ số </a:t>
            </a:r>
            <a:r>
              <a:rPr lang="en-US" dirty="0" err="1"/>
              <a:t>của</a:t>
            </a:r>
            <a:r>
              <a:rPr lang="en-US" dirty="0"/>
              <a:t> </a:t>
            </a:r>
            <a:r>
              <a:rPr lang="en-US" dirty="0" err="1"/>
              <a:t>nút</a:t>
            </a:r>
            <a:r>
              <a:rPr lang="en-US" dirty="0"/>
              <a:t> con </a:t>
            </a:r>
            <a:r>
              <a:rPr lang="en-US" dirty="0" err="1"/>
              <a:t>và</a:t>
            </a:r>
            <a:r>
              <a:rPr lang="en-US" dirty="0"/>
              <a:t> </a:t>
            </a:r>
            <a:r>
              <a:rPr lang="en-US" dirty="0" err="1"/>
              <a:t>ngược</a:t>
            </a:r>
            <a:r>
              <a:rPr lang="en-US" dirty="0"/>
              <a:t> </a:t>
            </a:r>
            <a:r>
              <a:rPr lang="en-US" dirty="0" err="1"/>
              <a:t>lại</a:t>
            </a:r>
            <a:r>
              <a:rPr lang="en-US" dirty="0"/>
              <a:t>. </a:t>
            </a:r>
            <a:r>
              <a:rPr lang="en-US" err="1"/>
              <a:t>Nếu</a:t>
            </a:r>
            <a:r>
              <a:rPr lang="en-US"/>
              <a:t> một nút có chỉ số </a:t>
            </a:r>
            <a:r>
              <a:rPr lang="en-US" dirty="0" err="1"/>
              <a:t>là</a:t>
            </a:r>
            <a:r>
              <a:rPr lang="en-US" dirty="0"/>
              <a:t> </a:t>
            </a:r>
            <a:r>
              <a:rPr lang="en-US" dirty="0" err="1"/>
              <a:t>i</a:t>
            </a:r>
            <a:r>
              <a:rPr lang="en-US" dirty="0"/>
              <a:t> </a:t>
            </a:r>
            <a:r>
              <a:rPr lang="en-US" dirty="0" err="1"/>
              <a:t>thì</a:t>
            </a:r>
            <a:r>
              <a:rPr lang="en-US" dirty="0"/>
              <a:t> con </a:t>
            </a:r>
            <a:r>
              <a:rPr lang="en-US" dirty="0" err="1"/>
              <a:t>trái</a:t>
            </a:r>
            <a:r>
              <a:rPr lang="en-US" dirty="0"/>
              <a:t> </a:t>
            </a:r>
            <a:r>
              <a:rPr lang="en-US" err="1"/>
              <a:t>là</a:t>
            </a:r>
            <a:r>
              <a:rPr lang="en-US"/>
              <a:t> 2i, con </a:t>
            </a:r>
            <a:r>
              <a:rPr lang="en-US" dirty="0" err="1"/>
              <a:t>phải</a:t>
            </a:r>
            <a:r>
              <a:rPr lang="en-US" dirty="0"/>
              <a:t> </a:t>
            </a:r>
            <a:r>
              <a:rPr lang="en-US" err="1"/>
              <a:t>là</a:t>
            </a:r>
            <a:r>
              <a:rPr lang="en-US"/>
              <a:t> 2i+1 và </a:t>
            </a:r>
            <a:r>
              <a:rPr lang="en-US" dirty="0" err="1"/>
              <a:t>nút</a:t>
            </a:r>
            <a:r>
              <a:rPr lang="en-US" dirty="0"/>
              <a:t> cha </a:t>
            </a:r>
            <a:r>
              <a:rPr lang="en-US" dirty="0" err="1"/>
              <a:t>là</a:t>
            </a:r>
            <a:r>
              <a:rPr lang="en-US" dirty="0"/>
              <a:t> [</a:t>
            </a:r>
            <a:r>
              <a:rPr lang="en-US" err="1"/>
              <a:t>i</a:t>
            </a:r>
            <a:r>
              <a:rPr lang="en-US"/>
              <a:t>/2].</a:t>
            </a:r>
          </a:p>
          <a:p>
            <a:pPr algn="just" eaLnBrk="1" hangingPunct="1">
              <a:defRPr/>
            </a:pPr>
            <a:r>
              <a:rPr lang="en-US"/>
              <a:t>Nếu cây không đầy đủ ta phải thêm các nút trống vào để đươc cây nhị phân đầy đủ, sau đó lưu trữ cây đầy đủ đã tạo ra.</a:t>
            </a:r>
          </a:p>
        </p:txBody>
      </p:sp>
      <p:sp>
        <p:nvSpPr>
          <p:cNvPr id="2" name="Slide Number Placeholder 1">
            <a:extLst>
              <a:ext uri="{FF2B5EF4-FFF2-40B4-BE49-F238E27FC236}">
                <a16:creationId xmlns:a16="http://schemas.microsoft.com/office/drawing/2014/main" id="{8952DE84-27B5-4EFD-99C6-0C5F142E8E3E}"/>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C8BFFEC0-C5B0-43D1-B9AB-400F329CC41C}" type="slidenum">
              <a:rPr lang="en-US" altLang="en-US" sz="1000" smtClean="0"/>
              <a:pPr>
                <a:spcBef>
                  <a:spcPct val="0"/>
                </a:spcBef>
                <a:buClrTx/>
                <a:buSzTx/>
                <a:buFontTx/>
                <a:buNone/>
                <a:defRPr/>
              </a:pPr>
              <a:t>19</a:t>
            </a:fld>
            <a:endParaRPr lang="en-US" alt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4">
            <a:extLst>
              <a:ext uri="{FF2B5EF4-FFF2-40B4-BE49-F238E27FC236}">
                <a16:creationId xmlns:a16="http://schemas.microsoft.com/office/drawing/2014/main" id="{7FFAEE25-E69B-4E70-839D-AB15BEB061E8}"/>
              </a:ext>
            </a:extLst>
          </p:cNvPr>
          <p:cNvSpPr>
            <a:spLocks noGrp="1"/>
          </p:cNvSpPr>
          <p:nvPr>
            <p:ph type="dt" sz="quarter" idx="10"/>
          </p:nvPr>
        </p:nvSpPr>
        <p:spPr/>
        <p:txBody>
          <a:bodyPr/>
          <a:lstStyle/>
          <a:p>
            <a:pPr>
              <a:defRPr/>
            </a:pPr>
            <a:r>
              <a:rPr lang="en-US"/>
              <a:t>Ngô Công Thắng</a:t>
            </a:r>
          </a:p>
        </p:txBody>
      </p:sp>
      <p:sp>
        <p:nvSpPr>
          <p:cNvPr id="8" name="Footer Placeholder 5">
            <a:extLst>
              <a:ext uri="{FF2B5EF4-FFF2-40B4-BE49-F238E27FC236}">
                <a16:creationId xmlns:a16="http://schemas.microsoft.com/office/drawing/2014/main" id="{5B95B70A-7CB2-41FA-8B50-7992F8411AA2}"/>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38948" name="Rectangle 4">
            <a:extLst>
              <a:ext uri="{FF2B5EF4-FFF2-40B4-BE49-F238E27FC236}">
                <a16:creationId xmlns:a16="http://schemas.microsoft.com/office/drawing/2014/main" id="{8B5990F1-DBFA-4AB1-BEAB-94C25375D99B}"/>
              </a:ext>
            </a:extLst>
          </p:cNvPr>
          <p:cNvSpPr>
            <a:spLocks noGrp="1" noChangeArrowheads="1"/>
          </p:cNvSpPr>
          <p:nvPr>
            <p:ph type="title"/>
          </p:nvPr>
        </p:nvSpPr>
        <p:spPr/>
        <p:txBody>
          <a:bodyPr/>
          <a:lstStyle/>
          <a:p>
            <a:pPr eaLnBrk="1" hangingPunct="1">
              <a:defRPr/>
            </a:pPr>
            <a:r>
              <a:rPr lang="en-US"/>
              <a:t>Ví dụ</a:t>
            </a:r>
          </a:p>
        </p:txBody>
      </p:sp>
      <p:pic>
        <p:nvPicPr>
          <p:cNvPr id="22533" name="Picture 7">
            <a:extLst>
              <a:ext uri="{FF2B5EF4-FFF2-40B4-BE49-F238E27FC236}">
                <a16:creationId xmlns:a16="http://schemas.microsoft.com/office/drawing/2014/main" id="{B8474900-5E28-4ECF-A835-D3CA35FA00C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28613" y="1430338"/>
            <a:ext cx="2892425" cy="3549650"/>
          </a:xfrm>
          <a:noFill/>
          <a:extLst>
            <a:ext uri="{909E8E84-426E-40DD-AFC4-6F175D3DCCD1}">
              <a14:hiddenFill xmlns:a14="http://schemas.microsoft.com/office/drawing/2010/main">
                <a:solidFill>
                  <a:srgbClr val="FFFFFF"/>
                </a:solidFill>
              </a14:hiddenFill>
            </a:ext>
          </a:extLst>
        </p:spPr>
      </p:pic>
      <p:pic>
        <p:nvPicPr>
          <p:cNvPr id="22534" name="Picture 8">
            <a:extLst>
              <a:ext uri="{FF2B5EF4-FFF2-40B4-BE49-F238E27FC236}">
                <a16:creationId xmlns:a16="http://schemas.microsoft.com/office/drawing/2014/main" id="{B9345A82-C7F8-47A9-B9DA-419A4A31AA3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124325" y="1422400"/>
            <a:ext cx="4770438" cy="3573463"/>
          </a:xfrm>
          <a:noFill/>
          <a:extLst>
            <a:ext uri="{909E8E84-426E-40DD-AFC4-6F175D3DCCD1}">
              <a14:hiddenFill xmlns:a14="http://schemas.microsoft.com/office/drawing/2010/main">
                <a:solidFill>
                  <a:srgbClr val="FFFFFF"/>
                </a:solidFill>
              </a14:hiddenFill>
            </a:ext>
          </a:extLst>
        </p:spPr>
      </p:pic>
      <p:pic>
        <p:nvPicPr>
          <p:cNvPr id="22535" name="Picture 9">
            <a:extLst>
              <a:ext uri="{FF2B5EF4-FFF2-40B4-BE49-F238E27FC236}">
                <a16:creationId xmlns:a16="http://schemas.microsoft.com/office/drawing/2014/main" id="{65E42745-29EE-40DF-8451-E595CDD0CA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463" y="5248275"/>
            <a:ext cx="799147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AutoShape 10">
            <a:extLst>
              <a:ext uri="{FF2B5EF4-FFF2-40B4-BE49-F238E27FC236}">
                <a16:creationId xmlns:a16="http://schemas.microsoft.com/office/drawing/2014/main" id="{C3036413-706F-48CD-8A2F-7C84CA12901C}"/>
              </a:ext>
            </a:extLst>
          </p:cNvPr>
          <p:cNvSpPr>
            <a:spLocks noChangeArrowheads="1"/>
          </p:cNvSpPr>
          <p:nvPr/>
        </p:nvSpPr>
        <p:spPr bwMode="auto">
          <a:xfrm>
            <a:off x="3381375" y="2830513"/>
            <a:ext cx="682625" cy="581025"/>
          </a:xfrm>
          <a:prstGeom prst="rightArrow">
            <a:avLst>
              <a:gd name="adj1" fmla="val 50000"/>
              <a:gd name="adj2" fmla="val 29372"/>
            </a:avLst>
          </a:prstGeom>
          <a:solidFill>
            <a:schemeClr val="accent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9BD22699-78BD-4C06-9A91-A21E797032C6}"/>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495BAA50-CBF1-4AC3-84CB-1D05F33AC951}" type="slidenum">
              <a:rPr lang="en-US" altLang="en-US" sz="1000" smtClean="0"/>
              <a:pPr>
                <a:spcBef>
                  <a:spcPct val="0"/>
                </a:spcBef>
                <a:buClrTx/>
                <a:buSzTx/>
                <a:buFontTx/>
                <a:buNone/>
                <a:defRPr/>
              </a:pPr>
              <a:t>20</a:t>
            </a:fld>
            <a:endParaRPr lang="en-US" alt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964EB6B-8A02-479E-B266-75257F732711}"/>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29E95A9D-E919-402E-B923-77A5FA7FF072}"/>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40994" name="Rectangle 2">
            <a:extLst>
              <a:ext uri="{FF2B5EF4-FFF2-40B4-BE49-F238E27FC236}">
                <a16:creationId xmlns:a16="http://schemas.microsoft.com/office/drawing/2014/main" id="{7BABC7C3-8330-4A66-A355-7A1398B25249}"/>
              </a:ext>
            </a:extLst>
          </p:cNvPr>
          <p:cNvSpPr>
            <a:spLocks noGrp="1" noChangeArrowheads="1"/>
          </p:cNvSpPr>
          <p:nvPr>
            <p:ph type="title"/>
          </p:nvPr>
        </p:nvSpPr>
        <p:spPr/>
        <p:txBody>
          <a:bodyPr/>
          <a:lstStyle/>
          <a:p>
            <a:pPr eaLnBrk="1" hangingPunct="1">
              <a:defRPr/>
            </a:pPr>
            <a:r>
              <a:rPr lang="en-US" sz="4000"/>
              <a:t>2.2.2. Lưu trữ phân tán</a:t>
            </a:r>
          </a:p>
        </p:txBody>
      </p:sp>
      <p:sp>
        <p:nvSpPr>
          <p:cNvPr id="340995" name="Rectangle 3">
            <a:extLst>
              <a:ext uri="{FF2B5EF4-FFF2-40B4-BE49-F238E27FC236}">
                <a16:creationId xmlns:a16="http://schemas.microsoft.com/office/drawing/2014/main" id="{58DBF983-C18F-4ADC-AE5E-109AEBDEC68D}"/>
              </a:ext>
            </a:extLst>
          </p:cNvPr>
          <p:cNvSpPr>
            <a:spLocks noGrp="1" noChangeArrowheads="1"/>
          </p:cNvSpPr>
          <p:nvPr>
            <p:ph type="body" sz="half" idx="1"/>
          </p:nvPr>
        </p:nvSpPr>
        <p:spPr/>
        <p:txBody>
          <a:bodyPr/>
          <a:lstStyle/>
          <a:p>
            <a:pPr algn="just" eaLnBrk="1" hangingPunct="1">
              <a:lnSpc>
                <a:spcPct val="90000"/>
              </a:lnSpc>
              <a:defRPr/>
            </a:pPr>
            <a:r>
              <a:rPr lang="en-US" sz="2800"/>
              <a:t>Trong cấu trúc lưu trữ này, mỗi nút của cây được lưu trữ trong một nút nhớ có cấu trúc gồm 3 trường: trường infor chứa phần tử dữ liệu, trường left chứa địa chỉ nút con trái, trường right chứa địa chỉ nút con phải.</a:t>
            </a:r>
          </a:p>
        </p:txBody>
      </p:sp>
      <p:sp>
        <p:nvSpPr>
          <p:cNvPr id="2" name="Slide Number Placeholder 1">
            <a:extLst>
              <a:ext uri="{FF2B5EF4-FFF2-40B4-BE49-F238E27FC236}">
                <a16:creationId xmlns:a16="http://schemas.microsoft.com/office/drawing/2014/main" id="{FBC782B1-9768-4EB0-AE9A-AFBF2434552E}"/>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F43C8904-C426-4F90-860C-84E0D3251862}" type="slidenum">
              <a:rPr lang="en-US" altLang="en-US" sz="1000" smtClean="0"/>
              <a:pPr>
                <a:spcBef>
                  <a:spcPct val="0"/>
                </a:spcBef>
                <a:buClrTx/>
                <a:buSzTx/>
                <a:buFontTx/>
                <a:buNone/>
                <a:defRPr/>
              </a:pPr>
              <a:t>21</a:t>
            </a:fld>
            <a:endParaRPr lang="en-US" altLang="en-US" sz="1000"/>
          </a:p>
        </p:txBody>
      </p:sp>
      <p:grpSp>
        <p:nvGrpSpPr>
          <p:cNvPr id="8" name="Group 7">
            <a:extLst>
              <a:ext uri="{FF2B5EF4-FFF2-40B4-BE49-F238E27FC236}">
                <a16:creationId xmlns:a16="http://schemas.microsoft.com/office/drawing/2014/main" id="{4909602B-7543-434D-B2A1-91761E213429}"/>
              </a:ext>
            </a:extLst>
          </p:cNvPr>
          <p:cNvGrpSpPr/>
          <p:nvPr/>
        </p:nvGrpSpPr>
        <p:grpSpPr>
          <a:xfrm>
            <a:off x="2705100" y="4181582"/>
            <a:ext cx="3236361" cy="770562"/>
            <a:chOff x="2250040" y="4130211"/>
            <a:chExt cx="3236361" cy="770562"/>
          </a:xfrm>
        </p:grpSpPr>
        <p:sp>
          <p:nvSpPr>
            <p:cNvPr id="4" name="Rectangle 3">
              <a:extLst>
                <a:ext uri="{FF2B5EF4-FFF2-40B4-BE49-F238E27FC236}">
                  <a16:creationId xmlns:a16="http://schemas.microsoft.com/office/drawing/2014/main" id="{7E26AF69-AD3D-4CE0-9D72-D7B6D94CF936}"/>
                </a:ext>
              </a:extLst>
            </p:cNvPr>
            <p:cNvSpPr/>
            <p:nvPr/>
          </p:nvSpPr>
          <p:spPr bwMode="auto">
            <a:xfrm>
              <a:off x="2250040" y="4130211"/>
              <a:ext cx="1078787" cy="770562"/>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0" name="Rectangle 9">
              <a:extLst>
                <a:ext uri="{FF2B5EF4-FFF2-40B4-BE49-F238E27FC236}">
                  <a16:creationId xmlns:a16="http://schemas.microsoft.com/office/drawing/2014/main" id="{9164A32D-1E15-4AFE-AC49-C00F280535B4}"/>
                </a:ext>
              </a:extLst>
            </p:cNvPr>
            <p:cNvSpPr/>
            <p:nvPr/>
          </p:nvSpPr>
          <p:spPr bwMode="auto">
            <a:xfrm>
              <a:off x="3328827" y="4130211"/>
              <a:ext cx="1078787" cy="770562"/>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1" name="Rectangle 10">
              <a:extLst>
                <a:ext uri="{FF2B5EF4-FFF2-40B4-BE49-F238E27FC236}">
                  <a16:creationId xmlns:a16="http://schemas.microsoft.com/office/drawing/2014/main" id="{8FDB5EBA-3794-44DE-BB04-21CD91F15E0D}"/>
                </a:ext>
              </a:extLst>
            </p:cNvPr>
            <p:cNvSpPr/>
            <p:nvPr/>
          </p:nvSpPr>
          <p:spPr bwMode="auto">
            <a:xfrm>
              <a:off x="4407614" y="4130211"/>
              <a:ext cx="1078787" cy="770562"/>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7" name="TextBox 6">
              <a:extLst>
                <a:ext uri="{FF2B5EF4-FFF2-40B4-BE49-F238E27FC236}">
                  <a16:creationId xmlns:a16="http://schemas.microsoft.com/office/drawing/2014/main" id="{BC77EE5A-CE7F-4FA7-A935-8E0AEC4F4EF7}"/>
                </a:ext>
              </a:extLst>
            </p:cNvPr>
            <p:cNvSpPr txBox="1"/>
            <p:nvPr/>
          </p:nvSpPr>
          <p:spPr>
            <a:xfrm>
              <a:off x="3426255" y="4223104"/>
              <a:ext cx="981359" cy="584775"/>
            </a:xfrm>
            <a:prstGeom prst="rect">
              <a:avLst/>
            </a:prstGeom>
            <a:noFill/>
          </p:spPr>
          <p:txBody>
            <a:bodyPr wrap="none" rtlCol="0">
              <a:spAutoFit/>
            </a:bodyPr>
            <a:lstStyle/>
            <a:p>
              <a:r>
                <a:rPr lang="en-US" sz="3200"/>
                <a:t>infor</a:t>
              </a:r>
            </a:p>
          </p:txBody>
        </p:sp>
        <p:sp>
          <p:nvSpPr>
            <p:cNvPr id="13" name="TextBox 12">
              <a:extLst>
                <a:ext uri="{FF2B5EF4-FFF2-40B4-BE49-F238E27FC236}">
                  <a16:creationId xmlns:a16="http://schemas.microsoft.com/office/drawing/2014/main" id="{E945BA54-3DE4-4C13-8EDD-05C0834C3B39}"/>
                </a:ext>
              </a:extLst>
            </p:cNvPr>
            <p:cNvSpPr txBox="1"/>
            <p:nvPr/>
          </p:nvSpPr>
          <p:spPr>
            <a:xfrm>
              <a:off x="4456327" y="4223104"/>
              <a:ext cx="981359" cy="584775"/>
            </a:xfrm>
            <a:prstGeom prst="rect">
              <a:avLst/>
            </a:prstGeom>
            <a:noFill/>
          </p:spPr>
          <p:txBody>
            <a:bodyPr wrap="none" rtlCol="0">
              <a:spAutoFit/>
            </a:bodyPr>
            <a:lstStyle/>
            <a:p>
              <a:r>
                <a:rPr lang="en-US" sz="3200"/>
                <a:t>right</a:t>
              </a:r>
            </a:p>
          </p:txBody>
        </p:sp>
        <p:sp>
          <p:nvSpPr>
            <p:cNvPr id="14" name="TextBox 13">
              <a:extLst>
                <a:ext uri="{FF2B5EF4-FFF2-40B4-BE49-F238E27FC236}">
                  <a16:creationId xmlns:a16="http://schemas.microsoft.com/office/drawing/2014/main" id="{78119BDE-F9D6-4240-8A90-25E0F334C76E}"/>
                </a:ext>
              </a:extLst>
            </p:cNvPr>
            <p:cNvSpPr txBox="1"/>
            <p:nvPr/>
          </p:nvSpPr>
          <p:spPr>
            <a:xfrm>
              <a:off x="2298753" y="4223104"/>
              <a:ext cx="731290" cy="584775"/>
            </a:xfrm>
            <a:prstGeom prst="rect">
              <a:avLst/>
            </a:prstGeom>
            <a:noFill/>
          </p:spPr>
          <p:txBody>
            <a:bodyPr wrap="none" rtlCol="0">
              <a:spAutoFit/>
            </a:bodyPr>
            <a:lstStyle/>
            <a:p>
              <a:r>
                <a:rPr lang="en-US" sz="3200"/>
                <a:t>left</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964EB6B-8A02-479E-B266-75257F732711}"/>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29E95A9D-E919-402E-B923-77A5FA7FF072}"/>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40994" name="Rectangle 2">
            <a:extLst>
              <a:ext uri="{FF2B5EF4-FFF2-40B4-BE49-F238E27FC236}">
                <a16:creationId xmlns:a16="http://schemas.microsoft.com/office/drawing/2014/main" id="{7BABC7C3-8330-4A66-A355-7A1398B25249}"/>
              </a:ext>
            </a:extLst>
          </p:cNvPr>
          <p:cNvSpPr>
            <a:spLocks noGrp="1" noChangeArrowheads="1"/>
          </p:cNvSpPr>
          <p:nvPr>
            <p:ph type="title"/>
          </p:nvPr>
        </p:nvSpPr>
        <p:spPr/>
        <p:txBody>
          <a:bodyPr/>
          <a:lstStyle/>
          <a:p>
            <a:pPr eaLnBrk="1" hangingPunct="1">
              <a:defRPr/>
            </a:pPr>
            <a:r>
              <a:rPr lang="en-US" sz="4000"/>
              <a:t>2.2.2. Lưu trữ phân tán</a:t>
            </a:r>
          </a:p>
        </p:txBody>
      </p:sp>
      <p:sp>
        <p:nvSpPr>
          <p:cNvPr id="340995" name="Rectangle 3">
            <a:extLst>
              <a:ext uri="{FF2B5EF4-FFF2-40B4-BE49-F238E27FC236}">
                <a16:creationId xmlns:a16="http://schemas.microsoft.com/office/drawing/2014/main" id="{58DBF983-C18F-4ADC-AE5E-109AEBDEC68D}"/>
              </a:ext>
            </a:extLst>
          </p:cNvPr>
          <p:cNvSpPr>
            <a:spLocks noGrp="1" noChangeArrowheads="1"/>
          </p:cNvSpPr>
          <p:nvPr>
            <p:ph type="body" sz="half" idx="1"/>
          </p:nvPr>
        </p:nvSpPr>
        <p:spPr>
          <a:xfrm>
            <a:off x="457200" y="1600200"/>
            <a:ext cx="8229600" cy="4636213"/>
          </a:xfrm>
        </p:spPr>
        <p:txBody>
          <a:bodyPr/>
          <a:lstStyle/>
          <a:p>
            <a:pPr eaLnBrk="1" hangingPunct="1">
              <a:lnSpc>
                <a:spcPct val="90000"/>
              </a:lnSpc>
              <a:defRPr/>
            </a:pPr>
            <a:r>
              <a:rPr lang="en-US"/>
              <a:t>Nút không có con trái, con phải thì con trỏ left, right bằng rỗng.</a:t>
            </a:r>
          </a:p>
          <a:p>
            <a:pPr eaLnBrk="1" hangingPunct="1">
              <a:lnSpc>
                <a:spcPct val="90000"/>
              </a:lnSpc>
              <a:defRPr/>
            </a:pPr>
            <a:r>
              <a:rPr lang="en-US"/>
              <a:t>Dùng con trỏ T trỏ vào nút gốc để cho phép truy nhập vào các nút trên cây nhị phân.</a:t>
            </a:r>
          </a:p>
          <a:p>
            <a:pPr eaLnBrk="1" hangingPunct="1">
              <a:lnSpc>
                <a:spcPct val="90000"/>
              </a:lnSpc>
              <a:defRPr/>
            </a:pPr>
            <a:r>
              <a:rPr lang="en-US"/>
              <a:t>Khi cây rỗng thì T = </a:t>
            </a:r>
            <a:r>
              <a:rPr lang="en-US">
                <a:sym typeface="Symbol"/>
              </a:rPr>
              <a:t></a:t>
            </a:r>
            <a:endParaRPr lang="en-US"/>
          </a:p>
        </p:txBody>
      </p:sp>
      <p:sp>
        <p:nvSpPr>
          <p:cNvPr id="2" name="Slide Number Placeholder 1">
            <a:extLst>
              <a:ext uri="{FF2B5EF4-FFF2-40B4-BE49-F238E27FC236}">
                <a16:creationId xmlns:a16="http://schemas.microsoft.com/office/drawing/2014/main" id="{FBC782B1-9768-4EB0-AE9A-AFBF2434552E}"/>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F43C8904-C426-4F90-860C-84E0D3251862}" type="slidenum">
              <a:rPr lang="en-US" altLang="en-US" sz="1000" smtClean="0"/>
              <a:pPr>
                <a:spcBef>
                  <a:spcPct val="0"/>
                </a:spcBef>
                <a:buClrTx/>
                <a:buSzTx/>
                <a:buFontTx/>
                <a:buNone/>
                <a:defRPr/>
              </a:pPr>
              <a:t>22</a:t>
            </a:fld>
            <a:endParaRPr lang="en-US" altLang="en-US" sz="1000"/>
          </a:p>
        </p:txBody>
      </p:sp>
    </p:spTree>
    <p:extLst>
      <p:ext uri="{BB962C8B-B14F-4D97-AF65-F5344CB8AC3E}">
        <p14:creationId xmlns:p14="http://schemas.microsoft.com/office/powerpoint/2010/main" val="447090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a:extLst>
              <a:ext uri="{FF2B5EF4-FFF2-40B4-BE49-F238E27FC236}">
                <a16:creationId xmlns:a16="http://schemas.microsoft.com/office/drawing/2014/main" id="{FFA5F071-61E0-4470-BE9D-7477659B37F8}"/>
              </a:ext>
            </a:extLst>
          </p:cNvPr>
          <p:cNvSpPr>
            <a:spLocks noGrp="1"/>
          </p:cNvSpPr>
          <p:nvPr>
            <p:ph type="dt" sz="quarter" idx="10"/>
          </p:nvPr>
        </p:nvSpPr>
        <p:spPr/>
        <p:txBody>
          <a:bodyPr/>
          <a:lstStyle/>
          <a:p>
            <a:pPr>
              <a:defRPr/>
            </a:pPr>
            <a:r>
              <a:rPr lang="en-US"/>
              <a:t>Ngô Công Thắng</a:t>
            </a:r>
          </a:p>
        </p:txBody>
      </p:sp>
      <p:sp>
        <p:nvSpPr>
          <p:cNvPr id="7" name="Footer Placeholder 5">
            <a:extLst>
              <a:ext uri="{FF2B5EF4-FFF2-40B4-BE49-F238E27FC236}">
                <a16:creationId xmlns:a16="http://schemas.microsoft.com/office/drawing/2014/main" id="{63912934-C3C9-49C7-90F4-07D75CD256BA}"/>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43046" name="Rectangle 6">
            <a:extLst>
              <a:ext uri="{FF2B5EF4-FFF2-40B4-BE49-F238E27FC236}">
                <a16:creationId xmlns:a16="http://schemas.microsoft.com/office/drawing/2014/main" id="{84CEA618-95B1-49DD-AE8A-D60FB0AD320A}"/>
              </a:ext>
            </a:extLst>
          </p:cNvPr>
          <p:cNvSpPr>
            <a:spLocks noGrp="1" noChangeArrowheads="1"/>
          </p:cNvSpPr>
          <p:nvPr>
            <p:ph type="title"/>
          </p:nvPr>
        </p:nvSpPr>
        <p:spPr/>
        <p:txBody>
          <a:bodyPr/>
          <a:lstStyle/>
          <a:p>
            <a:pPr eaLnBrk="1" hangingPunct="1">
              <a:defRPr/>
            </a:pPr>
            <a:r>
              <a:rPr lang="en-US"/>
              <a:t>Ví dụ</a:t>
            </a:r>
          </a:p>
        </p:txBody>
      </p:sp>
      <p:pic>
        <p:nvPicPr>
          <p:cNvPr id="24581" name="Picture 9">
            <a:extLst>
              <a:ext uri="{FF2B5EF4-FFF2-40B4-BE49-F238E27FC236}">
                <a16:creationId xmlns:a16="http://schemas.microsoft.com/office/drawing/2014/main" id="{4EC31B60-5CC8-4CA9-9776-B63105C95C7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84175" y="1711325"/>
            <a:ext cx="3592513" cy="3592513"/>
          </a:xfrm>
          <a:noFill/>
          <a:extLst>
            <a:ext uri="{909E8E84-426E-40DD-AFC4-6F175D3DCCD1}">
              <a14:hiddenFill xmlns:a14="http://schemas.microsoft.com/office/drawing/2010/main">
                <a:solidFill>
                  <a:srgbClr val="FFFFFF"/>
                </a:solidFill>
              </a14:hiddenFill>
            </a:ext>
          </a:extLst>
        </p:spPr>
      </p:pic>
      <p:pic>
        <p:nvPicPr>
          <p:cNvPr id="24582" name="Picture 10">
            <a:extLst>
              <a:ext uri="{FF2B5EF4-FFF2-40B4-BE49-F238E27FC236}">
                <a16:creationId xmlns:a16="http://schemas.microsoft.com/office/drawing/2014/main" id="{72EFBE15-AFDB-4692-88FE-3221BEB8E58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429125" y="1712913"/>
            <a:ext cx="4497388" cy="3603625"/>
          </a:xfrm>
          <a:noFill/>
          <a:extLst>
            <a:ext uri="{909E8E84-426E-40DD-AFC4-6F175D3DCCD1}">
              <a14:hiddenFill xmlns:a14="http://schemas.microsoft.com/office/drawing/2010/main">
                <a:solidFill>
                  <a:srgbClr val="FFFFFF"/>
                </a:solidFill>
              </a14:hiddenFill>
            </a:ext>
          </a:extLst>
        </p:spPr>
      </p:pic>
      <p:sp>
        <p:nvSpPr>
          <p:cNvPr id="24583" name="AutoShape 11">
            <a:extLst>
              <a:ext uri="{FF2B5EF4-FFF2-40B4-BE49-F238E27FC236}">
                <a16:creationId xmlns:a16="http://schemas.microsoft.com/office/drawing/2014/main" id="{0A7FB6D8-15FB-4136-B558-BC2FF5EC3408}"/>
              </a:ext>
            </a:extLst>
          </p:cNvPr>
          <p:cNvSpPr>
            <a:spLocks noChangeArrowheads="1"/>
          </p:cNvSpPr>
          <p:nvPr/>
        </p:nvSpPr>
        <p:spPr bwMode="auto">
          <a:xfrm>
            <a:off x="4049713" y="3178175"/>
            <a:ext cx="361950" cy="304800"/>
          </a:xfrm>
          <a:prstGeom prst="rightArrow">
            <a:avLst>
              <a:gd name="adj1" fmla="val 50000"/>
              <a:gd name="adj2" fmla="val 29688"/>
            </a:avLst>
          </a:prstGeom>
          <a:solidFill>
            <a:schemeClr val="accent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4B67EE1C-46F2-46FB-94A8-4CB5FBBA33EF}"/>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41A3D3B7-01AB-4F55-B79B-9C65BF2C669E}" type="slidenum">
              <a:rPr lang="en-US" altLang="en-US" sz="1000" smtClean="0"/>
              <a:pPr>
                <a:spcBef>
                  <a:spcPct val="0"/>
                </a:spcBef>
                <a:buClrTx/>
                <a:buSzTx/>
                <a:buFontTx/>
                <a:buNone/>
                <a:defRPr/>
              </a:pPr>
              <a:t>23</a:t>
            </a:fld>
            <a:endParaRPr lang="en-US" alt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078D689-62A1-40C7-8D1C-A118DB2D2808}"/>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91988C05-42A9-4C65-B7CF-7876CED73B6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46114" name="Rectangle 2">
            <a:extLst>
              <a:ext uri="{FF2B5EF4-FFF2-40B4-BE49-F238E27FC236}">
                <a16:creationId xmlns:a16="http://schemas.microsoft.com/office/drawing/2014/main" id="{27080515-714F-454A-8C66-C40B593FF4C4}"/>
              </a:ext>
            </a:extLst>
          </p:cNvPr>
          <p:cNvSpPr>
            <a:spLocks noGrp="1" noChangeArrowheads="1"/>
          </p:cNvSpPr>
          <p:nvPr>
            <p:ph type="title"/>
          </p:nvPr>
        </p:nvSpPr>
        <p:spPr/>
        <p:txBody>
          <a:bodyPr/>
          <a:lstStyle/>
          <a:p>
            <a:pPr eaLnBrk="1" hangingPunct="1">
              <a:defRPr/>
            </a:pPr>
            <a:r>
              <a:rPr lang="en-US" sz="3600"/>
              <a:t>2.3. Các phép toán duyệt cây nhị phân</a:t>
            </a:r>
          </a:p>
        </p:txBody>
      </p:sp>
      <p:sp>
        <p:nvSpPr>
          <p:cNvPr id="346115" name="Rectangle 3">
            <a:extLst>
              <a:ext uri="{FF2B5EF4-FFF2-40B4-BE49-F238E27FC236}">
                <a16:creationId xmlns:a16="http://schemas.microsoft.com/office/drawing/2014/main" id="{F7D945DB-66F6-4368-9D01-F84F7462BF2B}"/>
              </a:ext>
            </a:extLst>
          </p:cNvPr>
          <p:cNvSpPr>
            <a:spLocks noGrp="1" noChangeArrowheads="1"/>
          </p:cNvSpPr>
          <p:nvPr>
            <p:ph type="body" idx="1"/>
          </p:nvPr>
        </p:nvSpPr>
        <p:spPr>
          <a:xfrm>
            <a:off x="254000" y="1600200"/>
            <a:ext cx="8664575" cy="4672013"/>
          </a:xfrm>
        </p:spPr>
        <p:txBody>
          <a:bodyPr/>
          <a:lstStyle/>
          <a:p>
            <a:pPr eaLnBrk="1" hangingPunct="1">
              <a:lnSpc>
                <a:spcPct val="90000"/>
              </a:lnSpc>
              <a:defRPr/>
            </a:pPr>
            <a:r>
              <a:rPr lang="en-US"/>
              <a:t>Phép xử lý các nút trên cây (gọi chung là phép thăm - visit) là cách thăm tất cả các nút của cây một cách hệ thống, sao cho mỗi nút chỉ được thăm một lần. </a:t>
            </a:r>
          </a:p>
          <a:p>
            <a:pPr eaLnBrk="1" hangingPunct="1">
              <a:lnSpc>
                <a:spcPct val="90000"/>
              </a:lnSpc>
              <a:defRPr/>
            </a:pPr>
            <a:r>
              <a:rPr lang="en-US"/>
              <a:t>Một nút có 2 con, ta có 3 cách duyệt, các cách duyệt được định nghĩa đệ quy như sau:</a:t>
            </a:r>
          </a:p>
          <a:p>
            <a:pPr lvl="1" eaLnBrk="1" hangingPunct="1">
              <a:lnSpc>
                <a:spcPct val="90000"/>
              </a:lnSpc>
              <a:defRPr/>
            </a:pPr>
            <a:r>
              <a:rPr lang="en-US"/>
              <a:t>Cách 1: Duyệt theo thứ tự trước (preorder traversal)</a:t>
            </a:r>
          </a:p>
          <a:p>
            <a:pPr lvl="2" eaLnBrk="1" hangingPunct="1">
              <a:lnSpc>
                <a:spcPct val="90000"/>
              </a:lnSpc>
              <a:defRPr/>
            </a:pPr>
            <a:r>
              <a:rPr lang="en-US"/>
              <a:t>Thăm gốc</a:t>
            </a:r>
          </a:p>
          <a:p>
            <a:pPr lvl="2" eaLnBrk="1" hangingPunct="1">
              <a:lnSpc>
                <a:spcPct val="90000"/>
              </a:lnSpc>
              <a:defRPr/>
            </a:pPr>
            <a:r>
              <a:rPr lang="en-US"/>
              <a:t>Duyệt cây con trái theo thứ tự trước</a:t>
            </a:r>
          </a:p>
          <a:p>
            <a:pPr lvl="2" eaLnBrk="1" hangingPunct="1">
              <a:lnSpc>
                <a:spcPct val="90000"/>
              </a:lnSpc>
              <a:defRPr/>
            </a:pPr>
            <a:r>
              <a:rPr lang="en-US"/>
              <a:t>Duyệt cây con phải theo thứ tự trước</a:t>
            </a:r>
          </a:p>
        </p:txBody>
      </p:sp>
      <p:sp>
        <p:nvSpPr>
          <p:cNvPr id="2" name="Slide Number Placeholder 1">
            <a:extLst>
              <a:ext uri="{FF2B5EF4-FFF2-40B4-BE49-F238E27FC236}">
                <a16:creationId xmlns:a16="http://schemas.microsoft.com/office/drawing/2014/main" id="{AE5517FF-6370-4F5C-A4DF-60258DE6375E}"/>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65CB28E3-EC46-4308-8907-967E3A715F06}" type="slidenum">
              <a:rPr lang="en-US" altLang="en-US" sz="1000" smtClean="0"/>
              <a:pPr>
                <a:spcBef>
                  <a:spcPct val="0"/>
                </a:spcBef>
                <a:buClrTx/>
                <a:buSzTx/>
                <a:buFontTx/>
                <a:buNone/>
                <a:defRPr/>
              </a:pPr>
              <a:t>24</a:t>
            </a:fld>
            <a:endParaRPr lang="en-US"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DA4BF4A-529B-4D94-964B-4F4314067E35}"/>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59A19B39-23FD-4AE3-8621-45F5A680040A}"/>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47138" name="Rectangle 2">
            <a:extLst>
              <a:ext uri="{FF2B5EF4-FFF2-40B4-BE49-F238E27FC236}">
                <a16:creationId xmlns:a16="http://schemas.microsoft.com/office/drawing/2014/main" id="{DB4998DA-2567-44BB-9229-F967747DD1E1}"/>
              </a:ext>
            </a:extLst>
          </p:cNvPr>
          <p:cNvSpPr>
            <a:spLocks noGrp="1" noChangeArrowheads="1"/>
          </p:cNvSpPr>
          <p:nvPr>
            <p:ph type="title"/>
          </p:nvPr>
        </p:nvSpPr>
        <p:spPr/>
        <p:txBody>
          <a:bodyPr/>
          <a:lstStyle/>
          <a:p>
            <a:pPr eaLnBrk="1" hangingPunct="1">
              <a:defRPr/>
            </a:pPr>
            <a:r>
              <a:rPr lang="en-US"/>
              <a:t>2.3. Duyệt cây nhị phân (</a:t>
            </a:r>
            <a:r>
              <a:rPr lang="en-US" i="1"/>
              <a:t>tiếp</a:t>
            </a:r>
            <a:r>
              <a:rPr lang="en-US"/>
              <a:t>)</a:t>
            </a:r>
          </a:p>
        </p:txBody>
      </p:sp>
      <p:sp>
        <p:nvSpPr>
          <p:cNvPr id="347139" name="Rectangle 3">
            <a:extLst>
              <a:ext uri="{FF2B5EF4-FFF2-40B4-BE49-F238E27FC236}">
                <a16:creationId xmlns:a16="http://schemas.microsoft.com/office/drawing/2014/main" id="{7271E5D8-E6FF-49FA-82F3-51F9F4FAD21F}"/>
              </a:ext>
            </a:extLst>
          </p:cNvPr>
          <p:cNvSpPr>
            <a:spLocks noGrp="1" noChangeArrowheads="1"/>
          </p:cNvSpPr>
          <p:nvPr>
            <p:ph type="body" idx="1"/>
          </p:nvPr>
        </p:nvSpPr>
        <p:spPr/>
        <p:txBody>
          <a:bodyPr/>
          <a:lstStyle/>
          <a:p>
            <a:pPr eaLnBrk="1" hangingPunct="1">
              <a:defRPr/>
            </a:pPr>
            <a:r>
              <a:rPr lang="en-US" sz="2800"/>
              <a:t>Cách 2: Duyệt theo thứ tự giữa (inorder traversal)</a:t>
            </a:r>
          </a:p>
          <a:p>
            <a:pPr lvl="1" eaLnBrk="1" hangingPunct="1">
              <a:defRPr/>
            </a:pPr>
            <a:r>
              <a:rPr lang="en-US" sz="2400"/>
              <a:t>Duyệt cây con trái theo thứ tự giữa</a:t>
            </a:r>
          </a:p>
          <a:p>
            <a:pPr lvl="1" eaLnBrk="1" hangingPunct="1">
              <a:defRPr/>
            </a:pPr>
            <a:r>
              <a:rPr lang="en-US" sz="2400"/>
              <a:t>Thăm gốc</a:t>
            </a:r>
          </a:p>
          <a:p>
            <a:pPr lvl="1" eaLnBrk="1" hangingPunct="1">
              <a:defRPr/>
            </a:pPr>
            <a:r>
              <a:rPr lang="en-US" sz="2400"/>
              <a:t>Duyệt cây con phải theo thứ tự giữa</a:t>
            </a:r>
          </a:p>
          <a:p>
            <a:pPr eaLnBrk="1" hangingPunct="1">
              <a:defRPr/>
            </a:pPr>
            <a:r>
              <a:rPr lang="en-US" sz="2800"/>
              <a:t>Cách 3: Duyệt theo thứ tự sau (postorder traversal)</a:t>
            </a:r>
          </a:p>
          <a:p>
            <a:pPr lvl="1" eaLnBrk="1" hangingPunct="1">
              <a:defRPr/>
            </a:pPr>
            <a:r>
              <a:rPr lang="en-US" sz="2400"/>
              <a:t>Duyệt cây con trái theo thứ tự sau</a:t>
            </a:r>
          </a:p>
          <a:p>
            <a:pPr lvl="1" eaLnBrk="1" hangingPunct="1">
              <a:defRPr/>
            </a:pPr>
            <a:r>
              <a:rPr lang="en-US" sz="2400"/>
              <a:t>Duyệt cây con phải theo thứ tự sau</a:t>
            </a:r>
          </a:p>
          <a:p>
            <a:pPr lvl="1" eaLnBrk="1" hangingPunct="1">
              <a:defRPr/>
            </a:pPr>
            <a:r>
              <a:rPr lang="en-US" sz="2400"/>
              <a:t>Thăm gốc</a:t>
            </a:r>
          </a:p>
        </p:txBody>
      </p:sp>
      <p:sp>
        <p:nvSpPr>
          <p:cNvPr id="2" name="Slide Number Placeholder 1">
            <a:extLst>
              <a:ext uri="{FF2B5EF4-FFF2-40B4-BE49-F238E27FC236}">
                <a16:creationId xmlns:a16="http://schemas.microsoft.com/office/drawing/2014/main" id="{2DBE3E87-DBA0-445E-9803-46243CCE95C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71F9F7DB-6584-428B-AEE0-30BF12F7AA9D}" type="slidenum">
              <a:rPr lang="en-US" altLang="en-US" sz="1000" smtClean="0"/>
              <a:pPr>
                <a:spcBef>
                  <a:spcPct val="0"/>
                </a:spcBef>
                <a:buClrTx/>
                <a:buSzTx/>
                <a:buFontTx/>
                <a:buNone/>
                <a:defRPr/>
              </a:pPr>
              <a:t>25</a:t>
            </a:fld>
            <a:endParaRPr lang="en-US" alt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797B-CC7A-493A-B497-AFC3A7BD2A80}"/>
              </a:ext>
            </a:extLst>
          </p:cNvPr>
          <p:cNvSpPr>
            <a:spLocks noGrp="1"/>
          </p:cNvSpPr>
          <p:nvPr>
            <p:ph type="title"/>
          </p:nvPr>
        </p:nvSpPr>
        <p:spPr/>
        <p:txBody>
          <a:bodyPr/>
          <a:lstStyle/>
          <a:p>
            <a:r>
              <a:rPr lang="en-US"/>
              <a:t>Minh họa ý tưởng</a:t>
            </a:r>
          </a:p>
        </p:txBody>
      </p:sp>
      <p:sp>
        <p:nvSpPr>
          <p:cNvPr id="4" name="Date Placeholder 3">
            <a:extLst>
              <a:ext uri="{FF2B5EF4-FFF2-40B4-BE49-F238E27FC236}">
                <a16:creationId xmlns:a16="http://schemas.microsoft.com/office/drawing/2014/main" id="{9BE08E22-1AD0-4E9E-B3D3-34146901269C}"/>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5C9A6089-7461-4164-B1F2-B42CEEF0AA23}"/>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6" name="Slide Number Placeholder 5">
            <a:extLst>
              <a:ext uri="{FF2B5EF4-FFF2-40B4-BE49-F238E27FC236}">
                <a16:creationId xmlns:a16="http://schemas.microsoft.com/office/drawing/2014/main" id="{458E2876-B2FF-4B3E-B551-475F3B34C61B}"/>
              </a:ext>
            </a:extLst>
          </p:cNvPr>
          <p:cNvSpPr>
            <a:spLocks noGrp="1"/>
          </p:cNvSpPr>
          <p:nvPr>
            <p:ph type="sldNum" sz="quarter" idx="12"/>
          </p:nvPr>
        </p:nvSpPr>
        <p:spPr/>
        <p:txBody>
          <a:bodyPr/>
          <a:lstStyle/>
          <a:p>
            <a:pPr>
              <a:defRPr/>
            </a:pPr>
            <a:r>
              <a:rPr lang="en-US" altLang="en-US"/>
              <a:t>4.</a:t>
            </a:r>
            <a:fld id="{57B2BA11-4571-4E9C-924F-F933A4D9EFC2}" type="slidenum">
              <a:rPr lang="en-US" altLang="en-US" smtClean="0"/>
              <a:pPr>
                <a:defRPr/>
              </a:pPr>
              <a:t>26</a:t>
            </a:fld>
            <a:endParaRPr lang="en-US" altLang="en-US"/>
          </a:p>
        </p:txBody>
      </p:sp>
      <p:grpSp>
        <p:nvGrpSpPr>
          <p:cNvPr id="13" name="Group 12">
            <a:extLst>
              <a:ext uri="{FF2B5EF4-FFF2-40B4-BE49-F238E27FC236}">
                <a16:creationId xmlns:a16="http://schemas.microsoft.com/office/drawing/2014/main" id="{39D9CCC6-979F-40F1-86D2-625B11F9EBE5}"/>
              </a:ext>
            </a:extLst>
          </p:cNvPr>
          <p:cNvGrpSpPr/>
          <p:nvPr/>
        </p:nvGrpSpPr>
        <p:grpSpPr>
          <a:xfrm>
            <a:off x="6099085" y="1418441"/>
            <a:ext cx="636998" cy="636998"/>
            <a:chOff x="4027469" y="1510301"/>
            <a:chExt cx="636998" cy="636998"/>
          </a:xfrm>
        </p:grpSpPr>
        <p:sp>
          <p:nvSpPr>
            <p:cNvPr id="7" name="Oval 6">
              <a:extLst>
                <a:ext uri="{FF2B5EF4-FFF2-40B4-BE49-F238E27FC236}">
                  <a16:creationId xmlns:a16="http://schemas.microsoft.com/office/drawing/2014/main" id="{2E4837E7-CC5B-4F17-B8A3-0E4640C9989B}"/>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TextBox 7">
              <a:extLst>
                <a:ext uri="{FF2B5EF4-FFF2-40B4-BE49-F238E27FC236}">
                  <a16:creationId xmlns:a16="http://schemas.microsoft.com/office/drawing/2014/main" id="{C917CBBA-6CFA-4F08-897B-0A143882777E}"/>
                </a:ext>
              </a:extLst>
            </p:cNvPr>
            <p:cNvSpPr txBox="1"/>
            <p:nvPr/>
          </p:nvSpPr>
          <p:spPr>
            <a:xfrm>
              <a:off x="4151043" y="1597967"/>
              <a:ext cx="389850" cy="461665"/>
            </a:xfrm>
            <a:prstGeom prst="rect">
              <a:avLst/>
            </a:prstGeom>
            <a:noFill/>
          </p:spPr>
          <p:txBody>
            <a:bodyPr wrap="none" rtlCol="0">
              <a:spAutoFit/>
            </a:bodyPr>
            <a:lstStyle/>
            <a:p>
              <a:r>
                <a:rPr lang="en-US" sz="2400"/>
                <a:t>A</a:t>
              </a:r>
            </a:p>
          </p:txBody>
        </p:sp>
      </p:grpSp>
      <p:grpSp>
        <p:nvGrpSpPr>
          <p:cNvPr id="15" name="Group 14">
            <a:extLst>
              <a:ext uri="{FF2B5EF4-FFF2-40B4-BE49-F238E27FC236}">
                <a16:creationId xmlns:a16="http://schemas.microsoft.com/office/drawing/2014/main" id="{17983C67-672E-4DFC-A227-C34EEAF2DD61}"/>
              </a:ext>
            </a:extLst>
          </p:cNvPr>
          <p:cNvGrpSpPr/>
          <p:nvPr/>
        </p:nvGrpSpPr>
        <p:grpSpPr>
          <a:xfrm>
            <a:off x="5010024" y="2445857"/>
            <a:ext cx="636998" cy="636998"/>
            <a:chOff x="4027469" y="1510301"/>
            <a:chExt cx="636998" cy="636998"/>
          </a:xfrm>
        </p:grpSpPr>
        <p:sp>
          <p:nvSpPr>
            <p:cNvPr id="16" name="Oval 15">
              <a:extLst>
                <a:ext uri="{FF2B5EF4-FFF2-40B4-BE49-F238E27FC236}">
                  <a16:creationId xmlns:a16="http://schemas.microsoft.com/office/drawing/2014/main" id="{43396BE1-4A67-4B6E-B161-933615E9DFB0}"/>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7" name="TextBox 16">
              <a:extLst>
                <a:ext uri="{FF2B5EF4-FFF2-40B4-BE49-F238E27FC236}">
                  <a16:creationId xmlns:a16="http://schemas.microsoft.com/office/drawing/2014/main" id="{A0045B95-DC37-4F34-B3B7-4A17EE5827F6}"/>
                </a:ext>
              </a:extLst>
            </p:cNvPr>
            <p:cNvSpPr txBox="1"/>
            <p:nvPr/>
          </p:nvSpPr>
          <p:spPr>
            <a:xfrm>
              <a:off x="4151043" y="1597967"/>
              <a:ext cx="389850" cy="461665"/>
            </a:xfrm>
            <a:prstGeom prst="rect">
              <a:avLst/>
            </a:prstGeom>
            <a:noFill/>
          </p:spPr>
          <p:txBody>
            <a:bodyPr wrap="none" rtlCol="0">
              <a:spAutoFit/>
            </a:bodyPr>
            <a:lstStyle/>
            <a:p>
              <a:r>
                <a:rPr lang="en-US" sz="2400"/>
                <a:t>B</a:t>
              </a:r>
            </a:p>
          </p:txBody>
        </p:sp>
      </p:grpSp>
      <p:grpSp>
        <p:nvGrpSpPr>
          <p:cNvPr id="18" name="Group 17">
            <a:extLst>
              <a:ext uri="{FF2B5EF4-FFF2-40B4-BE49-F238E27FC236}">
                <a16:creationId xmlns:a16="http://schemas.microsoft.com/office/drawing/2014/main" id="{08C0EFCE-5B54-4223-A0FB-9D480ED14E9F}"/>
              </a:ext>
            </a:extLst>
          </p:cNvPr>
          <p:cNvGrpSpPr/>
          <p:nvPr/>
        </p:nvGrpSpPr>
        <p:grpSpPr>
          <a:xfrm>
            <a:off x="7239516" y="2445857"/>
            <a:ext cx="636998" cy="636998"/>
            <a:chOff x="4027469" y="1510301"/>
            <a:chExt cx="636998" cy="636998"/>
          </a:xfrm>
        </p:grpSpPr>
        <p:sp>
          <p:nvSpPr>
            <p:cNvPr id="19" name="Oval 18">
              <a:extLst>
                <a:ext uri="{FF2B5EF4-FFF2-40B4-BE49-F238E27FC236}">
                  <a16:creationId xmlns:a16="http://schemas.microsoft.com/office/drawing/2014/main" id="{39248629-68F7-4B88-A86B-441D94D30B5B}"/>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0" name="TextBox 19">
              <a:extLst>
                <a:ext uri="{FF2B5EF4-FFF2-40B4-BE49-F238E27FC236}">
                  <a16:creationId xmlns:a16="http://schemas.microsoft.com/office/drawing/2014/main" id="{FC9A136C-209C-4DB3-8242-FEDA0539C08C}"/>
                </a:ext>
              </a:extLst>
            </p:cNvPr>
            <p:cNvSpPr txBox="1"/>
            <p:nvPr/>
          </p:nvSpPr>
          <p:spPr>
            <a:xfrm>
              <a:off x="4151043" y="1597967"/>
              <a:ext cx="407484" cy="461665"/>
            </a:xfrm>
            <a:prstGeom prst="rect">
              <a:avLst/>
            </a:prstGeom>
            <a:noFill/>
          </p:spPr>
          <p:txBody>
            <a:bodyPr wrap="none" rtlCol="0">
              <a:spAutoFit/>
            </a:bodyPr>
            <a:lstStyle/>
            <a:p>
              <a:r>
                <a:rPr lang="en-US" sz="2400"/>
                <a:t>C</a:t>
              </a:r>
            </a:p>
          </p:txBody>
        </p:sp>
      </p:grpSp>
      <p:grpSp>
        <p:nvGrpSpPr>
          <p:cNvPr id="21" name="Group 20">
            <a:extLst>
              <a:ext uri="{FF2B5EF4-FFF2-40B4-BE49-F238E27FC236}">
                <a16:creationId xmlns:a16="http://schemas.microsoft.com/office/drawing/2014/main" id="{353A0DBD-83B9-4372-B7CB-BACCD50BCE78}"/>
              </a:ext>
            </a:extLst>
          </p:cNvPr>
          <p:cNvGrpSpPr/>
          <p:nvPr/>
        </p:nvGrpSpPr>
        <p:grpSpPr>
          <a:xfrm>
            <a:off x="5667570" y="3635206"/>
            <a:ext cx="636998" cy="636998"/>
            <a:chOff x="4027469" y="1510301"/>
            <a:chExt cx="636998" cy="636998"/>
          </a:xfrm>
        </p:grpSpPr>
        <p:sp>
          <p:nvSpPr>
            <p:cNvPr id="22" name="Oval 21">
              <a:extLst>
                <a:ext uri="{FF2B5EF4-FFF2-40B4-BE49-F238E27FC236}">
                  <a16:creationId xmlns:a16="http://schemas.microsoft.com/office/drawing/2014/main" id="{ACAB6F8A-EA6A-4CF2-A594-B44113028AC2}"/>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3" name="TextBox 22">
              <a:extLst>
                <a:ext uri="{FF2B5EF4-FFF2-40B4-BE49-F238E27FC236}">
                  <a16:creationId xmlns:a16="http://schemas.microsoft.com/office/drawing/2014/main" id="{39D577AE-FCD8-42D6-961C-5E572D3AC500}"/>
                </a:ext>
              </a:extLst>
            </p:cNvPr>
            <p:cNvSpPr txBox="1"/>
            <p:nvPr/>
          </p:nvSpPr>
          <p:spPr>
            <a:xfrm>
              <a:off x="4151043" y="1597967"/>
              <a:ext cx="407484" cy="461665"/>
            </a:xfrm>
            <a:prstGeom prst="rect">
              <a:avLst/>
            </a:prstGeom>
            <a:noFill/>
          </p:spPr>
          <p:txBody>
            <a:bodyPr wrap="none" rtlCol="0">
              <a:spAutoFit/>
            </a:bodyPr>
            <a:lstStyle/>
            <a:p>
              <a:r>
                <a:rPr lang="en-US" sz="2400"/>
                <a:t>D</a:t>
              </a:r>
            </a:p>
          </p:txBody>
        </p:sp>
      </p:grpSp>
      <p:grpSp>
        <p:nvGrpSpPr>
          <p:cNvPr id="24" name="Group 23">
            <a:extLst>
              <a:ext uri="{FF2B5EF4-FFF2-40B4-BE49-F238E27FC236}">
                <a16:creationId xmlns:a16="http://schemas.microsoft.com/office/drawing/2014/main" id="{BCC112E6-CC30-4757-BBF3-A8790FBAFA44}"/>
              </a:ext>
            </a:extLst>
          </p:cNvPr>
          <p:cNvGrpSpPr/>
          <p:nvPr/>
        </p:nvGrpSpPr>
        <p:grpSpPr>
          <a:xfrm>
            <a:off x="6947840" y="3655723"/>
            <a:ext cx="636998" cy="636998"/>
            <a:chOff x="4027469" y="1510301"/>
            <a:chExt cx="636998" cy="636998"/>
          </a:xfrm>
        </p:grpSpPr>
        <p:sp>
          <p:nvSpPr>
            <p:cNvPr id="25" name="Oval 24">
              <a:extLst>
                <a:ext uri="{FF2B5EF4-FFF2-40B4-BE49-F238E27FC236}">
                  <a16:creationId xmlns:a16="http://schemas.microsoft.com/office/drawing/2014/main" id="{0F1EF4EF-EB8D-480F-B997-98F716552C60}"/>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6" name="TextBox 25">
              <a:extLst>
                <a:ext uri="{FF2B5EF4-FFF2-40B4-BE49-F238E27FC236}">
                  <a16:creationId xmlns:a16="http://schemas.microsoft.com/office/drawing/2014/main" id="{A8AB2CD7-404A-47F7-9340-47896A873979}"/>
                </a:ext>
              </a:extLst>
            </p:cNvPr>
            <p:cNvSpPr txBox="1"/>
            <p:nvPr/>
          </p:nvSpPr>
          <p:spPr>
            <a:xfrm>
              <a:off x="4151043" y="1597967"/>
              <a:ext cx="389850" cy="461665"/>
            </a:xfrm>
            <a:prstGeom prst="rect">
              <a:avLst/>
            </a:prstGeom>
            <a:noFill/>
          </p:spPr>
          <p:txBody>
            <a:bodyPr wrap="none" rtlCol="0">
              <a:spAutoFit/>
            </a:bodyPr>
            <a:lstStyle/>
            <a:p>
              <a:r>
                <a:rPr lang="en-US" sz="2400"/>
                <a:t>E</a:t>
              </a:r>
            </a:p>
          </p:txBody>
        </p:sp>
      </p:grpSp>
      <p:grpSp>
        <p:nvGrpSpPr>
          <p:cNvPr id="27" name="Group 26">
            <a:extLst>
              <a:ext uri="{FF2B5EF4-FFF2-40B4-BE49-F238E27FC236}">
                <a16:creationId xmlns:a16="http://schemas.microsoft.com/office/drawing/2014/main" id="{AD223245-A3A6-4B26-A7C4-9400DD4C95AA}"/>
              </a:ext>
            </a:extLst>
          </p:cNvPr>
          <p:cNvGrpSpPr/>
          <p:nvPr/>
        </p:nvGrpSpPr>
        <p:grpSpPr>
          <a:xfrm>
            <a:off x="7379922" y="4690257"/>
            <a:ext cx="636998" cy="636998"/>
            <a:chOff x="4027469" y="1510301"/>
            <a:chExt cx="636998" cy="636998"/>
          </a:xfrm>
        </p:grpSpPr>
        <p:sp>
          <p:nvSpPr>
            <p:cNvPr id="28" name="Oval 27">
              <a:extLst>
                <a:ext uri="{FF2B5EF4-FFF2-40B4-BE49-F238E27FC236}">
                  <a16:creationId xmlns:a16="http://schemas.microsoft.com/office/drawing/2014/main" id="{D59E89AF-2AAF-418F-BA8C-73E375BDAAD4}"/>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9" name="TextBox 28">
              <a:extLst>
                <a:ext uri="{FF2B5EF4-FFF2-40B4-BE49-F238E27FC236}">
                  <a16:creationId xmlns:a16="http://schemas.microsoft.com/office/drawing/2014/main" id="{33C7D4CB-72C8-4AFF-9852-EF0735063E43}"/>
                </a:ext>
              </a:extLst>
            </p:cNvPr>
            <p:cNvSpPr txBox="1"/>
            <p:nvPr/>
          </p:nvSpPr>
          <p:spPr>
            <a:xfrm>
              <a:off x="4151043" y="1597967"/>
              <a:ext cx="423514" cy="461665"/>
            </a:xfrm>
            <a:prstGeom prst="rect">
              <a:avLst/>
            </a:prstGeom>
            <a:noFill/>
          </p:spPr>
          <p:txBody>
            <a:bodyPr wrap="none" rtlCol="0">
              <a:spAutoFit/>
            </a:bodyPr>
            <a:lstStyle/>
            <a:p>
              <a:r>
                <a:rPr lang="en-US" sz="2400"/>
                <a:t>G</a:t>
              </a:r>
            </a:p>
          </p:txBody>
        </p:sp>
      </p:grpSp>
      <p:grpSp>
        <p:nvGrpSpPr>
          <p:cNvPr id="30" name="Group 29">
            <a:extLst>
              <a:ext uri="{FF2B5EF4-FFF2-40B4-BE49-F238E27FC236}">
                <a16:creationId xmlns:a16="http://schemas.microsoft.com/office/drawing/2014/main" id="{740652BD-6E74-488E-A800-F79D225CAC08}"/>
              </a:ext>
            </a:extLst>
          </p:cNvPr>
          <p:cNvGrpSpPr/>
          <p:nvPr/>
        </p:nvGrpSpPr>
        <p:grpSpPr>
          <a:xfrm>
            <a:off x="4192535" y="3281710"/>
            <a:ext cx="636998" cy="636998"/>
            <a:chOff x="4027469" y="1510301"/>
            <a:chExt cx="636998" cy="636998"/>
          </a:xfrm>
        </p:grpSpPr>
        <p:sp>
          <p:nvSpPr>
            <p:cNvPr id="31" name="Oval 30">
              <a:extLst>
                <a:ext uri="{FF2B5EF4-FFF2-40B4-BE49-F238E27FC236}">
                  <a16:creationId xmlns:a16="http://schemas.microsoft.com/office/drawing/2014/main" id="{78E1CEAA-1DAB-44AD-9330-DA1BD5F3AE15}"/>
                </a:ext>
              </a:extLst>
            </p:cNvPr>
            <p:cNvSpPr/>
            <p:nvPr/>
          </p:nvSpPr>
          <p:spPr bwMode="auto">
            <a:xfrm>
              <a:off x="4027469" y="1510301"/>
              <a:ext cx="636998" cy="636998"/>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32" name="TextBox 31">
              <a:extLst>
                <a:ext uri="{FF2B5EF4-FFF2-40B4-BE49-F238E27FC236}">
                  <a16:creationId xmlns:a16="http://schemas.microsoft.com/office/drawing/2014/main" id="{5643E639-BFD7-443B-B288-4CA1DBB85FF5}"/>
                </a:ext>
              </a:extLst>
            </p:cNvPr>
            <p:cNvSpPr txBox="1"/>
            <p:nvPr/>
          </p:nvSpPr>
          <p:spPr>
            <a:xfrm>
              <a:off x="4151043" y="1597967"/>
              <a:ext cx="372218" cy="461665"/>
            </a:xfrm>
            <a:prstGeom prst="rect">
              <a:avLst/>
            </a:prstGeom>
            <a:noFill/>
          </p:spPr>
          <p:txBody>
            <a:bodyPr wrap="none" rtlCol="0">
              <a:spAutoFit/>
            </a:bodyPr>
            <a:lstStyle/>
            <a:p>
              <a:r>
                <a:rPr lang="en-US" sz="2400"/>
                <a:t>F</a:t>
              </a:r>
            </a:p>
          </p:txBody>
        </p:sp>
      </p:grpSp>
      <p:cxnSp>
        <p:nvCxnSpPr>
          <p:cNvPr id="34" name="Straight Connector 33">
            <a:extLst>
              <a:ext uri="{FF2B5EF4-FFF2-40B4-BE49-F238E27FC236}">
                <a16:creationId xmlns:a16="http://schemas.microsoft.com/office/drawing/2014/main" id="{D5291F5C-2FC6-481D-9391-5E2F5F892549}"/>
              </a:ext>
            </a:extLst>
          </p:cNvPr>
          <p:cNvCxnSpPr>
            <a:stCxn id="7" idx="3"/>
            <a:endCxn id="16" idx="7"/>
          </p:cNvCxnSpPr>
          <p:nvPr/>
        </p:nvCxnSpPr>
        <p:spPr bwMode="auto">
          <a:xfrm flipH="1">
            <a:off x="5553736" y="1962153"/>
            <a:ext cx="638635" cy="57699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a:extLst>
              <a:ext uri="{FF2B5EF4-FFF2-40B4-BE49-F238E27FC236}">
                <a16:creationId xmlns:a16="http://schemas.microsoft.com/office/drawing/2014/main" id="{97CF1218-1F21-4359-977E-8681FAA19A5A}"/>
              </a:ext>
            </a:extLst>
          </p:cNvPr>
          <p:cNvCxnSpPr>
            <a:stCxn id="7" idx="5"/>
            <a:endCxn id="19" idx="1"/>
          </p:cNvCxnSpPr>
          <p:nvPr/>
        </p:nvCxnSpPr>
        <p:spPr bwMode="auto">
          <a:xfrm>
            <a:off x="6642797" y="1962153"/>
            <a:ext cx="690005" cy="57699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a:extLst>
              <a:ext uri="{FF2B5EF4-FFF2-40B4-BE49-F238E27FC236}">
                <a16:creationId xmlns:a16="http://schemas.microsoft.com/office/drawing/2014/main" id="{3BB6340D-B5F0-4186-B00B-B60695F1E6C5}"/>
              </a:ext>
            </a:extLst>
          </p:cNvPr>
          <p:cNvCxnSpPr>
            <a:stCxn id="16" idx="5"/>
            <a:endCxn id="22" idx="0"/>
          </p:cNvCxnSpPr>
          <p:nvPr/>
        </p:nvCxnSpPr>
        <p:spPr bwMode="auto">
          <a:xfrm>
            <a:off x="5553736" y="2989569"/>
            <a:ext cx="432333" cy="645637"/>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DDFBFF49-0F1E-4D37-9118-3F257584D5DA}"/>
              </a:ext>
            </a:extLst>
          </p:cNvPr>
          <p:cNvCxnSpPr>
            <a:endCxn id="31" idx="7"/>
          </p:cNvCxnSpPr>
          <p:nvPr/>
        </p:nvCxnSpPr>
        <p:spPr bwMode="auto">
          <a:xfrm flipH="1">
            <a:off x="4736247" y="2982556"/>
            <a:ext cx="360982" cy="39244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DF37F9A5-AF8F-4829-A37B-0F3C08F3A165}"/>
              </a:ext>
            </a:extLst>
          </p:cNvPr>
          <p:cNvCxnSpPr>
            <a:cxnSpLocks/>
            <a:stCxn id="19" idx="4"/>
            <a:endCxn id="25" idx="1"/>
          </p:cNvCxnSpPr>
          <p:nvPr/>
        </p:nvCxnSpPr>
        <p:spPr bwMode="auto">
          <a:xfrm flipH="1">
            <a:off x="7041126" y="3082855"/>
            <a:ext cx="516889" cy="666154"/>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47">
            <a:extLst>
              <a:ext uri="{FF2B5EF4-FFF2-40B4-BE49-F238E27FC236}">
                <a16:creationId xmlns:a16="http://schemas.microsoft.com/office/drawing/2014/main" id="{0E2CA10E-C4F4-41EB-829F-BDF12D7E5736}"/>
              </a:ext>
            </a:extLst>
          </p:cNvPr>
          <p:cNvCxnSpPr>
            <a:stCxn id="25" idx="4"/>
            <a:endCxn id="28" idx="7"/>
          </p:cNvCxnSpPr>
          <p:nvPr/>
        </p:nvCxnSpPr>
        <p:spPr bwMode="auto">
          <a:xfrm>
            <a:off x="7266339" y="4292721"/>
            <a:ext cx="657295" cy="490822"/>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TextBox 49">
            <a:extLst>
              <a:ext uri="{FF2B5EF4-FFF2-40B4-BE49-F238E27FC236}">
                <a16:creationId xmlns:a16="http://schemas.microsoft.com/office/drawing/2014/main" id="{67022AE5-98EE-4E2E-A464-2DAC4511C8F1}"/>
              </a:ext>
            </a:extLst>
          </p:cNvPr>
          <p:cNvSpPr txBox="1"/>
          <p:nvPr/>
        </p:nvSpPr>
        <p:spPr>
          <a:xfrm>
            <a:off x="5268084" y="1269655"/>
            <a:ext cx="372218" cy="461665"/>
          </a:xfrm>
          <a:prstGeom prst="rect">
            <a:avLst/>
          </a:prstGeom>
          <a:noFill/>
        </p:spPr>
        <p:txBody>
          <a:bodyPr wrap="none" rtlCol="0">
            <a:spAutoFit/>
          </a:bodyPr>
          <a:lstStyle/>
          <a:p>
            <a:r>
              <a:rPr lang="en-US" sz="2400"/>
              <a:t>T</a:t>
            </a:r>
          </a:p>
        </p:txBody>
      </p:sp>
      <p:cxnSp>
        <p:nvCxnSpPr>
          <p:cNvPr id="52" name="Straight Arrow Connector 51">
            <a:extLst>
              <a:ext uri="{FF2B5EF4-FFF2-40B4-BE49-F238E27FC236}">
                <a16:creationId xmlns:a16="http://schemas.microsoft.com/office/drawing/2014/main" id="{E85070D0-BF45-4C22-AD51-A139E8C9587C}"/>
              </a:ext>
            </a:extLst>
          </p:cNvPr>
          <p:cNvCxnSpPr>
            <a:stCxn id="50" idx="3"/>
            <a:endCxn id="8" idx="1"/>
          </p:cNvCxnSpPr>
          <p:nvPr/>
        </p:nvCxnSpPr>
        <p:spPr bwMode="auto">
          <a:xfrm>
            <a:off x="5640302" y="1500488"/>
            <a:ext cx="458783" cy="236452"/>
          </a:xfrm>
          <a:prstGeom prst="straightConnector1">
            <a:avLst/>
          </a:prstGeom>
          <a:solidFill>
            <a:schemeClr val="accent1"/>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Box 2">
            <a:extLst>
              <a:ext uri="{FF2B5EF4-FFF2-40B4-BE49-F238E27FC236}">
                <a16:creationId xmlns:a16="http://schemas.microsoft.com/office/drawing/2014/main" id="{F49E35E7-071F-4005-922A-DF9A77380998}"/>
              </a:ext>
            </a:extLst>
          </p:cNvPr>
          <p:cNvSpPr txBox="1"/>
          <p:nvPr/>
        </p:nvSpPr>
        <p:spPr>
          <a:xfrm>
            <a:off x="457200" y="1731320"/>
            <a:ext cx="4132686" cy="2677656"/>
          </a:xfrm>
          <a:prstGeom prst="rect">
            <a:avLst/>
          </a:prstGeom>
          <a:noFill/>
        </p:spPr>
        <p:txBody>
          <a:bodyPr wrap="square" rtlCol="0">
            <a:spAutoFit/>
          </a:bodyPr>
          <a:lstStyle/>
          <a:p>
            <a:r>
              <a:rPr lang="en-US" sz="2800"/>
              <a:t>Trước: A B F D C E G</a:t>
            </a:r>
          </a:p>
          <a:p>
            <a:endParaRPr lang="en-US" sz="2800" b="0" i="0">
              <a:effectLst/>
              <a:latin typeface="Segoe UI" panose="020B0502040204020203" pitchFamily="34" charset="0"/>
            </a:endParaRPr>
          </a:p>
          <a:p>
            <a:r>
              <a:rPr lang="en-US" sz="2800" b="0" i="0">
                <a:effectLst/>
                <a:latin typeface="Segoe UI" panose="020B0502040204020203" pitchFamily="34" charset="0"/>
              </a:rPr>
              <a:t>Giữa: F B D A E G C</a:t>
            </a:r>
          </a:p>
          <a:p>
            <a:endParaRPr lang="en-US" sz="2800" b="0" i="0">
              <a:effectLst/>
              <a:latin typeface="Segoe UI" panose="020B0502040204020203" pitchFamily="34" charset="0"/>
            </a:endParaRPr>
          </a:p>
          <a:p>
            <a:r>
              <a:rPr lang="en-US" sz="2800" b="0" i="0">
                <a:effectLst/>
                <a:latin typeface="Segoe UI" panose="020B0502040204020203" pitchFamily="34" charset="0"/>
              </a:rPr>
              <a:t>Sau: F D B G E C A</a:t>
            </a:r>
          </a:p>
          <a:p>
            <a:endParaRPr lang="en-US" sz="2800"/>
          </a:p>
        </p:txBody>
      </p:sp>
    </p:spTree>
    <p:extLst>
      <p:ext uri="{BB962C8B-B14F-4D97-AF65-F5344CB8AC3E}">
        <p14:creationId xmlns:p14="http://schemas.microsoft.com/office/powerpoint/2010/main" val="922505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1339863-763B-421B-A346-8F9AB8AEE9FA}"/>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C4630EAF-09A5-4C50-855E-9CEE922BB6CB}"/>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48162" name="Rectangle 2">
            <a:extLst>
              <a:ext uri="{FF2B5EF4-FFF2-40B4-BE49-F238E27FC236}">
                <a16:creationId xmlns:a16="http://schemas.microsoft.com/office/drawing/2014/main" id="{36F39BF5-6DBF-4AEC-AE64-988E5F9FBC1F}"/>
              </a:ext>
            </a:extLst>
          </p:cNvPr>
          <p:cNvSpPr>
            <a:spLocks noGrp="1" noChangeArrowheads="1"/>
          </p:cNvSpPr>
          <p:nvPr>
            <p:ph type="title"/>
          </p:nvPr>
        </p:nvSpPr>
        <p:spPr/>
        <p:txBody>
          <a:bodyPr/>
          <a:lstStyle/>
          <a:p>
            <a:pPr eaLnBrk="1" hangingPunct="1">
              <a:defRPr/>
            </a:pPr>
            <a:r>
              <a:rPr lang="en-US"/>
              <a:t>Ví dụ với cây nhị phân sau:</a:t>
            </a:r>
          </a:p>
        </p:txBody>
      </p:sp>
      <p:sp>
        <p:nvSpPr>
          <p:cNvPr id="348165" name="Rectangle 5">
            <a:extLst>
              <a:ext uri="{FF2B5EF4-FFF2-40B4-BE49-F238E27FC236}">
                <a16:creationId xmlns:a16="http://schemas.microsoft.com/office/drawing/2014/main" id="{FD66BED5-2455-4939-8F0D-BCB22DC54F37}"/>
              </a:ext>
            </a:extLst>
          </p:cNvPr>
          <p:cNvSpPr>
            <a:spLocks noGrp="1" noChangeArrowheads="1"/>
          </p:cNvSpPr>
          <p:nvPr>
            <p:ph type="body" sz="half" idx="2"/>
          </p:nvPr>
        </p:nvSpPr>
        <p:spPr>
          <a:xfrm>
            <a:off x="457200" y="4403725"/>
            <a:ext cx="8229600" cy="1868488"/>
          </a:xfrm>
        </p:spPr>
        <p:txBody>
          <a:bodyPr/>
          <a:lstStyle/>
          <a:p>
            <a:pPr eaLnBrk="1" hangingPunct="1">
              <a:defRPr/>
            </a:pPr>
            <a:r>
              <a:rPr lang="en-US" sz="2800"/>
              <a:t>Duyệt theo thứ tự trước: A B D E C F G</a:t>
            </a:r>
          </a:p>
          <a:p>
            <a:pPr eaLnBrk="1" hangingPunct="1">
              <a:defRPr/>
            </a:pPr>
            <a:r>
              <a:rPr lang="en-US" sz="2800"/>
              <a:t>Duyệt theo thứ tự giữa: D B E A F C G</a:t>
            </a:r>
          </a:p>
          <a:p>
            <a:pPr eaLnBrk="1" hangingPunct="1">
              <a:defRPr/>
            </a:pPr>
            <a:r>
              <a:rPr lang="en-US" sz="2800"/>
              <a:t>Duyệt theo thứ tự sau: D E B F G C A </a:t>
            </a:r>
          </a:p>
        </p:txBody>
      </p:sp>
      <p:pic>
        <p:nvPicPr>
          <p:cNvPr id="27654" name="Picture 6">
            <a:extLst>
              <a:ext uri="{FF2B5EF4-FFF2-40B4-BE49-F238E27FC236}">
                <a16:creationId xmlns:a16="http://schemas.microsoft.com/office/drawing/2014/main" id="{F4F731E3-859F-4345-985C-01BCDD0DEFA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146300" y="3433763"/>
            <a:ext cx="5635625" cy="2667000"/>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856E705-559B-41EA-994A-475FF4FBB6CB}"/>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30D9749B-1632-484E-8B86-F3DDB9C706B4}" type="slidenum">
              <a:rPr lang="en-US" altLang="en-US" sz="1000" smtClean="0"/>
              <a:pPr>
                <a:spcBef>
                  <a:spcPct val="0"/>
                </a:spcBef>
                <a:buClrTx/>
                <a:buSzTx/>
                <a:buFontTx/>
                <a:buNone/>
                <a:defRPr/>
              </a:pPr>
              <a:t>27</a:t>
            </a:fld>
            <a:endParaRPr lang="en-US" altLang="en-US" sz="1000"/>
          </a:p>
        </p:txBody>
      </p:sp>
      <p:sp>
        <p:nvSpPr>
          <p:cNvPr id="3" name="TextBox 2">
            <a:extLst>
              <a:ext uri="{FF2B5EF4-FFF2-40B4-BE49-F238E27FC236}">
                <a16:creationId xmlns:a16="http://schemas.microsoft.com/office/drawing/2014/main" id="{A0927770-25CD-4061-8E09-55AED24F81BD}"/>
              </a:ext>
            </a:extLst>
          </p:cNvPr>
          <p:cNvSpPr txBox="1"/>
          <p:nvPr/>
        </p:nvSpPr>
        <p:spPr>
          <a:xfrm>
            <a:off x="1828800" y="1910080"/>
            <a:ext cx="3870960" cy="646331"/>
          </a:xfrm>
          <a:prstGeom prst="rect">
            <a:avLst/>
          </a:prstGeom>
          <a:noFill/>
        </p:spPr>
        <p:txBody>
          <a:bodyPr wrap="square" rtlCol="0">
            <a:spAutoFit/>
          </a:bodyPr>
          <a:lstStyle/>
          <a:p>
            <a:r>
              <a:rPr lang="en-US"/>
              <a:t>Tr</a:t>
            </a:r>
            <a:r>
              <a:rPr lang="vi-VN"/>
              <a:t>ư</a:t>
            </a:r>
            <a:r>
              <a:rPr lang="en-US"/>
              <a:t>ớc: </a:t>
            </a:r>
            <a:r>
              <a:rPr lang="pt-BR"/>
              <a:t>a b d e c f d</a:t>
            </a:r>
            <a:endParaRPr lang="en-US"/>
          </a:p>
          <a:p>
            <a:r>
              <a:rPr lang="pt-BR"/>
              <a:t>A  B  D  E  C  F  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3E5CB86-1F02-4988-A159-078085F91E27}"/>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97FB93C4-A5F7-4B26-8ADB-D9764D010A54}"/>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0210" name="Rectangle 2">
            <a:extLst>
              <a:ext uri="{FF2B5EF4-FFF2-40B4-BE49-F238E27FC236}">
                <a16:creationId xmlns:a16="http://schemas.microsoft.com/office/drawing/2014/main" id="{3CD0652E-18C2-4105-8F48-372645CF471A}"/>
              </a:ext>
            </a:extLst>
          </p:cNvPr>
          <p:cNvSpPr>
            <a:spLocks noGrp="1" noChangeArrowheads="1"/>
          </p:cNvSpPr>
          <p:nvPr>
            <p:ph type="title"/>
          </p:nvPr>
        </p:nvSpPr>
        <p:spPr/>
        <p:txBody>
          <a:bodyPr/>
          <a:lstStyle/>
          <a:p>
            <a:pPr eaLnBrk="1" hangingPunct="1">
              <a:defRPr/>
            </a:pPr>
            <a:r>
              <a:rPr lang="en-US"/>
              <a:t>2.3. Duyệt cây nhị phân (</a:t>
            </a:r>
            <a:r>
              <a:rPr lang="en-US" i="1"/>
              <a:t>tiếp</a:t>
            </a:r>
            <a:r>
              <a:rPr lang="en-US"/>
              <a:t>)</a:t>
            </a:r>
          </a:p>
        </p:txBody>
      </p:sp>
      <p:sp>
        <p:nvSpPr>
          <p:cNvPr id="350211" name="Rectangle 3">
            <a:extLst>
              <a:ext uri="{FF2B5EF4-FFF2-40B4-BE49-F238E27FC236}">
                <a16:creationId xmlns:a16="http://schemas.microsoft.com/office/drawing/2014/main" id="{7BE34893-BD8D-4245-B819-7995D1A918A6}"/>
              </a:ext>
            </a:extLst>
          </p:cNvPr>
          <p:cNvSpPr>
            <a:spLocks noGrp="1" noChangeArrowheads="1"/>
          </p:cNvSpPr>
          <p:nvPr>
            <p:ph type="body" idx="1"/>
          </p:nvPr>
        </p:nvSpPr>
        <p:spPr/>
        <p:txBody>
          <a:bodyPr/>
          <a:lstStyle/>
          <a:p>
            <a:pPr eaLnBrk="1" hangingPunct="1">
              <a:defRPr/>
            </a:pPr>
            <a:r>
              <a:rPr lang="en-US"/>
              <a:t>Các thủ tục duyệt cây nhị phân đều được viết ở dạng đệ quy với cấu trúc lưu trữ phân tán.</a:t>
            </a:r>
          </a:p>
          <a:p>
            <a:pPr eaLnBrk="1" hangingPunct="1">
              <a:defRPr/>
            </a:pPr>
            <a:r>
              <a:rPr lang="en-US"/>
              <a:t>Cho cây nhị phân lưu trữ phân tán, T là con trỏ trỏ tới gốc, phép thăm là đưa ra giá trị trường infor của nút đó.</a:t>
            </a:r>
          </a:p>
        </p:txBody>
      </p:sp>
      <p:sp>
        <p:nvSpPr>
          <p:cNvPr id="2" name="Slide Number Placeholder 1">
            <a:extLst>
              <a:ext uri="{FF2B5EF4-FFF2-40B4-BE49-F238E27FC236}">
                <a16:creationId xmlns:a16="http://schemas.microsoft.com/office/drawing/2014/main" id="{368AC574-997B-4D9A-B000-8715BE888B60}"/>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520CF368-4914-4679-8DA3-22F1317A5B27}" type="slidenum">
              <a:rPr lang="en-US" altLang="en-US" sz="1000" smtClean="0"/>
              <a:pPr>
                <a:spcBef>
                  <a:spcPct val="0"/>
                </a:spcBef>
                <a:buClrTx/>
                <a:buSzTx/>
                <a:buFontTx/>
                <a:buNone/>
                <a:defRPr/>
              </a:pPr>
              <a:t>28</a:t>
            </a:fld>
            <a:endParaRPr lang="en-US" altLang="en-US"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11B5347-464F-45B4-BBED-9BE4C9B4C862}"/>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11F8EAAC-599A-428B-8240-B9A5215280E1}"/>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1234" name="Rectangle 2">
            <a:extLst>
              <a:ext uri="{FF2B5EF4-FFF2-40B4-BE49-F238E27FC236}">
                <a16:creationId xmlns:a16="http://schemas.microsoft.com/office/drawing/2014/main" id="{6B6A7742-3231-42CD-8AF0-8D74D95D9A6F}"/>
              </a:ext>
            </a:extLst>
          </p:cNvPr>
          <p:cNvSpPr>
            <a:spLocks noGrp="1" noChangeArrowheads="1"/>
          </p:cNvSpPr>
          <p:nvPr>
            <p:ph type="title"/>
          </p:nvPr>
        </p:nvSpPr>
        <p:spPr/>
        <p:txBody>
          <a:bodyPr/>
          <a:lstStyle/>
          <a:p>
            <a:pPr eaLnBrk="1" hangingPunct="1">
              <a:defRPr/>
            </a:pPr>
            <a:r>
              <a:rPr lang="en-US"/>
              <a:t>Duyệt cây theo thứ tự trước</a:t>
            </a:r>
          </a:p>
        </p:txBody>
      </p:sp>
      <p:sp>
        <p:nvSpPr>
          <p:cNvPr id="351235" name="Rectangle 3">
            <a:extLst>
              <a:ext uri="{FF2B5EF4-FFF2-40B4-BE49-F238E27FC236}">
                <a16:creationId xmlns:a16="http://schemas.microsoft.com/office/drawing/2014/main" id="{7709D324-8628-418F-B514-69F78FCBE06F}"/>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en-US" sz="2800" dirty="0"/>
              <a:t>	Procedure </a:t>
            </a:r>
            <a:r>
              <a:rPr lang="en-US" sz="2800" dirty="0" err="1"/>
              <a:t>preOrder</a:t>
            </a:r>
            <a:r>
              <a:rPr lang="en-US" sz="2800" dirty="0"/>
              <a:t>(T)</a:t>
            </a:r>
          </a:p>
          <a:p>
            <a:pPr eaLnBrk="1" hangingPunct="1">
              <a:lnSpc>
                <a:spcPct val="90000"/>
              </a:lnSpc>
              <a:buFont typeface="Wingdings" panose="05000000000000000000" pitchFamily="2" charset="2"/>
              <a:buNone/>
              <a:defRPr/>
            </a:pPr>
            <a:r>
              <a:rPr lang="en-US" sz="2800" dirty="0"/>
              <a:t>	  If  T = </a:t>
            </a:r>
            <a:r>
              <a:rPr lang="en-US" sz="2800" dirty="0">
                <a:sym typeface="Symbol"/>
              </a:rPr>
              <a:t></a:t>
            </a:r>
            <a:r>
              <a:rPr lang="en-US" sz="2800" dirty="0"/>
              <a:t>  then</a:t>
            </a:r>
          </a:p>
          <a:p>
            <a:pPr eaLnBrk="1" hangingPunct="1">
              <a:lnSpc>
                <a:spcPct val="90000"/>
              </a:lnSpc>
              <a:buFont typeface="Wingdings" panose="05000000000000000000" pitchFamily="2" charset="2"/>
              <a:buNone/>
              <a:defRPr/>
            </a:pPr>
            <a:r>
              <a:rPr lang="en-US" sz="2800" dirty="0"/>
              <a:t>		Return</a:t>
            </a:r>
          </a:p>
          <a:p>
            <a:pPr eaLnBrk="1" hangingPunct="1">
              <a:lnSpc>
                <a:spcPct val="90000"/>
              </a:lnSpc>
              <a:buFont typeface="Wingdings" panose="05000000000000000000" pitchFamily="2" charset="2"/>
              <a:buNone/>
              <a:defRPr/>
            </a:pPr>
            <a:r>
              <a:rPr lang="en-US" sz="2800" dirty="0"/>
              <a:t>	</a:t>
            </a:r>
            <a:r>
              <a:rPr lang="en-US" sz="2800"/>
              <a:t>  Else</a:t>
            </a:r>
          </a:p>
          <a:p>
            <a:pPr eaLnBrk="1" hangingPunct="1">
              <a:lnSpc>
                <a:spcPct val="90000"/>
              </a:lnSpc>
              <a:buFont typeface="Wingdings" panose="05000000000000000000" pitchFamily="2" charset="2"/>
              <a:buNone/>
              <a:defRPr/>
            </a:pPr>
            <a:r>
              <a:rPr lang="en-US" sz="2800"/>
              <a:t>		Begin</a:t>
            </a:r>
            <a:endParaRPr lang="en-US" sz="2800" dirty="0"/>
          </a:p>
          <a:p>
            <a:pPr eaLnBrk="1" hangingPunct="1">
              <a:lnSpc>
                <a:spcPct val="90000"/>
              </a:lnSpc>
              <a:buFont typeface="Wingdings" panose="05000000000000000000" pitchFamily="2" charset="2"/>
              <a:buNone/>
              <a:defRPr/>
            </a:pPr>
            <a:r>
              <a:rPr lang="en-US" sz="2800" dirty="0"/>
              <a:t>	</a:t>
            </a:r>
            <a:r>
              <a:rPr lang="en-US" sz="2800"/>
              <a:t>	     Write</a:t>
            </a:r>
            <a:r>
              <a:rPr lang="en-US" sz="2800" dirty="0"/>
              <a:t>(</a:t>
            </a:r>
            <a:r>
              <a:rPr lang="en-US" sz="2800" dirty="0" err="1"/>
              <a:t>infor</a:t>
            </a:r>
            <a:r>
              <a:rPr lang="en-US" sz="2800" dirty="0"/>
              <a:t>(T))</a:t>
            </a:r>
          </a:p>
          <a:p>
            <a:pPr eaLnBrk="1" hangingPunct="1">
              <a:lnSpc>
                <a:spcPct val="90000"/>
              </a:lnSpc>
              <a:buFont typeface="Wingdings" panose="05000000000000000000" pitchFamily="2" charset="2"/>
              <a:buNone/>
              <a:defRPr/>
            </a:pPr>
            <a:r>
              <a:rPr lang="en-US" sz="2800" dirty="0"/>
              <a:t>	</a:t>
            </a:r>
            <a:r>
              <a:rPr lang="en-US" sz="2800"/>
              <a:t>	     Call  </a:t>
            </a:r>
            <a:r>
              <a:rPr lang="en-US" sz="2800" err="1"/>
              <a:t>preOrder</a:t>
            </a:r>
            <a:r>
              <a:rPr lang="en-US" sz="2800"/>
              <a:t>(left(</a:t>
            </a:r>
            <a:r>
              <a:rPr lang="en-US" sz="2800" dirty="0"/>
              <a:t>T))</a:t>
            </a:r>
          </a:p>
          <a:p>
            <a:pPr eaLnBrk="1" hangingPunct="1">
              <a:lnSpc>
                <a:spcPct val="90000"/>
              </a:lnSpc>
              <a:buFont typeface="Wingdings" panose="05000000000000000000" pitchFamily="2" charset="2"/>
              <a:buNone/>
              <a:defRPr/>
            </a:pPr>
            <a:r>
              <a:rPr lang="en-US" sz="2800" dirty="0"/>
              <a:t>	</a:t>
            </a:r>
            <a:r>
              <a:rPr lang="en-US" sz="2800"/>
              <a:t>	     Call  </a:t>
            </a:r>
            <a:r>
              <a:rPr lang="en-US" sz="2800" err="1"/>
              <a:t>preOrder</a:t>
            </a:r>
            <a:r>
              <a:rPr lang="en-US" sz="2800"/>
              <a:t>(right(</a:t>
            </a:r>
            <a:r>
              <a:rPr lang="en-US" sz="2800" dirty="0"/>
              <a:t>T))</a:t>
            </a:r>
          </a:p>
          <a:p>
            <a:pPr eaLnBrk="1" hangingPunct="1">
              <a:lnSpc>
                <a:spcPct val="90000"/>
              </a:lnSpc>
              <a:buFont typeface="Wingdings" panose="05000000000000000000" pitchFamily="2" charset="2"/>
              <a:buNone/>
              <a:defRPr/>
            </a:pPr>
            <a:r>
              <a:rPr lang="en-US" sz="2800" dirty="0"/>
              <a:t>	</a:t>
            </a:r>
            <a:r>
              <a:rPr lang="en-US" sz="2800"/>
              <a:t>      End</a:t>
            </a:r>
            <a:r>
              <a:rPr lang="en-US" sz="2800" dirty="0"/>
              <a:t>;</a:t>
            </a:r>
          </a:p>
          <a:p>
            <a:pPr eaLnBrk="1" hangingPunct="1">
              <a:lnSpc>
                <a:spcPct val="90000"/>
              </a:lnSpc>
              <a:buFont typeface="Wingdings" panose="05000000000000000000" pitchFamily="2" charset="2"/>
              <a:buNone/>
              <a:defRPr/>
            </a:pPr>
            <a:r>
              <a:rPr lang="en-US" sz="2800" dirty="0"/>
              <a:t>	Return</a:t>
            </a:r>
          </a:p>
        </p:txBody>
      </p:sp>
      <p:sp>
        <p:nvSpPr>
          <p:cNvPr id="2" name="Slide Number Placeholder 1">
            <a:extLst>
              <a:ext uri="{FF2B5EF4-FFF2-40B4-BE49-F238E27FC236}">
                <a16:creationId xmlns:a16="http://schemas.microsoft.com/office/drawing/2014/main" id="{15431DD1-BFC7-4233-A865-0A986EC05AB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B906122C-2FF8-4C9D-BD68-94440068FFA0}" type="slidenum">
              <a:rPr lang="en-US" altLang="en-US" sz="1000" smtClean="0"/>
              <a:pPr>
                <a:spcBef>
                  <a:spcPct val="0"/>
                </a:spcBef>
                <a:buClrTx/>
                <a:buSzTx/>
                <a:buFontTx/>
                <a:buNone/>
                <a:defRPr/>
              </a:pPr>
              <a:t>29</a:t>
            </a:fld>
            <a:endParaRPr lang="en-US" altLang="en-US"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98A933-26A8-406C-8B6E-40A19090257A}"/>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2ED6D318-3A1B-43ED-BF7C-05C4FC548BC8}"/>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2258" name="Rectangle 2">
            <a:extLst>
              <a:ext uri="{FF2B5EF4-FFF2-40B4-BE49-F238E27FC236}">
                <a16:creationId xmlns:a16="http://schemas.microsoft.com/office/drawing/2014/main" id="{27DE03EE-864C-4FBC-B828-AF0D33C70D02}"/>
              </a:ext>
            </a:extLst>
          </p:cNvPr>
          <p:cNvSpPr>
            <a:spLocks noGrp="1" noChangeArrowheads="1"/>
          </p:cNvSpPr>
          <p:nvPr>
            <p:ph type="title"/>
          </p:nvPr>
        </p:nvSpPr>
        <p:spPr/>
        <p:txBody>
          <a:bodyPr/>
          <a:lstStyle/>
          <a:p>
            <a:pPr eaLnBrk="1" hangingPunct="1">
              <a:defRPr/>
            </a:pPr>
            <a:r>
              <a:rPr lang="en-US"/>
              <a:t>Duyệt cây theo thứ tự giữa</a:t>
            </a:r>
          </a:p>
        </p:txBody>
      </p:sp>
      <p:sp>
        <p:nvSpPr>
          <p:cNvPr id="352259" name="Rectangle 3">
            <a:extLst>
              <a:ext uri="{FF2B5EF4-FFF2-40B4-BE49-F238E27FC236}">
                <a16:creationId xmlns:a16="http://schemas.microsoft.com/office/drawing/2014/main" id="{F3E759DA-D07F-4FD8-B949-F707BF0406A1}"/>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en-US" sz="2400" dirty="0"/>
              <a:t>	Procedure </a:t>
            </a:r>
            <a:r>
              <a:rPr lang="en-US" sz="2400" dirty="0" err="1"/>
              <a:t>inOrder</a:t>
            </a:r>
            <a:r>
              <a:rPr lang="en-US" sz="2400" dirty="0"/>
              <a:t>(T)</a:t>
            </a:r>
          </a:p>
          <a:p>
            <a:pPr eaLnBrk="1" hangingPunct="1">
              <a:lnSpc>
                <a:spcPct val="90000"/>
              </a:lnSpc>
              <a:buFont typeface="Wingdings" panose="05000000000000000000" pitchFamily="2" charset="2"/>
              <a:buNone/>
              <a:defRPr/>
            </a:pPr>
            <a:r>
              <a:rPr lang="en-US" sz="2400" dirty="0"/>
              <a:t>	  If  T = </a:t>
            </a:r>
            <a:r>
              <a:rPr lang="en-US" sz="2400">
                <a:sym typeface="Symbol"/>
              </a:rPr>
              <a:t></a:t>
            </a:r>
            <a:r>
              <a:rPr lang="en-US" sz="2400"/>
              <a:t>  then</a:t>
            </a:r>
            <a:endParaRPr lang="en-US" sz="2400" dirty="0"/>
          </a:p>
          <a:p>
            <a:pPr eaLnBrk="1" hangingPunct="1">
              <a:lnSpc>
                <a:spcPct val="90000"/>
              </a:lnSpc>
              <a:buFont typeface="Wingdings" panose="05000000000000000000" pitchFamily="2" charset="2"/>
              <a:buNone/>
              <a:defRPr/>
            </a:pPr>
            <a:r>
              <a:rPr lang="en-US" sz="2400" dirty="0"/>
              <a:t>		Return</a:t>
            </a:r>
          </a:p>
          <a:p>
            <a:pPr eaLnBrk="1" hangingPunct="1">
              <a:lnSpc>
                <a:spcPct val="90000"/>
              </a:lnSpc>
              <a:buFont typeface="Wingdings" panose="05000000000000000000" pitchFamily="2" charset="2"/>
              <a:buNone/>
              <a:defRPr/>
            </a:pPr>
            <a:r>
              <a:rPr lang="en-US" sz="2400" dirty="0"/>
              <a:t>	</a:t>
            </a:r>
            <a:r>
              <a:rPr lang="en-US" sz="2400"/>
              <a:t>  Else</a:t>
            </a:r>
          </a:p>
          <a:p>
            <a:pPr eaLnBrk="1" hangingPunct="1">
              <a:lnSpc>
                <a:spcPct val="90000"/>
              </a:lnSpc>
              <a:buFont typeface="Wingdings" panose="05000000000000000000" pitchFamily="2" charset="2"/>
              <a:buNone/>
              <a:defRPr/>
            </a:pPr>
            <a:r>
              <a:rPr lang="en-US" sz="2400"/>
              <a:t>		Begin</a:t>
            </a:r>
            <a:endParaRPr lang="en-US" sz="2400" dirty="0"/>
          </a:p>
          <a:p>
            <a:pPr eaLnBrk="1" hangingPunct="1">
              <a:lnSpc>
                <a:spcPct val="90000"/>
              </a:lnSpc>
              <a:buFont typeface="Wingdings" panose="05000000000000000000" pitchFamily="2" charset="2"/>
              <a:buNone/>
              <a:defRPr/>
            </a:pPr>
            <a:r>
              <a:rPr lang="en-US" sz="2400" dirty="0"/>
              <a:t>	</a:t>
            </a:r>
            <a:r>
              <a:rPr lang="en-US" sz="2400"/>
              <a:t>	     Call  </a:t>
            </a:r>
            <a:r>
              <a:rPr lang="en-US" sz="2400" err="1"/>
              <a:t>inOrder</a:t>
            </a:r>
            <a:r>
              <a:rPr lang="en-US" sz="2400"/>
              <a:t>(left(</a:t>
            </a:r>
            <a:r>
              <a:rPr lang="en-US" sz="2400" dirty="0"/>
              <a:t>T))</a:t>
            </a:r>
          </a:p>
          <a:p>
            <a:pPr eaLnBrk="1" hangingPunct="1">
              <a:lnSpc>
                <a:spcPct val="90000"/>
              </a:lnSpc>
              <a:buFont typeface="Wingdings" panose="05000000000000000000" pitchFamily="2" charset="2"/>
              <a:buNone/>
              <a:defRPr/>
            </a:pPr>
            <a:r>
              <a:rPr lang="en-US" sz="2400" dirty="0"/>
              <a:t>	</a:t>
            </a:r>
            <a:r>
              <a:rPr lang="en-US" sz="2400"/>
              <a:t>	     Write</a:t>
            </a:r>
            <a:r>
              <a:rPr lang="en-US" sz="2400" dirty="0"/>
              <a:t>(</a:t>
            </a:r>
            <a:r>
              <a:rPr lang="en-US" sz="2400" dirty="0" err="1"/>
              <a:t>infor</a:t>
            </a:r>
            <a:r>
              <a:rPr lang="en-US" sz="2400" dirty="0"/>
              <a:t>(T))</a:t>
            </a:r>
          </a:p>
          <a:p>
            <a:pPr eaLnBrk="1" hangingPunct="1">
              <a:lnSpc>
                <a:spcPct val="90000"/>
              </a:lnSpc>
              <a:buFont typeface="Wingdings" panose="05000000000000000000" pitchFamily="2" charset="2"/>
              <a:buNone/>
              <a:defRPr/>
            </a:pPr>
            <a:r>
              <a:rPr lang="en-US" sz="2400" dirty="0"/>
              <a:t>	</a:t>
            </a:r>
            <a:r>
              <a:rPr lang="en-US" sz="2400"/>
              <a:t>	     Call  </a:t>
            </a:r>
            <a:r>
              <a:rPr lang="en-US" sz="2400" err="1"/>
              <a:t>inOrder</a:t>
            </a:r>
            <a:r>
              <a:rPr lang="en-US" sz="2400"/>
              <a:t>(right(</a:t>
            </a:r>
            <a:r>
              <a:rPr lang="en-US" sz="2400" dirty="0"/>
              <a:t>T))</a:t>
            </a:r>
          </a:p>
          <a:p>
            <a:pPr eaLnBrk="1" hangingPunct="1">
              <a:lnSpc>
                <a:spcPct val="90000"/>
              </a:lnSpc>
              <a:buFont typeface="Wingdings" panose="05000000000000000000" pitchFamily="2" charset="2"/>
              <a:buNone/>
              <a:defRPr/>
            </a:pPr>
            <a:r>
              <a:rPr lang="en-US" sz="2400" dirty="0"/>
              <a:t>	       End;</a:t>
            </a:r>
          </a:p>
          <a:p>
            <a:pPr eaLnBrk="1" hangingPunct="1">
              <a:lnSpc>
                <a:spcPct val="90000"/>
              </a:lnSpc>
              <a:buFont typeface="Wingdings" panose="05000000000000000000" pitchFamily="2" charset="2"/>
              <a:buNone/>
              <a:defRPr/>
            </a:pPr>
            <a:r>
              <a:rPr lang="en-US" sz="2400" dirty="0"/>
              <a:t>	Return</a:t>
            </a:r>
          </a:p>
        </p:txBody>
      </p:sp>
      <p:sp>
        <p:nvSpPr>
          <p:cNvPr id="2" name="Slide Number Placeholder 1">
            <a:extLst>
              <a:ext uri="{FF2B5EF4-FFF2-40B4-BE49-F238E27FC236}">
                <a16:creationId xmlns:a16="http://schemas.microsoft.com/office/drawing/2014/main" id="{0D06A1B4-2C9F-451D-B827-24532CD333F4}"/>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079FA783-269B-45C3-93BB-B181C917157C}" type="slidenum">
              <a:rPr lang="en-US" altLang="en-US" sz="1000" smtClean="0"/>
              <a:pPr>
                <a:spcBef>
                  <a:spcPct val="0"/>
                </a:spcBef>
                <a:buClrTx/>
                <a:buSzTx/>
                <a:buFontTx/>
                <a:buNone/>
                <a:defRPr/>
              </a:pPr>
              <a:t>30</a:t>
            </a:fld>
            <a:endParaRPr lang="en-US" alt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E68C1B11-FC00-40AB-8B15-580269F163A5}"/>
              </a:ext>
            </a:extLst>
          </p:cNvPr>
          <p:cNvSpPr>
            <a:spLocks noGrp="1"/>
          </p:cNvSpPr>
          <p:nvPr>
            <p:ph type="dt" sz="quarter" idx="10"/>
          </p:nvPr>
        </p:nvSpPr>
        <p:spPr/>
        <p:txBody>
          <a:bodyPr/>
          <a:lstStyle/>
          <a:p>
            <a:pPr>
              <a:defRPr/>
            </a:pPr>
            <a:r>
              <a:rPr lang="en-US"/>
              <a:t>Ngô Công Thắng</a:t>
            </a:r>
          </a:p>
        </p:txBody>
      </p:sp>
      <p:sp>
        <p:nvSpPr>
          <p:cNvPr id="6" name="Footer Placeholder 4">
            <a:extLst>
              <a:ext uri="{FF2B5EF4-FFF2-40B4-BE49-F238E27FC236}">
                <a16:creationId xmlns:a16="http://schemas.microsoft.com/office/drawing/2014/main" id="{B1978B3A-A357-45F5-909C-F7E5A65249A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3282" name="Rectangle 2">
            <a:extLst>
              <a:ext uri="{FF2B5EF4-FFF2-40B4-BE49-F238E27FC236}">
                <a16:creationId xmlns:a16="http://schemas.microsoft.com/office/drawing/2014/main" id="{D36A2405-10FB-4944-9181-71AE933F78F0}"/>
              </a:ext>
            </a:extLst>
          </p:cNvPr>
          <p:cNvSpPr>
            <a:spLocks noGrp="1" noChangeArrowheads="1"/>
          </p:cNvSpPr>
          <p:nvPr>
            <p:ph type="title"/>
          </p:nvPr>
        </p:nvSpPr>
        <p:spPr/>
        <p:txBody>
          <a:bodyPr/>
          <a:lstStyle/>
          <a:p>
            <a:pPr eaLnBrk="1" hangingPunct="1">
              <a:defRPr/>
            </a:pPr>
            <a:r>
              <a:rPr lang="en-US"/>
              <a:t>Duyệt cây theo thứ tự sau</a:t>
            </a:r>
          </a:p>
        </p:txBody>
      </p:sp>
      <p:sp>
        <p:nvSpPr>
          <p:cNvPr id="353283" name="Rectangle 3">
            <a:extLst>
              <a:ext uri="{FF2B5EF4-FFF2-40B4-BE49-F238E27FC236}">
                <a16:creationId xmlns:a16="http://schemas.microsoft.com/office/drawing/2014/main" id="{CBBF55BB-2721-423E-BB91-B3A99E238BE7}"/>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en-US" sz="2400" dirty="0"/>
              <a:t>	Procedure </a:t>
            </a:r>
            <a:r>
              <a:rPr lang="en-US" sz="2400" dirty="0" err="1"/>
              <a:t>postOrder</a:t>
            </a:r>
            <a:r>
              <a:rPr lang="en-US" sz="2400" dirty="0"/>
              <a:t>(T)</a:t>
            </a:r>
          </a:p>
          <a:p>
            <a:pPr eaLnBrk="1" hangingPunct="1">
              <a:lnSpc>
                <a:spcPct val="90000"/>
              </a:lnSpc>
              <a:buFont typeface="Wingdings" panose="05000000000000000000" pitchFamily="2" charset="2"/>
              <a:buNone/>
              <a:defRPr/>
            </a:pPr>
            <a:r>
              <a:rPr lang="en-US" sz="2400" dirty="0"/>
              <a:t>	  If  T = </a:t>
            </a:r>
            <a:r>
              <a:rPr lang="en-US" sz="2400">
                <a:sym typeface="Symbol"/>
              </a:rPr>
              <a:t></a:t>
            </a:r>
            <a:r>
              <a:rPr lang="en-US" sz="2400"/>
              <a:t>  then</a:t>
            </a:r>
            <a:endParaRPr lang="en-US" sz="2400" dirty="0"/>
          </a:p>
          <a:p>
            <a:pPr eaLnBrk="1" hangingPunct="1">
              <a:lnSpc>
                <a:spcPct val="90000"/>
              </a:lnSpc>
              <a:buFont typeface="Wingdings" panose="05000000000000000000" pitchFamily="2" charset="2"/>
              <a:buNone/>
              <a:defRPr/>
            </a:pPr>
            <a:r>
              <a:rPr lang="en-US" sz="2400" dirty="0"/>
              <a:t>		Return</a:t>
            </a:r>
          </a:p>
          <a:p>
            <a:pPr eaLnBrk="1" hangingPunct="1">
              <a:lnSpc>
                <a:spcPct val="90000"/>
              </a:lnSpc>
              <a:buFont typeface="Wingdings" panose="05000000000000000000" pitchFamily="2" charset="2"/>
              <a:buNone/>
              <a:defRPr/>
            </a:pPr>
            <a:r>
              <a:rPr lang="en-US" sz="2400" dirty="0"/>
              <a:t>	</a:t>
            </a:r>
            <a:r>
              <a:rPr lang="en-US" sz="2400"/>
              <a:t>  Else</a:t>
            </a:r>
          </a:p>
          <a:p>
            <a:pPr eaLnBrk="1" hangingPunct="1">
              <a:lnSpc>
                <a:spcPct val="90000"/>
              </a:lnSpc>
              <a:buFont typeface="Wingdings" panose="05000000000000000000" pitchFamily="2" charset="2"/>
              <a:buNone/>
              <a:defRPr/>
            </a:pPr>
            <a:r>
              <a:rPr lang="en-US" sz="2400"/>
              <a:t>		Begin</a:t>
            </a:r>
            <a:endParaRPr lang="en-US" sz="2400" dirty="0"/>
          </a:p>
          <a:p>
            <a:pPr eaLnBrk="1" hangingPunct="1">
              <a:lnSpc>
                <a:spcPct val="90000"/>
              </a:lnSpc>
              <a:buFont typeface="Wingdings" panose="05000000000000000000" pitchFamily="2" charset="2"/>
              <a:buNone/>
              <a:defRPr/>
            </a:pPr>
            <a:r>
              <a:rPr lang="en-US" sz="2400" dirty="0"/>
              <a:t>	</a:t>
            </a:r>
            <a:r>
              <a:rPr lang="en-US" sz="2400"/>
              <a:t>	     Call  </a:t>
            </a:r>
            <a:r>
              <a:rPr lang="en-US" sz="2400" err="1"/>
              <a:t>postOrder</a:t>
            </a:r>
            <a:r>
              <a:rPr lang="en-US" sz="2400"/>
              <a:t>(left(</a:t>
            </a:r>
            <a:r>
              <a:rPr lang="en-US" sz="2400" dirty="0"/>
              <a:t>T))</a:t>
            </a:r>
          </a:p>
          <a:p>
            <a:pPr eaLnBrk="1" hangingPunct="1">
              <a:lnSpc>
                <a:spcPct val="90000"/>
              </a:lnSpc>
              <a:buFont typeface="Wingdings" panose="05000000000000000000" pitchFamily="2" charset="2"/>
              <a:buNone/>
              <a:defRPr/>
            </a:pPr>
            <a:r>
              <a:rPr lang="en-US" sz="2400" dirty="0"/>
              <a:t>	</a:t>
            </a:r>
            <a:r>
              <a:rPr lang="en-US" sz="2400"/>
              <a:t>	     Call  </a:t>
            </a:r>
            <a:r>
              <a:rPr lang="en-US" sz="2400" err="1"/>
              <a:t>postOrder</a:t>
            </a:r>
            <a:r>
              <a:rPr lang="en-US" sz="2400"/>
              <a:t>(right(</a:t>
            </a:r>
            <a:r>
              <a:rPr lang="en-US" sz="2400" dirty="0"/>
              <a:t>T))</a:t>
            </a:r>
          </a:p>
          <a:p>
            <a:pPr eaLnBrk="1" hangingPunct="1">
              <a:lnSpc>
                <a:spcPct val="90000"/>
              </a:lnSpc>
              <a:buFont typeface="Wingdings" panose="05000000000000000000" pitchFamily="2" charset="2"/>
              <a:buNone/>
              <a:defRPr/>
            </a:pPr>
            <a:r>
              <a:rPr lang="en-US" sz="2400"/>
              <a:t>		     Write</a:t>
            </a:r>
            <a:r>
              <a:rPr lang="en-US" sz="2400" dirty="0"/>
              <a:t>(</a:t>
            </a:r>
            <a:r>
              <a:rPr lang="en-US" sz="2400" dirty="0" err="1"/>
              <a:t>infor</a:t>
            </a:r>
            <a:r>
              <a:rPr lang="en-US" sz="2400" dirty="0"/>
              <a:t>(T))</a:t>
            </a:r>
          </a:p>
          <a:p>
            <a:pPr eaLnBrk="1" hangingPunct="1">
              <a:lnSpc>
                <a:spcPct val="90000"/>
              </a:lnSpc>
              <a:buFont typeface="Wingdings" panose="05000000000000000000" pitchFamily="2" charset="2"/>
              <a:buNone/>
              <a:defRPr/>
            </a:pPr>
            <a:r>
              <a:rPr lang="en-US" sz="2400" dirty="0"/>
              <a:t>	       End;</a:t>
            </a:r>
          </a:p>
          <a:p>
            <a:pPr eaLnBrk="1" hangingPunct="1">
              <a:lnSpc>
                <a:spcPct val="90000"/>
              </a:lnSpc>
              <a:buFont typeface="Wingdings" panose="05000000000000000000" pitchFamily="2" charset="2"/>
              <a:buNone/>
              <a:defRPr/>
            </a:pPr>
            <a:r>
              <a:rPr lang="en-US" sz="2400" dirty="0"/>
              <a:t>	Return</a:t>
            </a:r>
          </a:p>
        </p:txBody>
      </p:sp>
      <p:sp>
        <p:nvSpPr>
          <p:cNvPr id="31750" name="AutoShape 4">
            <a:hlinkClick r:id="rId2" action="ppaction://hlinksldjump" highlightClick="1"/>
            <a:extLst>
              <a:ext uri="{FF2B5EF4-FFF2-40B4-BE49-F238E27FC236}">
                <a16:creationId xmlns:a16="http://schemas.microsoft.com/office/drawing/2014/main" id="{38038A7C-9C08-4052-8D00-323FD25462CE}"/>
              </a:ext>
            </a:extLst>
          </p:cNvPr>
          <p:cNvSpPr>
            <a:spLocks noChangeArrowheads="1"/>
          </p:cNvSpPr>
          <p:nvPr/>
        </p:nvSpPr>
        <p:spPr bwMode="auto">
          <a:xfrm>
            <a:off x="7646988" y="6227763"/>
            <a:ext cx="450850" cy="438150"/>
          </a:xfrm>
          <a:prstGeom prst="actionButtonHome">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FE368033-CD2F-4AA3-8D68-0FC425985D90}"/>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43F5008A-96C6-478E-9E3A-446E348E9A6E}" type="slidenum">
              <a:rPr lang="en-US" altLang="en-US" sz="1000" smtClean="0"/>
              <a:pPr>
                <a:spcBef>
                  <a:spcPct val="0"/>
                </a:spcBef>
                <a:buClrTx/>
                <a:buSzTx/>
                <a:buFontTx/>
                <a:buNone/>
                <a:defRPr/>
              </a:pPr>
              <a:t>31</a:t>
            </a:fld>
            <a:endParaRPr lang="en-US" alt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83AF03C0-C66D-4130-8E17-E4B437A30FD5}"/>
              </a:ext>
            </a:extLst>
          </p:cNvPr>
          <p:cNvSpPr>
            <a:spLocks noGrp="1" noChangeArrowheads="1"/>
          </p:cNvSpPr>
          <p:nvPr>
            <p:ph type="title"/>
          </p:nvPr>
        </p:nvSpPr>
        <p:spPr/>
        <p:txBody>
          <a:bodyPr/>
          <a:lstStyle/>
          <a:p>
            <a:pPr>
              <a:defRPr/>
            </a:pPr>
            <a:r>
              <a:rPr lang="en-US"/>
              <a:t>Bài tập</a:t>
            </a:r>
          </a:p>
        </p:txBody>
      </p:sp>
      <p:sp>
        <p:nvSpPr>
          <p:cNvPr id="358403" name="Rectangle 3">
            <a:extLst>
              <a:ext uri="{FF2B5EF4-FFF2-40B4-BE49-F238E27FC236}">
                <a16:creationId xmlns:a16="http://schemas.microsoft.com/office/drawing/2014/main" id="{02828718-77EE-4508-898D-071A066B45F5}"/>
              </a:ext>
            </a:extLst>
          </p:cNvPr>
          <p:cNvSpPr>
            <a:spLocks noGrp="1" noChangeArrowheads="1"/>
          </p:cNvSpPr>
          <p:nvPr>
            <p:ph type="body" idx="1"/>
          </p:nvPr>
        </p:nvSpPr>
        <p:spPr/>
        <p:txBody>
          <a:bodyPr/>
          <a:lstStyle/>
          <a:p>
            <a:pPr>
              <a:defRPr/>
            </a:pPr>
            <a:r>
              <a:rPr lang="en-US" dirty="0" err="1"/>
              <a:t>Bài</a:t>
            </a:r>
            <a:r>
              <a:rPr lang="en-US" dirty="0"/>
              <a:t> 1:</a:t>
            </a:r>
          </a:p>
          <a:p>
            <a:pPr lvl="1">
              <a:defRPr/>
            </a:pPr>
            <a:r>
              <a:rPr lang="en-US"/>
              <a:t>Vẽ </a:t>
            </a:r>
            <a:r>
              <a:rPr lang="en-US" dirty="0" err="1"/>
              <a:t>cây</a:t>
            </a:r>
            <a:r>
              <a:rPr lang="en-US" dirty="0"/>
              <a:t> </a:t>
            </a:r>
            <a:r>
              <a:rPr lang="en-US" dirty="0" err="1"/>
              <a:t>nhị</a:t>
            </a:r>
            <a:r>
              <a:rPr lang="en-US" dirty="0"/>
              <a:t> </a:t>
            </a:r>
            <a:r>
              <a:rPr lang="en-US" dirty="0" err="1"/>
              <a:t>phân</a:t>
            </a:r>
            <a:r>
              <a:rPr lang="en-US" dirty="0"/>
              <a:t> </a:t>
            </a:r>
            <a:r>
              <a:rPr lang="en-US" dirty="0" err="1"/>
              <a:t>biểu</a:t>
            </a:r>
            <a:r>
              <a:rPr lang="en-US" dirty="0"/>
              <a:t> </a:t>
            </a:r>
            <a:r>
              <a:rPr lang="en-US" dirty="0" err="1"/>
              <a:t>diễn</a:t>
            </a:r>
            <a:r>
              <a:rPr lang="en-US" dirty="0"/>
              <a:t> </a:t>
            </a:r>
            <a:r>
              <a:rPr lang="en-US" err="1"/>
              <a:t>biểu</a:t>
            </a:r>
            <a:r>
              <a:rPr lang="en-US"/>
              <a:t> thức sau: </a:t>
            </a:r>
            <a:r>
              <a:rPr lang="en-US" dirty="0"/>
              <a:t>(</a:t>
            </a:r>
            <a:r>
              <a:rPr lang="en-US" dirty="0" err="1"/>
              <a:t>a</a:t>
            </a:r>
            <a:r>
              <a:rPr lang="en-US" err="1"/>
              <a:t>+</a:t>
            </a:r>
            <a:r>
              <a:rPr lang="en-US"/>
              <a:t>b)*(c-d) + e/(f-g)</a:t>
            </a:r>
            <a:endParaRPr lang="en-US" dirty="0"/>
          </a:p>
          <a:p>
            <a:pPr lvl="1">
              <a:defRPr/>
            </a:pPr>
            <a:r>
              <a:rPr lang="en-US" dirty="0" err="1"/>
              <a:t>Vẽ</a:t>
            </a:r>
            <a:r>
              <a:rPr lang="en-US" dirty="0"/>
              <a:t> </a:t>
            </a:r>
            <a:r>
              <a:rPr lang="en-US" dirty="0" err="1"/>
              <a:t>sơ</a:t>
            </a:r>
            <a:r>
              <a:rPr lang="en-US" dirty="0"/>
              <a:t> </a:t>
            </a:r>
            <a:r>
              <a:rPr lang="en-US" dirty="0" err="1"/>
              <a:t>đồ</a:t>
            </a:r>
            <a:r>
              <a:rPr lang="en-US" dirty="0"/>
              <a:t> </a:t>
            </a:r>
            <a:r>
              <a:rPr lang="en-US" dirty="0" err="1"/>
              <a:t>lưu</a:t>
            </a:r>
            <a:r>
              <a:rPr lang="en-US" dirty="0"/>
              <a:t> </a:t>
            </a:r>
            <a:r>
              <a:rPr lang="en-US" dirty="0" err="1"/>
              <a:t>trữ</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biểu</a:t>
            </a:r>
            <a:r>
              <a:rPr lang="en-US" dirty="0"/>
              <a:t> </a:t>
            </a:r>
            <a:r>
              <a:rPr lang="en-US" dirty="0" err="1"/>
              <a:t>diễn</a:t>
            </a:r>
            <a:r>
              <a:rPr lang="en-US" dirty="0"/>
              <a:t> </a:t>
            </a:r>
            <a:r>
              <a:rPr lang="en-US" dirty="0" err="1"/>
              <a:t>biểu</a:t>
            </a:r>
            <a:r>
              <a:rPr lang="en-US" dirty="0"/>
              <a:t> </a:t>
            </a:r>
            <a:r>
              <a:rPr lang="en-US" dirty="0" err="1"/>
              <a:t>thức</a:t>
            </a:r>
            <a:r>
              <a:rPr lang="en-US" dirty="0"/>
              <a:t> ở </a:t>
            </a:r>
            <a:r>
              <a:rPr lang="en-US" dirty="0" err="1"/>
              <a:t>dạng</a:t>
            </a:r>
            <a:r>
              <a:rPr lang="en-US" dirty="0"/>
              <a:t> </a:t>
            </a:r>
            <a:r>
              <a:rPr lang="en-US" dirty="0" err="1"/>
              <a:t>lưu</a:t>
            </a:r>
            <a:r>
              <a:rPr lang="en-US" dirty="0"/>
              <a:t> </a:t>
            </a:r>
            <a:r>
              <a:rPr lang="en-US" dirty="0" err="1"/>
              <a:t>trữ</a:t>
            </a:r>
            <a:r>
              <a:rPr lang="en-US" dirty="0"/>
              <a:t> </a:t>
            </a:r>
            <a:r>
              <a:rPr lang="en-US" dirty="0" err="1"/>
              <a:t>kế</a:t>
            </a:r>
            <a:r>
              <a:rPr lang="en-US" dirty="0"/>
              <a:t> </a:t>
            </a:r>
            <a:r>
              <a:rPr lang="en-US" dirty="0" err="1"/>
              <a:t>tiếp</a:t>
            </a:r>
            <a:r>
              <a:rPr lang="en-US" dirty="0"/>
              <a:t>, </a:t>
            </a:r>
            <a:r>
              <a:rPr lang="en-US" dirty="0" err="1"/>
              <a:t>lưu</a:t>
            </a:r>
            <a:r>
              <a:rPr lang="en-US" dirty="0"/>
              <a:t> </a:t>
            </a:r>
            <a:r>
              <a:rPr lang="en-US" dirty="0" err="1"/>
              <a:t>trữ</a:t>
            </a:r>
            <a:r>
              <a:rPr lang="en-US" dirty="0"/>
              <a:t> </a:t>
            </a:r>
            <a:r>
              <a:rPr lang="en-US" dirty="0" err="1"/>
              <a:t>liên</a:t>
            </a:r>
            <a:r>
              <a:rPr lang="en-US" dirty="0"/>
              <a:t> </a:t>
            </a:r>
            <a:r>
              <a:rPr lang="en-US" dirty="0" err="1"/>
              <a:t>kết</a:t>
            </a:r>
            <a:r>
              <a:rPr lang="en-US" dirty="0"/>
              <a:t>.</a:t>
            </a:r>
          </a:p>
          <a:p>
            <a:pPr lvl="1">
              <a:defRPr/>
            </a:pPr>
            <a:r>
              <a:rPr lang="en-US" dirty="0"/>
              <a:t>Cho </a:t>
            </a:r>
            <a:r>
              <a:rPr lang="en-US" dirty="0" err="1"/>
              <a:t>biết</a:t>
            </a:r>
            <a:r>
              <a:rPr lang="en-US" dirty="0"/>
              <a:t> </a:t>
            </a:r>
            <a:r>
              <a:rPr lang="en-US" dirty="0" err="1"/>
              <a:t>thứ</a:t>
            </a:r>
            <a:r>
              <a:rPr lang="en-US" dirty="0"/>
              <a:t> </a:t>
            </a:r>
            <a:r>
              <a:rPr lang="en-US" dirty="0" err="1"/>
              <a:t>tự</a:t>
            </a:r>
            <a:r>
              <a:rPr lang="en-US" dirty="0"/>
              <a:t> </a:t>
            </a:r>
            <a:r>
              <a:rPr lang="en-US" dirty="0" err="1"/>
              <a:t>các</a:t>
            </a:r>
            <a:r>
              <a:rPr lang="en-US" dirty="0"/>
              <a:t> </a:t>
            </a:r>
            <a:r>
              <a:rPr lang="en-US" dirty="0" err="1"/>
              <a:t>nút</a:t>
            </a:r>
            <a:r>
              <a:rPr lang="en-US" dirty="0"/>
              <a:t> </a:t>
            </a:r>
            <a:r>
              <a:rPr lang="en-US" dirty="0" err="1"/>
              <a:t>khi</a:t>
            </a:r>
            <a:r>
              <a:rPr lang="en-US" dirty="0"/>
              <a:t> </a:t>
            </a:r>
            <a:r>
              <a:rPr lang="en-US" dirty="0" err="1"/>
              <a:t>duyệt</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đó</a:t>
            </a:r>
            <a:r>
              <a:rPr lang="en-US" dirty="0"/>
              <a:t> </a:t>
            </a:r>
            <a:r>
              <a:rPr lang="en-US" dirty="0" err="1"/>
              <a:t>theo</a:t>
            </a:r>
            <a:r>
              <a:rPr lang="en-US" dirty="0"/>
              <a:t> 3 </a:t>
            </a:r>
            <a:r>
              <a:rPr lang="en-US" dirty="0" err="1"/>
              <a:t>cách</a:t>
            </a:r>
            <a:r>
              <a:rPr lang="en-US" dirty="0"/>
              <a:t>.</a:t>
            </a:r>
          </a:p>
        </p:txBody>
      </p:sp>
      <p:sp>
        <p:nvSpPr>
          <p:cNvPr id="4" name="Date Placeholder 3">
            <a:extLst>
              <a:ext uri="{FF2B5EF4-FFF2-40B4-BE49-F238E27FC236}">
                <a16:creationId xmlns:a16="http://schemas.microsoft.com/office/drawing/2014/main" id="{116257E3-E00E-4E11-B1F7-A21778895CBB}"/>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17C1E208-AA46-4F40-8278-D205F0A8E0FF}"/>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2" name="Slide Number Placeholder 1">
            <a:extLst>
              <a:ext uri="{FF2B5EF4-FFF2-40B4-BE49-F238E27FC236}">
                <a16:creationId xmlns:a16="http://schemas.microsoft.com/office/drawing/2014/main" id="{247BE8C4-883B-4BEA-AD2C-C439B09CE1A7}"/>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E0B14BD6-2D87-4706-A3D5-44B63509F775}" type="slidenum">
              <a:rPr lang="en-US" altLang="en-US" sz="1000" smtClean="0"/>
              <a:pPr>
                <a:spcBef>
                  <a:spcPct val="0"/>
                </a:spcBef>
                <a:buClrTx/>
                <a:buSzTx/>
                <a:buFontTx/>
                <a:buNone/>
                <a:defRPr/>
              </a:pPr>
              <a:t>32</a:t>
            </a:fld>
            <a:endParaRPr lang="en-US" alt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187BC-D8DF-4F7B-A67A-C5E0EA682122}"/>
              </a:ext>
            </a:extLst>
          </p:cNvPr>
          <p:cNvSpPr>
            <a:spLocks noGrp="1"/>
          </p:cNvSpPr>
          <p:nvPr>
            <p:ph type="title"/>
          </p:nvPr>
        </p:nvSpPr>
        <p:spPr>
          <a:xfrm>
            <a:off x="457200" y="277813"/>
            <a:ext cx="8229600" cy="758507"/>
          </a:xfrm>
        </p:spPr>
        <p:txBody>
          <a:bodyPr/>
          <a:lstStyle/>
          <a:p>
            <a:r>
              <a:rPr lang="en-US" sz="4000"/>
              <a:t>Cây nhị phân biểu diễn biểu thức</a:t>
            </a:r>
          </a:p>
        </p:txBody>
      </p:sp>
      <p:sp>
        <p:nvSpPr>
          <p:cNvPr id="4" name="Date Placeholder 3">
            <a:extLst>
              <a:ext uri="{FF2B5EF4-FFF2-40B4-BE49-F238E27FC236}">
                <a16:creationId xmlns:a16="http://schemas.microsoft.com/office/drawing/2014/main" id="{3C69D840-497F-4CA8-869E-AACA18C12763}"/>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26CC4042-029D-4715-9D72-2CE3D9172AC4}"/>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6" name="Slide Number Placeholder 5">
            <a:extLst>
              <a:ext uri="{FF2B5EF4-FFF2-40B4-BE49-F238E27FC236}">
                <a16:creationId xmlns:a16="http://schemas.microsoft.com/office/drawing/2014/main" id="{8DA0F1D2-6725-4544-8722-975491E717CF}"/>
              </a:ext>
            </a:extLst>
          </p:cNvPr>
          <p:cNvSpPr>
            <a:spLocks noGrp="1"/>
          </p:cNvSpPr>
          <p:nvPr>
            <p:ph type="sldNum" sz="quarter" idx="12"/>
          </p:nvPr>
        </p:nvSpPr>
        <p:spPr/>
        <p:txBody>
          <a:bodyPr/>
          <a:lstStyle/>
          <a:p>
            <a:pPr>
              <a:defRPr/>
            </a:pPr>
            <a:r>
              <a:rPr lang="en-US" altLang="en-US"/>
              <a:t>4.</a:t>
            </a:r>
            <a:fld id="{57B2BA11-4571-4E9C-924F-F933A4D9EFC2}" type="slidenum">
              <a:rPr lang="en-US" altLang="en-US" smtClean="0"/>
              <a:pPr>
                <a:defRPr/>
              </a:pPr>
              <a:t>33</a:t>
            </a:fld>
            <a:endParaRPr lang="en-US" altLang="en-US"/>
          </a:p>
        </p:txBody>
      </p:sp>
      <p:sp>
        <p:nvSpPr>
          <p:cNvPr id="7" name="Oval 6">
            <a:extLst>
              <a:ext uri="{FF2B5EF4-FFF2-40B4-BE49-F238E27FC236}">
                <a16:creationId xmlns:a16="http://schemas.microsoft.com/office/drawing/2014/main" id="{FE027477-0A2B-4194-92BB-D160F864034C}"/>
              </a:ext>
            </a:extLst>
          </p:cNvPr>
          <p:cNvSpPr/>
          <p:nvPr/>
        </p:nvSpPr>
        <p:spPr bwMode="auto">
          <a:xfrm>
            <a:off x="4318000" y="1249680"/>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TextBox 7">
            <a:extLst>
              <a:ext uri="{FF2B5EF4-FFF2-40B4-BE49-F238E27FC236}">
                <a16:creationId xmlns:a16="http://schemas.microsoft.com/office/drawing/2014/main" id="{FFF4E8A6-3205-4BC1-85EC-DBF568CF409F}"/>
              </a:ext>
            </a:extLst>
          </p:cNvPr>
          <p:cNvSpPr txBox="1"/>
          <p:nvPr/>
        </p:nvSpPr>
        <p:spPr>
          <a:xfrm>
            <a:off x="4430473" y="1319204"/>
            <a:ext cx="462280" cy="461665"/>
          </a:xfrm>
          <a:prstGeom prst="rect">
            <a:avLst/>
          </a:prstGeom>
          <a:noFill/>
        </p:spPr>
        <p:txBody>
          <a:bodyPr wrap="square" rtlCol="0">
            <a:spAutoFit/>
          </a:bodyPr>
          <a:lstStyle/>
          <a:p>
            <a:r>
              <a:rPr lang="en-US" sz="2400"/>
              <a:t>+</a:t>
            </a:r>
          </a:p>
        </p:txBody>
      </p:sp>
      <p:sp>
        <p:nvSpPr>
          <p:cNvPr id="9" name="Oval 8">
            <a:extLst>
              <a:ext uri="{FF2B5EF4-FFF2-40B4-BE49-F238E27FC236}">
                <a16:creationId xmlns:a16="http://schemas.microsoft.com/office/drawing/2014/main" id="{5F13BA57-DCCB-4257-AFCF-1D84F5C4DAB2}"/>
              </a:ext>
            </a:extLst>
          </p:cNvPr>
          <p:cNvSpPr/>
          <p:nvPr/>
        </p:nvSpPr>
        <p:spPr bwMode="auto">
          <a:xfrm>
            <a:off x="3027681" y="2133600"/>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0" name="TextBox 9">
            <a:extLst>
              <a:ext uri="{FF2B5EF4-FFF2-40B4-BE49-F238E27FC236}">
                <a16:creationId xmlns:a16="http://schemas.microsoft.com/office/drawing/2014/main" id="{48B68EC4-4F4F-4DC7-90E2-1E82E891AE42}"/>
              </a:ext>
            </a:extLst>
          </p:cNvPr>
          <p:cNvSpPr txBox="1"/>
          <p:nvPr/>
        </p:nvSpPr>
        <p:spPr>
          <a:xfrm>
            <a:off x="3164841" y="2271375"/>
            <a:ext cx="462280" cy="461665"/>
          </a:xfrm>
          <a:prstGeom prst="rect">
            <a:avLst/>
          </a:prstGeom>
          <a:noFill/>
        </p:spPr>
        <p:txBody>
          <a:bodyPr wrap="square" rtlCol="0">
            <a:spAutoFit/>
          </a:bodyPr>
          <a:lstStyle/>
          <a:p>
            <a:r>
              <a:rPr lang="en-US" sz="2400"/>
              <a:t>*</a:t>
            </a:r>
          </a:p>
        </p:txBody>
      </p:sp>
      <p:sp>
        <p:nvSpPr>
          <p:cNvPr id="11" name="Oval 10">
            <a:extLst>
              <a:ext uri="{FF2B5EF4-FFF2-40B4-BE49-F238E27FC236}">
                <a16:creationId xmlns:a16="http://schemas.microsoft.com/office/drawing/2014/main" id="{F0E77C98-866F-442E-A5FB-614E95A806B2}"/>
              </a:ext>
            </a:extLst>
          </p:cNvPr>
          <p:cNvSpPr/>
          <p:nvPr/>
        </p:nvSpPr>
        <p:spPr bwMode="auto">
          <a:xfrm>
            <a:off x="5516880" y="2133600"/>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2" name="TextBox 11">
            <a:extLst>
              <a:ext uri="{FF2B5EF4-FFF2-40B4-BE49-F238E27FC236}">
                <a16:creationId xmlns:a16="http://schemas.microsoft.com/office/drawing/2014/main" id="{EF5692C0-EC51-4BC1-B810-BA40AA2E4C00}"/>
              </a:ext>
            </a:extLst>
          </p:cNvPr>
          <p:cNvSpPr txBox="1"/>
          <p:nvPr/>
        </p:nvSpPr>
        <p:spPr>
          <a:xfrm>
            <a:off x="5654040" y="2190065"/>
            <a:ext cx="462280" cy="461665"/>
          </a:xfrm>
          <a:prstGeom prst="rect">
            <a:avLst/>
          </a:prstGeom>
          <a:noFill/>
        </p:spPr>
        <p:txBody>
          <a:bodyPr wrap="square" rtlCol="0">
            <a:spAutoFit/>
          </a:bodyPr>
          <a:lstStyle/>
          <a:p>
            <a:r>
              <a:rPr lang="en-US" sz="2400"/>
              <a:t>/</a:t>
            </a:r>
          </a:p>
        </p:txBody>
      </p:sp>
      <p:sp>
        <p:nvSpPr>
          <p:cNvPr id="13" name="Oval 12">
            <a:extLst>
              <a:ext uri="{FF2B5EF4-FFF2-40B4-BE49-F238E27FC236}">
                <a16:creationId xmlns:a16="http://schemas.microsoft.com/office/drawing/2014/main" id="{F472B29D-A91D-4420-8FC8-A9E3A8937155}"/>
              </a:ext>
            </a:extLst>
          </p:cNvPr>
          <p:cNvSpPr/>
          <p:nvPr/>
        </p:nvSpPr>
        <p:spPr bwMode="auto">
          <a:xfrm>
            <a:off x="1991360" y="3037840"/>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4" name="TextBox 13">
            <a:extLst>
              <a:ext uri="{FF2B5EF4-FFF2-40B4-BE49-F238E27FC236}">
                <a16:creationId xmlns:a16="http://schemas.microsoft.com/office/drawing/2014/main" id="{E4F6E8C0-E1E7-40E0-AFA2-05614F392EA4}"/>
              </a:ext>
            </a:extLst>
          </p:cNvPr>
          <p:cNvSpPr txBox="1"/>
          <p:nvPr/>
        </p:nvSpPr>
        <p:spPr>
          <a:xfrm>
            <a:off x="2097273" y="3125626"/>
            <a:ext cx="462280" cy="461665"/>
          </a:xfrm>
          <a:prstGeom prst="rect">
            <a:avLst/>
          </a:prstGeom>
          <a:noFill/>
        </p:spPr>
        <p:txBody>
          <a:bodyPr wrap="square" rtlCol="0">
            <a:spAutoFit/>
          </a:bodyPr>
          <a:lstStyle/>
          <a:p>
            <a:r>
              <a:rPr lang="en-US" sz="2400"/>
              <a:t>+</a:t>
            </a:r>
          </a:p>
        </p:txBody>
      </p:sp>
      <p:sp>
        <p:nvSpPr>
          <p:cNvPr id="15" name="Oval 14">
            <a:extLst>
              <a:ext uri="{FF2B5EF4-FFF2-40B4-BE49-F238E27FC236}">
                <a16:creationId xmlns:a16="http://schemas.microsoft.com/office/drawing/2014/main" id="{2D979949-C58C-4916-B9C9-5CCBADD99FD0}"/>
              </a:ext>
            </a:extLst>
          </p:cNvPr>
          <p:cNvSpPr/>
          <p:nvPr/>
        </p:nvSpPr>
        <p:spPr bwMode="auto">
          <a:xfrm>
            <a:off x="3972560" y="3037840"/>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6" name="TextBox 15">
            <a:extLst>
              <a:ext uri="{FF2B5EF4-FFF2-40B4-BE49-F238E27FC236}">
                <a16:creationId xmlns:a16="http://schemas.microsoft.com/office/drawing/2014/main" id="{82D8212F-0F2D-4E68-B34F-4766980B9E54}"/>
              </a:ext>
            </a:extLst>
          </p:cNvPr>
          <p:cNvSpPr txBox="1"/>
          <p:nvPr/>
        </p:nvSpPr>
        <p:spPr>
          <a:xfrm>
            <a:off x="4109720" y="3175615"/>
            <a:ext cx="462280" cy="461665"/>
          </a:xfrm>
          <a:prstGeom prst="rect">
            <a:avLst/>
          </a:prstGeom>
          <a:noFill/>
        </p:spPr>
        <p:txBody>
          <a:bodyPr wrap="square" rtlCol="0">
            <a:spAutoFit/>
          </a:bodyPr>
          <a:lstStyle/>
          <a:p>
            <a:r>
              <a:rPr lang="en-US" sz="2400"/>
              <a:t>-</a:t>
            </a:r>
          </a:p>
        </p:txBody>
      </p:sp>
      <p:sp>
        <p:nvSpPr>
          <p:cNvPr id="17" name="Oval 16">
            <a:extLst>
              <a:ext uri="{FF2B5EF4-FFF2-40B4-BE49-F238E27FC236}">
                <a16:creationId xmlns:a16="http://schemas.microsoft.com/office/drawing/2014/main" id="{58C9818B-0093-4BFE-A2EB-BD399BD2EF29}"/>
              </a:ext>
            </a:extLst>
          </p:cNvPr>
          <p:cNvSpPr/>
          <p:nvPr/>
        </p:nvSpPr>
        <p:spPr bwMode="auto">
          <a:xfrm>
            <a:off x="1206422" y="4158615"/>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8" name="TextBox 17">
            <a:extLst>
              <a:ext uri="{FF2B5EF4-FFF2-40B4-BE49-F238E27FC236}">
                <a16:creationId xmlns:a16="http://schemas.microsoft.com/office/drawing/2014/main" id="{EC7FAB11-79A4-4A75-B9B4-871BD16321F1}"/>
              </a:ext>
            </a:extLst>
          </p:cNvPr>
          <p:cNvSpPr txBox="1"/>
          <p:nvPr/>
        </p:nvSpPr>
        <p:spPr>
          <a:xfrm>
            <a:off x="1316573" y="4246401"/>
            <a:ext cx="462280" cy="461665"/>
          </a:xfrm>
          <a:prstGeom prst="rect">
            <a:avLst/>
          </a:prstGeom>
          <a:noFill/>
        </p:spPr>
        <p:txBody>
          <a:bodyPr wrap="square" rtlCol="0">
            <a:spAutoFit/>
          </a:bodyPr>
          <a:lstStyle/>
          <a:p>
            <a:r>
              <a:rPr lang="en-US" sz="2400"/>
              <a:t>a</a:t>
            </a:r>
          </a:p>
        </p:txBody>
      </p:sp>
      <p:sp>
        <p:nvSpPr>
          <p:cNvPr id="19" name="Oval 18">
            <a:extLst>
              <a:ext uri="{FF2B5EF4-FFF2-40B4-BE49-F238E27FC236}">
                <a16:creationId xmlns:a16="http://schemas.microsoft.com/office/drawing/2014/main" id="{2BD23AB8-49A0-40CD-A48E-1F32E6A7C3AB}"/>
              </a:ext>
            </a:extLst>
          </p:cNvPr>
          <p:cNvSpPr/>
          <p:nvPr/>
        </p:nvSpPr>
        <p:spPr bwMode="auto">
          <a:xfrm>
            <a:off x="2593955" y="4192643"/>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0" name="TextBox 19">
            <a:extLst>
              <a:ext uri="{FF2B5EF4-FFF2-40B4-BE49-F238E27FC236}">
                <a16:creationId xmlns:a16="http://schemas.microsoft.com/office/drawing/2014/main" id="{AF5B063C-A689-4501-B296-83ADA74CA9E1}"/>
              </a:ext>
            </a:extLst>
          </p:cNvPr>
          <p:cNvSpPr txBox="1"/>
          <p:nvPr/>
        </p:nvSpPr>
        <p:spPr>
          <a:xfrm>
            <a:off x="2727709" y="4227502"/>
            <a:ext cx="462280" cy="461665"/>
          </a:xfrm>
          <a:prstGeom prst="rect">
            <a:avLst/>
          </a:prstGeom>
          <a:noFill/>
        </p:spPr>
        <p:txBody>
          <a:bodyPr wrap="square" rtlCol="0">
            <a:spAutoFit/>
          </a:bodyPr>
          <a:lstStyle/>
          <a:p>
            <a:r>
              <a:rPr lang="en-US" sz="2400"/>
              <a:t>b</a:t>
            </a:r>
          </a:p>
        </p:txBody>
      </p:sp>
      <p:cxnSp>
        <p:nvCxnSpPr>
          <p:cNvPr id="22" name="Straight Connector 21">
            <a:extLst>
              <a:ext uri="{FF2B5EF4-FFF2-40B4-BE49-F238E27FC236}">
                <a16:creationId xmlns:a16="http://schemas.microsoft.com/office/drawing/2014/main" id="{F8F46C53-E460-4386-8A40-869CA5DE0BC6}"/>
              </a:ext>
            </a:extLst>
          </p:cNvPr>
          <p:cNvCxnSpPr>
            <a:stCxn id="7" idx="3"/>
          </p:cNvCxnSpPr>
          <p:nvPr/>
        </p:nvCxnSpPr>
        <p:spPr bwMode="auto">
          <a:xfrm flipH="1">
            <a:off x="3627121" y="1761334"/>
            <a:ext cx="778665" cy="5100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57F7305D-B0A2-40E0-85EB-7DB926D85CF5}"/>
              </a:ext>
            </a:extLst>
          </p:cNvPr>
          <p:cNvCxnSpPr/>
          <p:nvPr/>
        </p:nvCxnSpPr>
        <p:spPr bwMode="auto">
          <a:xfrm flipH="1">
            <a:off x="2569769" y="2615794"/>
            <a:ext cx="547524" cy="5100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a:extLst>
              <a:ext uri="{FF2B5EF4-FFF2-40B4-BE49-F238E27FC236}">
                <a16:creationId xmlns:a16="http://schemas.microsoft.com/office/drawing/2014/main" id="{505EED37-1CB5-4D60-93CE-50A5A6467C0D}"/>
              </a:ext>
            </a:extLst>
          </p:cNvPr>
          <p:cNvCxnSpPr>
            <a:endCxn id="15" idx="1"/>
          </p:cNvCxnSpPr>
          <p:nvPr/>
        </p:nvCxnSpPr>
        <p:spPr bwMode="auto">
          <a:xfrm>
            <a:off x="3571797" y="2615794"/>
            <a:ext cx="488549" cy="509832"/>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067EA456-9C1C-48B8-B73E-F7A341B8BBBF}"/>
              </a:ext>
            </a:extLst>
          </p:cNvPr>
          <p:cNvCxnSpPr>
            <a:stCxn id="13" idx="4"/>
            <a:endCxn id="19" idx="1"/>
          </p:cNvCxnSpPr>
          <p:nvPr/>
        </p:nvCxnSpPr>
        <p:spPr bwMode="auto">
          <a:xfrm>
            <a:off x="2291080" y="3637280"/>
            <a:ext cx="390661" cy="643149"/>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a:extLst>
              <a:ext uri="{FF2B5EF4-FFF2-40B4-BE49-F238E27FC236}">
                <a16:creationId xmlns:a16="http://schemas.microsoft.com/office/drawing/2014/main" id="{94519081-2F21-440F-ABFA-A71F520882FA}"/>
              </a:ext>
            </a:extLst>
          </p:cNvPr>
          <p:cNvCxnSpPr>
            <a:endCxn id="17" idx="7"/>
          </p:cNvCxnSpPr>
          <p:nvPr/>
        </p:nvCxnSpPr>
        <p:spPr bwMode="auto">
          <a:xfrm flipH="1">
            <a:off x="1718076" y="3609976"/>
            <a:ext cx="442792" cy="636425"/>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a16="http://schemas.microsoft.com/office/drawing/2014/main" id="{D555CAAE-05B9-4117-9875-5E7EE2EFF704}"/>
              </a:ext>
            </a:extLst>
          </p:cNvPr>
          <p:cNvCxnSpPr>
            <a:endCxn id="11" idx="1"/>
          </p:cNvCxnSpPr>
          <p:nvPr/>
        </p:nvCxnSpPr>
        <p:spPr bwMode="auto">
          <a:xfrm>
            <a:off x="4874137" y="1747619"/>
            <a:ext cx="730529" cy="473767"/>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Oval 34">
            <a:extLst>
              <a:ext uri="{FF2B5EF4-FFF2-40B4-BE49-F238E27FC236}">
                <a16:creationId xmlns:a16="http://schemas.microsoft.com/office/drawing/2014/main" id="{3F7DB220-5B9B-4FFA-87E8-23F02DCAEEF8}"/>
              </a:ext>
            </a:extLst>
          </p:cNvPr>
          <p:cNvSpPr/>
          <p:nvPr/>
        </p:nvSpPr>
        <p:spPr bwMode="auto">
          <a:xfrm>
            <a:off x="4935934" y="3106919"/>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36" name="TextBox 35">
            <a:extLst>
              <a:ext uri="{FF2B5EF4-FFF2-40B4-BE49-F238E27FC236}">
                <a16:creationId xmlns:a16="http://schemas.microsoft.com/office/drawing/2014/main" id="{84A40923-59B8-4F2D-8472-77413382A0BB}"/>
              </a:ext>
            </a:extLst>
          </p:cNvPr>
          <p:cNvSpPr txBox="1"/>
          <p:nvPr/>
        </p:nvSpPr>
        <p:spPr>
          <a:xfrm>
            <a:off x="5035474" y="3160161"/>
            <a:ext cx="462280" cy="461665"/>
          </a:xfrm>
          <a:prstGeom prst="rect">
            <a:avLst/>
          </a:prstGeom>
          <a:noFill/>
        </p:spPr>
        <p:txBody>
          <a:bodyPr wrap="square" rtlCol="0">
            <a:spAutoFit/>
          </a:bodyPr>
          <a:lstStyle/>
          <a:p>
            <a:r>
              <a:rPr lang="en-US" sz="2400"/>
              <a:t>e</a:t>
            </a:r>
          </a:p>
        </p:txBody>
      </p:sp>
      <p:cxnSp>
        <p:nvCxnSpPr>
          <p:cNvPr id="37" name="Straight Connector 36">
            <a:extLst>
              <a:ext uri="{FF2B5EF4-FFF2-40B4-BE49-F238E27FC236}">
                <a16:creationId xmlns:a16="http://schemas.microsoft.com/office/drawing/2014/main" id="{3C9AB098-D9B7-4234-83C8-662E3D04F9B6}"/>
              </a:ext>
            </a:extLst>
          </p:cNvPr>
          <p:cNvCxnSpPr>
            <a:endCxn id="35" idx="7"/>
          </p:cNvCxnSpPr>
          <p:nvPr/>
        </p:nvCxnSpPr>
        <p:spPr bwMode="auto">
          <a:xfrm flipH="1">
            <a:off x="5447588" y="2677664"/>
            <a:ext cx="236931" cy="5170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Oval 38">
            <a:extLst>
              <a:ext uri="{FF2B5EF4-FFF2-40B4-BE49-F238E27FC236}">
                <a16:creationId xmlns:a16="http://schemas.microsoft.com/office/drawing/2014/main" id="{50C52504-2CA6-44B6-B867-D8858D4CFB45}"/>
              </a:ext>
            </a:extLst>
          </p:cNvPr>
          <p:cNvSpPr/>
          <p:nvPr/>
        </p:nvSpPr>
        <p:spPr bwMode="auto">
          <a:xfrm>
            <a:off x="6658453" y="3106919"/>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40" name="TextBox 39">
            <a:extLst>
              <a:ext uri="{FF2B5EF4-FFF2-40B4-BE49-F238E27FC236}">
                <a16:creationId xmlns:a16="http://schemas.microsoft.com/office/drawing/2014/main" id="{A5A75798-09FB-4314-B233-F82D6BDF38E4}"/>
              </a:ext>
            </a:extLst>
          </p:cNvPr>
          <p:cNvSpPr txBox="1"/>
          <p:nvPr/>
        </p:nvSpPr>
        <p:spPr>
          <a:xfrm>
            <a:off x="6805829" y="3175615"/>
            <a:ext cx="462280" cy="461665"/>
          </a:xfrm>
          <a:prstGeom prst="rect">
            <a:avLst/>
          </a:prstGeom>
          <a:noFill/>
        </p:spPr>
        <p:txBody>
          <a:bodyPr wrap="square" rtlCol="0">
            <a:spAutoFit/>
          </a:bodyPr>
          <a:lstStyle/>
          <a:p>
            <a:r>
              <a:rPr lang="en-US" sz="2400"/>
              <a:t>-</a:t>
            </a:r>
          </a:p>
        </p:txBody>
      </p:sp>
      <p:cxnSp>
        <p:nvCxnSpPr>
          <p:cNvPr id="41" name="Straight Connector 40">
            <a:extLst>
              <a:ext uri="{FF2B5EF4-FFF2-40B4-BE49-F238E27FC236}">
                <a16:creationId xmlns:a16="http://schemas.microsoft.com/office/drawing/2014/main" id="{3155987E-CB56-4F2B-9559-56F5FB9E6882}"/>
              </a:ext>
            </a:extLst>
          </p:cNvPr>
          <p:cNvCxnSpPr>
            <a:endCxn id="39" idx="1"/>
          </p:cNvCxnSpPr>
          <p:nvPr/>
        </p:nvCxnSpPr>
        <p:spPr bwMode="auto">
          <a:xfrm>
            <a:off x="6071558" y="2609189"/>
            <a:ext cx="674681" cy="585516"/>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Oval 42">
            <a:extLst>
              <a:ext uri="{FF2B5EF4-FFF2-40B4-BE49-F238E27FC236}">
                <a16:creationId xmlns:a16="http://schemas.microsoft.com/office/drawing/2014/main" id="{50B45555-6324-465D-876F-C486E33EEAD7}"/>
              </a:ext>
            </a:extLst>
          </p:cNvPr>
          <p:cNvSpPr/>
          <p:nvPr/>
        </p:nvSpPr>
        <p:spPr bwMode="auto">
          <a:xfrm>
            <a:off x="6044332" y="4168134"/>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44" name="TextBox 43">
            <a:extLst>
              <a:ext uri="{FF2B5EF4-FFF2-40B4-BE49-F238E27FC236}">
                <a16:creationId xmlns:a16="http://schemas.microsoft.com/office/drawing/2014/main" id="{76855080-0B58-4F22-A1F3-D89C29495798}"/>
              </a:ext>
            </a:extLst>
          </p:cNvPr>
          <p:cNvSpPr txBox="1"/>
          <p:nvPr/>
        </p:nvSpPr>
        <p:spPr>
          <a:xfrm>
            <a:off x="6181492" y="4305909"/>
            <a:ext cx="462280" cy="461665"/>
          </a:xfrm>
          <a:prstGeom prst="rect">
            <a:avLst/>
          </a:prstGeom>
          <a:noFill/>
        </p:spPr>
        <p:txBody>
          <a:bodyPr wrap="square" rtlCol="0">
            <a:spAutoFit/>
          </a:bodyPr>
          <a:lstStyle/>
          <a:p>
            <a:r>
              <a:rPr lang="en-US" sz="2400"/>
              <a:t>f</a:t>
            </a:r>
          </a:p>
        </p:txBody>
      </p:sp>
      <p:cxnSp>
        <p:nvCxnSpPr>
          <p:cNvPr id="45" name="Straight Connector 44">
            <a:extLst>
              <a:ext uri="{FF2B5EF4-FFF2-40B4-BE49-F238E27FC236}">
                <a16:creationId xmlns:a16="http://schemas.microsoft.com/office/drawing/2014/main" id="{E6195E54-D115-4FA9-B901-41C1E79C2DC3}"/>
              </a:ext>
            </a:extLst>
          </p:cNvPr>
          <p:cNvCxnSpPr>
            <a:endCxn id="43" idx="7"/>
          </p:cNvCxnSpPr>
          <p:nvPr/>
        </p:nvCxnSpPr>
        <p:spPr bwMode="auto">
          <a:xfrm flipH="1">
            <a:off x="6555986" y="3663296"/>
            <a:ext cx="241613" cy="592624"/>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Oval 46">
            <a:extLst>
              <a:ext uri="{FF2B5EF4-FFF2-40B4-BE49-F238E27FC236}">
                <a16:creationId xmlns:a16="http://schemas.microsoft.com/office/drawing/2014/main" id="{B092AD93-7E99-44DA-937E-1B26CAAE6ACC}"/>
              </a:ext>
            </a:extLst>
          </p:cNvPr>
          <p:cNvSpPr/>
          <p:nvPr/>
        </p:nvSpPr>
        <p:spPr bwMode="auto">
          <a:xfrm>
            <a:off x="7493332" y="4168134"/>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48" name="TextBox 47">
            <a:extLst>
              <a:ext uri="{FF2B5EF4-FFF2-40B4-BE49-F238E27FC236}">
                <a16:creationId xmlns:a16="http://schemas.microsoft.com/office/drawing/2014/main" id="{06E4E556-8AAE-4817-BE75-FD911B882444}"/>
              </a:ext>
            </a:extLst>
          </p:cNvPr>
          <p:cNvSpPr txBox="1"/>
          <p:nvPr/>
        </p:nvSpPr>
        <p:spPr>
          <a:xfrm>
            <a:off x="7630492" y="4305909"/>
            <a:ext cx="462280" cy="461665"/>
          </a:xfrm>
          <a:prstGeom prst="rect">
            <a:avLst/>
          </a:prstGeom>
          <a:noFill/>
        </p:spPr>
        <p:txBody>
          <a:bodyPr wrap="square" rtlCol="0">
            <a:spAutoFit/>
          </a:bodyPr>
          <a:lstStyle/>
          <a:p>
            <a:r>
              <a:rPr lang="en-US" sz="2400"/>
              <a:t>g</a:t>
            </a:r>
          </a:p>
        </p:txBody>
      </p:sp>
      <p:cxnSp>
        <p:nvCxnSpPr>
          <p:cNvPr id="49" name="Straight Connector 48">
            <a:extLst>
              <a:ext uri="{FF2B5EF4-FFF2-40B4-BE49-F238E27FC236}">
                <a16:creationId xmlns:a16="http://schemas.microsoft.com/office/drawing/2014/main" id="{67E3FEC2-66D3-43F4-B29C-FCC640AE98E6}"/>
              </a:ext>
            </a:extLst>
          </p:cNvPr>
          <p:cNvCxnSpPr>
            <a:endCxn id="47" idx="1"/>
          </p:cNvCxnSpPr>
          <p:nvPr/>
        </p:nvCxnSpPr>
        <p:spPr bwMode="auto">
          <a:xfrm>
            <a:off x="7138326" y="3654022"/>
            <a:ext cx="442792" cy="601898"/>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Box 2">
            <a:extLst>
              <a:ext uri="{FF2B5EF4-FFF2-40B4-BE49-F238E27FC236}">
                <a16:creationId xmlns:a16="http://schemas.microsoft.com/office/drawing/2014/main" id="{76CEF7B2-1853-4702-BAEA-AE92E175B374}"/>
              </a:ext>
            </a:extLst>
          </p:cNvPr>
          <p:cNvSpPr txBox="1"/>
          <p:nvPr/>
        </p:nvSpPr>
        <p:spPr>
          <a:xfrm>
            <a:off x="206115" y="1123294"/>
            <a:ext cx="2958726" cy="461665"/>
          </a:xfrm>
          <a:prstGeom prst="rect">
            <a:avLst/>
          </a:prstGeom>
          <a:noFill/>
        </p:spPr>
        <p:txBody>
          <a:bodyPr wrap="square" rtlCol="0">
            <a:spAutoFit/>
          </a:bodyPr>
          <a:lstStyle/>
          <a:p>
            <a:r>
              <a:rPr lang="en-US" sz="2400"/>
              <a:t>(a+b)*(c-d) + e/(f-g)</a:t>
            </a:r>
          </a:p>
        </p:txBody>
      </p:sp>
      <p:sp>
        <p:nvSpPr>
          <p:cNvPr id="50" name="Oval 49">
            <a:extLst>
              <a:ext uri="{FF2B5EF4-FFF2-40B4-BE49-F238E27FC236}">
                <a16:creationId xmlns:a16="http://schemas.microsoft.com/office/drawing/2014/main" id="{2623FBB6-6136-4B29-A258-320013B97092}"/>
              </a:ext>
            </a:extLst>
          </p:cNvPr>
          <p:cNvSpPr/>
          <p:nvPr/>
        </p:nvSpPr>
        <p:spPr bwMode="auto">
          <a:xfrm>
            <a:off x="3478006" y="4168134"/>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52" name="TextBox 51">
            <a:extLst>
              <a:ext uri="{FF2B5EF4-FFF2-40B4-BE49-F238E27FC236}">
                <a16:creationId xmlns:a16="http://schemas.microsoft.com/office/drawing/2014/main" id="{1262E0A0-12F4-46CB-8284-19719AE9E96C}"/>
              </a:ext>
            </a:extLst>
          </p:cNvPr>
          <p:cNvSpPr txBox="1"/>
          <p:nvPr/>
        </p:nvSpPr>
        <p:spPr>
          <a:xfrm>
            <a:off x="3604673" y="4213179"/>
            <a:ext cx="462280" cy="461665"/>
          </a:xfrm>
          <a:prstGeom prst="rect">
            <a:avLst/>
          </a:prstGeom>
          <a:noFill/>
        </p:spPr>
        <p:txBody>
          <a:bodyPr wrap="square" rtlCol="0">
            <a:spAutoFit/>
          </a:bodyPr>
          <a:lstStyle/>
          <a:p>
            <a:r>
              <a:rPr lang="en-US" sz="2400"/>
              <a:t>c</a:t>
            </a:r>
          </a:p>
        </p:txBody>
      </p:sp>
      <p:sp>
        <p:nvSpPr>
          <p:cNvPr id="53" name="Oval 52">
            <a:extLst>
              <a:ext uri="{FF2B5EF4-FFF2-40B4-BE49-F238E27FC236}">
                <a16:creationId xmlns:a16="http://schemas.microsoft.com/office/drawing/2014/main" id="{6DDE14C6-13A4-4A49-8DE0-82FFED4B390C}"/>
              </a:ext>
            </a:extLst>
          </p:cNvPr>
          <p:cNvSpPr/>
          <p:nvPr/>
        </p:nvSpPr>
        <p:spPr bwMode="auto">
          <a:xfrm>
            <a:off x="4680927" y="4192643"/>
            <a:ext cx="599440" cy="599440"/>
          </a:xfrm>
          <a:prstGeom prst="ellips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54" name="TextBox 53">
            <a:extLst>
              <a:ext uri="{FF2B5EF4-FFF2-40B4-BE49-F238E27FC236}">
                <a16:creationId xmlns:a16="http://schemas.microsoft.com/office/drawing/2014/main" id="{DF85AE66-A383-4385-A33D-6867E112F778}"/>
              </a:ext>
            </a:extLst>
          </p:cNvPr>
          <p:cNvSpPr txBox="1"/>
          <p:nvPr/>
        </p:nvSpPr>
        <p:spPr>
          <a:xfrm>
            <a:off x="4814681" y="4227502"/>
            <a:ext cx="462280" cy="461665"/>
          </a:xfrm>
          <a:prstGeom prst="rect">
            <a:avLst/>
          </a:prstGeom>
          <a:noFill/>
        </p:spPr>
        <p:txBody>
          <a:bodyPr wrap="square" rtlCol="0">
            <a:spAutoFit/>
          </a:bodyPr>
          <a:lstStyle/>
          <a:p>
            <a:r>
              <a:rPr lang="en-US" sz="2400"/>
              <a:t>d</a:t>
            </a:r>
          </a:p>
        </p:txBody>
      </p:sp>
      <p:cxnSp>
        <p:nvCxnSpPr>
          <p:cNvPr id="55" name="Straight Connector 54">
            <a:extLst>
              <a:ext uri="{FF2B5EF4-FFF2-40B4-BE49-F238E27FC236}">
                <a16:creationId xmlns:a16="http://schemas.microsoft.com/office/drawing/2014/main" id="{883648EB-AA13-4E69-97C7-80BACC90C325}"/>
              </a:ext>
            </a:extLst>
          </p:cNvPr>
          <p:cNvCxnSpPr>
            <a:stCxn id="16" idx="2"/>
            <a:endCxn id="53" idx="1"/>
          </p:cNvCxnSpPr>
          <p:nvPr/>
        </p:nvCxnSpPr>
        <p:spPr bwMode="auto">
          <a:xfrm>
            <a:off x="4340860" y="3637280"/>
            <a:ext cx="427853" cy="643149"/>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Straight Connector 55">
            <a:extLst>
              <a:ext uri="{FF2B5EF4-FFF2-40B4-BE49-F238E27FC236}">
                <a16:creationId xmlns:a16="http://schemas.microsoft.com/office/drawing/2014/main" id="{04B1B62B-79D2-47FB-8D04-405CAC8CDB85}"/>
              </a:ext>
            </a:extLst>
          </p:cNvPr>
          <p:cNvCxnSpPr>
            <a:endCxn id="50" idx="7"/>
          </p:cNvCxnSpPr>
          <p:nvPr/>
        </p:nvCxnSpPr>
        <p:spPr bwMode="auto">
          <a:xfrm flipH="1">
            <a:off x="3989660" y="3637280"/>
            <a:ext cx="220941" cy="61864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TextBox 45">
            <a:extLst>
              <a:ext uri="{FF2B5EF4-FFF2-40B4-BE49-F238E27FC236}">
                <a16:creationId xmlns:a16="http://schemas.microsoft.com/office/drawing/2014/main" id="{E86D1372-0675-4B32-BA89-994B331DE9B9}"/>
              </a:ext>
            </a:extLst>
          </p:cNvPr>
          <p:cNvSpPr txBox="1"/>
          <p:nvPr/>
        </p:nvSpPr>
        <p:spPr>
          <a:xfrm>
            <a:off x="206115" y="5283783"/>
            <a:ext cx="8598838" cy="830997"/>
          </a:xfrm>
          <a:prstGeom prst="rect">
            <a:avLst/>
          </a:prstGeom>
          <a:noFill/>
        </p:spPr>
        <p:txBody>
          <a:bodyPr wrap="square" rtlCol="0">
            <a:spAutoFit/>
          </a:bodyPr>
          <a:lstStyle/>
          <a:p>
            <a:r>
              <a:rPr lang="en-US" sz="2400"/>
              <a:t>Duyệt trước =&gt; biểu thức dạng tiền tố: + * + a b - c d / e – f g </a:t>
            </a:r>
          </a:p>
          <a:p>
            <a:r>
              <a:rPr lang="en-US" sz="2400"/>
              <a:t>Duyệt sau =&gt; biểu thức dạng hậu tố: a b + c d - * e f g - / +</a:t>
            </a:r>
          </a:p>
        </p:txBody>
      </p:sp>
    </p:spTree>
    <p:extLst>
      <p:ext uri="{BB962C8B-B14F-4D97-AF65-F5344CB8AC3E}">
        <p14:creationId xmlns:p14="http://schemas.microsoft.com/office/powerpoint/2010/main" val="1026151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E28F-D147-496E-9B42-192BA3E7DED7}"/>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B84BA759-ADB9-48E6-8440-58494F7DFD54}"/>
              </a:ext>
            </a:extLst>
          </p:cNvPr>
          <p:cNvSpPr>
            <a:spLocks noGrp="1"/>
          </p:cNvSpPr>
          <p:nvPr>
            <p:ph idx="1"/>
          </p:nvPr>
        </p:nvSpPr>
        <p:spPr/>
        <p:txBody>
          <a:bodyPr/>
          <a:lstStyle/>
          <a:p>
            <a:r>
              <a:rPr lang="en-US" b="0" i="0">
                <a:effectLst/>
                <a:latin typeface="Segoe UI" panose="020B0502040204020203" pitchFamily="34" charset="0"/>
              </a:rPr>
              <a:t>Vẽ cây nhị phân biểu diễn biểu thức:</a:t>
            </a:r>
          </a:p>
          <a:p>
            <a:pPr marL="0" indent="0" algn="ctr">
              <a:buNone/>
            </a:pPr>
            <a:r>
              <a:rPr lang="en-US" b="0" i="0">
                <a:effectLst/>
                <a:latin typeface="Segoe UI" panose="020B0502040204020203" pitchFamily="34" charset="0"/>
              </a:rPr>
              <a:t>a/(b-c) - (d+e)*f</a:t>
            </a:r>
          </a:p>
          <a:p>
            <a:r>
              <a:rPr lang="en-US">
                <a:effectLst/>
                <a:latin typeface="Segoe UI" panose="020B0502040204020203" pitchFamily="34" charset="0"/>
              </a:rPr>
              <a:t>Áp dụng duyệt cây nhị phân theo thứ tự trước và sau để đưa ra dạng tiền tố và hậu tố của biểu thức.</a:t>
            </a:r>
            <a:endParaRPr lang="en-US" b="0" i="0">
              <a:effectLst/>
              <a:latin typeface="Segoe UI" panose="020B0502040204020203" pitchFamily="34" charset="0"/>
            </a:endParaRPr>
          </a:p>
          <a:p>
            <a:endParaRPr lang="en-US"/>
          </a:p>
        </p:txBody>
      </p:sp>
      <p:sp>
        <p:nvSpPr>
          <p:cNvPr id="4" name="Date Placeholder 3">
            <a:extLst>
              <a:ext uri="{FF2B5EF4-FFF2-40B4-BE49-F238E27FC236}">
                <a16:creationId xmlns:a16="http://schemas.microsoft.com/office/drawing/2014/main" id="{715850A0-7EB0-45C7-A0A7-829D1E91BF91}"/>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9271364D-D4E7-478D-890F-6D5758679644}"/>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6" name="Slide Number Placeholder 5">
            <a:extLst>
              <a:ext uri="{FF2B5EF4-FFF2-40B4-BE49-F238E27FC236}">
                <a16:creationId xmlns:a16="http://schemas.microsoft.com/office/drawing/2014/main" id="{B5A70193-1729-4731-9756-1CA964101032}"/>
              </a:ext>
            </a:extLst>
          </p:cNvPr>
          <p:cNvSpPr>
            <a:spLocks noGrp="1"/>
          </p:cNvSpPr>
          <p:nvPr>
            <p:ph type="sldNum" sz="quarter" idx="12"/>
          </p:nvPr>
        </p:nvSpPr>
        <p:spPr/>
        <p:txBody>
          <a:bodyPr/>
          <a:lstStyle/>
          <a:p>
            <a:pPr>
              <a:defRPr/>
            </a:pPr>
            <a:r>
              <a:rPr lang="en-US" altLang="en-US"/>
              <a:t>4.</a:t>
            </a:r>
            <a:fld id="{57B2BA11-4571-4E9C-924F-F933A4D9EFC2}" type="slidenum">
              <a:rPr lang="en-US" altLang="en-US" smtClean="0"/>
              <a:pPr>
                <a:defRPr/>
              </a:pPr>
              <a:t>34</a:t>
            </a:fld>
            <a:endParaRPr lang="en-US" altLang="en-US"/>
          </a:p>
        </p:txBody>
      </p:sp>
    </p:spTree>
    <p:extLst>
      <p:ext uri="{BB962C8B-B14F-4D97-AF65-F5344CB8AC3E}">
        <p14:creationId xmlns:p14="http://schemas.microsoft.com/office/powerpoint/2010/main" val="3165587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F4B7E1B-4215-4DCF-B5E3-4309048575EF}"/>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D65C3713-9C0A-4261-8A49-FD53DB13CE61}"/>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9426" name="Rectangle 2">
            <a:extLst>
              <a:ext uri="{FF2B5EF4-FFF2-40B4-BE49-F238E27FC236}">
                <a16:creationId xmlns:a16="http://schemas.microsoft.com/office/drawing/2014/main" id="{1CB03E55-79C4-4B2F-9FEB-7C1B10CD5B2F}"/>
              </a:ext>
            </a:extLst>
          </p:cNvPr>
          <p:cNvSpPr>
            <a:spLocks noGrp="1" noChangeArrowheads="1"/>
          </p:cNvSpPr>
          <p:nvPr>
            <p:ph type="title"/>
          </p:nvPr>
        </p:nvSpPr>
        <p:spPr/>
        <p:txBody>
          <a:bodyPr/>
          <a:lstStyle/>
          <a:p>
            <a:pPr eaLnBrk="1" hangingPunct="1">
              <a:defRPr/>
            </a:pPr>
            <a:r>
              <a:rPr lang="en-US" sz="4000"/>
              <a:t>Bài tập (tiếp)</a:t>
            </a:r>
          </a:p>
        </p:txBody>
      </p:sp>
      <p:sp>
        <p:nvSpPr>
          <p:cNvPr id="359427" name="Rectangle 3">
            <a:extLst>
              <a:ext uri="{FF2B5EF4-FFF2-40B4-BE49-F238E27FC236}">
                <a16:creationId xmlns:a16="http://schemas.microsoft.com/office/drawing/2014/main" id="{0A49E59C-5217-435C-BBE8-1C88432AFAFF}"/>
              </a:ext>
            </a:extLst>
          </p:cNvPr>
          <p:cNvSpPr>
            <a:spLocks noGrp="1" noChangeArrowheads="1"/>
          </p:cNvSpPr>
          <p:nvPr>
            <p:ph type="body" sz="half" idx="1"/>
          </p:nvPr>
        </p:nvSpPr>
        <p:spPr>
          <a:xfrm>
            <a:off x="457200" y="1382713"/>
            <a:ext cx="8229600" cy="2185987"/>
          </a:xfrm>
        </p:spPr>
        <p:txBody>
          <a:bodyPr/>
          <a:lstStyle/>
          <a:p>
            <a:pPr eaLnBrk="1" hangingPunct="1">
              <a:buFont typeface="Wingdings" panose="05000000000000000000" pitchFamily="2" charset="2"/>
              <a:buNone/>
              <a:defRPr/>
            </a:pPr>
            <a:r>
              <a:rPr lang="en-US" sz="2400"/>
              <a:t>Bài 2. Cho cây nhị phân dưới đây. Hãy</a:t>
            </a:r>
          </a:p>
          <a:p>
            <a:pPr lvl="1" eaLnBrk="1" hangingPunct="1">
              <a:defRPr/>
            </a:pPr>
            <a:r>
              <a:rPr lang="en-US" sz="2000"/>
              <a:t>Vẽ sơ đồ lưu trữ cây nhị phân ở dạng lưu trữ kế tiếp và lưu trữ liên kết</a:t>
            </a:r>
          </a:p>
          <a:p>
            <a:pPr lvl="1" eaLnBrk="1" hangingPunct="1">
              <a:defRPr/>
            </a:pPr>
            <a:r>
              <a:rPr lang="en-US" sz="2000"/>
              <a:t>Cho biết thứ tự các nút khi duyệt cây nhị phân đó theo 3 cách.</a:t>
            </a:r>
          </a:p>
        </p:txBody>
      </p:sp>
      <p:pic>
        <p:nvPicPr>
          <p:cNvPr id="33798" name="Picture 5">
            <a:extLst>
              <a:ext uri="{FF2B5EF4-FFF2-40B4-BE49-F238E27FC236}">
                <a16:creationId xmlns:a16="http://schemas.microsoft.com/office/drawing/2014/main" id="{CEE22C91-5929-46C9-A5AE-4DA448C1403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286000" y="3651250"/>
            <a:ext cx="5138738" cy="2578100"/>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2A435537-B3EF-4943-AFC5-B762EFC265C7}"/>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4F9D653B-89D0-4555-AFCA-C01FAAC3B726}" type="slidenum">
              <a:rPr lang="en-US" altLang="en-US" sz="1000" smtClean="0"/>
              <a:pPr>
                <a:spcBef>
                  <a:spcPct val="0"/>
                </a:spcBef>
                <a:buClrTx/>
                <a:buSzTx/>
                <a:buFontTx/>
                <a:buNone/>
                <a:defRPr/>
              </a:pPr>
              <a:t>35</a:t>
            </a:fld>
            <a:endParaRPr lang="en-US" altLang="en-US"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B85B532-913E-4D3D-9979-B62DDA8221AA}"/>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4269E97B-46C1-4699-A256-5B1D1B8CAF4A}"/>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4306" name="Rectangle 2">
            <a:extLst>
              <a:ext uri="{FF2B5EF4-FFF2-40B4-BE49-F238E27FC236}">
                <a16:creationId xmlns:a16="http://schemas.microsoft.com/office/drawing/2014/main" id="{42EC51E2-E595-4CB2-B619-907CBF23615B}"/>
              </a:ext>
            </a:extLst>
          </p:cNvPr>
          <p:cNvSpPr>
            <a:spLocks noGrp="1" noChangeArrowheads="1"/>
          </p:cNvSpPr>
          <p:nvPr>
            <p:ph type="title"/>
          </p:nvPr>
        </p:nvSpPr>
        <p:spPr/>
        <p:txBody>
          <a:bodyPr/>
          <a:lstStyle/>
          <a:p>
            <a:pPr eaLnBrk="1" hangingPunct="1">
              <a:defRPr/>
            </a:pPr>
            <a:r>
              <a:rPr lang="en-US" b="1"/>
              <a:t>3. Cây tổng quát</a:t>
            </a:r>
            <a:endParaRPr lang="en-US"/>
          </a:p>
        </p:txBody>
      </p:sp>
      <p:sp>
        <p:nvSpPr>
          <p:cNvPr id="354307" name="Rectangle 3">
            <a:extLst>
              <a:ext uri="{FF2B5EF4-FFF2-40B4-BE49-F238E27FC236}">
                <a16:creationId xmlns:a16="http://schemas.microsoft.com/office/drawing/2014/main" id="{E1640ECB-4B96-4458-BFFA-11A803479574}"/>
              </a:ext>
            </a:extLst>
          </p:cNvPr>
          <p:cNvSpPr>
            <a:spLocks noGrp="1" noChangeArrowheads="1"/>
          </p:cNvSpPr>
          <p:nvPr>
            <p:ph type="body" idx="1"/>
          </p:nvPr>
        </p:nvSpPr>
        <p:spPr/>
        <p:txBody>
          <a:bodyPr/>
          <a:lstStyle/>
          <a:p>
            <a:pPr eaLnBrk="1" hangingPunct="1">
              <a:lnSpc>
                <a:spcPct val="80000"/>
              </a:lnSpc>
              <a:defRPr/>
            </a:pPr>
            <a:r>
              <a:rPr lang="en-US" sz="2800"/>
              <a:t>Cây tổng quát là cây có </a:t>
            </a:r>
            <a:r>
              <a:rPr lang="en-US" sz="2800">
                <a:hlinkClick r:id="rId2" action="ppaction://hlinksldjump"/>
              </a:rPr>
              <a:t>cấp</a:t>
            </a:r>
            <a:r>
              <a:rPr lang="en-US" sz="2800"/>
              <a:t> m nào đó.</a:t>
            </a:r>
          </a:p>
          <a:p>
            <a:pPr eaLnBrk="1" hangingPunct="1">
              <a:lnSpc>
                <a:spcPct val="80000"/>
              </a:lnSpc>
              <a:defRPr/>
            </a:pPr>
            <a:r>
              <a:rPr lang="en-US" sz="2800"/>
              <a:t>Nếu biểu diễn cây tổng quát bằng danh sách liên kết thì một nút có bao nhiêu nhánh sẽ có bấy nhiêu trường liên kết, cách biểu diễn này phức tạp. Nếu biểu diễn cây bằng mảng thì quá trình xử lý cũng rất phức tạp.</a:t>
            </a:r>
          </a:p>
          <a:p>
            <a:pPr eaLnBrk="1" hangingPunct="1">
              <a:lnSpc>
                <a:spcPct val="80000"/>
              </a:lnSpc>
              <a:defRPr/>
            </a:pPr>
            <a:r>
              <a:rPr lang="en-US" sz="2800"/>
              <a:t>Để đơn giản ta biểu diễn cây tổng quát bằng cây nhị phân. Ta nhận thấy với bất kỳ nút nào trên cây tổng quát nếu có thì chỉ có:</a:t>
            </a:r>
          </a:p>
          <a:p>
            <a:pPr lvl="1" eaLnBrk="1" hangingPunct="1">
              <a:lnSpc>
                <a:spcPct val="80000"/>
              </a:lnSpc>
              <a:defRPr/>
            </a:pPr>
            <a:r>
              <a:rPr lang="en-US" sz="2400"/>
              <a:t>Một nút con cực trái (con cả)</a:t>
            </a:r>
          </a:p>
          <a:p>
            <a:pPr lvl="1" eaLnBrk="1" hangingPunct="1">
              <a:lnSpc>
                <a:spcPct val="80000"/>
              </a:lnSpc>
              <a:defRPr/>
            </a:pPr>
            <a:r>
              <a:rPr lang="en-US" sz="2400"/>
              <a:t>Một nút em kề cận phải</a:t>
            </a:r>
          </a:p>
        </p:txBody>
      </p:sp>
      <p:sp>
        <p:nvSpPr>
          <p:cNvPr id="2" name="Slide Number Placeholder 1">
            <a:extLst>
              <a:ext uri="{FF2B5EF4-FFF2-40B4-BE49-F238E27FC236}">
                <a16:creationId xmlns:a16="http://schemas.microsoft.com/office/drawing/2014/main" id="{F3D28921-D171-42D5-BBE2-F27957699A4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75873CA2-CEF9-4597-8565-0136A16E5A8B}" type="slidenum">
              <a:rPr lang="en-US" altLang="en-US" sz="1000" smtClean="0"/>
              <a:pPr>
                <a:spcBef>
                  <a:spcPct val="0"/>
                </a:spcBef>
                <a:buClrTx/>
                <a:buSzTx/>
                <a:buFontTx/>
                <a:buNone/>
                <a:defRPr/>
              </a:pPr>
              <a:t>36</a:t>
            </a:fld>
            <a:endParaRPr lang="en-US" altLang="en-US"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4">
            <a:extLst>
              <a:ext uri="{FF2B5EF4-FFF2-40B4-BE49-F238E27FC236}">
                <a16:creationId xmlns:a16="http://schemas.microsoft.com/office/drawing/2014/main" id="{9FF06DCC-67ED-4CA7-A0DE-1B98BD35CCDE}"/>
              </a:ext>
            </a:extLst>
          </p:cNvPr>
          <p:cNvSpPr>
            <a:spLocks noGrp="1"/>
          </p:cNvSpPr>
          <p:nvPr>
            <p:ph type="dt" sz="quarter" idx="10"/>
          </p:nvPr>
        </p:nvSpPr>
        <p:spPr/>
        <p:txBody>
          <a:bodyPr/>
          <a:lstStyle/>
          <a:p>
            <a:pPr>
              <a:defRPr/>
            </a:pPr>
            <a:r>
              <a:rPr lang="en-US"/>
              <a:t>Ngô Công Thắng</a:t>
            </a:r>
          </a:p>
        </p:txBody>
      </p:sp>
      <p:sp>
        <p:nvSpPr>
          <p:cNvPr id="7" name="Footer Placeholder 5">
            <a:extLst>
              <a:ext uri="{FF2B5EF4-FFF2-40B4-BE49-F238E27FC236}">
                <a16:creationId xmlns:a16="http://schemas.microsoft.com/office/drawing/2014/main" id="{4D8ECEE8-4C57-4903-904D-00C80BB6DB5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55330" name="Rectangle 2">
            <a:extLst>
              <a:ext uri="{FF2B5EF4-FFF2-40B4-BE49-F238E27FC236}">
                <a16:creationId xmlns:a16="http://schemas.microsoft.com/office/drawing/2014/main" id="{EA0A496D-0B03-46B4-8CC2-FBAE7ED5E0E5}"/>
              </a:ext>
            </a:extLst>
          </p:cNvPr>
          <p:cNvSpPr>
            <a:spLocks noGrp="1" noChangeArrowheads="1"/>
          </p:cNvSpPr>
          <p:nvPr>
            <p:ph type="title"/>
          </p:nvPr>
        </p:nvSpPr>
        <p:spPr/>
        <p:txBody>
          <a:bodyPr/>
          <a:lstStyle/>
          <a:p>
            <a:pPr eaLnBrk="1" hangingPunct="1">
              <a:defRPr/>
            </a:pPr>
            <a:r>
              <a:rPr lang="en-US" sz="4000" b="1"/>
              <a:t>3. Cây tổng quát</a:t>
            </a:r>
            <a:endParaRPr lang="en-US" sz="4000"/>
          </a:p>
        </p:txBody>
      </p:sp>
      <p:sp>
        <p:nvSpPr>
          <p:cNvPr id="355331" name="Rectangle 3">
            <a:extLst>
              <a:ext uri="{FF2B5EF4-FFF2-40B4-BE49-F238E27FC236}">
                <a16:creationId xmlns:a16="http://schemas.microsoft.com/office/drawing/2014/main" id="{AE81FEAD-F1B1-4E6D-8471-4F4A05B9A623}"/>
              </a:ext>
            </a:extLst>
          </p:cNvPr>
          <p:cNvSpPr>
            <a:spLocks noGrp="1" noChangeArrowheads="1"/>
          </p:cNvSpPr>
          <p:nvPr>
            <p:ph type="body" sz="half" idx="1"/>
          </p:nvPr>
        </p:nvSpPr>
        <p:spPr/>
        <p:txBody>
          <a:bodyPr/>
          <a:lstStyle/>
          <a:p>
            <a:pPr eaLnBrk="1" hangingPunct="1">
              <a:lnSpc>
                <a:spcPct val="90000"/>
              </a:lnSpc>
              <a:defRPr/>
            </a:pPr>
            <a:r>
              <a:rPr lang="fr-FR" sz="2800"/>
              <a:t>Khi chuyển sang cây nhị phân tương đương, mỗi nút có con trái là con cực trái, con phải là em kề cận phải.</a:t>
            </a:r>
            <a:endParaRPr lang="en-US" sz="2800"/>
          </a:p>
          <a:p>
            <a:pPr eaLnBrk="1" hangingPunct="1">
              <a:lnSpc>
                <a:spcPct val="90000"/>
              </a:lnSpc>
              <a:defRPr/>
            </a:pPr>
            <a:r>
              <a:rPr lang="fr-FR" sz="2800"/>
              <a:t>Mỗi nút của cây tổng quát có có qui cách như sau:</a:t>
            </a:r>
            <a:endParaRPr lang="en-US" sz="2800"/>
          </a:p>
        </p:txBody>
      </p:sp>
      <p:pic>
        <p:nvPicPr>
          <p:cNvPr id="35846" name="Picture 5">
            <a:extLst>
              <a:ext uri="{FF2B5EF4-FFF2-40B4-BE49-F238E27FC236}">
                <a16:creationId xmlns:a16="http://schemas.microsoft.com/office/drawing/2014/main" id="{0E8D03B7-CD31-43D3-B52B-21337D0A13B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b="1459"/>
          <a:stretch>
            <a:fillRect/>
          </a:stretch>
        </p:blipFill>
        <p:spPr>
          <a:xfrm>
            <a:off x="877888" y="3957638"/>
            <a:ext cx="7454900" cy="1930400"/>
          </a:xfrm>
          <a:noFill/>
          <a:extLst>
            <a:ext uri="{909E8E84-426E-40DD-AFC4-6F175D3DCCD1}">
              <a14:hiddenFill xmlns:a14="http://schemas.microsoft.com/office/drawing/2010/main">
                <a:solidFill>
                  <a:srgbClr val="FFFFFF"/>
                </a:solidFill>
              </a14:hiddenFill>
            </a:ext>
          </a:extLst>
        </p:spPr>
      </p:pic>
      <p:sp>
        <p:nvSpPr>
          <p:cNvPr id="35847" name="AutoShape 6">
            <a:hlinkClick r:id="" action="ppaction://hlinkshowjump?jump=lastslideviewed" highlightClick="1"/>
            <a:extLst>
              <a:ext uri="{FF2B5EF4-FFF2-40B4-BE49-F238E27FC236}">
                <a16:creationId xmlns:a16="http://schemas.microsoft.com/office/drawing/2014/main" id="{642D2AA7-9A5E-411C-A087-5CA8BE359839}"/>
              </a:ext>
            </a:extLst>
          </p:cNvPr>
          <p:cNvSpPr>
            <a:spLocks noChangeArrowheads="1"/>
          </p:cNvSpPr>
          <p:nvPr/>
        </p:nvSpPr>
        <p:spPr bwMode="auto">
          <a:xfrm>
            <a:off x="7750175" y="6372225"/>
            <a:ext cx="392113" cy="260350"/>
          </a:xfrm>
          <a:prstGeom prst="actionButtonReturn">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316A86C7-60DE-46DB-B81B-CEEE7704790D}"/>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F8A3D7F7-BBAB-45D6-93AD-672FD8733644}" type="slidenum">
              <a:rPr lang="en-US" altLang="en-US" sz="1000" smtClean="0"/>
              <a:pPr>
                <a:spcBef>
                  <a:spcPct val="0"/>
                </a:spcBef>
                <a:buClrTx/>
                <a:buSzTx/>
                <a:buFontTx/>
                <a:buNone/>
                <a:defRPr/>
              </a:pPr>
              <a:t>37</a:t>
            </a:fld>
            <a:endParaRPr lang="en-US" altLang="en-US"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4">
            <a:extLst>
              <a:ext uri="{FF2B5EF4-FFF2-40B4-BE49-F238E27FC236}">
                <a16:creationId xmlns:a16="http://schemas.microsoft.com/office/drawing/2014/main" id="{DBBD468A-57F1-41CF-8B8C-0BDD027950F5}"/>
              </a:ext>
            </a:extLst>
          </p:cNvPr>
          <p:cNvSpPr>
            <a:spLocks noGrp="1"/>
          </p:cNvSpPr>
          <p:nvPr>
            <p:ph type="dt" sz="quarter" idx="10"/>
          </p:nvPr>
        </p:nvSpPr>
        <p:spPr/>
        <p:txBody>
          <a:bodyPr/>
          <a:lstStyle/>
          <a:p>
            <a:pPr>
              <a:defRPr/>
            </a:pPr>
            <a:r>
              <a:rPr lang="en-US"/>
              <a:t>Ngô Công Thắng</a:t>
            </a:r>
          </a:p>
        </p:txBody>
      </p:sp>
      <p:sp>
        <p:nvSpPr>
          <p:cNvPr id="9" name="Footer Placeholder 5">
            <a:extLst>
              <a:ext uri="{FF2B5EF4-FFF2-40B4-BE49-F238E27FC236}">
                <a16:creationId xmlns:a16="http://schemas.microsoft.com/office/drawing/2014/main" id="{88F5609C-4138-4248-B938-EC8D83614C52}"/>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66594" name="Rectangle 2">
            <a:extLst>
              <a:ext uri="{FF2B5EF4-FFF2-40B4-BE49-F238E27FC236}">
                <a16:creationId xmlns:a16="http://schemas.microsoft.com/office/drawing/2014/main" id="{D005BE5C-62D5-4503-B036-B4CAE5C4B367}"/>
              </a:ext>
            </a:extLst>
          </p:cNvPr>
          <p:cNvSpPr>
            <a:spLocks noGrp="1" noChangeArrowheads="1"/>
          </p:cNvSpPr>
          <p:nvPr>
            <p:ph type="title"/>
          </p:nvPr>
        </p:nvSpPr>
        <p:spPr/>
        <p:txBody>
          <a:bodyPr/>
          <a:lstStyle/>
          <a:p>
            <a:pPr eaLnBrk="1" hangingPunct="1">
              <a:defRPr/>
            </a:pPr>
            <a:r>
              <a:rPr lang="en-US"/>
              <a:t>Ví dụ:</a:t>
            </a:r>
          </a:p>
        </p:txBody>
      </p:sp>
      <p:pic>
        <p:nvPicPr>
          <p:cNvPr id="36869" name="Picture 6">
            <a:extLst>
              <a:ext uri="{FF2B5EF4-FFF2-40B4-BE49-F238E27FC236}">
                <a16:creationId xmlns:a16="http://schemas.microsoft.com/office/drawing/2014/main" id="{A98E5997-1890-4992-905B-1B184163287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41313" y="1700213"/>
            <a:ext cx="3979862" cy="3808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870" name="Picture 7">
            <a:extLst>
              <a:ext uri="{FF2B5EF4-FFF2-40B4-BE49-F238E27FC236}">
                <a16:creationId xmlns:a16="http://schemas.microsoft.com/office/drawing/2014/main" id="{B0F5D43C-2EB0-4A6F-A2F0-B4BFC49EAE5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21263" y="1397000"/>
            <a:ext cx="3813175" cy="4610100"/>
          </a:xfrm>
          <a:noFill/>
          <a:extLst>
            <a:ext uri="{909E8E84-426E-40DD-AFC4-6F175D3DCCD1}">
              <a14:hiddenFill xmlns:a14="http://schemas.microsoft.com/office/drawing/2010/main">
                <a:solidFill>
                  <a:srgbClr val="FFFFFF"/>
                </a:solidFill>
              </a14:hiddenFill>
            </a:ext>
          </a:extLst>
        </p:spPr>
      </p:pic>
      <p:sp>
        <p:nvSpPr>
          <p:cNvPr id="36871" name="AutoShape 8">
            <a:hlinkClick r:id="rId4" action="ppaction://hlinksldjump"/>
            <a:extLst>
              <a:ext uri="{FF2B5EF4-FFF2-40B4-BE49-F238E27FC236}">
                <a16:creationId xmlns:a16="http://schemas.microsoft.com/office/drawing/2014/main" id="{0356D1AB-582D-4414-B5AC-B2EF05772BCA}"/>
              </a:ext>
            </a:extLst>
          </p:cNvPr>
          <p:cNvSpPr>
            <a:spLocks noChangeArrowheads="1"/>
          </p:cNvSpPr>
          <p:nvPr/>
        </p:nvSpPr>
        <p:spPr bwMode="auto">
          <a:xfrm>
            <a:off x="4397375" y="3513138"/>
            <a:ext cx="538163" cy="463550"/>
          </a:xfrm>
          <a:prstGeom prst="rightArrow">
            <a:avLst>
              <a:gd name="adj1" fmla="val 50000"/>
              <a:gd name="adj2" fmla="val 29024"/>
            </a:avLst>
          </a:prstGeom>
          <a:solidFill>
            <a:schemeClr val="accent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36872" name="Text Box 9">
            <a:extLst>
              <a:ext uri="{FF2B5EF4-FFF2-40B4-BE49-F238E27FC236}">
                <a16:creationId xmlns:a16="http://schemas.microsoft.com/office/drawing/2014/main" id="{C0B7C359-A72C-40EA-A918-1191C2A0D257}"/>
              </a:ext>
            </a:extLst>
          </p:cNvPr>
          <p:cNvSpPr txBox="1">
            <a:spLocks noChangeArrowheads="1"/>
          </p:cNvSpPr>
          <p:nvPr/>
        </p:nvSpPr>
        <p:spPr bwMode="auto">
          <a:xfrm>
            <a:off x="2598738" y="1801813"/>
            <a:ext cx="16398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solidFill>
                  <a:schemeClr val="bg1"/>
                </a:solidFill>
              </a:rPr>
              <a:t>Cây tổng quát</a:t>
            </a:r>
          </a:p>
        </p:txBody>
      </p:sp>
      <p:sp>
        <p:nvSpPr>
          <p:cNvPr id="36873" name="Text Box 10">
            <a:extLst>
              <a:ext uri="{FF2B5EF4-FFF2-40B4-BE49-F238E27FC236}">
                <a16:creationId xmlns:a16="http://schemas.microsoft.com/office/drawing/2014/main" id="{69E52C1D-B2A3-4304-AB0C-BD7D232F6E66}"/>
              </a:ext>
            </a:extLst>
          </p:cNvPr>
          <p:cNvSpPr txBox="1">
            <a:spLocks noChangeArrowheads="1"/>
          </p:cNvSpPr>
          <p:nvPr/>
        </p:nvSpPr>
        <p:spPr bwMode="auto">
          <a:xfrm>
            <a:off x="5081588" y="1598613"/>
            <a:ext cx="16398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solidFill>
                  <a:schemeClr val="bg1"/>
                </a:solidFill>
              </a:rPr>
              <a:t>Cây nhị phân tương đương</a:t>
            </a:r>
          </a:p>
        </p:txBody>
      </p:sp>
      <p:sp>
        <p:nvSpPr>
          <p:cNvPr id="2" name="Slide Number Placeholder 1">
            <a:extLst>
              <a:ext uri="{FF2B5EF4-FFF2-40B4-BE49-F238E27FC236}">
                <a16:creationId xmlns:a16="http://schemas.microsoft.com/office/drawing/2014/main" id="{9067D791-54F8-4A58-AF46-C3BF207A5372}"/>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A284A573-3EF4-49D7-9BA8-F0F618411B65}" type="slidenum">
              <a:rPr lang="en-US" altLang="en-US" sz="1000" smtClean="0"/>
              <a:pPr>
                <a:spcBef>
                  <a:spcPct val="0"/>
                </a:spcBef>
                <a:buClrTx/>
                <a:buSzTx/>
                <a:buFontTx/>
                <a:buNone/>
                <a:defRPr/>
              </a:pPr>
              <a:t>38</a:t>
            </a:fld>
            <a:endParaRPr lang="en-US" altLang="en-US"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017A0D-EC6E-4AEB-8CD1-F3E8AF4A2779}"/>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328A6CC8-31E2-455D-A29E-BE3D16BDFA56}"/>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63522" name="Rectangle 2">
            <a:extLst>
              <a:ext uri="{FF2B5EF4-FFF2-40B4-BE49-F238E27FC236}">
                <a16:creationId xmlns:a16="http://schemas.microsoft.com/office/drawing/2014/main" id="{78AB3AFE-BADB-4270-81F9-06FA59B85F47}"/>
              </a:ext>
            </a:extLst>
          </p:cNvPr>
          <p:cNvSpPr>
            <a:spLocks noGrp="1" noChangeArrowheads="1"/>
          </p:cNvSpPr>
          <p:nvPr>
            <p:ph type="title"/>
          </p:nvPr>
        </p:nvSpPr>
        <p:spPr/>
        <p:txBody>
          <a:bodyPr/>
          <a:lstStyle/>
          <a:p>
            <a:pPr eaLnBrk="1" hangingPunct="1">
              <a:defRPr/>
            </a:pPr>
            <a:r>
              <a:rPr lang="en-US" sz="4000" b="1"/>
              <a:t>3. Cây tổng quát</a:t>
            </a:r>
            <a:endParaRPr lang="en-US" sz="4000"/>
          </a:p>
        </p:txBody>
      </p:sp>
      <p:sp>
        <p:nvSpPr>
          <p:cNvPr id="363524" name="Rectangle 4">
            <a:extLst>
              <a:ext uri="{FF2B5EF4-FFF2-40B4-BE49-F238E27FC236}">
                <a16:creationId xmlns:a16="http://schemas.microsoft.com/office/drawing/2014/main" id="{90939D6C-E07F-41F3-A5C8-C9A00CCB41D4}"/>
              </a:ext>
            </a:extLst>
          </p:cNvPr>
          <p:cNvSpPr>
            <a:spLocks noGrp="1" noChangeArrowheads="1"/>
          </p:cNvSpPr>
          <p:nvPr>
            <p:ph type="body" idx="1"/>
          </p:nvPr>
        </p:nvSpPr>
        <p:spPr/>
        <p:txBody>
          <a:bodyPr/>
          <a:lstStyle/>
          <a:p>
            <a:pPr eaLnBrk="1" hangingPunct="1">
              <a:defRPr/>
            </a:pPr>
            <a:r>
              <a:rPr lang="en-US"/>
              <a:t>Sau khi chuyển thành cây nhị phân tương đương ta có thể lưu trữ cây tổng quát bằng danh sách liên kết.</a:t>
            </a:r>
          </a:p>
          <a:p>
            <a:pPr eaLnBrk="1" hangingPunct="1">
              <a:defRPr/>
            </a:pPr>
            <a:r>
              <a:rPr lang="en-US"/>
              <a:t>Duyệt cây tổng quát sử dụng các phép duyệt cây nhị phân tương đương.</a:t>
            </a:r>
          </a:p>
        </p:txBody>
      </p:sp>
      <p:sp>
        <p:nvSpPr>
          <p:cNvPr id="2" name="Slide Number Placeholder 1">
            <a:extLst>
              <a:ext uri="{FF2B5EF4-FFF2-40B4-BE49-F238E27FC236}">
                <a16:creationId xmlns:a16="http://schemas.microsoft.com/office/drawing/2014/main" id="{31DF7C15-B62C-493A-8F72-3254303363FB}"/>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BB52FB97-4BC1-4671-915B-3EE5CE876D1C}" type="slidenum">
              <a:rPr lang="en-US" altLang="en-US" sz="1000" smtClean="0"/>
              <a:pPr>
                <a:spcBef>
                  <a:spcPct val="0"/>
                </a:spcBef>
                <a:buClrTx/>
                <a:buSzTx/>
                <a:buFontTx/>
                <a:buNone/>
                <a:defRPr/>
              </a:pPr>
              <a:t>39</a:t>
            </a:fld>
            <a:endParaRPr lang="en-US" altLang="en-US" sz="1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33871DD-DA2C-49DE-8B1F-B9413B019404}"/>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AB491FDD-6EFC-49D2-BC6E-8A7B4864AE4E}"/>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71714" name="Rectangle 2">
            <a:extLst>
              <a:ext uri="{FF2B5EF4-FFF2-40B4-BE49-F238E27FC236}">
                <a16:creationId xmlns:a16="http://schemas.microsoft.com/office/drawing/2014/main" id="{4530129D-AFC9-4719-BD1D-AC9D8287B92A}"/>
              </a:ext>
            </a:extLst>
          </p:cNvPr>
          <p:cNvSpPr>
            <a:spLocks noGrp="1" noChangeArrowheads="1"/>
          </p:cNvSpPr>
          <p:nvPr>
            <p:ph type="title"/>
          </p:nvPr>
        </p:nvSpPr>
        <p:spPr/>
        <p:txBody>
          <a:bodyPr/>
          <a:lstStyle/>
          <a:p>
            <a:pPr eaLnBrk="1" hangingPunct="1">
              <a:defRPr/>
            </a:pPr>
            <a:r>
              <a:rPr lang="en-US"/>
              <a:t>4. Ứng dụng</a:t>
            </a:r>
          </a:p>
        </p:txBody>
      </p:sp>
      <p:sp>
        <p:nvSpPr>
          <p:cNvPr id="371715" name="Rectangle 3">
            <a:extLst>
              <a:ext uri="{FF2B5EF4-FFF2-40B4-BE49-F238E27FC236}">
                <a16:creationId xmlns:a16="http://schemas.microsoft.com/office/drawing/2014/main" id="{BF60B660-3716-4FD9-A3EE-A44E50B3A795}"/>
              </a:ext>
            </a:extLst>
          </p:cNvPr>
          <p:cNvSpPr>
            <a:spLocks noGrp="1" noChangeArrowheads="1"/>
          </p:cNvSpPr>
          <p:nvPr>
            <p:ph type="body" sz="half" idx="1"/>
          </p:nvPr>
        </p:nvSpPr>
        <p:spPr/>
        <p:txBody>
          <a:bodyPr/>
          <a:lstStyle/>
          <a:p>
            <a:pPr eaLnBrk="1" hangingPunct="1">
              <a:buFont typeface="Wingdings" panose="05000000000000000000" pitchFamily="2" charset="2"/>
              <a:buNone/>
              <a:defRPr/>
            </a:pPr>
            <a:r>
              <a:rPr lang="en-US" sz="2800"/>
              <a:t>4.1. Cây biểu diễn biểu thức</a:t>
            </a:r>
          </a:p>
          <a:p>
            <a:pPr eaLnBrk="1" hangingPunct="1">
              <a:defRPr/>
            </a:pPr>
            <a:r>
              <a:rPr lang="en-US" sz="2800"/>
              <a:t>Biểu thức số học với các phép toán 2 ngôi như + - * / có thể biểu diễn bởi cây nhị phân có các nút với quy cách như sau:</a:t>
            </a:r>
          </a:p>
        </p:txBody>
      </p:sp>
      <p:pic>
        <p:nvPicPr>
          <p:cNvPr id="38918" name="Picture 5">
            <a:extLst>
              <a:ext uri="{FF2B5EF4-FFF2-40B4-BE49-F238E27FC236}">
                <a16:creationId xmlns:a16="http://schemas.microsoft.com/office/drawing/2014/main" id="{A5566DBB-D51A-4A39-96A9-7EE18686411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981075" y="3621088"/>
            <a:ext cx="7300913" cy="1511300"/>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03C40EE-BDB0-49E8-9DC7-FCAAB30B0443}"/>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C93B0B1C-D8E0-41E8-96D2-5339462E0E21}" type="slidenum">
              <a:rPr lang="en-US" altLang="en-US" sz="1000" smtClean="0"/>
              <a:pPr>
                <a:spcBef>
                  <a:spcPct val="0"/>
                </a:spcBef>
                <a:buClrTx/>
                <a:buSzTx/>
                <a:buFontTx/>
                <a:buNone/>
                <a:defRPr/>
              </a:pPr>
              <a:t>40</a:t>
            </a:fld>
            <a:endParaRPr lang="en-US" altLang="en-US" sz="1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E18587F-9F8D-4068-8DA9-BEE48982D46E}"/>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2BE6DC1C-6657-49C8-A648-C4397B885173}"/>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73762" name="Rectangle 2">
            <a:extLst>
              <a:ext uri="{FF2B5EF4-FFF2-40B4-BE49-F238E27FC236}">
                <a16:creationId xmlns:a16="http://schemas.microsoft.com/office/drawing/2014/main" id="{2F779BEC-B3B7-4C20-A295-9A2045671AA3}"/>
              </a:ext>
            </a:extLst>
          </p:cNvPr>
          <p:cNvSpPr>
            <a:spLocks noGrp="1" noChangeArrowheads="1"/>
          </p:cNvSpPr>
          <p:nvPr>
            <p:ph type="title"/>
          </p:nvPr>
        </p:nvSpPr>
        <p:spPr/>
        <p:txBody>
          <a:bodyPr/>
          <a:lstStyle/>
          <a:p>
            <a:pPr eaLnBrk="1" hangingPunct="1">
              <a:defRPr/>
            </a:pPr>
            <a:r>
              <a:rPr lang="en-US" sz="4000"/>
              <a:t>4.1. Cây biểu diễn biểu thức (</a:t>
            </a:r>
            <a:r>
              <a:rPr lang="en-US" sz="4000" i="1"/>
              <a:t>tiếp</a:t>
            </a:r>
            <a:r>
              <a:rPr lang="en-US" sz="4000"/>
              <a:t>)</a:t>
            </a:r>
          </a:p>
        </p:txBody>
      </p:sp>
      <p:sp>
        <p:nvSpPr>
          <p:cNvPr id="373763" name="Rectangle 3">
            <a:extLst>
              <a:ext uri="{FF2B5EF4-FFF2-40B4-BE49-F238E27FC236}">
                <a16:creationId xmlns:a16="http://schemas.microsoft.com/office/drawing/2014/main" id="{DEB372BE-8350-42E9-8A20-B53DCF0E28E4}"/>
              </a:ext>
            </a:extLst>
          </p:cNvPr>
          <p:cNvSpPr>
            <a:spLocks noGrp="1" noChangeArrowheads="1"/>
          </p:cNvSpPr>
          <p:nvPr>
            <p:ph type="body" sz="half" idx="2"/>
          </p:nvPr>
        </p:nvSpPr>
        <p:spPr>
          <a:xfrm>
            <a:off x="457200" y="2759075"/>
            <a:ext cx="8229600" cy="3513138"/>
          </a:xfrm>
        </p:spPr>
        <p:txBody>
          <a:bodyPr/>
          <a:lstStyle/>
          <a:p>
            <a:pPr eaLnBrk="1" hangingPunct="1">
              <a:defRPr/>
            </a:pPr>
            <a:r>
              <a:rPr lang="en-US" sz="2400"/>
              <a:t>Nếu không phải nút lá thì giá trị của TYPE sẽ là 1, 2, 3, 4, 5 ứng với các phép +, - , *, /, </a:t>
            </a:r>
            <a:r>
              <a:rPr lang="en-US" sz="2400">
                <a:sym typeface="Symbol" pitchFamily="18" charset="2"/>
              </a:rPr>
              <a:t> (</a:t>
            </a:r>
            <a:r>
              <a:rPr lang="en-US" sz="2400"/>
              <a:t>đổi dấu).</a:t>
            </a:r>
          </a:p>
          <a:p>
            <a:pPr eaLnBrk="1" hangingPunct="1">
              <a:defRPr/>
            </a:pPr>
            <a:r>
              <a:rPr lang="en-US" sz="2400"/>
              <a:t>Nếu là nút lá thì TYPE có giá trị là 0 để chỉ biến hoặc hằng tương ứng với nút đó, còn RPTR trỏ tới địa chỉ trong bảng ký hiệu của biến hoặc hằng và LPTL = Null.</a:t>
            </a:r>
          </a:p>
          <a:p>
            <a:pPr eaLnBrk="1" hangingPunct="1">
              <a:defRPr/>
            </a:pPr>
            <a:r>
              <a:rPr lang="en-US" sz="2400"/>
              <a:t>Ta kí hiệu   Value(F) là giá trị ô F</a:t>
            </a:r>
          </a:p>
          <a:p>
            <a:pPr eaLnBrk="1" hangingPunct="1">
              <a:defRPr/>
            </a:pPr>
            <a:r>
              <a:rPr lang="fr-FR" sz="2400"/>
              <a:t>E là con trỏ trỏ tới gốc cây.</a:t>
            </a:r>
          </a:p>
          <a:p>
            <a:pPr eaLnBrk="1" hangingPunct="1">
              <a:defRPr/>
            </a:pPr>
            <a:r>
              <a:rPr lang="fr-FR" sz="2400"/>
              <a:t>F là con trỏ phụ.</a:t>
            </a:r>
            <a:endParaRPr lang="en-US" sz="2400"/>
          </a:p>
        </p:txBody>
      </p:sp>
      <p:pic>
        <p:nvPicPr>
          <p:cNvPr id="39942" name="Picture 5">
            <a:extLst>
              <a:ext uri="{FF2B5EF4-FFF2-40B4-BE49-F238E27FC236}">
                <a16:creationId xmlns:a16="http://schemas.microsoft.com/office/drawing/2014/main" id="{E87E7379-97BB-4AB3-8B34-BE2C3EB9C88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219200" y="1335088"/>
            <a:ext cx="6265863" cy="12969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Slide Number Placeholder 1">
            <a:extLst>
              <a:ext uri="{FF2B5EF4-FFF2-40B4-BE49-F238E27FC236}">
                <a16:creationId xmlns:a16="http://schemas.microsoft.com/office/drawing/2014/main" id="{E81DA7FD-55CD-4E0E-8293-E42BCF5B60E4}"/>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AA9B6F3C-C4B8-4195-8E90-DC7A3842F4A2}" type="slidenum">
              <a:rPr lang="en-US" altLang="en-US" sz="1000" smtClean="0"/>
              <a:pPr>
                <a:spcBef>
                  <a:spcPct val="0"/>
                </a:spcBef>
                <a:buClrTx/>
                <a:buSzTx/>
                <a:buFontTx/>
                <a:buNone/>
                <a:defRPr/>
              </a:pPr>
              <a:t>41</a:t>
            </a:fld>
            <a:endParaRPr lang="en-US" altLang="en-US" sz="1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52922021-76BD-40AE-94A8-C4AD566E8213}"/>
              </a:ext>
            </a:extLst>
          </p:cNvPr>
          <p:cNvSpPr>
            <a:spLocks noGrp="1"/>
          </p:cNvSpPr>
          <p:nvPr>
            <p:ph type="dt" sz="quarter" idx="10"/>
          </p:nvPr>
        </p:nvSpPr>
        <p:spPr/>
        <p:txBody>
          <a:bodyPr/>
          <a:lstStyle/>
          <a:p>
            <a:pPr>
              <a:defRPr/>
            </a:pPr>
            <a:r>
              <a:rPr lang="en-US"/>
              <a:t>Ngô Công Thắng</a:t>
            </a:r>
          </a:p>
        </p:txBody>
      </p:sp>
      <p:sp>
        <p:nvSpPr>
          <p:cNvPr id="6" name="Footer Placeholder 5">
            <a:extLst>
              <a:ext uri="{FF2B5EF4-FFF2-40B4-BE49-F238E27FC236}">
                <a16:creationId xmlns:a16="http://schemas.microsoft.com/office/drawing/2014/main" id="{03F469FA-3FFC-4CC3-A4E5-0FD2B3F769EF}"/>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75810" name="Rectangle 2">
            <a:extLst>
              <a:ext uri="{FF2B5EF4-FFF2-40B4-BE49-F238E27FC236}">
                <a16:creationId xmlns:a16="http://schemas.microsoft.com/office/drawing/2014/main" id="{78A9156C-6F26-4FD4-9E85-3E50F18A10C1}"/>
              </a:ext>
            </a:extLst>
          </p:cNvPr>
          <p:cNvSpPr>
            <a:spLocks noGrp="1" noChangeArrowheads="1"/>
          </p:cNvSpPr>
          <p:nvPr>
            <p:ph type="title"/>
          </p:nvPr>
        </p:nvSpPr>
        <p:spPr/>
        <p:txBody>
          <a:bodyPr/>
          <a:lstStyle/>
          <a:p>
            <a:pPr eaLnBrk="1" hangingPunct="1">
              <a:defRPr/>
            </a:pPr>
            <a:r>
              <a:rPr lang="fr-FR" sz="4000"/>
              <a:t>Ví dụ: Biểu diễn biểu thức a*b+c/2  bằng cây nhị phân sau:</a:t>
            </a:r>
            <a:endParaRPr lang="en-US" sz="4000"/>
          </a:p>
        </p:txBody>
      </p:sp>
      <p:pic>
        <p:nvPicPr>
          <p:cNvPr id="40965" name="Picture 5">
            <a:extLst>
              <a:ext uri="{FF2B5EF4-FFF2-40B4-BE49-F238E27FC236}">
                <a16:creationId xmlns:a16="http://schemas.microsoft.com/office/drawing/2014/main" id="{F271C8B4-05EF-4EA7-A959-14B5629E005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50825" y="1960563"/>
            <a:ext cx="3654425" cy="3108325"/>
          </a:xfrm>
        </p:spPr>
      </p:pic>
      <p:pic>
        <p:nvPicPr>
          <p:cNvPr id="40966" name="Picture 7">
            <a:extLst>
              <a:ext uri="{FF2B5EF4-FFF2-40B4-BE49-F238E27FC236}">
                <a16:creationId xmlns:a16="http://schemas.microsoft.com/office/drawing/2014/main" id="{757BA9C6-948E-4E2F-9175-8513E363212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240213" y="1931988"/>
            <a:ext cx="4718050" cy="3105150"/>
          </a:xfr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1A0B5EFE-C23A-459B-A778-BF35489EA133}"/>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5FF1DA20-9AD3-4EAF-BE71-DCFBBCADCE0F}" type="slidenum">
              <a:rPr lang="en-US" altLang="en-US" sz="1000" smtClean="0"/>
              <a:pPr>
                <a:spcBef>
                  <a:spcPct val="0"/>
                </a:spcBef>
                <a:buClrTx/>
                <a:buSzTx/>
                <a:buFontTx/>
                <a:buNone/>
                <a:defRPr/>
              </a:pPr>
              <a:t>42</a:t>
            </a:fld>
            <a:endParaRPr lang="en-US" altLang="en-US" sz="1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6B28672-A8AD-4CFE-AF2E-A9770885EEB2}"/>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2F0C0E9F-280F-474C-AE40-F05A19626D4C}"/>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78882" name="Rectangle 2">
            <a:extLst>
              <a:ext uri="{FF2B5EF4-FFF2-40B4-BE49-F238E27FC236}">
                <a16:creationId xmlns:a16="http://schemas.microsoft.com/office/drawing/2014/main" id="{8AEEC469-8552-4A4E-8D56-8977BF20BE6C}"/>
              </a:ext>
            </a:extLst>
          </p:cNvPr>
          <p:cNvSpPr>
            <a:spLocks noGrp="1" noChangeArrowheads="1"/>
          </p:cNvSpPr>
          <p:nvPr>
            <p:ph type="title"/>
          </p:nvPr>
        </p:nvSpPr>
        <p:spPr/>
        <p:txBody>
          <a:bodyPr/>
          <a:lstStyle/>
          <a:p>
            <a:pPr eaLnBrk="1" hangingPunct="1">
              <a:defRPr/>
            </a:pPr>
            <a:r>
              <a:rPr lang="en-US"/>
              <a:t>4.2. Định giá trị biểu thức</a:t>
            </a:r>
          </a:p>
        </p:txBody>
      </p:sp>
      <p:sp>
        <p:nvSpPr>
          <p:cNvPr id="378883" name="Rectangle 3">
            <a:extLst>
              <a:ext uri="{FF2B5EF4-FFF2-40B4-BE49-F238E27FC236}">
                <a16:creationId xmlns:a16="http://schemas.microsoft.com/office/drawing/2014/main" id="{2DCBF3B5-7B50-4CB2-8F2F-0855B361677B}"/>
              </a:ext>
            </a:extLst>
          </p:cNvPr>
          <p:cNvSpPr>
            <a:spLocks noGrp="1" noChangeArrowheads="1"/>
          </p:cNvSpPr>
          <p:nvPr>
            <p:ph type="body" idx="1"/>
          </p:nvPr>
        </p:nvSpPr>
        <p:spPr/>
        <p:txBody>
          <a:bodyPr/>
          <a:lstStyle/>
          <a:p>
            <a:pPr eaLnBrk="1" hangingPunct="1">
              <a:lnSpc>
                <a:spcPct val="80000"/>
              </a:lnSpc>
              <a:defRPr/>
            </a:pPr>
            <a:r>
              <a:rPr lang="en-US" sz="2000"/>
              <a:t>Thuật giải định giá trị biểu thức biểu diễn bởi cây nhị phân có gốc E. Thuật giải này được viết dưới dạng đệ quy:</a:t>
            </a:r>
          </a:p>
          <a:p>
            <a:pPr lvl="1" eaLnBrk="1" hangingPunct="1">
              <a:lnSpc>
                <a:spcPct val="80000"/>
              </a:lnSpc>
              <a:buFont typeface="Wingdings" panose="05000000000000000000" pitchFamily="2" charset="2"/>
              <a:buNone/>
              <a:defRPr/>
            </a:pPr>
            <a:r>
              <a:rPr lang="en-US" sz="1800"/>
              <a:t>Function  EVAL(E)</a:t>
            </a:r>
          </a:p>
          <a:p>
            <a:pPr lvl="1" eaLnBrk="1" hangingPunct="1">
              <a:lnSpc>
                <a:spcPct val="80000"/>
              </a:lnSpc>
              <a:buFont typeface="Wingdings" panose="05000000000000000000" pitchFamily="2" charset="2"/>
              <a:buNone/>
              <a:defRPr/>
            </a:pPr>
            <a:r>
              <a:rPr lang="en-US" sz="1800"/>
              <a:t>	Case </a:t>
            </a:r>
          </a:p>
          <a:p>
            <a:pPr lvl="1" eaLnBrk="1" hangingPunct="1">
              <a:lnSpc>
                <a:spcPct val="80000"/>
              </a:lnSpc>
              <a:buFont typeface="Wingdings" panose="05000000000000000000" pitchFamily="2" charset="2"/>
              <a:buNone/>
              <a:defRPr/>
            </a:pPr>
            <a:r>
              <a:rPr lang="en-US" sz="1800"/>
              <a:t>		  TYPE(E)=0:  Begin F:=RPTR(E)</a:t>
            </a:r>
          </a:p>
          <a:p>
            <a:pPr lvl="1" eaLnBrk="1" hangingPunct="1">
              <a:lnSpc>
                <a:spcPct val="80000"/>
              </a:lnSpc>
              <a:buFont typeface="Wingdings" panose="05000000000000000000" pitchFamily="2" charset="2"/>
              <a:buNone/>
              <a:defRPr/>
            </a:pPr>
            <a:r>
              <a:rPr lang="en-US" sz="1800"/>
              <a:t>				   Return(Value(F))</a:t>
            </a:r>
          </a:p>
          <a:p>
            <a:pPr lvl="1" eaLnBrk="1" hangingPunct="1">
              <a:lnSpc>
                <a:spcPct val="80000"/>
              </a:lnSpc>
              <a:buFont typeface="Wingdings" panose="05000000000000000000" pitchFamily="2" charset="2"/>
              <a:buNone/>
              <a:defRPr/>
            </a:pPr>
            <a:r>
              <a:rPr lang="en-US" sz="1800"/>
              <a:t>			          End</a:t>
            </a:r>
          </a:p>
          <a:p>
            <a:pPr lvl="1" eaLnBrk="1" hangingPunct="1">
              <a:lnSpc>
                <a:spcPct val="80000"/>
              </a:lnSpc>
              <a:buFont typeface="Wingdings" panose="05000000000000000000" pitchFamily="2" charset="2"/>
              <a:buNone/>
              <a:defRPr/>
            </a:pPr>
            <a:r>
              <a:rPr lang="en-US" sz="1800"/>
              <a:t>		  TYPE(E)=1:  Return ( EVAL(LPTR(E))+EVAL(RPTR(E)))</a:t>
            </a:r>
          </a:p>
          <a:p>
            <a:pPr lvl="1" eaLnBrk="1" hangingPunct="1">
              <a:lnSpc>
                <a:spcPct val="80000"/>
              </a:lnSpc>
              <a:buFont typeface="Wingdings" panose="05000000000000000000" pitchFamily="2" charset="2"/>
              <a:buNone/>
              <a:defRPr/>
            </a:pPr>
            <a:r>
              <a:rPr lang="en-US" sz="1800"/>
              <a:t>		  TYPE(E)=2:  Return ( EVAL(LPTR(E))-EVAL(RPTR(E)))</a:t>
            </a:r>
          </a:p>
          <a:p>
            <a:pPr lvl="1" eaLnBrk="1" hangingPunct="1">
              <a:lnSpc>
                <a:spcPct val="80000"/>
              </a:lnSpc>
              <a:buFont typeface="Wingdings" panose="05000000000000000000" pitchFamily="2" charset="2"/>
              <a:buNone/>
              <a:defRPr/>
            </a:pPr>
            <a:r>
              <a:rPr lang="en-US" sz="1800"/>
              <a:t>		  TYPE(E)=3:  Return ( EVAL(LPTR(E))*EVAL(RPTR(E)))</a:t>
            </a:r>
          </a:p>
          <a:p>
            <a:pPr lvl="1" eaLnBrk="1" hangingPunct="1">
              <a:lnSpc>
                <a:spcPct val="80000"/>
              </a:lnSpc>
              <a:buFont typeface="Wingdings" panose="05000000000000000000" pitchFamily="2" charset="2"/>
              <a:buNone/>
              <a:defRPr/>
            </a:pPr>
            <a:r>
              <a:rPr lang="en-US" sz="1800"/>
              <a:t>		  TYPE(E)=4:  Return ( EVAL(LPTR(E))/EVAL(RPTR(E)))</a:t>
            </a:r>
          </a:p>
          <a:p>
            <a:pPr lvl="1" eaLnBrk="1" hangingPunct="1">
              <a:lnSpc>
                <a:spcPct val="80000"/>
              </a:lnSpc>
              <a:buFont typeface="Wingdings" panose="05000000000000000000" pitchFamily="2" charset="2"/>
              <a:buNone/>
              <a:defRPr/>
            </a:pPr>
            <a:r>
              <a:rPr lang="en-US" sz="1800"/>
              <a:t>		  TYPE(E)=5:  Return ( - EVAL(RPTR(E)))</a:t>
            </a:r>
          </a:p>
          <a:p>
            <a:pPr lvl="1" eaLnBrk="1" hangingPunct="1">
              <a:lnSpc>
                <a:spcPct val="80000"/>
              </a:lnSpc>
              <a:buFont typeface="Wingdings" panose="05000000000000000000" pitchFamily="2" charset="2"/>
              <a:buNone/>
              <a:defRPr/>
            </a:pPr>
            <a:r>
              <a:rPr lang="en-US" sz="1800"/>
              <a:t>		  Else  Return(00)</a:t>
            </a:r>
          </a:p>
          <a:p>
            <a:pPr lvl="1" eaLnBrk="1" hangingPunct="1">
              <a:lnSpc>
                <a:spcPct val="80000"/>
              </a:lnSpc>
              <a:buFont typeface="Wingdings" panose="05000000000000000000" pitchFamily="2" charset="2"/>
              <a:buNone/>
              <a:defRPr/>
            </a:pPr>
            <a:r>
              <a:rPr lang="en-US" sz="1800"/>
              <a:t>	End case</a:t>
            </a:r>
          </a:p>
          <a:p>
            <a:pPr lvl="1" eaLnBrk="1" hangingPunct="1">
              <a:lnSpc>
                <a:spcPct val="80000"/>
              </a:lnSpc>
              <a:buFont typeface="Wingdings" panose="05000000000000000000" pitchFamily="2" charset="2"/>
              <a:buNone/>
              <a:defRPr/>
            </a:pPr>
            <a:r>
              <a:rPr lang="en-US" sz="1800"/>
              <a:t>Return</a:t>
            </a:r>
          </a:p>
        </p:txBody>
      </p:sp>
      <p:sp>
        <p:nvSpPr>
          <p:cNvPr id="2" name="Slide Number Placeholder 1">
            <a:extLst>
              <a:ext uri="{FF2B5EF4-FFF2-40B4-BE49-F238E27FC236}">
                <a16:creationId xmlns:a16="http://schemas.microsoft.com/office/drawing/2014/main" id="{C388AE6D-80A3-4C11-B526-5777237D39B8}"/>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525EE5A3-C596-42F1-B245-66FA4C6FD087}" type="slidenum">
              <a:rPr lang="en-US" altLang="en-US" sz="1000" smtClean="0"/>
              <a:pPr>
                <a:spcBef>
                  <a:spcPct val="0"/>
                </a:spcBef>
                <a:buClrTx/>
                <a:buSzTx/>
                <a:buFontTx/>
                <a:buNone/>
                <a:defRPr/>
              </a:pPr>
              <a:t>43</a:t>
            </a:fld>
            <a:endParaRPr lang="en-US" altLang="en-US" sz="1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6879278-5919-4FDE-97AA-949A87C25436}"/>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B76A59F0-A5A1-4BD5-900C-093D0045383A}"/>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79906" name="Rectangle 2">
            <a:extLst>
              <a:ext uri="{FF2B5EF4-FFF2-40B4-BE49-F238E27FC236}">
                <a16:creationId xmlns:a16="http://schemas.microsoft.com/office/drawing/2014/main" id="{CC31B4D9-3762-46F7-B1B3-94AE931A99BF}"/>
              </a:ext>
            </a:extLst>
          </p:cNvPr>
          <p:cNvSpPr>
            <a:spLocks noGrp="1" noChangeArrowheads="1"/>
          </p:cNvSpPr>
          <p:nvPr>
            <p:ph type="title"/>
          </p:nvPr>
        </p:nvSpPr>
        <p:spPr/>
        <p:txBody>
          <a:bodyPr/>
          <a:lstStyle/>
          <a:p>
            <a:pPr eaLnBrk="1" hangingPunct="1">
              <a:defRPr/>
            </a:pPr>
            <a:r>
              <a:rPr lang="en-US" sz="3600"/>
              <a:t>4.3. Xác định 2 biểu thức tương đương</a:t>
            </a:r>
          </a:p>
        </p:txBody>
      </p:sp>
      <p:sp>
        <p:nvSpPr>
          <p:cNvPr id="379907" name="Rectangle 3">
            <a:extLst>
              <a:ext uri="{FF2B5EF4-FFF2-40B4-BE49-F238E27FC236}">
                <a16:creationId xmlns:a16="http://schemas.microsoft.com/office/drawing/2014/main" id="{E3751CCB-D3FC-4BF9-B6F4-14AB2334D8E7}"/>
              </a:ext>
            </a:extLst>
          </p:cNvPr>
          <p:cNvSpPr>
            <a:spLocks noGrp="1" noChangeArrowheads="1"/>
          </p:cNvSpPr>
          <p:nvPr>
            <p:ph type="body" idx="1"/>
          </p:nvPr>
        </p:nvSpPr>
        <p:spPr/>
        <p:txBody>
          <a:bodyPr/>
          <a:lstStyle/>
          <a:p>
            <a:pPr eaLnBrk="1" hangingPunct="1">
              <a:defRPr/>
            </a:pPr>
            <a:r>
              <a:rPr lang="en-US"/>
              <a:t>Cho 2 cây nhị phân biểu diễn biểu thức trỏ bởi A, B. Hàm xác định 2 biểu thức tương đương Similar cho giá trị True nếu 2 biểu thức tương đương, ngược lại cho giá trị False.</a:t>
            </a:r>
          </a:p>
        </p:txBody>
      </p:sp>
      <p:sp>
        <p:nvSpPr>
          <p:cNvPr id="2" name="Slide Number Placeholder 1">
            <a:extLst>
              <a:ext uri="{FF2B5EF4-FFF2-40B4-BE49-F238E27FC236}">
                <a16:creationId xmlns:a16="http://schemas.microsoft.com/office/drawing/2014/main" id="{E1033222-56EE-48AA-9544-269CA21F6B57}"/>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0C489962-0EFF-4EEC-9B1F-5FA3DA0DAD30}" type="slidenum">
              <a:rPr lang="en-US" altLang="en-US" sz="1000" smtClean="0"/>
              <a:pPr>
                <a:spcBef>
                  <a:spcPct val="0"/>
                </a:spcBef>
                <a:buClrTx/>
                <a:buSzTx/>
                <a:buFontTx/>
                <a:buNone/>
                <a:defRPr/>
              </a:pPr>
              <a:t>44</a:t>
            </a:fld>
            <a:endParaRPr lang="en-US" altLang="en-US" sz="1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A468969-2360-4442-AA01-425E19E9CD13}"/>
              </a:ext>
            </a:extLst>
          </p:cNvPr>
          <p:cNvSpPr>
            <a:spLocks noGrp="1"/>
          </p:cNvSpPr>
          <p:nvPr>
            <p:ph type="dt" sz="quarter"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1BAC02E6-A8DC-4A4B-A36B-E923BFADE786}"/>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80930" name="Rectangle 2">
            <a:extLst>
              <a:ext uri="{FF2B5EF4-FFF2-40B4-BE49-F238E27FC236}">
                <a16:creationId xmlns:a16="http://schemas.microsoft.com/office/drawing/2014/main" id="{9C4E6A40-3FAD-4566-8A09-50337BEF93D1}"/>
              </a:ext>
            </a:extLst>
          </p:cNvPr>
          <p:cNvSpPr>
            <a:spLocks noGrp="1" noChangeArrowheads="1"/>
          </p:cNvSpPr>
          <p:nvPr>
            <p:ph type="title"/>
          </p:nvPr>
        </p:nvSpPr>
        <p:spPr/>
        <p:txBody>
          <a:bodyPr/>
          <a:lstStyle/>
          <a:p>
            <a:pPr eaLnBrk="1" hangingPunct="1">
              <a:defRPr/>
            </a:pPr>
            <a:r>
              <a:rPr lang="en-US"/>
              <a:t>Hàm Similar</a:t>
            </a:r>
          </a:p>
        </p:txBody>
      </p:sp>
      <p:sp>
        <p:nvSpPr>
          <p:cNvPr id="380931" name="Rectangle 3">
            <a:extLst>
              <a:ext uri="{FF2B5EF4-FFF2-40B4-BE49-F238E27FC236}">
                <a16:creationId xmlns:a16="http://schemas.microsoft.com/office/drawing/2014/main" id="{2BE7657F-B28F-4E8D-B8E2-A1026F636CD1}"/>
              </a:ext>
            </a:extLst>
          </p:cNvPr>
          <p:cNvSpPr>
            <a:spLocks noGrp="1" noChangeArrowheads="1"/>
          </p:cNvSpPr>
          <p:nvPr>
            <p:ph type="body" idx="1"/>
          </p:nvPr>
        </p:nvSpPr>
        <p:spPr>
          <a:xfrm>
            <a:off x="295275" y="1190625"/>
            <a:ext cx="8656638" cy="5248275"/>
          </a:xfrm>
        </p:spPr>
        <p:txBody>
          <a:bodyPr/>
          <a:lstStyle/>
          <a:p>
            <a:pPr eaLnBrk="1" hangingPunct="1">
              <a:lnSpc>
                <a:spcPct val="80000"/>
              </a:lnSpc>
              <a:buFont typeface="Wingdings" panose="05000000000000000000" pitchFamily="2" charset="2"/>
              <a:buNone/>
              <a:defRPr/>
            </a:pPr>
            <a:r>
              <a:rPr lang="en-US" sz="1600"/>
              <a:t>Function  Similar(A,B)</a:t>
            </a:r>
          </a:p>
          <a:p>
            <a:pPr eaLnBrk="1" hangingPunct="1">
              <a:lnSpc>
                <a:spcPct val="80000"/>
              </a:lnSpc>
              <a:buFont typeface="Wingdings" panose="05000000000000000000" pitchFamily="2" charset="2"/>
              <a:buNone/>
              <a:defRPr/>
            </a:pPr>
            <a:r>
              <a:rPr lang="en-US" sz="1600"/>
              <a:t>	Bước 1 { Kiểm tra loại gốc cây}</a:t>
            </a:r>
          </a:p>
          <a:p>
            <a:pPr eaLnBrk="1" hangingPunct="1">
              <a:lnSpc>
                <a:spcPct val="80000"/>
              </a:lnSpc>
              <a:buFont typeface="Wingdings" panose="05000000000000000000" pitchFamily="2" charset="2"/>
              <a:buNone/>
              <a:defRPr/>
            </a:pPr>
            <a:r>
              <a:rPr lang="en-US" sz="1600"/>
              <a:t>		If  TYPE(A)# TYPE(B)  then  Return(False)</a:t>
            </a:r>
          </a:p>
          <a:p>
            <a:pPr eaLnBrk="1" hangingPunct="1">
              <a:lnSpc>
                <a:spcPct val="80000"/>
              </a:lnSpc>
              <a:buFont typeface="Wingdings" panose="05000000000000000000" pitchFamily="2" charset="2"/>
              <a:buNone/>
              <a:defRPr/>
            </a:pPr>
            <a:r>
              <a:rPr lang="en-US" sz="1600"/>
              <a:t>	Bước 2 { Kiểm tra tính tương đương }</a:t>
            </a:r>
          </a:p>
          <a:p>
            <a:pPr eaLnBrk="1" hangingPunct="1">
              <a:lnSpc>
                <a:spcPct val="80000"/>
              </a:lnSpc>
              <a:buFont typeface="Wingdings" panose="05000000000000000000" pitchFamily="2" charset="2"/>
              <a:buNone/>
              <a:defRPr/>
            </a:pPr>
            <a:r>
              <a:rPr lang="en-US" sz="1600"/>
              <a:t>	Case </a:t>
            </a:r>
          </a:p>
          <a:p>
            <a:pPr eaLnBrk="1" hangingPunct="1">
              <a:lnSpc>
                <a:spcPct val="80000"/>
              </a:lnSpc>
              <a:buFont typeface="Wingdings" panose="05000000000000000000" pitchFamily="2" charset="2"/>
              <a:buNone/>
              <a:defRPr/>
            </a:pPr>
            <a:r>
              <a:rPr lang="en-US" sz="1600"/>
              <a:t>	TYPE(A)=0 : If  Value(RPTR(A)) # Value(RPTR(B)) then  Return(False)</a:t>
            </a:r>
          </a:p>
          <a:p>
            <a:pPr eaLnBrk="1" hangingPunct="1">
              <a:lnSpc>
                <a:spcPct val="80000"/>
              </a:lnSpc>
              <a:buFont typeface="Wingdings" panose="05000000000000000000" pitchFamily="2" charset="2"/>
              <a:buNone/>
              <a:defRPr/>
            </a:pPr>
            <a:r>
              <a:rPr lang="en-US" sz="1600"/>
              <a:t>		Else Return(True)</a:t>
            </a:r>
          </a:p>
          <a:p>
            <a:pPr eaLnBrk="1" hangingPunct="1">
              <a:lnSpc>
                <a:spcPct val="80000"/>
              </a:lnSpc>
              <a:buFont typeface="Wingdings" panose="05000000000000000000" pitchFamily="2" charset="2"/>
              <a:buNone/>
              <a:defRPr/>
            </a:pPr>
            <a:r>
              <a:rPr lang="en-US" sz="1600"/>
              <a:t>	TYPE(A)=1 OR TYPE(A)=3 : { Phép + hoặc * }</a:t>
            </a:r>
          </a:p>
          <a:p>
            <a:pPr eaLnBrk="1" hangingPunct="1">
              <a:lnSpc>
                <a:spcPct val="80000"/>
              </a:lnSpc>
              <a:buFont typeface="Wingdings" panose="05000000000000000000" pitchFamily="2" charset="2"/>
              <a:buNone/>
              <a:defRPr/>
            </a:pPr>
            <a:r>
              <a:rPr lang="en-US" sz="1600"/>
              <a:t>  	 Begin </a:t>
            </a:r>
          </a:p>
          <a:p>
            <a:pPr eaLnBrk="1" hangingPunct="1">
              <a:lnSpc>
                <a:spcPct val="80000"/>
              </a:lnSpc>
              <a:buFont typeface="Wingdings" panose="05000000000000000000" pitchFamily="2" charset="2"/>
              <a:buNone/>
              <a:defRPr/>
            </a:pPr>
            <a:r>
              <a:rPr lang="en-US" sz="1600"/>
              <a:t>	  Return (Similar( LPTR(A), LPTR(B)) AND</a:t>
            </a:r>
          </a:p>
          <a:p>
            <a:pPr eaLnBrk="1" hangingPunct="1">
              <a:lnSpc>
                <a:spcPct val="80000"/>
              </a:lnSpc>
              <a:buFont typeface="Wingdings" panose="05000000000000000000" pitchFamily="2" charset="2"/>
              <a:buNone/>
              <a:defRPr/>
            </a:pPr>
            <a:r>
              <a:rPr lang="en-US" sz="1600"/>
              <a:t>		     Similar(RPTR(A), RPTR(B))  OR</a:t>
            </a:r>
          </a:p>
          <a:p>
            <a:pPr eaLnBrk="1" hangingPunct="1">
              <a:lnSpc>
                <a:spcPct val="80000"/>
              </a:lnSpc>
              <a:buFont typeface="Wingdings" panose="05000000000000000000" pitchFamily="2" charset="2"/>
              <a:buNone/>
              <a:defRPr/>
            </a:pPr>
            <a:r>
              <a:rPr lang="en-US" sz="1600"/>
              <a:t>		     Similar( LPTR(A), RPTR(B)) AND</a:t>
            </a:r>
          </a:p>
          <a:p>
            <a:pPr eaLnBrk="1" hangingPunct="1">
              <a:lnSpc>
                <a:spcPct val="80000"/>
              </a:lnSpc>
              <a:buFont typeface="Wingdings" panose="05000000000000000000" pitchFamily="2" charset="2"/>
              <a:buNone/>
              <a:defRPr/>
            </a:pPr>
            <a:r>
              <a:rPr lang="en-US" sz="1600"/>
              <a:t>		     Similar(RPTR(A), LPTR(B)))</a:t>
            </a:r>
          </a:p>
          <a:p>
            <a:pPr eaLnBrk="1" hangingPunct="1">
              <a:lnSpc>
                <a:spcPct val="80000"/>
              </a:lnSpc>
              <a:buFont typeface="Wingdings" panose="05000000000000000000" pitchFamily="2" charset="2"/>
              <a:buNone/>
              <a:defRPr/>
            </a:pPr>
            <a:r>
              <a:rPr lang="en-US" sz="1600"/>
              <a:t>	TYPE(A)=2 OR TYPE(A)=4 : { Phép - hoặc / }</a:t>
            </a:r>
          </a:p>
          <a:p>
            <a:pPr eaLnBrk="1" hangingPunct="1">
              <a:lnSpc>
                <a:spcPct val="80000"/>
              </a:lnSpc>
              <a:buFont typeface="Wingdings" panose="05000000000000000000" pitchFamily="2" charset="2"/>
              <a:buNone/>
              <a:defRPr/>
            </a:pPr>
            <a:r>
              <a:rPr lang="en-US" sz="1600"/>
              <a:t> 	 Begin </a:t>
            </a:r>
          </a:p>
          <a:p>
            <a:pPr eaLnBrk="1" hangingPunct="1">
              <a:lnSpc>
                <a:spcPct val="80000"/>
              </a:lnSpc>
              <a:buFont typeface="Wingdings" panose="05000000000000000000" pitchFamily="2" charset="2"/>
              <a:buNone/>
              <a:defRPr/>
            </a:pPr>
            <a:r>
              <a:rPr lang="en-US" sz="1600"/>
              <a:t>	  Return (Similar( LPTR(A), LPTR(B)) AND</a:t>
            </a:r>
          </a:p>
          <a:p>
            <a:pPr eaLnBrk="1" hangingPunct="1">
              <a:lnSpc>
                <a:spcPct val="80000"/>
              </a:lnSpc>
              <a:buFont typeface="Wingdings" panose="05000000000000000000" pitchFamily="2" charset="2"/>
              <a:buNone/>
              <a:defRPr/>
            </a:pPr>
            <a:r>
              <a:rPr lang="en-US" sz="1600"/>
              <a:t>		     Similar(RPTR(A), RPTR(B)))</a:t>
            </a:r>
          </a:p>
          <a:p>
            <a:pPr eaLnBrk="1" hangingPunct="1">
              <a:lnSpc>
                <a:spcPct val="80000"/>
              </a:lnSpc>
              <a:buFont typeface="Wingdings" panose="05000000000000000000" pitchFamily="2" charset="2"/>
              <a:buNone/>
              <a:defRPr/>
            </a:pPr>
            <a:r>
              <a:rPr lang="en-US" sz="1600"/>
              <a:t>	TYPE(A)=5 : { Phép đảo dấu  }</a:t>
            </a:r>
          </a:p>
          <a:p>
            <a:pPr eaLnBrk="1" hangingPunct="1">
              <a:lnSpc>
                <a:spcPct val="80000"/>
              </a:lnSpc>
              <a:buFont typeface="Wingdings" panose="05000000000000000000" pitchFamily="2" charset="2"/>
              <a:buNone/>
              <a:defRPr/>
            </a:pPr>
            <a:r>
              <a:rPr lang="en-US" sz="1600"/>
              <a:t>	  Return (Similar(RPTR(A), RPTR(B)))</a:t>
            </a:r>
          </a:p>
          <a:p>
            <a:pPr eaLnBrk="1" hangingPunct="1">
              <a:lnSpc>
                <a:spcPct val="80000"/>
              </a:lnSpc>
              <a:buFont typeface="Wingdings" panose="05000000000000000000" pitchFamily="2" charset="2"/>
              <a:buNone/>
              <a:defRPr/>
            </a:pPr>
            <a:r>
              <a:rPr lang="en-US" sz="1600"/>
              <a:t>	End Case</a:t>
            </a:r>
          </a:p>
          <a:p>
            <a:pPr eaLnBrk="1" hangingPunct="1">
              <a:lnSpc>
                <a:spcPct val="80000"/>
              </a:lnSpc>
              <a:buFont typeface="Wingdings" panose="05000000000000000000" pitchFamily="2" charset="2"/>
              <a:buNone/>
              <a:defRPr/>
            </a:pPr>
            <a:r>
              <a:rPr lang="en-US" sz="1600"/>
              <a:t>Retun</a:t>
            </a:r>
          </a:p>
        </p:txBody>
      </p:sp>
      <p:sp>
        <p:nvSpPr>
          <p:cNvPr id="2" name="Slide Number Placeholder 1">
            <a:extLst>
              <a:ext uri="{FF2B5EF4-FFF2-40B4-BE49-F238E27FC236}">
                <a16:creationId xmlns:a16="http://schemas.microsoft.com/office/drawing/2014/main" id="{BD24746F-D658-4D73-BACE-212972FD1BE2}"/>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10591BBF-DB53-41E9-B0E1-33DC922EA698}" type="slidenum">
              <a:rPr lang="en-US" altLang="en-US" sz="1000" smtClean="0"/>
              <a:pPr>
                <a:spcBef>
                  <a:spcPct val="0"/>
                </a:spcBef>
                <a:buClrTx/>
                <a:buSzTx/>
                <a:buFontTx/>
                <a:buNone/>
                <a:defRPr/>
              </a:pPr>
              <a:t>45</a:t>
            </a:fld>
            <a:endParaRPr lang="en-US" altLang="en-US" sz="1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23F21F62-2124-4D25-B7E6-565486DA79E4}"/>
              </a:ext>
            </a:extLst>
          </p:cNvPr>
          <p:cNvSpPr>
            <a:spLocks noGrp="1"/>
          </p:cNvSpPr>
          <p:nvPr>
            <p:ph type="dt" sz="quarter" idx="10"/>
          </p:nvPr>
        </p:nvSpPr>
        <p:spPr/>
        <p:txBody>
          <a:bodyPr/>
          <a:lstStyle/>
          <a:p>
            <a:pPr>
              <a:defRPr/>
            </a:pPr>
            <a:r>
              <a:rPr lang="en-US"/>
              <a:t>Ngô Công Thắng</a:t>
            </a:r>
          </a:p>
        </p:txBody>
      </p:sp>
      <p:sp>
        <p:nvSpPr>
          <p:cNvPr id="6" name="Footer Placeholder 4">
            <a:extLst>
              <a:ext uri="{FF2B5EF4-FFF2-40B4-BE49-F238E27FC236}">
                <a16:creationId xmlns:a16="http://schemas.microsoft.com/office/drawing/2014/main" id="{02D765BA-A6F4-4A96-A7CD-F20C792EA0D9}"/>
              </a:ext>
            </a:extLst>
          </p:cNvPr>
          <p:cNvSpPr>
            <a:spLocks noGrp="1"/>
          </p:cNvSpPr>
          <p:nvPr>
            <p:ph type="ftr" sz="quarter" idx="11"/>
          </p:nvPr>
        </p:nvSpPr>
        <p:spPr/>
        <p:txBody>
          <a:bodyPr/>
          <a:lstStyle/>
          <a:p>
            <a:pPr>
              <a:defRPr/>
            </a:pPr>
            <a:r>
              <a:rPr lang="vi-VN"/>
              <a:t>Bài giảng Cấu trúc dữ liệu và giải thuật  -  Chương 04</a:t>
            </a:r>
            <a:endParaRPr lang="en-US"/>
          </a:p>
        </p:txBody>
      </p:sp>
      <p:sp>
        <p:nvSpPr>
          <p:cNvPr id="381954" name="Rectangle 2">
            <a:extLst>
              <a:ext uri="{FF2B5EF4-FFF2-40B4-BE49-F238E27FC236}">
                <a16:creationId xmlns:a16="http://schemas.microsoft.com/office/drawing/2014/main" id="{88FB1D75-D707-4909-9DF0-0751437FE8B1}"/>
              </a:ext>
            </a:extLst>
          </p:cNvPr>
          <p:cNvSpPr>
            <a:spLocks noGrp="1" noChangeArrowheads="1"/>
          </p:cNvSpPr>
          <p:nvPr>
            <p:ph type="title"/>
          </p:nvPr>
        </p:nvSpPr>
        <p:spPr/>
        <p:txBody>
          <a:bodyPr/>
          <a:lstStyle/>
          <a:p>
            <a:pPr eaLnBrk="1" hangingPunct="1">
              <a:defRPr/>
            </a:pPr>
            <a:r>
              <a:rPr lang="en-US"/>
              <a:t>BTVN</a:t>
            </a:r>
          </a:p>
        </p:txBody>
      </p:sp>
      <p:sp>
        <p:nvSpPr>
          <p:cNvPr id="381955" name="Rectangle 3">
            <a:extLst>
              <a:ext uri="{FF2B5EF4-FFF2-40B4-BE49-F238E27FC236}">
                <a16:creationId xmlns:a16="http://schemas.microsoft.com/office/drawing/2014/main" id="{248A97EC-1DAC-4DF0-BB73-0F1222D70F5B}"/>
              </a:ext>
            </a:extLst>
          </p:cNvPr>
          <p:cNvSpPr>
            <a:spLocks noGrp="1" noChangeArrowheads="1"/>
          </p:cNvSpPr>
          <p:nvPr>
            <p:ph type="body" idx="1"/>
          </p:nvPr>
        </p:nvSpPr>
        <p:spPr/>
        <p:txBody>
          <a:bodyPr/>
          <a:lstStyle/>
          <a:p>
            <a:pPr eaLnBrk="1" hangingPunct="1">
              <a:defRPr/>
            </a:pPr>
            <a:r>
              <a:rPr lang="en-US"/>
              <a:t>Xây dựng cây nhị phân biểu diễn biểu thức sau:   a/b - c*d</a:t>
            </a:r>
          </a:p>
          <a:p>
            <a:pPr eaLnBrk="1" hangingPunct="1">
              <a:defRPr/>
            </a:pPr>
            <a:r>
              <a:rPr lang="en-US"/>
              <a:t>Viết giả mã tính giá trị của biểu thức trên.</a:t>
            </a:r>
          </a:p>
        </p:txBody>
      </p:sp>
      <p:sp>
        <p:nvSpPr>
          <p:cNvPr id="45062" name="AutoShape 4">
            <a:hlinkClick r:id="rId2" action="ppaction://hlinksldjump" highlightClick="1"/>
            <a:extLst>
              <a:ext uri="{FF2B5EF4-FFF2-40B4-BE49-F238E27FC236}">
                <a16:creationId xmlns:a16="http://schemas.microsoft.com/office/drawing/2014/main" id="{996A1E3A-0507-4BD6-A61E-047FD9DD3BBA}"/>
              </a:ext>
            </a:extLst>
          </p:cNvPr>
          <p:cNvSpPr>
            <a:spLocks noChangeArrowheads="1"/>
          </p:cNvSpPr>
          <p:nvPr/>
        </p:nvSpPr>
        <p:spPr bwMode="auto">
          <a:xfrm>
            <a:off x="7686675" y="6321425"/>
            <a:ext cx="357188" cy="331788"/>
          </a:xfrm>
          <a:prstGeom prst="actionButtonHome">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E64A3029-C58D-44CF-A2DB-8D7A8B3D0AFA}"/>
              </a:ext>
            </a:extLst>
          </p:cNvPr>
          <p:cNvSpPr>
            <a:spLocks noGrp="1"/>
          </p:cNvSpPr>
          <p:nvPr>
            <p:ph type="sldNum" sz="quarter" idx="12"/>
          </p:nvPr>
        </p:nvSpPr>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defRPr/>
            </a:pPr>
            <a:r>
              <a:rPr lang="en-US" altLang="en-US" sz="1000"/>
              <a:t>4.</a:t>
            </a:r>
            <a:fld id="{79CEC7FD-69D7-4AEE-BF32-7471C0892471}" type="slidenum">
              <a:rPr lang="en-US" altLang="en-US" sz="1000" smtClean="0"/>
              <a:pPr>
                <a:spcBef>
                  <a:spcPct val="0"/>
                </a:spcBef>
                <a:buClrTx/>
                <a:buSzTx/>
                <a:buFontTx/>
                <a:buNone/>
                <a:defRPr/>
              </a:pPr>
              <a:t>46</a:t>
            </a:fld>
            <a:endParaRPr lang="en-US" altLang="en-US" sz="1000"/>
          </a:p>
        </p:txBody>
      </p:sp>
    </p:spTree>
  </p:cSld>
  <p:clrMapOvr>
    <a:masterClrMapping/>
  </p:clrMapOvr>
</p:sld>
</file>

<file path=ppt/theme/theme1.xml><?xml version="1.0" encoding="utf-8"?>
<a:theme xmlns:a="http://schemas.openxmlformats.org/drawingml/2006/main" name="1_Orbit">
  <a:themeElements>
    <a:clrScheme name="1_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1_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1_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1_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1_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1_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1_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1_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1_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PhanIICh06new</Template>
  <TotalTime>16794</TotalTime>
  <Words>3649</Words>
  <Application>Microsoft Office PowerPoint</Application>
  <PresentationFormat>On-screen Show (4:3)</PresentationFormat>
  <Paragraphs>404</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Segoe UI</vt:lpstr>
      <vt:lpstr>Wingdings</vt:lpstr>
      <vt:lpstr>1_Orbit</vt:lpstr>
      <vt:lpstr>Chương 4: Cây (Tree)</vt:lpstr>
      <vt:lpstr>1. Định nghĩa và khái niệm</vt:lpstr>
      <vt:lpstr>Ví dụ 1: Mục lục của một chương được biểu diễn dạng cây</vt:lpstr>
      <vt:lpstr>Ví dụ 2: Biểu thức số học được biểu diễn dạng cây</vt:lpstr>
      <vt:lpstr>Ví dụ 3: Các tập bao nhau được biểu diễn dạng cây</vt:lpstr>
      <vt:lpstr>1.2. Các khái niệm</vt:lpstr>
      <vt:lpstr>1.2. Các khái niệm (tiếp)</vt:lpstr>
      <vt:lpstr>1.2. Các khái niệm (tiếp)</vt:lpstr>
      <vt:lpstr>1.2. Các khái niệm (tiếp)</vt:lpstr>
      <vt:lpstr>1.2. Các khái niệm (tiếp)</vt:lpstr>
      <vt:lpstr>2. Cây nhị phân</vt:lpstr>
      <vt:lpstr>Ví dụ 1: Hai cây sau đây là khác nhau</vt:lpstr>
      <vt:lpstr>Ví dụ 2: Cây nhị phân suy biến có dạng một danh sách tuyến tính</vt:lpstr>
      <vt:lpstr>Ví dụ 2: Cây nhị phân suy biến có dạng một danh sách tuyến tính (tiếp)</vt:lpstr>
      <vt:lpstr>2.1.1. Định nghĩa cây nhị phân (tiếp)</vt:lpstr>
      <vt:lpstr>2.1.1. Định nghĩa cây nhị phân (tiếp)</vt:lpstr>
      <vt:lpstr>2.1.2. Tính chất</vt:lpstr>
      <vt:lpstr>2.2. Lưu trữ cây nhị phân</vt:lpstr>
      <vt:lpstr>2.2.1. Lưu trữ kế tiếp (tiếp)</vt:lpstr>
      <vt:lpstr>Ví dụ</vt:lpstr>
      <vt:lpstr>2.2.2. Lưu trữ phân tán</vt:lpstr>
      <vt:lpstr>2.2.2. Lưu trữ phân tán</vt:lpstr>
      <vt:lpstr>Ví dụ</vt:lpstr>
      <vt:lpstr>2.3. Các phép toán duyệt cây nhị phân</vt:lpstr>
      <vt:lpstr>2.3. Duyệt cây nhị phân (tiếp)</vt:lpstr>
      <vt:lpstr>Minh họa ý tưởng</vt:lpstr>
      <vt:lpstr>Ví dụ với cây nhị phân sau:</vt:lpstr>
      <vt:lpstr>2.3. Duyệt cây nhị phân (tiếp)</vt:lpstr>
      <vt:lpstr>Duyệt cây theo thứ tự trước</vt:lpstr>
      <vt:lpstr>Duyệt cây theo thứ tự giữa</vt:lpstr>
      <vt:lpstr>Duyệt cây theo thứ tự sau</vt:lpstr>
      <vt:lpstr>Bài tập</vt:lpstr>
      <vt:lpstr>Cây nhị phân biểu diễn biểu thức</vt:lpstr>
      <vt:lpstr>Bài tập</vt:lpstr>
      <vt:lpstr>Bài tập (tiếp)</vt:lpstr>
      <vt:lpstr>3. Cây tổng quát</vt:lpstr>
      <vt:lpstr>3. Cây tổng quát</vt:lpstr>
      <vt:lpstr>Ví dụ:</vt:lpstr>
      <vt:lpstr>3. Cây tổng quát</vt:lpstr>
      <vt:lpstr>4. Ứng dụng</vt:lpstr>
      <vt:lpstr>4.1. Cây biểu diễn biểu thức (tiếp)</vt:lpstr>
      <vt:lpstr>Ví dụ: Biểu diễn biểu thức a*b+c/2  bằng cây nhị phân sau:</vt:lpstr>
      <vt:lpstr>4.2. Định giá trị biểu thức</vt:lpstr>
      <vt:lpstr>4.3. Xác định 2 biểu thức tương đương</vt:lpstr>
      <vt:lpstr>Hàm Similar</vt:lpstr>
      <vt:lpstr>BTVN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Java</dc:title>
  <dc:creator>Ngo Cong Thang</dc:creator>
  <cp:lastModifiedBy>Ngô Công Thắng</cp:lastModifiedBy>
  <cp:revision>547</cp:revision>
  <cp:lastPrinted>2015-03-20T22:17:47Z</cp:lastPrinted>
  <dcterms:created xsi:type="dcterms:W3CDTF">1995-06-10T17:31:50Z</dcterms:created>
  <dcterms:modified xsi:type="dcterms:W3CDTF">2022-06-13T10:19:06Z</dcterms:modified>
</cp:coreProperties>
</file>