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68" r:id="rId2"/>
    <p:sldId id="564" r:id="rId3"/>
    <p:sldId id="469" r:id="rId4"/>
    <p:sldId id="573" r:id="rId5"/>
    <p:sldId id="565" r:id="rId6"/>
    <p:sldId id="470" r:id="rId7"/>
    <p:sldId id="471" r:id="rId8"/>
    <p:sldId id="566" r:id="rId9"/>
    <p:sldId id="574" r:id="rId10"/>
    <p:sldId id="472" r:id="rId11"/>
    <p:sldId id="569" r:id="rId12"/>
    <p:sldId id="473" r:id="rId13"/>
    <p:sldId id="567" r:id="rId14"/>
    <p:sldId id="474" r:id="rId15"/>
    <p:sldId id="476" r:id="rId16"/>
    <p:sldId id="477" r:id="rId17"/>
    <p:sldId id="568" r:id="rId18"/>
    <p:sldId id="575" r:id="rId19"/>
    <p:sldId id="478" r:id="rId20"/>
    <p:sldId id="479" r:id="rId21"/>
    <p:sldId id="570" r:id="rId22"/>
    <p:sldId id="571" r:id="rId23"/>
    <p:sldId id="572" r:id="rId24"/>
    <p:sldId id="576" r:id="rId25"/>
    <p:sldId id="578" r:id="rId26"/>
    <p:sldId id="577" r:id="rId27"/>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FF0000"/>
    <a:srgbClr val="3333FF"/>
    <a:srgbClr val="FF3300"/>
    <a:srgbClr val="66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64" autoAdjust="0"/>
  </p:normalViewPr>
  <p:slideViewPr>
    <p:cSldViewPr>
      <p:cViewPr varScale="1">
        <p:scale>
          <a:sx n="59" d="100"/>
          <a:sy n="59" d="100"/>
        </p:scale>
        <p:origin x="1428"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296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786A53B-98C9-4AF9-A277-8B7BE83B3D43}" type="slidenum">
              <a:rPr lang="en-US"/>
              <a:pPr>
                <a:defRPr/>
              </a:pPr>
              <a:t>‹#›</a:t>
            </a:fld>
            <a:endParaRPr lang="en-US"/>
          </a:p>
        </p:txBody>
      </p:sp>
    </p:spTree>
    <p:extLst>
      <p:ext uri="{BB962C8B-B14F-4D97-AF65-F5344CB8AC3E}">
        <p14:creationId xmlns:p14="http://schemas.microsoft.com/office/powerpoint/2010/main" val="1997787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5FF0DF-AB30-4006-9677-B603965C2B1F}" type="slidenum">
              <a:rPr lang="en-US"/>
              <a:pPr>
                <a:defRPr/>
              </a:pPr>
              <a:t>‹#›</a:t>
            </a:fld>
            <a:endParaRPr lang="en-US"/>
          </a:p>
        </p:txBody>
      </p:sp>
    </p:spTree>
    <p:extLst>
      <p:ext uri="{BB962C8B-B14F-4D97-AF65-F5344CB8AC3E}">
        <p14:creationId xmlns:p14="http://schemas.microsoft.com/office/powerpoint/2010/main" val="1754148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8CF7F0F-35B9-4194-8D3C-6A7B7AE01159}" type="slidenum">
              <a:rPr lang="en-US"/>
              <a:pPr>
                <a:defRPr/>
              </a:pPr>
              <a:t>‹#›</a:t>
            </a:fld>
            <a:endParaRPr lang="en-US"/>
          </a:p>
        </p:txBody>
      </p:sp>
    </p:spTree>
    <p:extLst>
      <p:ext uri="{BB962C8B-B14F-4D97-AF65-F5344CB8AC3E}">
        <p14:creationId xmlns:p14="http://schemas.microsoft.com/office/powerpoint/2010/main" val="1473842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A59C667-0A58-4959-B8AB-B1D602AD6F9B}" type="slidenum">
              <a:rPr lang="en-US"/>
              <a:pPr>
                <a:defRPr/>
              </a:pPr>
              <a:t>‹#›</a:t>
            </a:fld>
            <a:endParaRPr lang="en-US"/>
          </a:p>
        </p:txBody>
      </p:sp>
    </p:spTree>
    <p:extLst>
      <p:ext uri="{BB962C8B-B14F-4D97-AF65-F5344CB8AC3E}">
        <p14:creationId xmlns:p14="http://schemas.microsoft.com/office/powerpoint/2010/main" val="248582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74156D7-0CAD-47C6-8125-1C7C1EA4457A}" type="slidenum">
              <a:rPr lang="en-US"/>
              <a:pPr>
                <a:defRPr/>
              </a:pPr>
              <a:t>‹#›</a:t>
            </a:fld>
            <a:endParaRPr lang="en-US"/>
          </a:p>
        </p:txBody>
      </p:sp>
    </p:spTree>
    <p:extLst>
      <p:ext uri="{BB962C8B-B14F-4D97-AF65-F5344CB8AC3E}">
        <p14:creationId xmlns:p14="http://schemas.microsoft.com/office/powerpoint/2010/main" val="119608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48CBA24-1A23-4DCB-9CD3-555C62D41389}" type="slidenum">
              <a:rPr lang="en-US"/>
              <a:pPr>
                <a:defRPr/>
              </a:pPr>
              <a:t>‹#›</a:t>
            </a:fld>
            <a:endParaRPr lang="en-US"/>
          </a:p>
        </p:txBody>
      </p:sp>
    </p:spTree>
    <p:extLst>
      <p:ext uri="{BB962C8B-B14F-4D97-AF65-F5344CB8AC3E}">
        <p14:creationId xmlns:p14="http://schemas.microsoft.com/office/powerpoint/2010/main" val="248491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3A3045F-00E2-44F1-9B53-5A7FD8FD8A47}" type="slidenum">
              <a:rPr lang="en-US"/>
              <a:pPr>
                <a:defRPr/>
              </a:pPr>
              <a:t>‹#›</a:t>
            </a:fld>
            <a:endParaRPr lang="en-US"/>
          </a:p>
        </p:txBody>
      </p:sp>
    </p:spTree>
    <p:extLst>
      <p:ext uri="{BB962C8B-B14F-4D97-AF65-F5344CB8AC3E}">
        <p14:creationId xmlns:p14="http://schemas.microsoft.com/office/powerpoint/2010/main" val="2354448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533DD42-D367-4803-863B-7861124CD6E0}" type="slidenum">
              <a:rPr lang="en-US"/>
              <a:pPr>
                <a:defRPr/>
              </a:pPr>
              <a:t>‹#›</a:t>
            </a:fld>
            <a:endParaRPr lang="en-US"/>
          </a:p>
        </p:txBody>
      </p:sp>
    </p:spTree>
    <p:extLst>
      <p:ext uri="{BB962C8B-B14F-4D97-AF65-F5344CB8AC3E}">
        <p14:creationId xmlns:p14="http://schemas.microsoft.com/office/powerpoint/2010/main" val="266377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03AB39-0AAA-44C8-883B-769DB1117575}" type="slidenum">
              <a:rPr lang="en-US"/>
              <a:pPr>
                <a:defRPr/>
              </a:pPr>
              <a:t>‹#›</a:t>
            </a:fld>
            <a:endParaRPr lang="en-US"/>
          </a:p>
        </p:txBody>
      </p:sp>
    </p:spTree>
    <p:extLst>
      <p:ext uri="{BB962C8B-B14F-4D97-AF65-F5344CB8AC3E}">
        <p14:creationId xmlns:p14="http://schemas.microsoft.com/office/powerpoint/2010/main" val="20085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376651-E388-4AE5-88D1-F016F903F189}" type="slidenum">
              <a:rPr lang="en-US"/>
              <a:pPr>
                <a:defRPr/>
              </a:pPr>
              <a:t>‹#›</a:t>
            </a:fld>
            <a:endParaRPr lang="en-US"/>
          </a:p>
        </p:txBody>
      </p:sp>
    </p:spTree>
    <p:extLst>
      <p:ext uri="{BB962C8B-B14F-4D97-AF65-F5344CB8AC3E}">
        <p14:creationId xmlns:p14="http://schemas.microsoft.com/office/powerpoint/2010/main" val="64389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171E933-C915-4B6C-B190-CB83AFEB7236}" type="slidenum">
              <a:rPr lang="en-US"/>
              <a:pPr>
                <a:defRPr/>
              </a:pPr>
              <a:t>‹#›</a:t>
            </a:fld>
            <a:endParaRPr lang="en-US"/>
          </a:p>
        </p:txBody>
      </p:sp>
    </p:spTree>
    <p:extLst>
      <p:ext uri="{BB962C8B-B14F-4D97-AF65-F5344CB8AC3E}">
        <p14:creationId xmlns:p14="http://schemas.microsoft.com/office/powerpoint/2010/main" val="8208211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B571B58-57FC-49CE-A514-395DB7A000B2}" type="slidenum">
              <a:rPr lang="en-US"/>
              <a:pPr>
                <a:defRPr/>
              </a:pPr>
              <a:t>‹#›</a:t>
            </a:fld>
            <a:endParaRPr lang="en-US"/>
          </a:p>
        </p:txBody>
      </p:sp>
    </p:spTree>
    <p:extLst>
      <p:ext uri="{BB962C8B-B14F-4D97-AF65-F5344CB8AC3E}">
        <p14:creationId xmlns:p14="http://schemas.microsoft.com/office/powerpoint/2010/main" val="3818024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6F40DBF7-5498-4DBE-8AA9-8E127AE4539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body" idx="1"/>
          </p:nvPr>
        </p:nvSpPr>
        <p:spPr>
          <a:xfrm>
            <a:off x="0" y="0"/>
            <a:ext cx="9144000" cy="6858000"/>
          </a:xfrm>
        </p:spPr>
        <p:txBody>
          <a:bodyPr/>
          <a:lstStyle/>
          <a:p>
            <a:pPr algn="ctr" eaLnBrk="1" hangingPunct="1">
              <a:buFontTx/>
              <a:buNone/>
            </a:pPr>
            <a:r>
              <a:rPr lang="en-US" altLang="en-US" sz="3500" b="1">
                <a:solidFill>
                  <a:srgbClr val="6600FF"/>
                </a:solidFill>
              </a:rPr>
              <a:t>Chương 7: Giải thuật tìm kiếm</a:t>
            </a:r>
          </a:p>
          <a:p>
            <a:pPr eaLnBrk="1" hangingPunct="1">
              <a:buFontTx/>
              <a:buNone/>
            </a:pPr>
            <a:r>
              <a:rPr lang="en-US" altLang="en-US" sz="3500" b="1">
                <a:solidFill>
                  <a:srgbClr val="6600FF"/>
                </a:solidFill>
              </a:rPr>
              <a:t>1. Bài toán tìm kiếm</a:t>
            </a:r>
            <a:endParaRPr lang="en-US" altLang="en-US" sz="3500">
              <a:solidFill>
                <a:srgbClr val="6600FF"/>
              </a:solidFill>
            </a:endParaRPr>
          </a:p>
          <a:p>
            <a:pPr eaLnBrk="1" hangingPunct="1">
              <a:buFontTx/>
              <a:buNone/>
            </a:pPr>
            <a:r>
              <a:rPr lang="en-US" altLang="en-US" sz="3500">
                <a:solidFill>
                  <a:srgbClr val="6600FF"/>
                </a:solidFill>
              </a:rPr>
              <a:t>* Bài toán tìm kiếm:</a:t>
            </a:r>
          </a:p>
          <a:p>
            <a:pPr eaLnBrk="1" hangingPunct="1">
              <a:buFontTx/>
              <a:buNone/>
            </a:pPr>
            <a:r>
              <a:rPr lang="en-US" altLang="en-US" sz="3500"/>
              <a:t>	Cho dãy khóa k là các số nguyên có n phần tử. Tìm khóa có giá trị bằng x cho trước.</a:t>
            </a:r>
          </a:p>
          <a:p>
            <a:pPr eaLnBrk="1" hangingPunct="1">
              <a:buFontTx/>
              <a:buNone/>
            </a:pPr>
            <a:r>
              <a:rPr lang="en-US" altLang="en-US" sz="3500">
                <a:solidFill>
                  <a:srgbClr val="6600FF"/>
                </a:solidFill>
              </a:rPr>
              <a:t>* Gọi x là khoá tìm kiếm hay giá trị tìm kiếm</a:t>
            </a:r>
            <a:r>
              <a:rPr lang="en-US" altLang="en-US" sz="3500"/>
              <a:t>. Công việc tìm kiếm sẽ hoàn thành khi có một trong 2 tình huống sau xảy ra:</a:t>
            </a:r>
          </a:p>
          <a:p>
            <a:pPr eaLnBrk="1" hangingPunct="1">
              <a:buFontTx/>
              <a:buNone/>
            </a:pPr>
            <a:r>
              <a:rPr lang="en-US" altLang="en-US" sz="350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0" y="0"/>
            <a:ext cx="9144000" cy="6858000"/>
          </a:xfrm>
        </p:spPr>
        <p:txBody>
          <a:bodyPr/>
          <a:lstStyle/>
          <a:p>
            <a:pPr eaLnBrk="1" hangingPunct="1">
              <a:lnSpc>
                <a:spcPct val="90000"/>
              </a:lnSpc>
              <a:buFontTx/>
              <a:buNone/>
            </a:pPr>
            <a:r>
              <a:rPr lang="en-US" altLang="en-US" b="1"/>
              <a:t>	</a:t>
            </a:r>
            <a:r>
              <a:rPr lang="en-US" altLang="en-US" b="1">
                <a:solidFill>
                  <a:srgbClr val="FF3300"/>
                </a:solidFill>
              </a:rPr>
              <a:t>1- Tìm được khóa có giá trị bằng x.</a:t>
            </a:r>
            <a:endParaRPr lang="en-US" altLang="en-US" b="1"/>
          </a:p>
          <a:p>
            <a:pPr eaLnBrk="1" hangingPunct="1">
              <a:lnSpc>
                <a:spcPct val="90000"/>
              </a:lnSpc>
              <a:buFontTx/>
              <a:buNone/>
            </a:pPr>
            <a:r>
              <a:rPr lang="en-US" altLang="en-US" b="1"/>
              <a:t>	</a:t>
            </a:r>
            <a:r>
              <a:rPr lang="en-US" altLang="en-US" b="1">
                <a:solidFill>
                  <a:srgbClr val="FF3300"/>
                </a:solidFill>
              </a:rPr>
              <a:t>2- Không tìm được khóa nào có giá trị bằng x</a:t>
            </a:r>
            <a:r>
              <a:rPr lang="en-US" altLang="en-US" b="1"/>
              <a:t>.</a:t>
            </a:r>
          </a:p>
          <a:p>
            <a:pPr eaLnBrk="1" hangingPunct="1">
              <a:lnSpc>
                <a:spcPct val="90000"/>
              </a:lnSpc>
              <a:buFontTx/>
              <a:buNone/>
            </a:pPr>
            <a:r>
              <a:rPr lang="en-US" altLang="en-US" b="1"/>
              <a:t>	Sau phép tìm kiếm không thấy, nếu có yêu cầu </a:t>
            </a:r>
            <a:r>
              <a:rPr lang="en-US" altLang="en-US" b="1">
                <a:solidFill>
                  <a:srgbClr val="FF3300"/>
                </a:solidFill>
              </a:rPr>
              <a:t>bổ sung khoá x vào dãy khóa</a:t>
            </a:r>
            <a:r>
              <a:rPr lang="en-US" altLang="en-US" b="1"/>
              <a:t> thì giải thuật này gọi là “Tìm kiếm có bổ sung”.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body" idx="1"/>
          </p:nvPr>
        </p:nvSpPr>
        <p:spPr>
          <a:xfrm>
            <a:off x="0" y="381000"/>
            <a:ext cx="9144000" cy="6477000"/>
          </a:xfrm>
        </p:spPr>
        <p:txBody>
          <a:bodyPr/>
          <a:lstStyle/>
          <a:p>
            <a:pPr eaLnBrk="1" hangingPunct="1">
              <a:lnSpc>
                <a:spcPct val="90000"/>
              </a:lnSpc>
              <a:buFontTx/>
              <a:buNone/>
            </a:pPr>
            <a:r>
              <a:rPr lang="en-US" altLang="en-US" sz="3100" b="1">
                <a:solidFill>
                  <a:srgbClr val="6600FF"/>
                </a:solidFill>
              </a:rPr>
              <a:t>2. Tìm kiếm tuần tự (Sequential searching)</a:t>
            </a:r>
          </a:p>
          <a:p>
            <a:pPr eaLnBrk="1" hangingPunct="1">
              <a:lnSpc>
                <a:spcPct val="90000"/>
              </a:lnSpc>
              <a:buFontTx/>
              <a:buNone/>
            </a:pPr>
            <a:r>
              <a:rPr lang="en-US" altLang="en-US" sz="3100" b="1">
                <a:solidFill>
                  <a:srgbClr val="6600FF"/>
                </a:solidFill>
              </a:rPr>
              <a:t>2.1. Phương pháp</a:t>
            </a:r>
            <a:endParaRPr lang="en-US" altLang="en-US" sz="3100">
              <a:solidFill>
                <a:srgbClr val="6600FF"/>
              </a:solidFill>
            </a:endParaRPr>
          </a:p>
          <a:p>
            <a:pPr eaLnBrk="1" hangingPunct="1">
              <a:lnSpc>
                <a:spcPct val="90000"/>
              </a:lnSpc>
              <a:buFontTx/>
              <a:buNone/>
            </a:pPr>
            <a:r>
              <a:rPr lang="en-US" altLang="en-US" sz="3100"/>
              <a:t>	Đây là giải thuật đơn giản, cổ điển.</a:t>
            </a:r>
          </a:p>
          <a:p>
            <a:pPr eaLnBrk="1" hangingPunct="1">
              <a:lnSpc>
                <a:spcPct val="90000"/>
              </a:lnSpc>
              <a:buFontTx/>
              <a:buNone/>
            </a:pPr>
            <a:r>
              <a:rPr lang="en-US" altLang="en-US" sz="3100"/>
              <a:t>	Ý tưởng giải thuật: Bắt đầu từ khóa thứ nhất, lần lượt so sánh khoá tìm kiếm x với các khóa trong dãy khóa cho đến khi tìm thấy hoặc đã hết dãy khóa mà chưa thấy.</a:t>
            </a:r>
          </a:p>
          <a:p>
            <a:pPr eaLnBrk="1" hangingPunct="1">
              <a:lnSpc>
                <a:spcPct val="90000"/>
              </a:lnSpc>
              <a:buFontTx/>
              <a:buNone/>
            </a:pPr>
            <a:r>
              <a:rPr lang="en-US" altLang="en-US" sz="3100">
                <a:solidFill>
                  <a:srgbClr val="6600FF"/>
                </a:solidFill>
              </a:rPr>
              <a:t>* Giải thuật:</a:t>
            </a:r>
          </a:p>
          <a:p>
            <a:pPr eaLnBrk="1" hangingPunct="1">
              <a:lnSpc>
                <a:spcPct val="90000"/>
              </a:lnSpc>
              <a:buFontTx/>
              <a:buNone/>
            </a:pPr>
            <a:r>
              <a:rPr lang="en-US" altLang="en-US" sz="3100"/>
              <a:t>	Cho dãy khoá k có n phần tử lưu trữ trên mảng một chiều k có n ô nhớ với chỉ số từ 1 đến n. Tìm khoá có giá trị bằng x, nếu tìm thấy thì trả về thứ tự của khoá, nếu không tìm thấy thì trả về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8E244-7582-4DFA-A279-2F02BA413CDF}"/>
              </a:ext>
            </a:extLst>
          </p:cNvPr>
          <p:cNvSpPr>
            <a:spLocks noGrp="1"/>
          </p:cNvSpPr>
          <p:nvPr>
            <p:ph type="title"/>
          </p:nvPr>
        </p:nvSpPr>
        <p:spPr/>
        <p:txBody>
          <a:bodyPr/>
          <a:lstStyle/>
          <a:p>
            <a:r>
              <a:rPr lang="en-US"/>
              <a:t>Minh họa ý tưởng</a:t>
            </a:r>
          </a:p>
        </p:txBody>
      </p:sp>
      <p:sp>
        <p:nvSpPr>
          <p:cNvPr id="4" name="Rectangle 3">
            <a:extLst>
              <a:ext uri="{FF2B5EF4-FFF2-40B4-BE49-F238E27FC236}">
                <a16:creationId xmlns:a16="http://schemas.microsoft.com/office/drawing/2014/main" id="{032E8180-3563-4672-8702-B8B3CE21D6D8}"/>
              </a:ext>
            </a:extLst>
          </p:cNvPr>
          <p:cNvSpPr/>
          <p:nvPr/>
        </p:nvSpPr>
        <p:spPr>
          <a:xfrm>
            <a:off x="14478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029A3AE-A53E-42E3-8206-50D140139C85}"/>
              </a:ext>
            </a:extLst>
          </p:cNvPr>
          <p:cNvSpPr/>
          <p:nvPr/>
        </p:nvSpPr>
        <p:spPr>
          <a:xfrm>
            <a:off x="19812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59F665-97C0-4200-8264-AA6FABC343BA}"/>
              </a:ext>
            </a:extLst>
          </p:cNvPr>
          <p:cNvSpPr/>
          <p:nvPr/>
        </p:nvSpPr>
        <p:spPr>
          <a:xfrm>
            <a:off x="25146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52FAB51-2250-4126-8BEF-212B7CE698F5}"/>
              </a:ext>
            </a:extLst>
          </p:cNvPr>
          <p:cNvSpPr/>
          <p:nvPr/>
        </p:nvSpPr>
        <p:spPr>
          <a:xfrm>
            <a:off x="30480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5B4B5AE-AC49-44A9-98ED-2227936C1115}"/>
              </a:ext>
            </a:extLst>
          </p:cNvPr>
          <p:cNvSpPr/>
          <p:nvPr/>
        </p:nvSpPr>
        <p:spPr>
          <a:xfrm>
            <a:off x="35814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A4130F0-5E9A-49AE-A6A3-9D0E326C8B4F}"/>
              </a:ext>
            </a:extLst>
          </p:cNvPr>
          <p:cNvSpPr/>
          <p:nvPr/>
        </p:nvSpPr>
        <p:spPr>
          <a:xfrm>
            <a:off x="41148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1C4C9D-86EA-43E9-A560-B20F55774B7B}"/>
              </a:ext>
            </a:extLst>
          </p:cNvPr>
          <p:cNvSpPr/>
          <p:nvPr/>
        </p:nvSpPr>
        <p:spPr>
          <a:xfrm>
            <a:off x="46482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9D5886-A307-4310-8E5B-CA8194FA943E}"/>
              </a:ext>
            </a:extLst>
          </p:cNvPr>
          <p:cNvSpPr txBox="1"/>
          <p:nvPr/>
        </p:nvSpPr>
        <p:spPr>
          <a:xfrm>
            <a:off x="1562100" y="2514600"/>
            <a:ext cx="304800" cy="400110"/>
          </a:xfrm>
          <a:prstGeom prst="rect">
            <a:avLst/>
          </a:prstGeom>
          <a:noFill/>
        </p:spPr>
        <p:txBody>
          <a:bodyPr wrap="square" rtlCol="0">
            <a:spAutoFit/>
          </a:bodyPr>
          <a:lstStyle/>
          <a:p>
            <a:r>
              <a:rPr lang="en-US" sz="2000"/>
              <a:t>1</a:t>
            </a:r>
          </a:p>
        </p:txBody>
      </p:sp>
      <p:sp>
        <p:nvSpPr>
          <p:cNvPr id="12" name="TextBox 11">
            <a:extLst>
              <a:ext uri="{FF2B5EF4-FFF2-40B4-BE49-F238E27FC236}">
                <a16:creationId xmlns:a16="http://schemas.microsoft.com/office/drawing/2014/main" id="{197623B7-06ED-4711-AA50-7D53065E1087}"/>
              </a:ext>
            </a:extLst>
          </p:cNvPr>
          <p:cNvSpPr txBox="1"/>
          <p:nvPr/>
        </p:nvSpPr>
        <p:spPr>
          <a:xfrm>
            <a:off x="2063179" y="2514600"/>
            <a:ext cx="304800" cy="400110"/>
          </a:xfrm>
          <a:prstGeom prst="rect">
            <a:avLst/>
          </a:prstGeom>
          <a:noFill/>
        </p:spPr>
        <p:txBody>
          <a:bodyPr wrap="square" rtlCol="0">
            <a:spAutoFit/>
          </a:bodyPr>
          <a:lstStyle/>
          <a:p>
            <a:r>
              <a:rPr lang="en-US" sz="2000"/>
              <a:t>2</a:t>
            </a:r>
          </a:p>
        </p:txBody>
      </p:sp>
      <p:sp>
        <p:nvSpPr>
          <p:cNvPr id="13" name="TextBox 12">
            <a:extLst>
              <a:ext uri="{FF2B5EF4-FFF2-40B4-BE49-F238E27FC236}">
                <a16:creationId xmlns:a16="http://schemas.microsoft.com/office/drawing/2014/main" id="{B2D20EFF-FE8F-403F-B15C-D8C974A9F84C}"/>
              </a:ext>
            </a:extLst>
          </p:cNvPr>
          <p:cNvSpPr txBox="1"/>
          <p:nvPr/>
        </p:nvSpPr>
        <p:spPr>
          <a:xfrm>
            <a:off x="2669889" y="2514600"/>
            <a:ext cx="304800" cy="400110"/>
          </a:xfrm>
          <a:prstGeom prst="rect">
            <a:avLst/>
          </a:prstGeom>
          <a:noFill/>
        </p:spPr>
        <p:txBody>
          <a:bodyPr wrap="square" rtlCol="0">
            <a:spAutoFit/>
          </a:bodyPr>
          <a:lstStyle/>
          <a:p>
            <a:r>
              <a:rPr lang="en-US" sz="2000"/>
              <a:t>3</a:t>
            </a:r>
          </a:p>
        </p:txBody>
      </p:sp>
      <p:sp>
        <p:nvSpPr>
          <p:cNvPr id="14" name="TextBox 13">
            <a:extLst>
              <a:ext uri="{FF2B5EF4-FFF2-40B4-BE49-F238E27FC236}">
                <a16:creationId xmlns:a16="http://schemas.microsoft.com/office/drawing/2014/main" id="{ABD08BBC-ACB3-4EF8-AFBC-4CC77C612BCA}"/>
              </a:ext>
            </a:extLst>
          </p:cNvPr>
          <p:cNvSpPr txBox="1"/>
          <p:nvPr/>
        </p:nvSpPr>
        <p:spPr>
          <a:xfrm>
            <a:off x="4762500" y="2514600"/>
            <a:ext cx="800102" cy="400110"/>
          </a:xfrm>
          <a:prstGeom prst="rect">
            <a:avLst/>
          </a:prstGeom>
          <a:noFill/>
        </p:spPr>
        <p:txBody>
          <a:bodyPr wrap="square" rtlCol="0">
            <a:spAutoFit/>
          </a:bodyPr>
          <a:lstStyle/>
          <a:p>
            <a:r>
              <a:rPr lang="en-US" sz="2000"/>
              <a:t>n=7</a:t>
            </a:r>
          </a:p>
        </p:txBody>
      </p:sp>
      <p:sp>
        <p:nvSpPr>
          <p:cNvPr id="15" name="TextBox 14">
            <a:extLst>
              <a:ext uri="{FF2B5EF4-FFF2-40B4-BE49-F238E27FC236}">
                <a16:creationId xmlns:a16="http://schemas.microsoft.com/office/drawing/2014/main" id="{32774FD0-BDFE-41B8-8FAA-CB9D64E60028}"/>
              </a:ext>
            </a:extLst>
          </p:cNvPr>
          <p:cNvSpPr txBox="1"/>
          <p:nvPr/>
        </p:nvSpPr>
        <p:spPr>
          <a:xfrm>
            <a:off x="967268" y="2047845"/>
            <a:ext cx="304800" cy="461665"/>
          </a:xfrm>
          <a:prstGeom prst="rect">
            <a:avLst/>
          </a:prstGeom>
          <a:noFill/>
        </p:spPr>
        <p:txBody>
          <a:bodyPr wrap="square" rtlCol="0">
            <a:spAutoFit/>
          </a:bodyPr>
          <a:lstStyle/>
          <a:p>
            <a:r>
              <a:rPr lang="en-US"/>
              <a:t>k</a:t>
            </a:r>
          </a:p>
        </p:txBody>
      </p:sp>
      <p:sp>
        <p:nvSpPr>
          <p:cNvPr id="16" name="TextBox 15">
            <a:extLst>
              <a:ext uri="{FF2B5EF4-FFF2-40B4-BE49-F238E27FC236}">
                <a16:creationId xmlns:a16="http://schemas.microsoft.com/office/drawing/2014/main" id="{2573B48F-382B-44FC-8A53-2DDC09526AA0}"/>
              </a:ext>
            </a:extLst>
          </p:cNvPr>
          <p:cNvSpPr txBox="1"/>
          <p:nvPr/>
        </p:nvSpPr>
        <p:spPr>
          <a:xfrm>
            <a:off x="1521111" y="1995664"/>
            <a:ext cx="304800" cy="461665"/>
          </a:xfrm>
          <a:prstGeom prst="rect">
            <a:avLst/>
          </a:prstGeom>
          <a:noFill/>
        </p:spPr>
        <p:txBody>
          <a:bodyPr wrap="square" rtlCol="0">
            <a:spAutoFit/>
          </a:bodyPr>
          <a:lstStyle/>
          <a:p>
            <a:r>
              <a:rPr lang="en-US"/>
              <a:t>8</a:t>
            </a:r>
          </a:p>
        </p:txBody>
      </p:sp>
      <p:sp>
        <p:nvSpPr>
          <p:cNvPr id="17" name="TextBox 16">
            <a:extLst>
              <a:ext uri="{FF2B5EF4-FFF2-40B4-BE49-F238E27FC236}">
                <a16:creationId xmlns:a16="http://schemas.microsoft.com/office/drawing/2014/main" id="{0D5142F3-D909-41C2-9BED-7A9D35E0492F}"/>
              </a:ext>
            </a:extLst>
          </p:cNvPr>
          <p:cNvSpPr txBox="1"/>
          <p:nvPr/>
        </p:nvSpPr>
        <p:spPr>
          <a:xfrm>
            <a:off x="1981200" y="1995664"/>
            <a:ext cx="574389" cy="461665"/>
          </a:xfrm>
          <a:prstGeom prst="rect">
            <a:avLst/>
          </a:prstGeom>
          <a:noFill/>
        </p:spPr>
        <p:txBody>
          <a:bodyPr wrap="square" rtlCol="0">
            <a:spAutoFit/>
          </a:bodyPr>
          <a:lstStyle/>
          <a:p>
            <a:r>
              <a:rPr lang="en-US"/>
              <a:t>10</a:t>
            </a:r>
          </a:p>
        </p:txBody>
      </p:sp>
      <p:sp>
        <p:nvSpPr>
          <p:cNvPr id="18" name="TextBox 17">
            <a:extLst>
              <a:ext uri="{FF2B5EF4-FFF2-40B4-BE49-F238E27FC236}">
                <a16:creationId xmlns:a16="http://schemas.microsoft.com/office/drawing/2014/main" id="{4303DCED-4AB0-4509-81B3-234171E86140}"/>
              </a:ext>
            </a:extLst>
          </p:cNvPr>
          <p:cNvSpPr txBox="1"/>
          <p:nvPr/>
        </p:nvSpPr>
        <p:spPr>
          <a:xfrm>
            <a:off x="2495230" y="1995664"/>
            <a:ext cx="574389" cy="461665"/>
          </a:xfrm>
          <a:prstGeom prst="rect">
            <a:avLst/>
          </a:prstGeom>
          <a:noFill/>
        </p:spPr>
        <p:txBody>
          <a:bodyPr wrap="square" rtlCol="0">
            <a:spAutoFit/>
          </a:bodyPr>
          <a:lstStyle/>
          <a:p>
            <a:pPr algn="ctr"/>
            <a:r>
              <a:rPr lang="en-US"/>
              <a:t>2</a:t>
            </a:r>
          </a:p>
        </p:txBody>
      </p:sp>
      <p:sp>
        <p:nvSpPr>
          <p:cNvPr id="19" name="TextBox 18">
            <a:extLst>
              <a:ext uri="{FF2B5EF4-FFF2-40B4-BE49-F238E27FC236}">
                <a16:creationId xmlns:a16="http://schemas.microsoft.com/office/drawing/2014/main" id="{169557EB-4D6F-4516-BA1B-BDFC2F12018C}"/>
              </a:ext>
            </a:extLst>
          </p:cNvPr>
          <p:cNvSpPr txBox="1"/>
          <p:nvPr/>
        </p:nvSpPr>
        <p:spPr>
          <a:xfrm>
            <a:off x="3088989" y="1995664"/>
            <a:ext cx="574389" cy="461665"/>
          </a:xfrm>
          <a:prstGeom prst="rect">
            <a:avLst/>
          </a:prstGeom>
          <a:noFill/>
        </p:spPr>
        <p:txBody>
          <a:bodyPr wrap="square" rtlCol="0">
            <a:spAutoFit/>
          </a:bodyPr>
          <a:lstStyle/>
          <a:p>
            <a:pPr algn="ctr"/>
            <a:r>
              <a:rPr lang="en-US"/>
              <a:t>5</a:t>
            </a:r>
          </a:p>
        </p:txBody>
      </p:sp>
      <p:sp>
        <p:nvSpPr>
          <p:cNvPr id="20" name="TextBox 19">
            <a:extLst>
              <a:ext uri="{FF2B5EF4-FFF2-40B4-BE49-F238E27FC236}">
                <a16:creationId xmlns:a16="http://schemas.microsoft.com/office/drawing/2014/main" id="{33096638-4DB5-4C34-AA49-D7EE37E469EA}"/>
              </a:ext>
            </a:extLst>
          </p:cNvPr>
          <p:cNvSpPr txBox="1"/>
          <p:nvPr/>
        </p:nvSpPr>
        <p:spPr>
          <a:xfrm>
            <a:off x="3581400" y="1995664"/>
            <a:ext cx="574389" cy="461665"/>
          </a:xfrm>
          <a:prstGeom prst="rect">
            <a:avLst/>
          </a:prstGeom>
          <a:noFill/>
        </p:spPr>
        <p:txBody>
          <a:bodyPr wrap="square" rtlCol="0">
            <a:spAutoFit/>
          </a:bodyPr>
          <a:lstStyle/>
          <a:p>
            <a:pPr algn="ctr"/>
            <a:r>
              <a:rPr lang="en-US"/>
              <a:t>7</a:t>
            </a:r>
          </a:p>
        </p:txBody>
      </p:sp>
      <p:sp>
        <p:nvSpPr>
          <p:cNvPr id="21" name="TextBox 20">
            <a:extLst>
              <a:ext uri="{FF2B5EF4-FFF2-40B4-BE49-F238E27FC236}">
                <a16:creationId xmlns:a16="http://schemas.microsoft.com/office/drawing/2014/main" id="{DBC5B3B2-0BFB-4577-85BD-5EF91270F6BC}"/>
              </a:ext>
            </a:extLst>
          </p:cNvPr>
          <p:cNvSpPr txBox="1"/>
          <p:nvPr/>
        </p:nvSpPr>
        <p:spPr>
          <a:xfrm>
            <a:off x="4150652" y="1995664"/>
            <a:ext cx="574389" cy="461665"/>
          </a:xfrm>
          <a:prstGeom prst="rect">
            <a:avLst/>
          </a:prstGeom>
          <a:noFill/>
        </p:spPr>
        <p:txBody>
          <a:bodyPr wrap="square" rtlCol="0">
            <a:spAutoFit/>
          </a:bodyPr>
          <a:lstStyle/>
          <a:p>
            <a:pPr algn="ctr"/>
            <a:r>
              <a:rPr lang="en-US"/>
              <a:t>4</a:t>
            </a:r>
          </a:p>
        </p:txBody>
      </p:sp>
      <p:sp>
        <p:nvSpPr>
          <p:cNvPr id="24" name="TextBox 23">
            <a:extLst>
              <a:ext uri="{FF2B5EF4-FFF2-40B4-BE49-F238E27FC236}">
                <a16:creationId xmlns:a16="http://schemas.microsoft.com/office/drawing/2014/main" id="{D0F74C7C-340E-47EB-AE4A-9E44848C4F6D}"/>
              </a:ext>
            </a:extLst>
          </p:cNvPr>
          <p:cNvSpPr txBox="1"/>
          <p:nvPr/>
        </p:nvSpPr>
        <p:spPr>
          <a:xfrm>
            <a:off x="4627705" y="1995664"/>
            <a:ext cx="574389" cy="461665"/>
          </a:xfrm>
          <a:prstGeom prst="rect">
            <a:avLst/>
          </a:prstGeom>
          <a:noFill/>
        </p:spPr>
        <p:txBody>
          <a:bodyPr wrap="square" rtlCol="0">
            <a:spAutoFit/>
          </a:bodyPr>
          <a:lstStyle/>
          <a:p>
            <a:pPr algn="ctr"/>
            <a:r>
              <a:rPr lang="en-US"/>
              <a:t>1</a:t>
            </a:r>
          </a:p>
        </p:txBody>
      </p:sp>
      <p:sp>
        <p:nvSpPr>
          <p:cNvPr id="25" name="TextBox 24">
            <a:extLst>
              <a:ext uri="{FF2B5EF4-FFF2-40B4-BE49-F238E27FC236}">
                <a16:creationId xmlns:a16="http://schemas.microsoft.com/office/drawing/2014/main" id="{F977CC61-301E-4204-A6E2-A4614F2B1659}"/>
              </a:ext>
            </a:extLst>
          </p:cNvPr>
          <p:cNvSpPr txBox="1"/>
          <p:nvPr/>
        </p:nvSpPr>
        <p:spPr>
          <a:xfrm>
            <a:off x="1066799" y="3352800"/>
            <a:ext cx="914401" cy="461665"/>
          </a:xfrm>
          <a:prstGeom prst="rect">
            <a:avLst/>
          </a:prstGeom>
          <a:noFill/>
        </p:spPr>
        <p:txBody>
          <a:bodyPr wrap="square" rtlCol="0">
            <a:spAutoFit/>
          </a:bodyPr>
          <a:lstStyle/>
          <a:p>
            <a:r>
              <a:rPr lang="en-US"/>
              <a:t>x=5</a:t>
            </a:r>
          </a:p>
        </p:txBody>
      </p:sp>
      <p:sp>
        <p:nvSpPr>
          <p:cNvPr id="26" name="TextBox 25">
            <a:extLst>
              <a:ext uri="{FF2B5EF4-FFF2-40B4-BE49-F238E27FC236}">
                <a16:creationId xmlns:a16="http://schemas.microsoft.com/office/drawing/2014/main" id="{DFDC802B-51A2-4EE8-8EA8-BD782154A993}"/>
              </a:ext>
            </a:extLst>
          </p:cNvPr>
          <p:cNvSpPr txBox="1"/>
          <p:nvPr/>
        </p:nvSpPr>
        <p:spPr>
          <a:xfrm>
            <a:off x="3173110" y="2514600"/>
            <a:ext cx="304800" cy="400110"/>
          </a:xfrm>
          <a:prstGeom prst="rect">
            <a:avLst/>
          </a:prstGeom>
          <a:noFill/>
        </p:spPr>
        <p:txBody>
          <a:bodyPr wrap="square" rtlCol="0">
            <a:spAutoFit/>
          </a:bodyPr>
          <a:lstStyle/>
          <a:p>
            <a:r>
              <a:rPr lang="en-US" sz="2000"/>
              <a:t>4</a:t>
            </a:r>
          </a:p>
        </p:txBody>
      </p:sp>
    </p:spTree>
    <p:extLst>
      <p:ext uri="{BB962C8B-B14F-4D97-AF65-F5344CB8AC3E}">
        <p14:creationId xmlns:p14="http://schemas.microsoft.com/office/powerpoint/2010/main" val="327013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xfrm>
            <a:off x="0" y="0"/>
            <a:ext cx="9144000" cy="6858000"/>
          </a:xfrm>
        </p:spPr>
        <p:txBody>
          <a:bodyPr/>
          <a:lstStyle/>
          <a:p>
            <a:pPr eaLnBrk="1" hangingPunct="1">
              <a:buFontTx/>
              <a:buNone/>
            </a:pPr>
            <a:r>
              <a:rPr lang="en-US" altLang="en-US"/>
              <a:t>	Function  sequenceSearch(k,n,x)</a:t>
            </a:r>
          </a:p>
          <a:p>
            <a:pPr eaLnBrk="1" hangingPunct="1">
              <a:buFontTx/>
              <a:buNone/>
            </a:pPr>
            <a:r>
              <a:rPr lang="en-US" altLang="en-US"/>
              <a:t>		1. { Khởi tạo }</a:t>
            </a:r>
          </a:p>
          <a:p>
            <a:pPr eaLnBrk="1" hangingPunct="1">
              <a:buFontTx/>
              <a:buNone/>
            </a:pPr>
            <a:r>
              <a:rPr lang="en-US" altLang="en-US"/>
              <a:t>		i:=1; k[n+1]:=x;</a:t>
            </a:r>
          </a:p>
          <a:p>
            <a:pPr eaLnBrk="1" hangingPunct="1">
              <a:buFontTx/>
              <a:buNone/>
            </a:pPr>
            <a:r>
              <a:rPr lang="en-US" altLang="en-US"/>
              <a:t>		2. {Tìm kiếm trong dãy}</a:t>
            </a:r>
          </a:p>
          <a:p>
            <a:pPr eaLnBrk="1" hangingPunct="1">
              <a:buFontTx/>
              <a:buNone/>
            </a:pPr>
            <a:r>
              <a:rPr lang="en-US" altLang="en-US"/>
              <a:t>		While  k[i] &lt;&gt; x  Do  i:=i+1;</a:t>
            </a:r>
          </a:p>
          <a:p>
            <a:pPr eaLnBrk="1" hangingPunct="1">
              <a:buFontTx/>
              <a:buNone/>
            </a:pPr>
            <a:r>
              <a:rPr lang="en-US" altLang="en-US"/>
              <a:t>		3. { Trả về kết quả tìm kiếm }</a:t>
            </a:r>
          </a:p>
          <a:p>
            <a:pPr eaLnBrk="1" hangingPunct="1">
              <a:buFontTx/>
              <a:buNone/>
            </a:pPr>
            <a:r>
              <a:rPr lang="en-US" altLang="en-US"/>
              <a:t>		If  i=n+1  then  Return(0)  Esle  Return(i);</a:t>
            </a:r>
          </a:p>
          <a:p>
            <a:pPr eaLnBrk="1" hangingPunct="1">
              <a:buFontTx/>
              <a:buNone/>
            </a:pPr>
            <a:r>
              <a:rPr lang="en-US" altLang="en-US"/>
              <a:t>	Return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Grp="1" noChangeAspect="1"/>
          </p:cNvGraphicFramePr>
          <p:nvPr>
            <p:ph type="body" idx="1"/>
          </p:nvPr>
        </p:nvGraphicFramePr>
        <p:xfrm>
          <a:off x="0" y="228600"/>
          <a:ext cx="8991600" cy="5943600"/>
        </p:xfrm>
        <a:graphic>
          <a:graphicData uri="http://schemas.openxmlformats.org/presentationml/2006/ole">
            <mc:AlternateContent xmlns:mc="http://schemas.openxmlformats.org/markup-compatibility/2006">
              <mc:Choice xmlns:v="urn:schemas-microsoft-com:vml" Requires="v">
                <p:oleObj name="Document" r:id="rId2" imgW="5788639" imgH="2902515" progId="Word.Document.8">
                  <p:embed/>
                </p:oleObj>
              </mc:Choice>
              <mc:Fallback>
                <p:oleObj name="Document" r:id="rId2" imgW="5788639" imgH="2902515"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8991600"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0" y="0"/>
            <a:ext cx="9144000" cy="6858000"/>
          </a:xfrm>
        </p:spPr>
        <p:txBody>
          <a:bodyPr/>
          <a:lstStyle/>
          <a:p>
            <a:pPr eaLnBrk="1" hangingPunct="1">
              <a:buFontTx/>
              <a:buNone/>
            </a:pPr>
            <a:r>
              <a:rPr lang="en-US" altLang="en-US" sz="2800" b="1" dirty="0">
                <a:solidFill>
                  <a:srgbClr val="6600FF"/>
                </a:solidFill>
              </a:rPr>
              <a:t>3. </a:t>
            </a:r>
            <a:r>
              <a:rPr lang="en-US" altLang="en-US" sz="2800" b="1" dirty="0" err="1">
                <a:solidFill>
                  <a:srgbClr val="6600FF"/>
                </a:solidFill>
              </a:rPr>
              <a:t>Tìm</a:t>
            </a:r>
            <a:r>
              <a:rPr lang="en-US" altLang="en-US" sz="2800" b="1" dirty="0">
                <a:solidFill>
                  <a:srgbClr val="6600FF"/>
                </a:solidFill>
              </a:rPr>
              <a:t> </a:t>
            </a:r>
            <a:r>
              <a:rPr lang="en-US" altLang="en-US" sz="2800" b="1" dirty="0" err="1">
                <a:solidFill>
                  <a:srgbClr val="6600FF"/>
                </a:solidFill>
              </a:rPr>
              <a:t>kiếm</a:t>
            </a:r>
            <a:r>
              <a:rPr lang="en-US" altLang="en-US" sz="2800" b="1" dirty="0">
                <a:solidFill>
                  <a:srgbClr val="6600FF"/>
                </a:solidFill>
              </a:rPr>
              <a:t> </a:t>
            </a:r>
            <a:r>
              <a:rPr lang="en-US" altLang="en-US" sz="2800" b="1" err="1">
                <a:solidFill>
                  <a:srgbClr val="6600FF"/>
                </a:solidFill>
              </a:rPr>
              <a:t>nhị</a:t>
            </a:r>
            <a:r>
              <a:rPr lang="en-US" altLang="en-US" sz="2800" b="1">
                <a:solidFill>
                  <a:srgbClr val="6600FF"/>
                </a:solidFill>
              </a:rPr>
              <a:t> phân trên mảng</a:t>
            </a:r>
            <a:endParaRPr lang="en-US" altLang="en-US" sz="2800" b="1" dirty="0">
              <a:solidFill>
                <a:srgbClr val="6600FF"/>
              </a:solidFill>
            </a:endParaRPr>
          </a:p>
          <a:p>
            <a:pPr eaLnBrk="1" hangingPunct="1">
              <a:buFontTx/>
              <a:buNone/>
            </a:pPr>
            <a:r>
              <a:rPr lang="en-US" altLang="en-US" sz="2800" b="1" dirty="0">
                <a:solidFill>
                  <a:srgbClr val="6600FF"/>
                </a:solidFill>
              </a:rPr>
              <a:t>3.1 </a:t>
            </a:r>
            <a:r>
              <a:rPr lang="en-US" altLang="en-US" sz="2800" b="1" dirty="0" err="1">
                <a:solidFill>
                  <a:srgbClr val="6600FF"/>
                </a:solidFill>
              </a:rPr>
              <a:t>Phương</a:t>
            </a:r>
            <a:r>
              <a:rPr lang="en-US" altLang="en-US" sz="2800" b="1" dirty="0">
                <a:solidFill>
                  <a:srgbClr val="6600FF"/>
                </a:solidFill>
              </a:rPr>
              <a:t> </a:t>
            </a:r>
            <a:r>
              <a:rPr lang="en-US" altLang="en-US" sz="2800" b="1" dirty="0" err="1">
                <a:solidFill>
                  <a:srgbClr val="6600FF"/>
                </a:solidFill>
              </a:rPr>
              <a:t>pháp</a:t>
            </a:r>
            <a:endParaRPr lang="en-US" altLang="en-US" sz="2800" b="1" dirty="0">
              <a:solidFill>
                <a:srgbClr val="6600FF"/>
              </a:solidFill>
            </a:endParaRPr>
          </a:p>
          <a:p>
            <a:pPr eaLnBrk="1" hangingPunct="1">
              <a:buFont typeface="Arial" panose="020B0604020202020204" pitchFamily="34" charset="0"/>
              <a:buChar char="•"/>
            </a:pPr>
            <a:r>
              <a:rPr lang="en-US" altLang="en-US" sz="2800" b="1">
                <a:solidFill>
                  <a:srgbClr val="6600FF"/>
                </a:solidFill>
              </a:rPr>
              <a:t>Phương </a:t>
            </a:r>
            <a:r>
              <a:rPr lang="en-US" altLang="en-US" sz="2800" b="1" dirty="0" err="1">
                <a:solidFill>
                  <a:srgbClr val="6600FF"/>
                </a:solidFill>
              </a:rPr>
              <a:t>pháp</a:t>
            </a:r>
            <a:r>
              <a:rPr lang="en-US" altLang="en-US" sz="2800" b="1" dirty="0">
                <a:solidFill>
                  <a:srgbClr val="6600FF"/>
                </a:solidFill>
              </a:rPr>
              <a:t> </a:t>
            </a:r>
            <a:r>
              <a:rPr lang="en-US" altLang="en-US" sz="2800" b="1" dirty="0" err="1">
                <a:solidFill>
                  <a:srgbClr val="6600FF"/>
                </a:solidFill>
              </a:rPr>
              <a:t>tìm</a:t>
            </a:r>
            <a:r>
              <a:rPr lang="en-US" altLang="en-US" sz="2800" b="1" dirty="0">
                <a:solidFill>
                  <a:srgbClr val="6600FF"/>
                </a:solidFill>
              </a:rPr>
              <a:t> </a:t>
            </a:r>
            <a:r>
              <a:rPr lang="en-US" altLang="en-US" sz="2800" b="1" dirty="0" err="1">
                <a:solidFill>
                  <a:srgbClr val="6600FF"/>
                </a:solidFill>
              </a:rPr>
              <a:t>kiếm</a:t>
            </a:r>
            <a:r>
              <a:rPr lang="en-US" altLang="en-US" sz="2800" b="1" dirty="0">
                <a:solidFill>
                  <a:srgbClr val="6600FF"/>
                </a:solidFill>
              </a:rPr>
              <a:t> </a:t>
            </a:r>
            <a:r>
              <a:rPr lang="en-US" altLang="en-US" sz="2800" b="1" dirty="0" err="1">
                <a:solidFill>
                  <a:srgbClr val="6600FF"/>
                </a:solidFill>
              </a:rPr>
              <a:t>thực</a:t>
            </a:r>
            <a:r>
              <a:rPr lang="en-US" altLang="en-US" sz="2800" b="1" dirty="0">
                <a:solidFill>
                  <a:srgbClr val="6600FF"/>
                </a:solidFill>
              </a:rPr>
              <a:t> </a:t>
            </a:r>
            <a:r>
              <a:rPr lang="en-US" altLang="en-US" sz="2800" b="1" dirty="0" err="1">
                <a:solidFill>
                  <a:srgbClr val="6600FF"/>
                </a:solidFill>
              </a:rPr>
              <a:t>hiện</a:t>
            </a:r>
            <a:r>
              <a:rPr lang="en-US" altLang="en-US" sz="2800" b="1" dirty="0">
                <a:solidFill>
                  <a:srgbClr val="6600FF"/>
                </a:solidFill>
              </a:rPr>
              <a:t> </a:t>
            </a:r>
            <a:r>
              <a:rPr lang="en-US" altLang="en-US" sz="2800" b="1" dirty="0" err="1">
                <a:solidFill>
                  <a:srgbClr val="6600FF"/>
                </a:solidFill>
              </a:rPr>
              <a:t>trên</a:t>
            </a:r>
            <a:r>
              <a:rPr lang="en-US" altLang="en-US" sz="2800" b="1" dirty="0">
                <a:solidFill>
                  <a:srgbClr val="6600FF"/>
                </a:solidFill>
              </a:rPr>
              <a:t> </a:t>
            </a:r>
            <a:r>
              <a:rPr lang="en-US" altLang="en-US" sz="2800" b="1" dirty="0" err="1">
                <a:solidFill>
                  <a:srgbClr val="6600FF"/>
                </a:solidFill>
              </a:rPr>
              <a:t>dãy</a:t>
            </a:r>
            <a:r>
              <a:rPr lang="en-US" altLang="en-US" sz="2800" b="1" dirty="0">
                <a:solidFill>
                  <a:srgbClr val="6600FF"/>
                </a:solidFill>
              </a:rPr>
              <a:t> </a:t>
            </a:r>
            <a:r>
              <a:rPr lang="en-US" altLang="en-US" sz="2800" b="1" dirty="0" err="1">
                <a:solidFill>
                  <a:srgbClr val="6600FF"/>
                </a:solidFill>
              </a:rPr>
              <a:t>khóa</a:t>
            </a:r>
            <a:r>
              <a:rPr lang="en-US" altLang="en-US" sz="2800" b="1" dirty="0">
                <a:solidFill>
                  <a:srgbClr val="6600FF"/>
                </a:solidFill>
              </a:rPr>
              <a:t> </a:t>
            </a:r>
            <a:r>
              <a:rPr lang="en-US" altLang="en-US" sz="2800" b="1" dirty="0" err="1">
                <a:solidFill>
                  <a:srgbClr val="6600FF"/>
                </a:solidFill>
              </a:rPr>
              <a:t>đã</a:t>
            </a:r>
            <a:r>
              <a:rPr lang="en-US" altLang="en-US" sz="2800" b="1" dirty="0">
                <a:solidFill>
                  <a:srgbClr val="6600FF"/>
                </a:solidFill>
              </a:rPr>
              <a:t> </a:t>
            </a:r>
            <a:r>
              <a:rPr lang="en-US" altLang="en-US" sz="2800" b="1" err="1">
                <a:solidFill>
                  <a:srgbClr val="6600FF"/>
                </a:solidFill>
              </a:rPr>
              <a:t>sắp</a:t>
            </a:r>
            <a:r>
              <a:rPr lang="en-US" altLang="en-US" sz="2800" b="1">
                <a:solidFill>
                  <a:srgbClr val="6600FF"/>
                </a:solidFill>
              </a:rPr>
              <a:t> xếp tăng dần:</a:t>
            </a:r>
          </a:p>
          <a:p>
            <a:pPr marL="0" indent="0" eaLnBrk="1" hangingPunct="1">
              <a:buNone/>
            </a:pPr>
            <a:r>
              <a:rPr lang="en-US" altLang="en-US" sz="2800" b="1"/>
              <a:t>   - Điều kiện: dãy khóa trên mảng sắp xếp tăng dần.</a:t>
            </a:r>
            <a:endParaRPr lang="en-US" altLang="en-US" sz="2800" b="1" dirty="0"/>
          </a:p>
          <a:p>
            <a:pPr eaLnBrk="1" hangingPunct="1">
              <a:buFontTx/>
              <a:buNone/>
            </a:pPr>
            <a:r>
              <a:rPr lang="en-US" altLang="en-US" sz="2800" b="1" dirty="0"/>
              <a:t>	- </a:t>
            </a:r>
            <a:r>
              <a:rPr lang="en-US" altLang="en-US" sz="2800" b="1" dirty="0" err="1"/>
              <a:t>Tương</a:t>
            </a:r>
            <a:r>
              <a:rPr lang="en-US" altLang="en-US" sz="2800" b="1" dirty="0"/>
              <a:t> </a:t>
            </a:r>
            <a:r>
              <a:rPr lang="en-US" altLang="en-US" sz="2800" b="1" dirty="0" err="1"/>
              <a:t>tự</a:t>
            </a:r>
            <a:r>
              <a:rPr lang="en-US" altLang="en-US" sz="2800" b="1" dirty="0"/>
              <a:t> </a:t>
            </a:r>
            <a:r>
              <a:rPr lang="en-US" altLang="en-US" sz="2800" b="1" dirty="0" err="1"/>
              <a:t>như</a:t>
            </a:r>
            <a:r>
              <a:rPr lang="en-US" altLang="en-US" sz="2800" b="1" dirty="0"/>
              <a:t> </a:t>
            </a:r>
            <a:r>
              <a:rPr lang="en-US" altLang="en-US" sz="2800" b="1" dirty="0" err="1"/>
              <a:t>tra</a:t>
            </a:r>
            <a:r>
              <a:rPr lang="en-US" altLang="en-US" sz="2800" b="1" dirty="0"/>
              <a:t> </a:t>
            </a:r>
            <a:r>
              <a:rPr lang="en-US" altLang="en-US" sz="2800" b="1" dirty="0" err="1"/>
              <a:t>tìm</a:t>
            </a:r>
            <a:r>
              <a:rPr lang="en-US" altLang="en-US" sz="2800" b="1" dirty="0"/>
              <a:t> </a:t>
            </a:r>
            <a:r>
              <a:rPr lang="en-US" altLang="en-US" sz="2800" b="1" dirty="0" err="1"/>
              <a:t>từ</a:t>
            </a:r>
            <a:r>
              <a:rPr lang="en-US" altLang="en-US" sz="2800" b="1" dirty="0"/>
              <a:t> </a:t>
            </a:r>
            <a:r>
              <a:rPr lang="en-US" altLang="en-US" sz="2800" b="1" dirty="0" err="1"/>
              <a:t>trong</a:t>
            </a:r>
            <a:r>
              <a:rPr lang="en-US" altLang="en-US" sz="2800" b="1" dirty="0"/>
              <a:t> </a:t>
            </a:r>
            <a:r>
              <a:rPr lang="en-US" altLang="en-US" sz="2800" b="1" dirty="0" err="1"/>
              <a:t>từ</a:t>
            </a:r>
            <a:r>
              <a:rPr lang="en-US" altLang="en-US" sz="2800" b="1" dirty="0"/>
              <a:t> </a:t>
            </a:r>
            <a:r>
              <a:rPr lang="en-US" altLang="en-US" sz="2800" b="1" dirty="0" err="1"/>
              <a:t>điển</a:t>
            </a:r>
            <a:r>
              <a:rPr lang="en-US" altLang="en-US" sz="2800" b="1" dirty="0"/>
              <a:t> </a:t>
            </a:r>
            <a:r>
              <a:rPr lang="en-US" altLang="en-US" sz="2800" b="1" dirty="0" err="1"/>
              <a:t>hoặc</a:t>
            </a:r>
            <a:r>
              <a:rPr lang="en-US" altLang="en-US" sz="2800" b="1" dirty="0"/>
              <a:t> </a:t>
            </a:r>
            <a:r>
              <a:rPr lang="en-US" altLang="en-US" sz="2800" b="1" dirty="0" err="1"/>
              <a:t>danh</a:t>
            </a:r>
            <a:r>
              <a:rPr lang="en-US" altLang="en-US" sz="2800" b="1" dirty="0"/>
              <a:t> </a:t>
            </a:r>
            <a:r>
              <a:rPr lang="en-US" altLang="en-US" sz="2800" b="1" dirty="0" err="1"/>
              <a:t>bạ</a:t>
            </a:r>
            <a:r>
              <a:rPr lang="en-US" altLang="en-US" sz="2800" b="1" dirty="0"/>
              <a:t> </a:t>
            </a:r>
            <a:r>
              <a:rPr lang="en-US" altLang="en-US" sz="2800" b="1" dirty="0" err="1"/>
              <a:t>điện</a:t>
            </a:r>
            <a:r>
              <a:rPr lang="en-US" altLang="en-US" sz="2800" b="1" dirty="0"/>
              <a:t> </a:t>
            </a:r>
            <a:r>
              <a:rPr lang="en-US" altLang="en-US" sz="2800" b="1" dirty="0" err="1"/>
              <a:t>thoại</a:t>
            </a:r>
            <a:r>
              <a:rPr lang="en-US" altLang="en-US" sz="2800" b="1" dirty="0"/>
              <a:t>. </a:t>
            </a:r>
            <a:r>
              <a:rPr lang="en-US" altLang="en-US" sz="2800" b="1" dirty="0" err="1"/>
              <a:t>Chỉ</a:t>
            </a:r>
            <a:r>
              <a:rPr lang="en-US" altLang="en-US" sz="2800" b="1" dirty="0"/>
              <a:t> </a:t>
            </a:r>
            <a:r>
              <a:rPr lang="en-US" altLang="en-US" sz="2800" b="1" dirty="0" err="1"/>
              <a:t>khác</a:t>
            </a:r>
            <a:r>
              <a:rPr lang="en-US" altLang="en-US" sz="2800" b="1" dirty="0"/>
              <a:t> </a:t>
            </a:r>
            <a:r>
              <a:rPr lang="en-US" altLang="en-US" sz="2800" b="1" dirty="0" err="1"/>
              <a:t>là</a:t>
            </a:r>
            <a:r>
              <a:rPr lang="en-US" altLang="en-US" sz="2800" b="1" dirty="0"/>
              <a:t> </a:t>
            </a:r>
            <a:r>
              <a:rPr lang="en-US" altLang="en-US" sz="2800" b="1" dirty="0" err="1"/>
              <a:t>trong</a:t>
            </a:r>
            <a:r>
              <a:rPr lang="en-US" altLang="en-US" sz="2800" b="1" dirty="0"/>
              <a:t> </a:t>
            </a:r>
            <a:r>
              <a:rPr lang="en-US" altLang="en-US" sz="2800" b="1" dirty="0" err="1"/>
              <a:t>tra</a:t>
            </a:r>
            <a:r>
              <a:rPr lang="en-US" altLang="en-US" sz="2800" b="1" dirty="0"/>
              <a:t> </a:t>
            </a:r>
            <a:r>
              <a:rPr lang="en-US" altLang="en-US" sz="2800" b="1" dirty="0" err="1"/>
              <a:t>cứu</a:t>
            </a:r>
            <a:r>
              <a:rPr lang="en-US" altLang="en-US" sz="2800" b="1" dirty="0"/>
              <a:t> ta </a:t>
            </a:r>
            <a:r>
              <a:rPr lang="en-US" altLang="en-US" sz="2800" b="1" dirty="0" err="1"/>
              <a:t>chọn</a:t>
            </a:r>
            <a:r>
              <a:rPr lang="en-US" altLang="en-US" sz="2800" b="1" dirty="0"/>
              <a:t> </a:t>
            </a:r>
            <a:r>
              <a:rPr lang="en-US" altLang="en-US" sz="2800" b="1" dirty="0" err="1"/>
              <a:t>từ</a:t>
            </a:r>
            <a:r>
              <a:rPr lang="en-US" altLang="en-US" sz="2800" b="1" dirty="0"/>
              <a:t> </a:t>
            </a:r>
            <a:r>
              <a:rPr lang="en-US" altLang="en-US" sz="2800" b="1" dirty="0" err="1"/>
              <a:t>ngẫu</a:t>
            </a:r>
            <a:r>
              <a:rPr lang="en-US" altLang="en-US" sz="2800" b="1" dirty="0"/>
              <a:t> </a:t>
            </a:r>
            <a:r>
              <a:rPr lang="en-US" altLang="en-US" sz="2800" b="1" dirty="0" err="1"/>
              <a:t>nhiên</a:t>
            </a:r>
            <a:r>
              <a:rPr lang="en-US" altLang="en-US" sz="2800" b="1" dirty="0"/>
              <a:t>, </a:t>
            </a:r>
            <a:r>
              <a:rPr lang="en-US" altLang="en-US" sz="2800" b="1" dirty="0" err="1"/>
              <a:t>còn</a:t>
            </a:r>
            <a:r>
              <a:rPr lang="en-US" altLang="en-US" sz="2800" b="1" dirty="0"/>
              <a:t> </a:t>
            </a:r>
            <a:r>
              <a:rPr lang="en-US" altLang="en-US" sz="2800" b="1" dirty="0" err="1"/>
              <a:t>trong</a:t>
            </a:r>
            <a:r>
              <a:rPr lang="en-US" altLang="en-US" sz="2800" b="1" dirty="0"/>
              <a:t> </a:t>
            </a:r>
            <a:r>
              <a:rPr lang="en-US" altLang="en-US" sz="2800" b="1" dirty="0" err="1"/>
              <a:t>tìm</a:t>
            </a:r>
            <a:r>
              <a:rPr lang="en-US" altLang="en-US" sz="2800" b="1" dirty="0"/>
              <a:t> </a:t>
            </a:r>
            <a:r>
              <a:rPr lang="en-US" altLang="en-US" sz="2800" b="1" dirty="0" err="1"/>
              <a:t>kiếm</a:t>
            </a:r>
            <a:r>
              <a:rPr lang="en-US" altLang="en-US" sz="2800" b="1" dirty="0"/>
              <a:t> </a:t>
            </a:r>
            <a:r>
              <a:rPr lang="en-US" altLang="en-US" sz="2800" b="1" dirty="0" err="1"/>
              <a:t>nhị</a:t>
            </a:r>
            <a:r>
              <a:rPr lang="en-US" altLang="en-US" sz="2800" b="1" dirty="0"/>
              <a:t> </a:t>
            </a:r>
            <a:r>
              <a:rPr lang="en-US" altLang="en-US" sz="2800" b="1" dirty="0" err="1"/>
              <a:t>phân</a:t>
            </a:r>
            <a:r>
              <a:rPr lang="en-US" altLang="en-US" sz="2800" b="1" dirty="0"/>
              <a:t> </a:t>
            </a:r>
            <a:r>
              <a:rPr lang="en-US" altLang="en-US" sz="2800" b="1" dirty="0" err="1"/>
              <a:t>luôn</a:t>
            </a:r>
            <a:r>
              <a:rPr lang="en-US" altLang="en-US" sz="2800" b="1" dirty="0"/>
              <a:t> </a:t>
            </a:r>
            <a:r>
              <a:rPr lang="en-US" altLang="en-US" sz="2800" b="1" dirty="0" err="1"/>
              <a:t>chọn</a:t>
            </a:r>
            <a:r>
              <a:rPr lang="en-US" altLang="en-US" sz="2800" b="1" dirty="0"/>
              <a:t> </a:t>
            </a:r>
            <a:r>
              <a:rPr lang="en-US" altLang="en-US" sz="2800" b="1" dirty="0" err="1"/>
              <a:t>khoá</a:t>
            </a:r>
            <a:r>
              <a:rPr lang="en-US" altLang="en-US" sz="2800" b="1" dirty="0"/>
              <a:t> “ở </a:t>
            </a:r>
            <a:r>
              <a:rPr lang="en-US" altLang="en-US" sz="2800" b="1" dirty="0" err="1"/>
              <a:t>giữa</a:t>
            </a:r>
            <a:r>
              <a:rPr lang="en-US" altLang="en-US" sz="2800" b="1"/>
              <a:t>” dãy </a:t>
            </a:r>
            <a:r>
              <a:rPr lang="en-US" altLang="en-US" sz="2800" b="1" dirty="0" err="1"/>
              <a:t>khoá</a:t>
            </a:r>
            <a:r>
              <a:rPr lang="en-US" altLang="en-US" sz="2800" b="1" dirty="0"/>
              <a:t>.</a:t>
            </a:r>
          </a:p>
          <a:p>
            <a:pPr eaLnBrk="1" hangingPunct="1">
              <a:buFontTx/>
              <a:buNone/>
            </a:pPr>
            <a:r>
              <a:rPr lang="en-US" altLang="en-US" sz="2800" b="1" dirty="0"/>
              <a:t>	- </a:t>
            </a:r>
            <a:r>
              <a:rPr lang="en-US" altLang="en-US" sz="2800" b="1" dirty="0" err="1"/>
              <a:t>Giả</a:t>
            </a:r>
            <a:r>
              <a:rPr lang="en-US" altLang="en-US" sz="2800" b="1" dirty="0"/>
              <a:t>  </a:t>
            </a:r>
            <a:r>
              <a:rPr lang="en-US" altLang="en-US" sz="2800" b="1" dirty="0" err="1"/>
              <a:t>sử</a:t>
            </a:r>
            <a:r>
              <a:rPr lang="en-US" altLang="en-US" sz="2800" b="1" dirty="0"/>
              <a:t> </a:t>
            </a:r>
            <a:r>
              <a:rPr lang="en-US" altLang="en-US" sz="2800" b="1" dirty="0" err="1"/>
              <a:t>có</a:t>
            </a:r>
            <a:r>
              <a:rPr lang="en-US" altLang="en-US" sz="2800" b="1" dirty="0"/>
              <a:t> </a:t>
            </a:r>
            <a:r>
              <a:rPr lang="en-US" altLang="en-US" sz="2800" b="1" dirty="0" err="1"/>
              <a:t>dãy</a:t>
            </a:r>
            <a:r>
              <a:rPr lang="en-US" altLang="en-US" sz="2800" b="1" dirty="0"/>
              <a:t> </a:t>
            </a:r>
            <a:r>
              <a:rPr lang="en-US" altLang="en-US" sz="2800" b="1" dirty="0" err="1"/>
              <a:t>khoá</a:t>
            </a:r>
            <a:r>
              <a:rPr lang="en-US" altLang="en-US" sz="2800" b="1" dirty="0"/>
              <a:t> </a:t>
            </a:r>
            <a:r>
              <a:rPr lang="en-US" altLang="en-US" sz="2800" b="1" dirty="0" err="1"/>
              <a:t>k</a:t>
            </a:r>
            <a:r>
              <a:rPr lang="en-US" altLang="en-US" sz="2800" b="1" baseline="-25000" dirty="0" err="1"/>
              <a:t>L</a:t>
            </a:r>
            <a:r>
              <a:rPr lang="en-US" altLang="en-US" sz="2800" b="1" dirty="0"/>
              <a:t>, . . ., </a:t>
            </a:r>
            <a:r>
              <a:rPr lang="en-US" altLang="en-US" sz="2800" b="1" err="1"/>
              <a:t>k</a:t>
            </a:r>
            <a:r>
              <a:rPr lang="en-US" altLang="en-US" sz="2800" b="1" baseline="-25000" err="1"/>
              <a:t>R</a:t>
            </a:r>
            <a:r>
              <a:rPr lang="en-US" altLang="en-US" sz="2800" b="1"/>
              <a:t> đã đ</a:t>
            </a:r>
            <a:r>
              <a:rPr lang="vi-VN" altLang="en-US" sz="2800" b="1"/>
              <a:t>ư</a:t>
            </a:r>
            <a:r>
              <a:rPr lang="en-US" altLang="en-US" sz="2800" b="1"/>
              <a:t>ợc sắp xếp tăng dần, có khoá </a:t>
            </a:r>
            <a:r>
              <a:rPr lang="en-US" altLang="en-US" sz="2800" b="1" dirty="0"/>
              <a:t>ở </a:t>
            </a:r>
            <a:r>
              <a:rPr lang="en-US" altLang="en-US" sz="2800" b="1" dirty="0" err="1"/>
              <a:t>giữa</a:t>
            </a:r>
            <a:r>
              <a:rPr lang="en-US" altLang="en-US" sz="2800" b="1" dirty="0"/>
              <a:t> </a:t>
            </a:r>
            <a:r>
              <a:rPr lang="en-US" altLang="en-US" sz="2800" b="1" err="1"/>
              <a:t>là</a:t>
            </a:r>
            <a:r>
              <a:rPr lang="en-US" altLang="en-US" sz="2800" b="1"/>
              <a:t> k</a:t>
            </a:r>
            <a:r>
              <a:rPr lang="en-US" altLang="en-US" sz="2800" b="1" baseline="-25000" err="1"/>
              <a:t>m</a:t>
            </a:r>
            <a:r>
              <a:rPr lang="en-US" altLang="en-US" sz="2800" b="1"/>
              <a:t> với</a:t>
            </a:r>
            <a:endParaRPr lang="en-US" altLang="en-US" sz="2800" b="1" dirty="0"/>
          </a:p>
          <a:p>
            <a:pPr eaLnBrk="1" hangingPunct="1">
              <a:buFontTx/>
              <a:buNone/>
            </a:pPr>
            <a:r>
              <a:rPr lang="en-US" altLang="en-US" sz="2800" b="1"/>
              <a:t>	</a:t>
            </a:r>
            <a:r>
              <a:rPr lang="en-US" altLang="en-US" sz="2800" b="1" dirty="0" err="1"/>
              <a:t>m</a:t>
            </a:r>
            <a:r>
              <a:rPr lang="en-US" altLang="en-US" sz="2800" b="1"/>
              <a:t>=(</a:t>
            </a:r>
            <a:r>
              <a:rPr lang="en-US" altLang="en-US" sz="2800" b="1" dirty="0"/>
              <a:t>L+R) </a:t>
            </a:r>
            <a:r>
              <a:rPr lang="en-US" altLang="en-US" sz="2800" b="1"/>
              <a:t>div 2</a:t>
            </a:r>
            <a:endParaRPr lang="en-US" altLang="en-US" sz="2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body" idx="1"/>
          </p:nvPr>
        </p:nvSpPr>
        <p:spPr>
          <a:xfrm>
            <a:off x="0" y="0"/>
            <a:ext cx="9144000" cy="6858000"/>
          </a:xfrm>
        </p:spPr>
        <p:txBody>
          <a:bodyPr/>
          <a:lstStyle/>
          <a:p>
            <a:pPr eaLnBrk="1" hangingPunct="1">
              <a:buFontTx/>
              <a:buNone/>
            </a:pPr>
            <a:r>
              <a:rPr lang="en-US" altLang="en-US" sz="3600" b="1"/>
              <a:t>	+ Tìm kiếm sẽ kết thúc nếu: </a:t>
            </a:r>
            <a:r>
              <a:rPr lang="en-US" altLang="en-US" sz="3600" b="1">
                <a:solidFill>
                  <a:srgbClr val="FF3300"/>
                </a:solidFill>
              </a:rPr>
              <a:t>x=k</a:t>
            </a:r>
            <a:r>
              <a:rPr lang="en-US" altLang="en-US" sz="3600" b="1" baseline="-25000">
                <a:solidFill>
                  <a:srgbClr val="FF3300"/>
                </a:solidFill>
              </a:rPr>
              <a:t>m</a:t>
            </a:r>
          </a:p>
          <a:p>
            <a:pPr eaLnBrk="1" hangingPunct="1">
              <a:buFontTx/>
              <a:buNone/>
            </a:pPr>
            <a:r>
              <a:rPr lang="en-US" altLang="en-US" sz="3600" b="1"/>
              <a:t>	+ Nếu </a:t>
            </a:r>
            <a:r>
              <a:rPr lang="en-US" altLang="en-US" sz="3600" b="1">
                <a:solidFill>
                  <a:srgbClr val="FF3300"/>
                </a:solidFill>
              </a:rPr>
              <a:t>x&lt;k</a:t>
            </a:r>
            <a:r>
              <a:rPr lang="en-US" altLang="en-US" sz="3600" b="1" baseline="-25000">
                <a:solidFill>
                  <a:srgbClr val="FF3300"/>
                </a:solidFill>
              </a:rPr>
              <a:t>m</a:t>
            </a:r>
            <a:r>
              <a:rPr lang="en-US" altLang="en-US" sz="3600" b="1"/>
              <a:t> tìm kiếm sẽ được thực hiện tiếp với </a:t>
            </a:r>
            <a:r>
              <a:rPr lang="en-US" altLang="en-US" sz="3600" b="1">
                <a:solidFill>
                  <a:srgbClr val="FF3300"/>
                </a:solidFill>
              </a:rPr>
              <a:t>k</a:t>
            </a:r>
            <a:r>
              <a:rPr lang="en-US" altLang="en-US" sz="3600" b="1" baseline="-25000">
                <a:solidFill>
                  <a:srgbClr val="FF3300"/>
                </a:solidFill>
              </a:rPr>
              <a:t>L</a:t>
            </a:r>
            <a:r>
              <a:rPr lang="en-US" altLang="en-US" sz="3600" b="1">
                <a:solidFill>
                  <a:srgbClr val="FF3300"/>
                </a:solidFill>
              </a:rPr>
              <a:t>, . . . , k</a:t>
            </a:r>
            <a:r>
              <a:rPr lang="en-US" altLang="en-US" sz="3600" b="1" baseline="-25000">
                <a:solidFill>
                  <a:srgbClr val="FF3300"/>
                </a:solidFill>
              </a:rPr>
              <a:t>m-1</a:t>
            </a:r>
            <a:r>
              <a:rPr lang="en-US" altLang="en-US" sz="3600" b="1"/>
              <a:t>  với cách tương tự.</a:t>
            </a:r>
          </a:p>
          <a:p>
            <a:pPr eaLnBrk="1" hangingPunct="1">
              <a:buFontTx/>
              <a:buNone/>
            </a:pPr>
            <a:r>
              <a:rPr lang="en-US" altLang="en-US" sz="3600" b="1"/>
              <a:t>	+ Nếu </a:t>
            </a:r>
            <a:r>
              <a:rPr lang="en-US" altLang="en-US" sz="3600" b="1">
                <a:solidFill>
                  <a:srgbClr val="FF3300"/>
                </a:solidFill>
              </a:rPr>
              <a:t>x&gt;k</a:t>
            </a:r>
            <a:r>
              <a:rPr lang="en-US" altLang="en-US" sz="3600" b="1" baseline="-25000">
                <a:solidFill>
                  <a:srgbClr val="FF3300"/>
                </a:solidFill>
              </a:rPr>
              <a:t>m</a:t>
            </a:r>
            <a:r>
              <a:rPr lang="en-US" altLang="en-US" sz="3600" b="1"/>
              <a:t> tìm kiếm sẽ được thực hiện tiếp với </a:t>
            </a:r>
            <a:r>
              <a:rPr lang="en-US" altLang="en-US" sz="3600" b="1">
                <a:solidFill>
                  <a:srgbClr val="FF3300"/>
                </a:solidFill>
              </a:rPr>
              <a:t>k</a:t>
            </a:r>
            <a:r>
              <a:rPr lang="en-US" altLang="en-US" sz="3600" b="1" baseline="-25000">
                <a:solidFill>
                  <a:srgbClr val="FF3300"/>
                </a:solidFill>
              </a:rPr>
              <a:t>m+1</a:t>
            </a:r>
            <a:r>
              <a:rPr lang="en-US" altLang="en-US" sz="3600" b="1">
                <a:solidFill>
                  <a:srgbClr val="FF3300"/>
                </a:solidFill>
              </a:rPr>
              <a:t>, . . . , k</a:t>
            </a:r>
            <a:r>
              <a:rPr lang="en-US" altLang="en-US" sz="3600" b="1" baseline="-25000">
                <a:solidFill>
                  <a:srgbClr val="FF3300"/>
                </a:solidFill>
              </a:rPr>
              <a:t>R</a:t>
            </a:r>
            <a:r>
              <a:rPr lang="en-US" altLang="en-US" sz="3600" b="1"/>
              <a:t>  với cách tương tự.</a:t>
            </a:r>
          </a:p>
          <a:p>
            <a:pPr eaLnBrk="1" hangingPunct="1">
              <a:buFontTx/>
              <a:buNone/>
            </a:pPr>
            <a:r>
              <a:rPr lang="en-US" altLang="en-US" sz="3600" b="1"/>
              <a:t>	Qúa trình tìm kiếm kết thúc khi </a:t>
            </a:r>
            <a:r>
              <a:rPr lang="en-US" altLang="en-US" sz="3600" b="1">
                <a:solidFill>
                  <a:srgbClr val="FF3300"/>
                </a:solidFill>
              </a:rPr>
              <a:t>tìm thấy một khoá mong muốn</a:t>
            </a:r>
            <a:r>
              <a:rPr lang="en-US" altLang="en-US" sz="3600" b="1"/>
              <a:t> hoặc </a:t>
            </a:r>
            <a:r>
              <a:rPr lang="en-US" altLang="en-US" sz="3600" b="1">
                <a:solidFill>
                  <a:srgbClr val="FF3300"/>
                </a:solidFill>
              </a:rPr>
              <a:t>dãy khoá rỗng</a:t>
            </a:r>
            <a:r>
              <a:rPr lang="en-US" altLang="en-US" sz="3600" b="1"/>
              <a:t> (</a:t>
            </a:r>
            <a:r>
              <a:rPr lang="en-US" altLang="en-US" sz="3600" b="1">
                <a:solidFill>
                  <a:srgbClr val="FF3300"/>
                </a:solidFill>
              </a:rPr>
              <a:t>không tìm thấy</a:t>
            </a:r>
            <a:r>
              <a:rPr lang="en-US" altLang="en-US" sz="3600" b="1"/>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8E244-7582-4DFA-A279-2F02BA413CDF}"/>
              </a:ext>
            </a:extLst>
          </p:cNvPr>
          <p:cNvSpPr>
            <a:spLocks noGrp="1"/>
          </p:cNvSpPr>
          <p:nvPr>
            <p:ph type="title"/>
          </p:nvPr>
        </p:nvSpPr>
        <p:spPr/>
        <p:txBody>
          <a:bodyPr/>
          <a:lstStyle/>
          <a:p>
            <a:r>
              <a:rPr lang="en-US"/>
              <a:t>Minh họa ý tưởng</a:t>
            </a:r>
          </a:p>
        </p:txBody>
      </p:sp>
      <p:sp>
        <p:nvSpPr>
          <p:cNvPr id="4" name="Rectangle 3">
            <a:extLst>
              <a:ext uri="{FF2B5EF4-FFF2-40B4-BE49-F238E27FC236}">
                <a16:creationId xmlns:a16="http://schemas.microsoft.com/office/drawing/2014/main" id="{032E8180-3563-4672-8702-B8B3CE21D6D8}"/>
              </a:ext>
            </a:extLst>
          </p:cNvPr>
          <p:cNvSpPr/>
          <p:nvPr/>
        </p:nvSpPr>
        <p:spPr>
          <a:xfrm>
            <a:off x="14478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029A3AE-A53E-42E3-8206-50D140139C85}"/>
              </a:ext>
            </a:extLst>
          </p:cNvPr>
          <p:cNvSpPr/>
          <p:nvPr/>
        </p:nvSpPr>
        <p:spPr>
          <a:xfrm>
            <a:off x="19812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C59F665-97C0-4200-8264-AA6FABC343BA}"/>
              </a:ext>
            </a:extLst>
          </p:cNvPr>
          <p:cNvSpPr/>
          <p:nvPr/>
        </p:nvSpPr>
        <p:spPr>
          <a:xfrm>
            <a:off x="25146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52FAB51-2250-4126-8BEF-212B7CE698F5}"/>
              </a:ext>
            </a:extLst>
          </p:cNvPr>
          <p:cNvSpPr/>
          <p:nvPr/>
        </p:nvSpPr>
        <p:spPr>
          <a:xfrm>
            <a:off x="30480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5B4B5AE-AC49-44A9-98ED-2227936C1115}"/>
              </a:ext>
            </a:extLst>
          </p:cNvPr>
          <p:cNvSpPr/>
          <p:nvPr/>
        </p:nvSpPr>
        <p:spPr>
          <a:xfrm>
            <a:off x="35814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A4130F0-5E9A-49AE-A6A3-9D0E326C8B4F}"/>
              </a:ext>
            </a:extLst>
          </p:cNvPr>
          <p:cNvSpPr/>
          <p:nvPr/>
        </p:nvSpPr>
        <p:spPr>
          <a:xfrm>
            <a:off x="41148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1C4C9D-86EA-43E9-A560-B20F55774B7B}"/>
              </a:ext>
            </a:extLst>
          </p:cNvPr>
          <p:cNvSpPr/>
          <p:nvPr/>
        </p:nvSpPr>
        <p:spPr>
          <a:xfrm>
            <a:off x="4648200" y="19812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9D5886-A307-4310-8E5B-CA8194FA943E}"/>
              </a:ext>
            </a:extLst>
          </p:cNvPr>
          <p:cNvSpPr txBox="1"/>
          <p:nvPr/>
        </p:nvSpPr>
        <p:spPr>
          <a:xfrm>
            <a:off x="1562100" y="2514600"/>
            <a:ext cx="304800" cy="400110"/>
          </a:xfrm>
          <a:prstGeom prst="rect">
            <a:avLst/>
          </a:prstGeom>
          <a:noFill/>
        </p:spPr>
        <p:txBody>
          <a:bodyPr wrap="square" rtlCol="0">
            <a:spAutoFit/>
          </a:bodyPr>
          <a:lstStyle/>
          <a:p>
            <a:r>
              <a:rPr lang="en-US" sz="2000"/>
              <a:t>1</a:t>
            </a:r>
          </a:p>
        </p:txBody>
      </p:sp>
      <p:sp>
        <p:nvSpPr>
          <p:cNvPr id="12" name="TextBox 11">
            <a:extLst>
              <a:ext uri="{FF2B5EF4-FFF2-40B4-BE49-F238E27FC236}">
                <a16:creationId xmlns:a16="http://schemas.microsoft.com/office/drawing/2014/main" id="{197623B7-06ED-4711-AA50-7D53065E1087}"/>
              </a:ext>
            </a:extLst>
          </p:cNvPr>
          <p:cNvSpPr txBox="1"/>
          <p:nvPr/>
        </p:nvSpPr>
        <p:spPr>
          <a:xfrm>
            <a:off x="2063179" y="2514600"/>
            <a:ext cx="304800" cy="400110"/>
          </a:xfrm>
          <a:prstGeom prst="rect">
            <a:avLst/>
          </a:prstGeom>
          <a:noFill/>
        </p:spPr>
        <p:txBody>
          <a:bodyPr wrap="square" rtlCol="0">
            <a:spAutoFit/>
          </a:bodyPr>
          <a:lstStyle/>
          <a:p>
            <a:r>
              <a:rPr lang="en-US" sz="2000"/>
              <a:t>2</a:t>
            </a:r>
          </a:p>
        </p:txBody>
      </p:sp>
      <p:sp>
        <p:nvSpPr>
          <p:cNvPr id="13" name="TextBox 12">
            <a:extLst>
              <a:ext uri="{FF2B5EF4-FFF2-40B4-BE49-F238E27FC236}">
                <a16:creationId xmlns:a16="http://schemas.microsoft.com/office/drawing/2014/main" id="{B2D20EFF-FE8F-403F-B15C-D8C974A9F84C}"/>
              </a:ext>
            </a:extLst>
          </p:cNvPr>
          <p:cNvSpPr txBox="1"/>
          <p:nvPr/>
        </p:nvSpPr>
        <p:spPr>
          <a:xfrm>
            <a:off x="2669889" y="2514600"/>
            <a:ext cx="304800" cy="400110"/>
          </a:xfrm>
          <a:prstGeom prst="rect">
            <a:avLst/>
          </a:prstGeom>
          <a:noFill/>
        </p:spPr>
        <p:txBody>
          <a:bodyPr wrap="square" rtlCol="0">
            <a:spAutoFit/>
          </a:bodyPr>
          <a:lstStyle/>
          <a:p>
            <a:r>
              <a:rPr lang="en-US" sz="2000"/>
              <a:t>3</a:t>
            </a:r>
          </a:p>
        </p:txBody>
      </p:sp>
      <p:sp>
        <p:nvSpPr>
          <p:cNvPr id="14" name="TextBox 13">
            <a:extLst>
              <a:ext uri="{FF2B5EF4-FFF2-40B4-BE49-F238E27FC236}">
                <a16:creationId xmlns:a16="http://schemas.microsoft.com/office/drawing/2014/main" id="{ABD08BBC-ACB3-4EF8-AFBC-4CC77C612BCA}"/>
              </a:ext>
            </a:extLst>
          </p:cNvPr>
          <p:cNvSpPr txBox="1"/>
          <p:nvPr/>
        </p:nvSpPr>
        <p:spPr>
          <a:xfrm>
            <a:off x="4762500" y="2514600"/>
            <a:ext cx="800102" cy="400110"/>
          </a:xfrm>
          <a:prstGeom prst="rect">
            <a:avLst/>
          </a:prstGeom>
          <a:noFill/>
        </p:spPr>
        <p:txBody>
          <a:bodyPr wrap="square" rtlCol="0">
            <a:spAutoFit/>
          </a:bodyPr>
          <a:lstStyle/>
          <a:p>
            <a:r>
              <a:rPr lang="en-US" sz="2000"/>
              <a:t>n=7</a:t>
            </a:r>
          </a:p>
        </p:txBody>
      </p:sp>
      <p:sp>
        <p:nvSpPr>
          <p:cNvPr id="15" name="TextBox 14">
            <a:extLst>
              <a:ext uri="{FF2B5EF4-FFF2-40B4-BE49-F238E27FC236}">
                <a16:creationId xmlns:a16="http://schemas.microsoft.com/office/drawing/2014/main" id="{32774FD0-BDFE-41B8-8FAA-CB9D64E60028}"/>
              </a:ext>
            </a:extLst>
          </p:cNvPr>
          <p:cNvSpPr txBox="1"/>
          <p:nvPr/>
        </p:nvSpPr>
        <p:spPr>
          <a:xfrm>
            <a:off x="967268" y="2047845"/>
            <a:ext cx="304800" cy="461665"/>
          </a:xfrm>
          <a:prstGeom prst="rect">
            <a:avLst/>
          </a:prstGeom>
          <a:noFill/>
        </p:spPr>
        <p:txBody>
          <a:bodyPr wrap="square" rtlCol="0">
            <a:spAutoFit/>
          </a:bodyPr>
          <a:lstStyle/>
          <a:p>
            <a:r>
              <a:rPr lang="en-US"/>
              <a:t>k</a:t>
            </a:r>
          </a:p>
        </p:txBody>
      </p:sp>
      <p:sp>
        <p:nvSpPr>
          <p:cNvPr id="16" name="TextBox 15">
            <a:extLst>
              <a:ext uri="{FF2B5EF4-FFF2-40B4-BE49-F238E27FC236}">
                <a16:creationId xmlns:a16="http://schemas.microsoft.com/office/drawing/2014/main" id="{2573B48F-382B-44FC-8A53-2DDC09526AA0}"/>
              </a:ext>
            </a:extLst>
          </p:cNvPr>
          <p:cNvSpPr txBox="1"/>
          <p:nvPr/>
        </p:nvSpPr>
        <p:spPr>
          <a:xfrm>
            <a:off x="1521111" y="1995664"/>
            <a:ext cx="304800" cy="461665"/>
          </a:xfrm>
          <a:prstGeom prst="rect">
            <a:avLst/>
          </a:prstGeom>
          <a:noFill/>
        </p:spPr>
        <p:txBody>
          <a:bodyPr wrap="square" rtlCol="0">
            <a:spAutoFit/>
          </a:bodyPr>
          <a:lstStyle/>
          <a:p>
            <a:r>
              <a:rPr lang="en-US"/>
              <a:t>1</a:t>
            </a:r>
          </a:p>
        </p:txBody>
      </p:sp>
      <p:sp>
        <p:nvSpPr>
          <p:cNvPr id="17" name="TextBox 16">
            <a:extLst>
              <a:ext uri="{FF2B5EF4-FFF2-40B4-BE49-F238E27FC236}">
                <a16:creationId xmlns:a16="http://schemas.microsoft.com/office/drawing/2014/main" id="{0D5142F3-D909-41C2-9BED-7A9D35E0492F}"/>
              </a:ext>
            </a:extLst>
          </p:cNvPr>
          <p:cNvSpPr txBox="1"/>
          <p:nvPr/>
        </p:nvSpPr>
        <p:spPr>
          <a:xfrm>
            <a:off x="1981200" y="1995664"/>
            <a:ext cx="574389" cy="461665"/>
          </a:xfrm>
          <a:prstGeom prst="rect">
            <a:avLst/>
          </a:prstGeom>
          <a:noFill/>
        </p:spPr>
        <p:txBody>
          <a:bodyPr wrap="square" rtlCol="0">
            <a:spAutoFit/>
          </a:bodyPr>
          <a:lstStyle/>
          <a:p>
            <a:pPr algn="ctr"/>
            <a:r>
              <a:rPr lang="en-US"/>
              <a:t>3</a:t>
            </a:r>
          </a:p>
        </p:txBody>
      </p:sp>
      <p:sp>
        <p:nvSpPr>
          <p:cNvPr id="18" name="TextBox 17">
            <a:extLst>
              <a:ext uri="{FF2B5EF4-FFF2-40B4-BE49-F238E27FC236}">
                <a16:creationId xmlns:a16="http://schemas.microsoft.com/office/drawing/2014/main" id="{4303DCED-4AB0-4509-81B3-234171E86140}"/>
              </a:ext>
            </a:extLst>
          </p:cNvPr>
          <p:cNvSpPr txBox="1"/>
          <p:nvPr/>
        </p:nvSpPr>
        <p:spPr>
          <a:xfrm>
            <a:off x="2495230" y="1995664"/>
            <a:ext cx="574389" cy="461665"/>
          </a:xfrm>
          <a:prstGeom prst="rect">
            <a:avLst/>
          </a:prstGeom>
          <a:noFill/>
        </p:spPr>
        <p:txBody>
          <a:bodyPr wrap="square" rtlCol="0">
            <a:spAutoFit/>
          </a:bodyPr>
          <a:lstStyle/>
          <a:p>
            <a:pPr algn="ctr"/>
            <a:r>
              <a:rPr lang="en-US"/>
              <a:t>5</a:t>
            </a:r>
          </a:p>
        </p:txBody>
      </p:sp>
      <p:sp>
        <p:nvSpPr>
          <p:cNvPr id="19" name="TextBox 18">
            <a:extLst>
              <a:ext uri="{FF2B5EF4-FFF2-40B4-BE49-F238E27FC236}">
                <a16:creationId xmlns:a16="http://schemas.microsoft.com/office/drawing/2014/main" id="{169557EB-4D6F-4516-BA1B-BDFC2F12018C}"/>
              </a:ext>
            </a:extLst>
          </p:cNvPr>
          <p:cNvSpPr txBox="1"/>
          <p:nvPr/>
        </p:nvSpPr>
        <p:spPr>
          <a:xfrm>
            <a:off x="3088989" y="1995664"/>
            <a:ext cx="574389" cy="461665"/>
          </a:xfrm>
          <a:prstGeom prst="rect">
            <a:avLst/>
          </a:prstGeom>
          <a:noFill/>
        </p:spPr>
        <p:txBody>
          <a:bodyPr wrap="square" rtlCol="0">
            <a:spAutoFit/>
          </a:bodyPr>
          <a:lstStyle/>
          <a:p>
            <a:pPr algn="ctr"/>
            <a:r>
              <a:rPr lang="en-US"/>
              <a:t>10</a:t>
            </a:r>
          </a:p>
        </p:txBody>
      </p:sp>
      <p:sp>
        <p:nvSpPr>
          <p:cNvPr id="20" name="TextBox 19">
            <a:extLst>
              <a:ext uri="{FF2B5EF4-FFF2-40B4-BE49-F238E27FC236}">
                <a16:creationId xmlns:a16="http://schemas.microsoft.com/office/drawing/2014/main" id="{33096638-4DB5-4C34-AA49-D7EE37E469EA}"/>
              </a:ext>
            </a:extLst>
          </p:cNvPr>
          <p:cNvSpPr txBox="1"/>
          <p:nvPr/>
        </p:nvSpPr>
        <p:spPr>
          <a:xfrm>
            <a:off x="3581400" y="1995664"/>
            <a:ext cx="574389" cy="461665"/>
          </a:xfrm>
          <a:prstGeom prst="rect">
            <a:avLst/>
          </a:prstGeom>
          <a:noFill/>
        </p:spPr>
        <p:txBody>
          <a:bodyPr wrap="square" rtlCol="0">
            <a:spAutoFit/>
          </a:bodyPr>
          <a:lstStyle/>
          <a:p>
            <a:pPr algn="ctr"/>
            <a:r>
              <a:rPr lang="en-US"/>
              <a:t>17</a:t>
            </a:r>
          </a:p>
        </p:txBody>
      </p:sp>
      <p:sp>
        <p:nvSpPr>
          <p:cNvPr id="21" name="TextBox 20">
            <a:extLst>
              <a:ext uri="{FF2B5EF4-FFF2-40B4-BE49-F238E27FC236}">
                <a16:creationId xmlns:a16="http://schemas.microsoft.com/office/drawing/2014/main" id="{DBC5B3B2-0BFB-4577-85BD-5EF91270F6BC}"/>
              </a:ext>
            </a:extLst>
          </p:cNvPr>
          <p:cNvSpPr txBox="1"/>
          <p:nvPr/>
        </p:nvSpPr>
        <p:spPr>
          <a:xfrm>
            <a:off x="4150652" y="1995664"/>
            <a:ext cx="574389" cy="461665"/>
          </a:xfrm>
          <a:prstGeom prst="rect">
            <a:avLst/>
          </a:prstGeom>
          <a:noFill/>
        </p:spPr>
        <p:txBody>
          <a:bodyPr wrap="square" rtlCol="0">
            <a:spAutoFit/>
          </a:bodyPr>
          <a:lstStyle/>
          <a:p>
            <a:pPr algn="ctr"/>
            <a:r>
              <a:rPr lang="en-US"/>
              <a:t>24</a:t>
            </a:r>
          </a:p>
        </p:txBody>
      </p:sp>
      <p:sp>
        <p:nvSpPr>
          <p:cNvPr id="24" name="TextBox 23">
            <a:extLst>
              <a:ext uri="{FF2B5EF4-FFF2-40B4-BE49-F238E27FC236}">
                <a16:creationId xmlns:a16="http://schemas.microsoft.com/office/drawing/2014/main" id="{D0F74C7C-340E-47EB-AE4A-9E44848C4F6D}"/>
              </a:ext>
            </a:extLst>
          </p:cNvPr>
          <p:cNvSpPr txBox="1"/>
          <p:nvPr/>
        </p:nvSpPr>
        <p:spPr>
          <a:xfrm>
            <a:off x="4627705" y="1995664"/>
            <a:ext cx="574389" cy="461665"/>
          </a:xfrm>
          <a:prstGeom prst="rect">
            <a:avLst/>
          </a:prstGeom>
          <a:noFill/>
        </p:spPr>
        <p:txBody>
          <a:bodyPr wrap="square" rtlCol="0">
            <a:spAutoFit/>
          </a:bodyPr>
          <a:lstStyle/>
          <a:p>
            <a:pPr algn="ctr"/>
            <a:r>
              <a:rPr lang="en-US"/>
              <a:t>31</a:t>
            </a:r>
          </a:p>
        </p:txBody>
      </p:sp>
      <p:sp>
        <p:nvSpPr>
          <p:cNvPr id="25" name="TextBox 24">
            <a:extLst>
              <a:ext uri="{FF2B5EF4-FFF2-40B4-BE49-F238E27FC236}">
                <a16:creationId xmlns:a16="http://schemas.microsoft.com/office/drawing/2014/main" id="{F977CC61-301E-4204-A6E2-A4614F2B1659}"/>
              </a:ext>
            </a:extLst>
          </p:cNvPr>
          <p:cNvSpPr txBox="1"/>
          <p:nvPr/>
        </p:nvSpPr>
        <p:spPr>
          <a:xfrm>
            <a:off x="1066799" y="3352800"/>
            <a:ext cx="5943601" cy="1200329"/>
          </a:xfrm>
          <a:prstGeom prst="rect">
            <a:avLst/>
          </a:prstGeom>
          <a:noFill/>
        </p:spPr>
        <p:txBody>
          <a:bodyPr wrap="square" rtlCol="0">
            <a:spAutoFit/>
          </a:bodyPr>
          <a:lstStyle/>
          <a:p>
            <a:r>
              <a:rPr lang="en-US"/>
              <a:t>x=3</a:t>
            </a:r>
          </a:p>
          <a:p>
            <a:r>
              <a:rPr lang="en-US"/>
              <a:t>m = (1+7) div 2 = 4</a:t>
            </a:r>
          </a:p>
          <a:p>
            <a:r>
              <a:rPr lang="en-US"/>
              <a:t>k[m] = 10</a:t>
            </a:r>
          </a:p>
        </p:txBody>
      </p:sp>
      <p:sp>
        <p:nvSpPr>
          <p:cNvPr id="26" name="TextBox 25">
            <a:extLst>
              <a:ext uri="{FF2B5EF4-FFF2-40B4-BE49-F238E27FC236}">
                <a16:creationId xmlns:a16="http://schemas.microsoft.com/office/drawing/2014/main" id="{DFDC802B-51A2-4EE8-8EA8-BD782154A993}"/>
              </a:ext>
            </a:extLst>
          </p:cNvPr>
          <p:cNvSpPr txBox="1"/>
          <p:nvPr/>
        </p:nvSpPr>
        <p:spPr>
          <a:xfrm>
            <a:off x="3173110" y="2514600"/>
            <a:ext cx="304800" cy="400110"/>
          </a:xfrm>
          <a:prstGeom prst="rect">
            <a:avLst/>
          </a:prstGeom>
          <a:noFill/>
        </p:spPr>
        <p:txBody>
          <a:bodyPr wrap="square" rtlCol="0">
            <a:spAutoFit/>
          </a:bodyPr>
          <a:lstStyle/>
          <a:p>
            <a:r>
              <a:rPr lang="en-US" sz="2000"/>
              <a:t>4</a:t>
            </a:r>
          </a:p>
        </p:txBody>
      </p:sp>
      <p:sp>
        <p:nvSpPr>
          <p:cNvPr id="27" name="TextBox 26">
            <a:extLst>
              <a:ext uri="{FF2B5EF4-FFF2-40B4-BE49-F238E27FC236}">
                <a16:creationId xmlns:a16="http://schemas.microsoft.com/office/drawing/2014/main" id="{9C471FC2-28BE-432D-A8D9-9C6CA97508E4}"/>
              </a:ext>
            </a:extLst>
          </p:cNvPr>
          <p:cNvSpPr txBox="1"/>
          <p:nvPr/>
        </p:nvSpPr>
        <p:spPr>
          <a:xfrm>
            <a:off x="3707152" y="2514600"/>
            <a:ext cx="304800" cy="400110"/>
          </a:xfrm>
          <a:prstGeom prst="rect">
            <a:avLst/>
          </a:prstGeom>
          <a:noFill/>
        </p:spPr>
        <p:txBody>
          <a:bodyPr wrap="square" rtlCol="0">
            <a:spAutoFit/>
          </a:bodyPr>
          <a:lstStyle/>
          <a:p>
            <a:r>
              <a:rPr lang="en-US" sz="2000"/>
              <a:t>5</a:t>
            </a:r>
          </a:p>
        </p:txBody>
      </p:sp>
      <p:sp>
        <p:nvSpPr>
          <p:cNvPr id="28" name="TextBox 27">
            <a:extLst>
              <a:ext uri="{FF2B5EF4-FFF2-40B4-BE49-F238E27FC236}">
                <a16:creationId xmlns:a16="http://schemas.microsoft.com/office/drawing/2014/main" id="{D1448487-BBE0-4D0F-AF6B-60B6185613A9}"/>
              </a:ext>
            </a:extLst>
          </p:cNvPr>
          <p:cNvSpPr txBox="1"/>
          <p:nvPr/>
        </p:nvSpPr>
        <p:spPr>
          <a:xfrm>
            <a:off x="4241194" y="2514600"/>
            <a:ext cx="304800" cy="400110"/>
          </a:xfrm>
          <a:prstGeom prst="rect">
            <a:avLst/>
          </a:prstGeom>
          <a:noFill/>
        </p:spPr>
        <p:txBody>
          <a:bodyPr wrap="square" rtlCol="0">
            <a:spAutoFit/>
          </a:bodyPr>
          <a:lstStyle/>
          <a:p>
            <a:r>
              <a:rPr lang="en-US" sz="2000"/>
              <a:t>6</a:t>
            </a:r>
          </a:p>
        </p:txBody>
      </p:sp>
    </p:spTree>
    <p:extLst>
      <p:ext uri="{BB962C8B-B14F-4D97-AF65-F5344CB8AC3E}">
        <p14:creationId xmlns:p14="http://schemas.microsoft.com/office/powerpoint/2010/main" val="188585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0" y="381000"/>
            <a:ext cx="9144000" cy="6477000"/>
          </a:xfrm>
        </p:spPr>
        <p:txBody>
          <a:bodyPr/>
          <a:lstStyle/>
          <a:p>
            <a:pPr eaLnBrk="1" hangingPunct="1">
              <a:buFontTx/>
              <a:buNone/>
            </a:pPr>
            <a:r>
              <a:rPr lang="en-US" altLang="en-US" sz="2400" b="1">
                <a:solidFill>
                  <a:srgbClr val="6600FF"/>
                </a:solidFill>
              </a:rPr>
              <a:t>* Giải thuật:</a:t>
            </a:r>
          </a:p>
          <a:p>
            <a:pPr eaLnBrk="1" hangingPunct="1">
              <a:buFontTx/>
              <a:buNone/>
            </a:pPr>
            <a:r>
              <a:rPr lang="en-US" altLang="en-US" sz="2400" b="1"/>
              <a:t>	Cho mảng 1 chiều k chứa n khoá đã sắp xếp theo thứ tự tăng dần. Tìm khoá có giá trị =x.</a:t>
            </a:r>
          </a:p>
          <a:p>
            <a:pPr eaLnBrk="1" hangingPunct="1">
              <a:buFontTx/>
              <a:buNone/>
            </a:pPr>
            <a:r>
              <a:rPr lang="en-US" altLang="en-US" sz="2400" b="1"/>
              <a:t>	Nếu tìm thấy thì trả về vị trí của khóa, nếu không tìm thấy thì trả về 0.</a:t>
            </a:r>
          </a:p>
          <a:p>
            <a:pPr eaLnBrk="1" hangingPunct="1">
              <a:buNone/>
            </a:pPr>
            <a:r>
              <a:rPr lang="en-US" altLang="en-US" sz="2400" b="1"/>
              <a:t>	Dùng biến L, R, m: chỉ số đầu, chỉ số cuối, chỉ số giữa của dãy khoá k.</a:t>
            </a:r>
          </a:p>
          <a:p>
            <a:pPr eaLnBrk="1" hangingPunct="1">
              <a:buFontTx/>
              <a:buNone/>
            </a:pPr>
            <a:endParaRPr lang="en-US" altLang="en-US" sz="2400" b="1"/>
          </a:p>
          <a:p>
            <a:pPr eaLnBrk="1" hangingPunct="1">
              <a:buFontTx/>
              <a:buNone/>
            </a:pPr>
            <a:r>
              <a:rPr lang="en-US" altLang="en-US" sz="2400" b="1"/>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xfrm>
            <a:off x="-11987" y="381000"/>
            <a:ext cx="9144000" cy="6172200"/>
          </a:xfrm>
        </p:spPr>
        <p:txBody>
          <a:bodyPr/>
          <a:lstStyle/>
          <a:p>
            <a:pPr eaLnBrk="1" hangingPunct="1">
              <a:buFontTx/>
              <a:buNone/>
            </a:pPr>
            <a:r>
              <a:rPr lang="en-US" altLang="en-US" sz="2200" b="1" dirty="0">
                <a:solidFill>
                  <a:srgbClr val="FF3300"/>
                </a:solidFill>
              </a:rPr>
              <a:t>Function  </a:t>
            </a:r>
            <a:r>
              <a:rPr lang="en-US" altLang="en-US" sz="2200" b="1" dirty="0" err="1">
                <a:solidFill>
                  <a:srgbClr val="FF3300"/>
                </a:solidFill>
              </a:rPr>
              <a:t>binarySearch</a:t>
            </a:r>
            <a:r>
              <a:rPr lang="en-US" altLang="en-US" sz="2200" b="1" dirty="0">
                <a:solidFill>
                  <a:srgbClr val="FF3300"/>
                </a:solidFill>
              </a:rPr>
              <a:t>(</a:t>
            </a:r>
            <a:r>
              <a:rPr lang="en-US" altLang="en-US" sz="2200" b="1" dirty="0" err="1">
                <a:solidFill>
                  <a:srgbClr val="FF3300"/>
                </a:solidFill>
              </a:rPr>
              <a:t>k,n,x</a:t>
            </a:r>
            <a:r>
              <a:rPr lang="en-US" altLang="en-US" sz="2200" b="1" dirty="0"/>
              <a:t>)</a:t>
            </a:r>
          </a:p>
          <a:p>
            <a:pPr eaLnBrk="1" hangingPunct="1">
              <a:buFontTx/>
              <a:buNone/>
            </a:pPr>
            <a:r>
              <a:rPr lang="en-US" altLang="en-US" sz="2200" b="1" dirty="0"/>
              <a:t>		1. {</a:t>
            </a:r>
            <a:r>
              <a:rPr lang="en-US" altLang="en-US" sz="2200" b="1" dirty="0" err="1"/>
              <a:t>Khởi</a:t>
            </a:r>
            <a:r>
              <a:rPr lang="en-US" altLang="en-US" sz="2200" b="1" dirty="0"/>
              <a:t> </a:t>
            </a:r>
            <a:r>
              <a:rPr lang="en-US" altLang="en-US" sz="2200" b="1" dirty="0" err="1"/>
              <a:t>tạo</a:t>
            </a:r>
            <a:r>
              <a:rPr lang="en-US" altLang="en-US" sz="2200" b="1" dirty="0"/>
              <a:t>}</a:t>
            </a:r>
          </a:p>
          <a:p>
            <a:pPr eaLnBrk="1" hangingPunct="1">
              <a:buFontTx/>
              <a:buNone/>
            </a:pPr>
            <a:r>
              <a:rPr lang="en-US" altLang="en-US" sz="2200" b="1" dirty="0"/>
              <a:t>		L := 1;  R := n;</a:t>
            </a:r>
          </a:p>
          <a:p>
            <a:pPr eaLnBrk="1" hangingPunct="1">
              <a:buFontTx/>
              <a:buNone/>
            </a:pPr>
            <a:r>
              <a:rPr lang="en-US" altLang="en-US" sz="2200" b="1" dirty="0"/>
              <a:t>		2. {</a:t>
            </a:r>
            <a:r>
              <a:rPr lang="en-US" altLang="en-US" sz="2200" b="1" dirty="0" err="1"/>
              <a:t>Tìm</a:t>
            </a:r>
            <a:r>
              <a:rPr lang="en-US" altLang="en-US" sz="2200" b="1" dirty="0"/>
              <a:t> </a:t>
            </a:r>
            <a:r>
              <a:rPr lang="en-US" altLang="en-US" sz="2200" b="1" dirty="0" err="1"/>
              <a:t>kiếm</a:t>
            </a:r>
            <a:r>
              <a:rPr lang="en-US" altLang="en-US" sz="2200" b="1" dirty="0"/>
              <a:t>}</a:t>
            </a:r>
          </a:p>
          <a:p>
            <a:pPr eaLnBrk="1" hangingPunct="1">
              <a:buFontTx/>
              <a:buNone/>
            </a:pPr>
            <a:r>
              <a:rPr lang="en-US" altLang="en-US" sz="2200" b="1" dirty="0"/>
              <a:t>		</a:t>
            </a:r>
            <a:r>
              <a:rPr lang="en-US" altLang="en-US" sz="2200" b="1" dirty="0">
                <a:solidFill>
                  <a:srgbClr val="FF3300"/>
                </a:solidFill>
              </a:rPr>
              <a:t>While  L &lt;= R  Do</a:t>
            </a:r>
          </a:p>
          <a:p>
            <a:pPr eaLnBrk="1" hangingPunct="1">
              <a:buFontTx/>
              <a:buNone/>
            </a:pPr>
            <a:r>
              <a:rPr lang="en-US" altLang="en-US" sz="2200" b="1" dirty="0"/>
              <a:t>	    	Begin</a:t>
            </a:r>
          </a:p>
          <a:p>
            <a:pPr eaLnBrk="1" hangingPunct="1">
              <a:buFontTx/>
              <a:buNone/>
            </a:pPr>
            <a:r>
              <a:rPr lang="en-US" altLang="en-US" sz="2200" b="1" dirty="0"/>
              <a:t>			{</a:t>
            </a:r>
            <a:r>
              <a:rPr lang="en-US" altLang="en-US" sz="2200" b="1" dirty="0" err="1"/>
              <a:t>Tính</a:t>
            </a:r>
            <a:r>
              <a:rPr lang="en-US" altLang="en-US" sz="2200" b="1" dirty="0"/>
              <a:t> </a:t>
            </a:r>
            <a:r>
              <a:rPr lang="en-US" altLang="en-US" sz="2200" b="1" dirty="0" err="1"/>
              <a:t>chỉ</a:t>
            </a:r>
            <a:r>
              <a:rPr lang="en-US" altLang="en-US" sz="2200" b="1" dirty="0"/>
              <a:t> </a:t>
            </a:r>
            <a:r>
              <a:rPr lang="en-US" altLang="en-US" sz="2200" b="1" dirty="0" err="1"/>
              <a:t>số</a:t>
            </a:r>
            <a:r>
              <a:rPr lang="en-US" altLang="en-US" sz="2200" b="1" dirty="0"/>
              <a:t> </a:t>
            </a:r>
            <a:r>
              <a:rPr lang="en-US" altLang="en-US" sz="2200" b="1" dirty="0" err="1"/>
              <a:t>giữa</a:t>
            </a:r>
            <a:r>
              <a:rPr lang="en-US" altLang="en-US" sz="2200" b="1" dirty="0"/>
              <a:t>}</a:t>
            </a:r>
          </a:p>
          <a:p>
            <a:pPr eaLnBrk="1" hangingPunct="1">
              <a:buFontTx/>
              <a:buNone/>
            </a:pPr>
            <a:r>
              <a:rPr lang="en-US" altLang="en-US" sz="2200" b="1" dirty="0"/>
              <a:t>			m := (L+R) div 2;</a:t>
            </a:r>
          </a:p>
          <a:p>
            <a:pPr eaLnBrk="1" hangingPunct="1">
              <a:buFontTx/>
              <a:buNone/>
            </a:pPr>
            <a:r>
              <a:rPr lang="en-US" altLang="en-US" sz="2200" b="1" dirty="0"/>
              <a:t>	</a:t>
            </a:r>
            <a:r>
              <a:rPr lang="en-US" altLang="en-US" sz="2200" b="1"/>
              <a:t>		{</a:t>
            </a:r>
            <a:r>
              <a:rPr lang="en-US" altLang="en-US" sz="2200" b="1" dirty="0"/>
              <a:t>So </a:t>
            </a:r>
            <a:r>
              <a:rPr lang="en-US" altLang="en-US" sz="2200" b="1" dirty="0" err="1"/>
              <a:t>sánh</a:t>
            </a:r>
            <a:r>
              <a:rPr lang="en-US" altLang="en-US" sz="2200" b="1" dirty="0"/>
              <a:t>}</a:t>
            </a:r>
          </a:p>
          <a:p>
            <a:pPr eaLnBrk="1" hangingPunct="1">
              <a:buFontTx/>
              <a:buNone/>
            </a:pPr>
            <a:r>
              <a:rPr lang="en-US" altLang="en-US" sz="2200" b="1" dirty="0"/>
              <a:t>			If  x &lt; k[m]  then  R := m-1</a:t>
            </a:r>
          </a:p>
          <a:p>
            <a:pPr eaLnBrk="1" hangingPunct="1">
              <a:buFontTx/>
              <a:buNone/>
            </a:pPr>
            <a:r>
              <a:rPr lang="en-US" altLang="en-US" sz="2200" b="1" dirty="0"/>
              <a:t>			Else  IF  x &gt; k[m]  then  L := m+1</a:t>
            </a:r>
          </a:p>
          <a:p>
            <a:pPr eaLnBrk="1" hangingPunct="1">
              <a:buFontTx/>
              <a:buNone/>
            </a:pPr>
            <a:r>
              <a:rPr lang="en-US" altLang="en-US" sz="2200" b="1" dirty="0"/>
              <a:t>				Else  </a:t>
            </a:r>
            <a:r>
              <a:rPr lang="en-US" altLang="en-US" sz="2200" b="1" dirty="0">
                <a:solidFill>
                  <a:srgbClr val="FF3300"/>
                </a:solidFill>
              </a:rPr>
              <a:t>Return (m);</a:t>
            </a:r>
          </a:p>
          <a:p>
            <a:pPr eaLnBrk="1" hangingPunct="1">
              <a:buFontTx/>
              <a:buNone/>
            </a:pPr>
            <a:r>
              <a:rPr lang="en-US" altLang="en-US" sz="2200" b="1" dirty="0"/>
              <a:t>	    	End;</a:t>
            </a:r>
          </a:p>
          <a:p>
            <a:pPr eaLnBrk="1" hangingPunct="1">
              <a:buFontTx/>
              <a:buNone/>
            </a:pPr>
            <a:r>
              <a:rPr lang="en-US" altLang="en-US" sz="2200" b="1" dirty="0"/>
              <a:t>		3. {</a:t>
            </a:r>
            <a:r>
              <a:rPr lang="en-US" altLang="en-US" sz="2200" b="1" dirty="0" err="1"/>
              <a:t>Không</a:t>
            </a:r>
            <a:r>
              <a:rPr lang="en-US" altLang="en-US" sz="2200" b="1" dirty="0"/>
              <a:t> </a:t>
            </a:r>
            <a:r>
              <a:rPr lang="en-US" altLang="en-US" sz="2200" b="1" dirty="0" err="1"/>
              <a:t>tìm</a:t>
            </a:r>
            <a:r>
              <a:rPr lang="en-US" altLang="en-US" sz="2200" b="1" dirty="0"/>
              <a:t> </a:t>
            </a:r>
            <a:r>
              <a:rPr lang="en-US" altLang="en-US" sz="2200" b="1" dirty="0" err="1"/>
              <a:t>thấy</a:t>
            </a:r>
            <a:r>
              <a:rPr lang="en-US" altLang="en-US" sz="2200" b="1" dirty="0"/>
              <a:t>}</a:t>
            </a:r>
          </a:p>
          <a:p>
            <a:pPr eaLnBrk="1" hangingPunct="1">
              <a:buFontTx/>
              <a:buNone/>
            </a:pPr>
            <a:r>
              <a:rPr lang="en-US" altLang="en-US" sz="2200" b="1" dirty="0">
                <a:solidFill>
                  <a:srgbClr val="FF3300"/>
                </a:solidFill>
              </a:rPr>
              <a:t>Return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0" y="0"/>
            <a:ext cx="9144000" cy="6858000"/>
          </a:xfrm>
        </p:spPr>
        <p:txBody>
          <a:bodyPr/>
          <a:lstStyle/>
          <a:p>
            <a:pPr eaLnBrk="1" hangingPunct="1">
              <a:lnSpc>
                <a:spcPct val="80000"/>
              </a:lnSpc>
              <a:buFontTx/>
              <a:buNone/>
            </a:pPr>
            <a:r>
              <a:rPr lang="en-US" altLang="en-US" sz="2800" b="1">
                <a:solidFill>
                  <a:srgbClr val="6600FF"/>
                </a:solidFill>
              </a:rPr>
              <a:t>* Giải thuật viết dạng đệ quy như sau:</a:t>
            </a:r>
          </a:p>
          <a:p>
            <a:pPr eaLnBrk="1" hangingPunct="1">
              <a:lnSpc>
                <a:spcPct val="80000"/>
              </a:lnSpc>
              <a:buFontTx/>
              <a:buNone/>
            </a:pPr>
            <a:r>
              <a:rPr lang="en-US" altLang="en-US" sz="2800" b="1"/>
              <a:t>	 L, r là chỉ số đầu, chỉ số cuối của dãy K, biến nguyên Loc để đưa ra chỉ số ứng với khoá cần tìm, nếu không tìm thấy thì Loc =0.</a:t>
            </a:r>
          </a:p>
          <a:p>
            <a:pPr eaLnBrk="1" hangingPunct="1">
              <a:lnSpc>
                <a:spcPct val="80000"/>
              </a:lnSpc>
              <a:buFontTx/>
              <a:buNone/>
            </a:pPr>
            <a:r>
              <a:rPr lang="en-US" altLang="en-US" sz="2800" b="1"/>
              <a:t>	</a:t>
            </a:r>
            <a:r>
              <a:rPr lang="en-US" altLang="en-US" sz="2800" b="1">
                <a:solidFill>
                  <a:srgbClr val="FF3300"/>
                </a:solidFill>
              </a:rPr>
              <a:t>Function  binarySearch(L,R,x)</a:t>
            </a:r>
          </a:p>
          <a:p>
            <a:pPr eaLnBrk="1" hangingPunct="1">
              <a:lnSpc>
                <a:spcPct val="80000"/>
              </a:lnSpc>
              <a:buFontTx/>
              <a:buNone/>
            </a:pPr>
            <a:r>
              <a:rPr lang="en-US" altLang="en-US" sz="2800" b="1">
                <a:solidFill>
                  <a:srgbClr val="6600FF"/>
                </a:solidFill>
              </a:rPr>
              <a:t>		If  L&gt;R then  Loc:=0</a:t>
            </a:r>
          </a:p>
          <a:p>
            <a:pPr eaLnBrk="1" hangingPunct="1">
              <a:lnSpc>
                <a:spcPct val="80000"/>
              </a:lnSpc>
              <a:buFontTx/>
              <a:buNone/>
            </a:pPr>
            <a:r>
              <a:rPr lang="en-US" altLang="en-US" sz="2800" b="1"/>
              <a:t>	 	Else </a:t>
            </a:r>
          </a:p>
          <a:p>
            <a:pPr eaLnBrk="1" hangingPunct="1">
              <a:lnSpc>
                <a:spcPct val="80000"/>
              </a:lnSpc>
              <a:buFontTx/>
              <a:buNone/>
            </a:pPr>
            <a:r>
              <a:rPr lang="en-US" altLang="en-US" sz="2800" b="1"/>
              <a:t>     		</a:t>
            </a:r>
            <a:r>
              <a:rPr lang="en-US" altLang="en-US" sz="2800" b="1">
                <a:solidFill>
                  <a:srgbClr val="FF3300"/>
                </a:solidFill>
              </a:rPr>
              <a:t>begin</a:t>
            </a:r>
            <a:r>
              <a:rPr lang="en-US" altLang="en-US" sz="2800" b="1"/>
              <a:t> m:=(L+R) div 2;</a:t>
            </a:r>
          </a:p>
          <a:p>
            <a:pPr eaLnBrk="1" hangingPunct="1">
              <a:lnSpc>
                <a:spcPct val="80000"/>
              </a:lnSpc>
              <a:buFontTx/>
              <a:buNone/>
            </a:pPr>
            <a:r>
              <a:rPr lang="en-US" altLang="en-US" sz="2800" b="1"/>
              <a:t>			    If  x&lt;k[m]   then  							Loc:=binarySearch(L,m-1,x)</a:t>
            </a:r>
          </a:p>
          <a:p>
            <a:pPr eaLnBrk="1" hangingPunct="1">
              <a:lnSpc>
                <a:spcPct val="80000"/>
              </a:lnSpc>
              <a:buFontTx/>
              <a:buNone/>
            </a:pPr>
            <a:r>
              <a:rPr lang="en-US" altLang="en-US" sz="2800" b="1"/>
              <a:t>	    		    Else  If  x&gt;k[m]  then </a:t>
            </a:r>
          </a:p>
          <a:p>
            <a:pPr eaLnBrk="1" hangingPunct="1">
              <a:lnSpc>
                <a:spcPct val="80000"/>
              </a:lnSpc>
              <a:buFontTx/>
              <a:buNone/>
            </a:pPr>
            <a:r>
              <a:rPr lang="en-US" altLang="en-US" sz="2800" b="1"/>
              <a:t>                            Loc:=binarySearch(m+1,R,x)</a:t>
            </a:r>
          </a:p>
          <a:p>
            <a:pPr eaLnBrk="1" hangingPunct="1">
              <a:lnSpc>
                <a:spcPct val="80000"/>
              </a:lnSpc>
              <a:buFontTx/>
              <a:buNone/>
            </a:pPr>
            <a:r>
              <a:rPr lang="en-US" altLang="en-US" sz="2800" b="1"/>
              <a:t>		         		Else  Loc:=m;</a:t>
            </a:r>
          </a:p>
          <a:p>
            <a:pPr eaLnBrk="1" hangingPunct="1">
              <a:lnSpc>
                <a:spcPct val="80000"/>
              </a:lnSpc>
              <a:buFontTx/>
              <a:buNone/>
            </a:pPr>
            <a:r>
              <a:rPr lang="en-US" altLang="en-US" sz="2800" b="1"/>
              <a:t>    		</a:t>
            </a:r>
            <a:r>
              <a:rPr lang="en-US" altLang="en-US" sz="2800" b="1">
                <a:solidFill>
                  <a:srgbClr val="FF3300"/>
                </a:solidFill>
              </a:rPr>
              <a:t>end;</a:t>
            </a:r>
          </a:p>
          <a:p>
            <a:pPr eaLnBrk="1" hangingPunct="1">
              <a:lnSpc>
                <a:spcPct val="80000"/>
              </a:lnSpc>
              <a:buFontTx/>
              <a:buNone/>
            </a:pPr>
            <a:r>
              <a:rPr lang="en-US" altLang="en-US" sz="2800" b="1">
                <a:solidFill>
                  <a:srgbClr val="6600FF"/>
                </a:solidFill>
              </a:rPr>
              <a:t>   </a:t>
            </a:r>
            <a:r>
              <a:rPr lang="en-US" altLang="en-US" sz="2800" b="1">
                <a:solidFill>
                  <a:srgbClr val="FF0000"/>
                </a:solidFill>
              </a:rPr>
              <a:t>Return(Loc)</a:t>
            </a:r>
          </a:p>
          <a:p>
            <a:pPr eaLnBrk="1" hangingPunct="1">
              <a:lnSpc>
                <a:spcPct val="80000"/>
              </a:lnSpc>
              <a:buFontTx/>
              <a:buNone/>
            </a:pPr>
            <a:r>
              <a:rPr lang="en-US" altLang="en-US" sz="2800" b="1">
                <a:solidFill>
                  <a:srgbClr val="6600FF"/>
                </a:solidFill>
              </a:rPr>
              <a:t> </a:t>
            </a:r>
            <a:endParaRPr lang="en-US" altLang="en-US" sz="28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xfrm>
            <a:off x="0" y="0"/>
            <a:ext cx="9144000" cy="6858000"/>
          </a:xfrm>
        </p:spPr>
        <p:txBody>
          <a:bodyPr/>
          <a:lstStyle/>
          <a:p>
            <a:pPr eaLnBrk="1" hangingPunct="1">
              <a:buFontTx/>
              <a:buNone/>
            </a:pPr>
            <a:r>
              <a:rPr lang="en-US" altLang="en-US" sz="3600" b="1">
                <a:solidFill>
                  <a:srgbClr val="6600FF"/>
                </a:solidFill>
              </a:rPr>
              <a:t>3.2. Đánh giá</a:t>
            </a:r>
          </a:p>
          <a:p>
            <a:pPr eaLnBrk="1" hangingPunct="1">
              <a:buFontTx/>
              <a:buNone/>
            </a:pPr>
            <a:r>
              <a:rPr lang="en-US" altLang="en-US" sz="3600" b="1"/>
              <a:t>Phép tính tích cực là </a:t>
            </a:r>
            <a:r>
              <a:rPr lang="en-US" altLang="en-US" sz="3600" b="1">
                <a:solidFill>
                  <a:srgbClr val="FF3300"/>
                </a:solidFill>
              </a:rPr>
              <a:t>phép so sánh</a:t>
            </a:r>
            <a:r>
              <a:rPr lang="en-US" altLang="en-US" sz="3600" b="1"/>
              <a:t> </a:t>
            </a:r>
            <a:r>
              <a:rPr lang="en-US" altLang="en-US" b="1">
                <a:solidFill>
                  <a:srgbClr val="FF3300"/>
                </a:solidFill>
              </a:rPr>
              <a:t>L&lt;= r</a:t>
            </a:r>
            <a:r>
              <a:rPr lang="en-US" altLang="en-US" sz="3600" b="1"/>
              <a:t> </a:t>
            </a:r>
          </a:p>
          <a:p>
            <a:pPr eaLnBrk="1" hangingPunct="1">
              <a:buFontTx/>
              <a:buNone/>
            </a:pPr>
            <a:r>
              <a:rPr lang="en-US" altLang="en-US" sz="3600" b="1"/>
              <a:t>	C</a:t>
            </a:r>
            <a:r>
              <a:rPr lang="en-US" altLang="en-US" sz="3600" b="1" baseline="-25000"/>
              <a:t>min</a:t>
            </a:r>
            <a:r>
              <a:rPr lang="en-US" altLang="en-US" sz="3600" b="1"/>
              <a:t>=1</a:t>
            </a:r>
          </a:p>
          <a:p>
            <a:pPr eaLnBrk="1" hangingPunct="1">
              <a:buFontTx/>
              <a:buNone/>
            </a:pPr>
            <a:r>
              <a:rPr lang="en-US" altLang="en-US" sz="3600" b="1"/>
              <a:t>	Người ta đã tính được </a:t>
            </a:r>
          </a:p>
          <a:p>
            <a:pPr eaLnBrk="1" hangingPunct="1">
              <a:buFontTx/>
              <a:buNone/>
            </a:pPr>
            <a:r>
              <a:rPr lang="en-US" altLang="en-US" sz="3600" b="1"/>
              <a:t>  </a:t>
            </a:r>
            <a:r>
              <a:rPr lang="en-US" altLang="en-US" sz="3600" b="1">
                <a:solidFill>
                  <a:srgbClr val="FF3300"/>
                </a:solidFill>
              </a:rPr>
              <a:t>C</a:t>
            </a:r>
            <a:r>
              <a:rPr lang="en-US" altLang="en-US" sz="3600" b="1" baseline="-25000">
                <a:solidFill>
                  <a:srgbClr val="FF3300"/>
                </a:solidFill>
              </a:rPr>
              <a:t>max</a:t>
            </a:r>
            <a:r>
              <a:rPr lang="en-US" altLang="en-US" sz="3600" b="1">
                <a:solidFill>
                  <a:srgbClr val="FF3300"/>
                </a:solidFill>
              </a:rPr>
              <a:t>=[log</a:t>
            </a:r>
            <a:r>
              <a:rPr lang="en-US" altLang="en-US" sz="3600" b="1" baseline="-25000">
                <a:solidFill>
                  <a:srgbClr val="FF3300"/>
                </a:solidFill>
              </a:rPr>
              <a:t>2</a:t>
            </a:r>
            <a:r>
              <a:rPr lang="en-US" altLang="en-US" sz="3600" b="1">
                <a:solidFill>
                  <a:srgbClr val="FF3300"/>
                </a:solidFill>
              </a:rPr>
              <a:t>n ]</a:t>
            </a:r>
          </a:p>
          <a:p>
            <a:pPr eaLnBrk="1" hangingPunct="1">
              <a:buFontTx/>
              <a:buNone/>
            </a:pPr>
            <a:r>
              <a:rPr lang="en-US" altLang="en-US" sz="3600" b="1">
                <a:solidFill>
                  <a:srgbClr val="FF3300"/>
                </a:solidFill>
              </a:rPr>
              <a:t>  T</a:t>
            </a:r>
            <a:r>
              <a:rPr lang="en-US" altLang="en-US" sz="3600" b="1" baseline="-25000">
                <a:solidFill>
                  <a:srgbClr val="FF3300"/>
                </a:solidFill>
              </a:rPr>
              <a:t>tb</a:t>
            </a:r>
            <a:r>
              <a:rPr lang="en-US" altLang="en-US" sz="3600" b="1">
                <a:solidFill>
                  <a:srgbClr val="FF3300"/>
                </a:solidFill>
              </a:rPr>
              <a:t>=O(log</a:t>
            </a:r>
            <a:r>
              <a:rPr lang="en-US" altLang="en-US" sz="3600" b="1" baseline="-25000">
                <a:solidFill>
                  <a:srgbClr val="FF3300"/>
                </a:solidFill>
              </a:rPr>
              <a:t>2</a:t>
            </a:r>
            <a:r>
              <a:rPr lang="en-US" altLang="en-US" sz="3600" b="1">
                <a:solidFill>
                  <a:srgbClr val="FF3300"/>
                </a:solidFill>
              </a:rPr>
              <a:t>n )</a:t>
            </a:r>
          </a:p>
          <a:p>
            <a:pPr eaLnBrk="1" hangingPunct="1">
              <a:buFontTx/>
              <a:buNone/>
            </a:pPr>
            <a:r>
              <a:rPr lang="en-US" altLang="en-US" sz="3600" b="1"/>
              <a:t>	Tìm kiếm nhị phân tốt hơn tìm kiếm tuần tự nhưng dãy k phải được sắp.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0" y="0"/>
            <a:ext cx="9144000" cy="6858000"/>
          </a:xfrm>
        </p:spPr>
        <p:txBody>
          <a:bodyPr/>
          <a:lstStyle/>
          <a:p>
            <a:pPr eaLnBrk="1" hangingPunct="1">
              <a:buFontTx/>
              <a:buNone/>
            </a:pPr>
            <a:r>
              <a:rPr lang="en-US" altLang="en-US" sz="2800" b="1">
                <a:solidFill>
                  <a:srgbClr val="6600FF"/>
                </a:solidFill>
              </a:rPr>
              <a:t>4. Tìm kiếm nhị phân trên cây</a:t>
            </a:r>
          </a:p>
          <a:p>
            <a:pPr eaLnBrk="1" hangingPunct="1">
              <a:buFontTx/>
              <a:buNone/>
            </a:pPr>
            <a:r>
              <a:rPr lang="en-US" altLang="en-US" sz="2800" b="1">
                <a:solidFill>
                  <a:srgbClr val="6600FF"/>
                </a:solidFill>
              </a:rPr>
              <a:t>4.1. Định nghĩa cây nhị phân tìm kiếm</a:t>
            </a:r>
          </a:p>
          <a:p>
            <a:pPr eaLnBrk="1" hangingPunct="1">
              <a:buFontTx/>
              <a:buNone/>
            </a:pPr>
            <a:r>
              <a:rPr lang="en-US" altLang="en-US" sz="2800" b="1"/>
              <a:t>* Cây nhị phân tìm kiếm ứng với n khoá k</a:t>
            </a:r>
            <a:r>
              <a:rPr lang="en-US" altLang="en-US" sz="2800" b="1" baseline="-25000"/>
              <a:t>1</a:t>
            </a:r>
            <a:r>
              <a:rPr lang="en-US" altLang="en-US" sz="2800" b="1"/>
              <a:t>, k</a:t>
            </a:r>
            <a:r>
              <a:rPr lang="en-US" altLang="en-US" sz="2800" b="1" baseline="-25000"/>
              <a:t>2</a:t>
            </a:r>
            <a:r>
              <a:rPr lang="en-US" altLang="en-US" sz="2800" b="1"/>
              <a:t>, ..., k</a:t>
            </a:r>
            <a:r>
              <a:rPr lang="en-US" altLang="en-US" sz="2800" b="1" baseline="-25000"/>
              <a:t>n</a:t>
            </a:r>
            <a:r>
              <a:rPr lang="en-US" altLang="en-US" sz="2800" b="1"/>
              <a:t> là một cây nhị phân mà mỗi nút của nó đều được định danh bởi một khoá nào đó trong các khoá đã cho. Đối với mọi nút trên cây tính chất sau đây luôn được thoả mãn:</a:t>
            </a:r>
          </a:p>
          <a:p>
            <a:pPr eaLnBrk="1" hangingPunct="1">
              <a:buFontTx/>
              <a:buNone/>
            </a:pPr>
            <a:r>
              <a:rPr lang="en-US" altLang="en-US" sz="2800" b="1"/>
              <a:t>	- </a:t>
            </a:r>
            <a:r>
              <a:rPr lang="en-US" altLang="en-US" sz="2800" b="1">
                <a:solidFill>
                  <a:srgbClr val="FF3300"/>
                </a:solidFill>
              </a:rPr>
              <a:t>Mọi khoá thuộc cây con trái của một nút đều nhỏ</a:t>
            </a:r>
            <a:r>
              <a:rPr lang="en-US" altLang="en-US" sz="2800" b="1"/>
              <a:t> hơn khoá ứng với nút đó.</a:t>
            </a:r>
          </a:p>
          <a:p>
            <a:pPr eaLnBrk="1" hangingPunct="1">
              <a:buFontTx/>
              <a:buNone/>
            </a:pPr>
            <a:r>
              <a:rPr lang="en-US" altLang="en-US" sz="2800" b="1"/>
              <a:t>	- </a:t>
            </a:r>
            <a:r>
              <a:rPr lang="en-US" altLang="en-US" sz="2800" b="1">
                <a:solidFill>
                  <a:srgbClr val="FF3300"/>
                </a:solidFill>
              </a:rPr>
              <a:t>Mọi khoá thuộc cây con phải của một nút đều lớn hơn</a:t>
            </a:r>
            <a:r>
              <a:rPr lang="en-US" altLang="en-US" sz="2800" b="1"/>
              <a:t> khoá ứng với nút đó.</a:t>
            </a:r>
          </a:p>
          <a:p>
            <a:pPr eaLnBrk="1" hangingPunct="1">
              <a:buFontTx/>
              <a:buNone/>
            </a:pPr>
            <a:r>
              <a:rPr lang="en-US" altLang="en-US" sz="2800" b="1"/>
              <a:t> Chú ý : Khoá là số thì so sánh số bình thường, Khoá là chữ thì ta so sánh xâu kí tự.</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Grp="1" noChangeAspect="1"/>
          </p:cNvGraphicFramePr>
          <p:nvPr>
            <p:ph type="body" idx="1"/>
          </p:nvPr>
        </p:nvGraphicFramePr>
        <p:xfrm>
          <a:off x="1447800" y="152400"/>
          <a:ext cx="7010400" cy="3810000"/>
        </p:xfrm>
        <a:graphic>
          <a:graphicData uri="http://schemas.openxmlformats.org/presentationml/2006/ole">
            <mc:AlternateContent xmlns:mc="http://schemas.openxmlformats.org/markup-compatibility/2006">
              <mc:Choice xmlns:v="urn:schemas-microsoft-com:vml" Requires="v">
                <p:oleObj name="Document" r:id="rId2" imgW="5788639" imgH="2866103" progId="Word.Document.8">
                  <p:embed/>
                </p:oleObj>
              </mc:Choice>
              <mc:Fallback>
                <p:oleObj name="Document" r:id="rId2" imgW="5788639" imgH="2866103"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52400"/>
                        <a:ext cx="70104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4339" name="Object 3"/>
          <p:cNvGraphicFramePr>
            <a:graphicFrameLocks noChangeAspect="1"/>
          </p:cNvGraphicFramePr>
          <p:nvPr/>
        </p:nvGraphicFramePr>
        <p:xfrm>
          <a:off x="1752600" y="4167188"/>
          <a:ext cx="5788025" cy="2660650"/>
        </p:xfrm>
        <a:graphic>
          <a:graphicData uri="http://schemas.openxmlformats.org/presentationml/2006/ole">
            <mc:AlternateContent xmlns:mc="http://schemas.openxmlformats.org/markup-compatibility/2006">
              <mc:Choice xmlns:v="urn:schemas-microsoft-com:vml" Requires="v">
                <p:oleObj name="Document" r:id="rId4" imgW="5788639" imgH="2661330" progId="Word.Document.8">
                  <p:embed/>
                </p:oleObj>
              </mc:Choice>
              <mc:Fallback>
                <p:oleObj name="Document" r:id="rId4" imgW="5788639" imgH="266133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4167188"/>
                        <a:ext cx="5788025" cy="266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0" y="0"/>
            <a:ext cx="9144000" cy="6858000"/>
          </a:xfrm>
        </p:spPr>
        <p:txBody>
          <a:bodyPr/>
          <a:lstStyle/>
          <a:p>
            <a:pPr eaLnBrk="1" hangingPunct="1">
              <a:buFontTx/>
              <a:buNone/>
            </a:pPr>
            <a:r>
              <a:rPr lang="en-US" altLang="en-US" b="1">
                <a:solidFill>
                  <a:srgbClr val="6600FF"/>
                </a:solidFill>
              </a:rPr>
              <a:t>4.2. Giải thuật tìm kiếm nhị phân trên cây</a:t>
            </a:r>
            <a:endParaRPr lang="en-US" altLang="en-US">
              <a:solidFill>
                <a:srgbClr val="6600FF"/>
              </a:solidFill>
            </a:endParaRPr>
          </a:p>
          <a:p>
            <a:pPr eaLnBrk="1" hangingPunct="1">
              <a:buFontTx/>
              <a:buNone/>
            </a:pPr>
            <a:r>
              <a:rPr lang="en-US" altLang="en-US"/>
              <a:t>* Dãy khóa lưu trữ trên cây nhị phân.</a:t>
            </a:r>
          </a:p>
          <a:p>
            <a:pPr eaLnBrk="1" hangingPunct="1">
              <a:buFontTx/>
              <a:buNone/>
            </a:pPr>
            <a:r>
              <a:rPr lang="en-US" altLang="en-US"/>
              <a:t>* Điều kiện: Cây phải là cây nhị phần tìm kiếm</a:t>
            </a:r>
          </a:p>
          <a:p>
            <a:pPr eaLnBrk="1" hangingPunct="1">
              <a:buFontTx/>
              <a:buNone/>
            </a:pPr>
            <a:r>
              <a:rPr lang="en-US" altLang="en-US"/>
              <a:t>* Đối với một cây nhị phân để tìm kiếm xem một khoá x nào đó có trên cây đó không? Ta có thể thực hiện như sau:</a:t>
            </a:r>
          </a:p>
          <a:p>
            <a:pPr eaLnBrk="1" hangingPunct="1">
              <a:buFontTx/>
              <a:buNone/>
            </a:pPr>
            <a:r>
              <a:rPr lang="en-US" altLang="en-US"/>
              <a:t>	</a:t>
            </a:r>
            <a:r>
              <a:rPr lang="en-US" altLang="en-US">
                <a:solidFill>
                  <a:srgbClr val="FF3300"/>
                </a:solidFill>
              </a:rPr>
              <a:t>So sánh x với khoá ở gốc</a:t>
            </a:r>
            <a:r>
              <a:rPr lang="en-US" altLang="en-US"/>
              <a:t> và một trong 4 tình huống sau đây sẽ xuất hiện:</a:t>
            </a:r>
          </a:p>
          <a:p>
            <a:pPr eaLnBrk="1" hangingPunct="1">
              <a:buFontTx/>
              <a:buNone/>
            </a:pPr>
            <a:r>
              <a:rPr lang="en-US" altLang="en-US"/>
              <a:t>	</a:t>
            </a:r>
            <a:r>
              <a:rPr lang="en-US" altLang="en-US">
                <a:solidFill>
                  <a:srgbClr val="FF3300"/>
                </a:solidFill>
              </a:rPr>
              <a:t>1- Không có gốc cây</a:t>
            </a:r>
            <a:r>
              <a:rPr lang="en-US" altLang="en-US"/>
              <a:t> (cây rỗng): x không có trên cây, phép tìm kiếm không thoả mãn.</a:t>
            </a:r>
          </a:p>
          <a:p>
            <a:pPr eaLnBrk="1" hangingPunct="1">
              <a:buFontTx/>
              <a:buNone/>
            </a:pPr>
            <a:r>
              <a:rPr lang="en-US" altLang="en-US"/>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0" y="0"/>
            <a:ext cx="9144000" cy="6858000"/>
          </a:xfrm>
        </p:spPr>
        <p:txBody>
          <a:bodyPr/>
          <a:lstStyle/>
          <a:p>
            <a:pPr eaLnBrk="1" hangingPunct="1">
              <a:buFontTx/>
              <a:buNone/>
            </a:pPr>
            <a:r>
              <a:rPr lang="en-US" altLang="en-US" b="1"/>
              <a:t>	</a:t>
            </a:r>
            <a:r>
              <a:rPr lang="en-US" altLang="en-US" b="1">
                <a:solidFill>
                  <a:srgbClr val="FF3300"/>
                </a:solidFill>
              </a:rPr>
              <a:t>2- x trùng với khoá ở gốc</a:t>
            </a:r>
            <a:r>
              <a:rPr lang="en-US" altLang="en-US" b="1"/>
              <a:t>: Phép tìm kiếm được thoả mãn.</a:t>
            </a:r>
          </a:p>
          <a:p>
            <a:pPr eaLnBrk="1" hangingPunct="1">
              <a:buFontTx/>
              <a:buNone/>
            </a:pPr>
            <a:r>
              <a:rPr lang="en-US" altLang="en-US" b="1"/>
              <a:t>	</a:t>
            </a:r>
            <a:r>
              <a:rPr lang="en-US" altLang="en-US" b="1">
                <a:solidFill>
                  <a:srgbClr val="FF3300"/>
                </a:solidFill>
              </a:rPr>
              <a:t>3- x nhỏ hơn khoá ở gốc</a:t>
            </a:r>
            <a:r>
              <a:rPr lang="en-US" altLang="en-US" b="1"/>
              <a:t>: Tìm kiếm được thực hiện tiếp tục bằng cách xét cây con trái của gốc với cách làm tương tự.</a:t>
            </a:r>
          </a:p>
          <a:p>
            <a:pPr eaLnBrk="1" hangingPunct="1">
              <a:buFontTx/>
              <a:buNone/>
            </a:pPr>
            <a:r>
              <a:rPr lang="en-US" altLang="en-US" b="1"/>
              <a:t>	</a:t>
            </a:r>
            <a:r>
              <a:rPr lang="en-US" altLang="en-US" b="1">
                <a:solidFill>
                  <a:srgbClr val="FF3300"/>
                </a:solidFill>
              </a:rPr>
              <a:t>4- x lớn hơn khoá ở gốc</a:t>
            </a:r>
            <a:r>
              <a:rPr lang="en-US" altLang="en-US" b="1"/>
              <a:t>: Tìm kiếm được thực hiện tiếp tục bằng cách xét cây con phải của gốc với cách làm tương tự.</a:t>
            </a:r>
          </a:p>
          <a:p>
            <a:pPr eaLnBrk="1" hangingPunct="1">
              <a:buFontTx/>
              <a:buNone/>
            </a:pPr>
            <a:r>
              <a:rPr lang="en-US" altLang="en-US" b="1"/>
              <a:t>	Cứ tiếp tục như vậy cho tới khi tìm thấy hoặc cây rỗng.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6581C-1F2F-4C16-9AC8-FF0C0DAFA0D8}"/>
              </a:ext>
            </a:extLst>
          </p:cNvPr>
          <p:cNvSpPr>
            <a:spLocks noGrp="1"/>
          </p:cNvSpPr>
          <p:nvPr>
            <p:ph type="title"/>
          </p:nvPr>
        </p:nvSpPr>
        <p:spPr/>
        <p:txBody>
          <a:bodyPr/>
          <a:lstStyle/>
          <a:p>
            <a:r>
              <a:rPr lang="en-US"/>
              <a:t>Minh họa ý tưởng</a:t>
            </a:r>
          </a:p>
        </p:txBody>
      </p:sp>
      <p:graphicFrame>
        <p:nvGraphicFramePr>
          <p:cNvPr id="4" name="Object 2">
            <a:extLst>
              <a:ext uri="{FF2B5EF4-FFF2-40B4-BE49-F238E27FC236}">
                <a16:creationId xmlns:a16="http://schemas.microsoft.com/office/drawing/2014/main" id="{4E4A1995-9A71-415A-87CF-1293E64CEE34}"/>
              </a:ext>
            </a:extLst>
          </p:cNvPr>
          <p:cNvGraphicFramePr>
            <a:graphicFrameLocks noChangeAspect="1"/>
          </p:cNvGraphicFramePr>
          <p:nvPr>
            <p:extLst>
              <p:ext uri="{D42A27DB-BD31-4B8C-83A1-F6EECF244321}">
                <p14:modId xmlns:p14="http://schemas.microsoft.com/office/powerpoint/2010/main" val="980841902"/>
              </p:ext>
            </p:extLst>
          </p:nvPr>
        </p:nvGraphicFramePr>
        <p:xfrm>
          <a:off x="457200" y="1324450"/>
          <a:ext cx="8382000" cy="4230212"/>
        </p:xfrm>
        <a:graphic>
          <a:graphicData uri="http://schemas.openxmlformats.org/presentationml/2006/ole">
            <mc:AlternateContent xmlns:mc="http://schemas.openxmlformats.org/markup-compatibility/2006">
              <mc:Choice xmlns:v="urn:schemas-microsoft-com:vml" Requires="v">
                <p:oleObj name="Document" r:id="rId2" imgW="5788999" imgH="2869708" progId="Word.Document.8">
                  <p:embed/>
                </p:oleObj>
              </mc:Choice>
              <mc:Fallback>
                <p:oleObj name="Document" r:id="rId2" imgW="5788999" imgH="2869708" progId="Word.Document.8">
                  <p:embed/>
                  <p:pic>
                    <p:nvPicPr>
                      <p:cNvPr id="14338" name="Object 2"/>
                      <p:cNvPicPr>
                        <a:picLocks noChangeAspect="1" noChangeArrowheads="1"/>
                      </p:cNvPicPr>
                      <p:nvPr/>
                    </p:nvPicPr>
                    <p:blipFill>
                      <a:blip r:embed="rId3"/>
                      <a:srcRect/>
                      <a:stretch>
                        <a:fillRect/>
                      </a:stretch>
                    </p:blipFill>
                    <p:spPr bwMode="auto">
                      <a:xfrm>
                        <a:off x="457200" y="1324450"/>
                        <a:ext cx="8382000" cy="4230212"/>
                      </a:xfrm>
                      <a:prstGeom prst="rect">
                        <a:avLst/>
                      </a:prstGeom>
                      <a:noFill/>
                      <a:ln>
                        <a:noFill/>
                      </a:ln>
                    </p:spPr>
                  </p:pic>
                </p:oleObj>
              </mc:Fallback>
            </mc:AlternateContent>
          </a:graphicData>
        </a:graphic>
      </p:graphicFrame>
      <p:sp>
        <p:nvSpPr>
          <p:cNvPr id="5" name="TextBox 4">
            <a:extLst>
              <a:ext uri="{FF2B5EF4-FFF2-40B4-BE49-F238E27FC236}">
                <a16:creationId xmlns:a16="http://schemas.microsoft.com/office/drawing/2014/main" id="{DE31579E-874D-417D-BDD6-4698F8B75F70}"/>
              </a:ext>
            </a:extLst>
          </p:cNvPr>
          <p:cNvSpPr txBox="1"/>
          <p:nvPr/>
        </p:nvSpPr>
        <p:spPr>
          <a:xfrm>
            <a:off x="1066800" y="5293837"/>
            <a:ext cx="1295400" cy="457200"/>
          </a:xfrm>
          <a:prstGeom prst="rect">
            <a:avLst/>
          </a:prstGeom>
          <a:noFill/>
        </p:spPr>
        <p:txBody>
          <a:bodyPr wrap="square" rtlCol="0">
            <a:spAutoFit/>
          </a:bodyPr>
          <a:lstStyle/>
          <a:p>
            <a:r>
              <a:rPr lang="en-US"/>
              <a:t>x = 37</a:t>
            </a:r>
          </a:p>
        </p:txBody>
      </p:sp>
      <p:sp>
        <p:nvSpPr>
          <p:cNvPr id="6" name="TextBox 5">
            <a:extLst>
              <a:ext uri="{FF2B5EF4-FFF2-40B4-BE49-F238E27FC236}">
                <a16:creationId xmlns:a16="http://schemas.microsoft.com/office/drawing/2014/main" id="{D51D2173-8256-4EFA-B1EA-61CF64001C52}"/>
              </a:ext>
            </a:extLst>
          </p:cNvPr>
          <p:cNvSpPr txBox="1"/>
          <p:nvPr/>
        </p:nvSpPr>
        <p:spPr>
          <a:xfrm>
            <a:off x="3962400" y="1303338"/>
            <a:ext cx="457200" cy="457200"/>
          </a:xfrm>
          <a:prstGeom prst="rect">
            <a:avLst/>
          </a:prstGeom>
          <a:noFill/>
        </p:spPr>
        <p:txBody>
          <a:bodyPr wrap="square" rtlCol="0">
            <a:spAutoFit/>
          </a:bodyPr>
          <a:lstStyle/>
          <a:p>
            <a:r>
              <a:rPr lang="en-US"/>
              <a:t>T</a:t>
            </a:r>
          </a:p>
        </p:txBody>
      </p:sp>
      <p:cxnSp>
        <p:nvCxnSpPr>
          <p:cNvPr id="8" name="Straight Arrow Connector 7">
            <a:extLst>
              <a:ext uri="{FF2B5EF4-FFF2-40B4-BE49-F238E27FC236}">
                <a16:creationId xmlns:a16="http://schemas.microsoft.com/office/drawing/2014/main" id="{365ACF95-A253-47AC-9A1D-D352B571E59E}"/>
              </a:ext>
            </a:extLst>
          </p:cNvPr>
          <p:cNvCxnSpPr>
            <a:cxnSpLocks/>
          </p:cNvCxnSpPr>
          <p:nvPr/>
        </p:nvCxnSpPr>
        <p:spPr>
          <a:xfrm flipH="1">
            <a:off x="3657600" y="1531938"/>
            <a:ext cx="381000" cy="2968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3E441BDF-7152-4F60-ADBE-7F907FDFCC0C}"/>
              </a:ext>
            </a:extLst>
          </p:cNvPr>
          <p:cNvSpPr txBox="1"/>
          <p:nvPr/>
        </p:nvSpPr>
        <p:spPr>
          <a:xfrm>
            <a:off x="2895600" y="3429000"/>
            <a:ext cx="457200" cy="457200"/>
          </a:xfrm>
          <a:prstGeom prst="rect">
            <a:avLst/>
          </a:prstGeom>
          <a:noFill/>
        </p:spPr>
        <p:txBody>
          <a:bodyPr wrap="square" rtlCol="0">
            <a:spAutoFit/>
          </a:bodyPr>
          <a:lstStyle/>
          <a:p>
            <a:r>
              <a:rPr lang="en-US"/>
              <a:t>p</a:t>
            </a:r>
          </a:p>
        </p:txBody>
      </p:sp>
      <p:cxnSp>
        <p:nvCxnSpPr>
          <p:cNvPr id="10" name="Straight Arrow Connector 9">
            <a:extLst>
              <a:ext uri="{FF2B5EF4-FFF2-40B4-BE49-F238E27FC236}">
                <a16:creationId xmlns:a16="http://schemas.microsoft.com/office/drawing/2014/main" id="{711B698C-EF7C-4F8D-BD31-0574FB5802F1}"/>
              </a:ext>
            </a:extLst>
          </p:cNvPr>
          <p:cNvCxnSpPr>
            <a:cxnSpLocks/>
            <a:stCxn id="9" idx="2"/>
          </p:cNvCxnSpPr>
          <p:nvPr/>
        </p:nvCxnSpPr>
        <p:spPr>
          <a:xfrm>
            <a:off x="3124200" y="3886200"/>
            <a:ext cx="304800" cy="203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547E74E2-AE05-4A66-B1E1-3F1CC9C0DC3E}"/>
              </a:ext>
            </a:extLst>
          </p:cNvPr>
          <p:cNvSpPr txBox="1"/>
          <p:nvPr/>
        </p:nvSpPr>
        <p:spPr>
          <a:xfrm>
            <a:off x="4147457" y="5268385"/>
            <a:ext cx="457200" cy="457200"/>
          </a:xfrm>
          <a:prstGeom prst="rect">
            <a:avLst/>
          </a:prstGeom>
          <a:noFill/>
        </p:spPr>
        <p:txBody>
          <a:bodyPr wrap="square" rtlCol="0">
            <a:spAutoFit/>
          </a:bodyPr>
          <a:lstStyle/>
          <a:p>
            <a:r>
              <a:rPr lang="en-US"/>
              <a:t>q</a:t>
            </a:r>
          </a:p>
        </p:txBody>
      </p:sp>
      <p:cxnSp>
        <p:nvCxnSpPr>
          <p:cNvPr id="14" name="Straight Arrow Connector 13">
            <a:extLst>
              <a:ext uri="{FF2B5EF4-FFF2-40B4-BE49-F238E27FC236}">
                <a16:creationId xmlns:a16="http://schemas.microsoft.com/office/drawing/2014/main" id="{003D2FF3-FAC9-4477-993F-0089C66684E9}"/>
              </a:ext>
            </a:extLst>
          </p:cNvPr>
          <p:cNvCxnSpPr>
            <a:cxnSpLocks/>
          </p:cNvCxnSpPr>
          <p:nvPr/>
        </p:nvCxnSpPr>
        <p:spPr>
          <a:xfrm flipH="1" flipV="1">
            <a:off x="3623348" y="5268385"/>
            <a:ext cx="545880" cy="3102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AF0B6AF8-316A-4E7B-2AD5-B62C4EF78FBE}"/>
              </a:ext>
            </a:extLst>
          </p:cNvPr>
          <p:cNvSpPr/>
          <p:nvPr/>
        </p:nvSpPr>
        <p:spPr>
          <a:xfrm>
            <a:off x="3013748" y="4713739"/>
            <a:ext cx="796252" cy="5800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0BB3BF4-63E3-A7E2-4AAB-91BE44E81B17}"/>
              </a:ext>
            </a:extLst>
          </p:cNvPr>
          <p:cNvSpPr txBox="1"/>
          <p:nvPr/>
        </p:nvSpPr>
        <p:spPr>
          <a:xfrm>
            <a:off x="3189514" y="4772954"/>
            <a:ext cx="609600" cy="461665"/>
          </a:xfrm>
          <a:prstGeom prst="rect">
            <a:avLst/>
          </a:prstGeom>
          <a:noFill/>
        </p:spPr>
        <p:txBody>
          <a:bodyPr wrap="square" rtlCol="0">
            <a:spAutoFit/>
          </a:bodyPr>
          <a:lstStyle/>
          <a:p>
            <a:r>
              <a:rPr lang="en-US"/>
              <a:t>37</a:t>
            </a:r>
          </a:p>
        </p:txBody>
      </p:sp>
      <p:cxnSp>
        <p:nvCxnSpPr>
          <p:cNvPr id="19" name="Straight Connector 18">
            <a:extLst>
              <a:ext uri="{FF2B5EF4-FFF2-40B4-BE49-F238E27FC236}">
                <a16:creationId xmlns:a16="http://schemas.microsoft.com/office/drawing/2014/main" id="{9C64D451-8E20-3D3E-7A62-407037A7E3F8}"/>
              </a:ext>
            </a:extLst>
          </p:cNvPr>
          <p:cNvCxnSpPr/>
          <p:nvPr/>
        </p:nvCxnSpPr>
        <p:spPr>
          <a:xfrm flipH="1">
            <a:off x="3657600" y="4572000"/>
            <a:ext cx="190500" cy="20095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2654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2"/>
          <p:cNvGraphicFramePr>
            <a:graphicFrameLocks noGrp="1" noChangeAspect="1"/>
          </p:cNvGraphicFramePr>
          <p:nvPr>
            <p:ph type="body" idx="1"/>
            <p:extLst>
              <p:ext uri="{D42A27DB-BD31-4B8C-83A1-F6EECF244321}">
                <p14:modId xmlns:p14="http://schemas.microsoft.com/office/powerpoint/2010/main" val="2366271669"/>
              </p:ext>
            </p:extLst>
          </p:nvPr>
        </p:nvGraphicFramePr>
        <p:xfrm>
          <a:off x="381000" y="609600"/>
          <a:ext cx="8382000" cy="5867400"/>
        </p:xfrm>
        <a:graphic>
          <a:graphicData uri="http://schemas.openxmlformats.org/presentationml/2006/ole">
            <mc:AlternateContent xmlns:mc="http://schemas.openxmlformats.org/markup-compatibility/2006">
              <mc:Choice xmlns:v="urn:schemas-microsoft-com:vml" Requires="v">
                <p:oleObj name="Document" r:id="rId2" imgW="5788999" imgH="3281418" progId="Word.Document.8">
                  <p:embed/>
                </p:oleObj>
              </mc:Choice>
              <mc:Fallback>
                <p:oleObj name="Document" r:id="rId2" imgW="5788999" imgH="3281418" progId="Word.Document.8">
                  <p:embed/>
                  <p:pic>
                    <p:nvPicPr>
                      <p:cNvPr id="0" name="Object 2"/>
                      <p:cNvPicPr>
                        <a:picLocks noChangeAspect="1" noChangeArrowheads="1"/>
                      </p:cNvPicPr>
                      <p:nvPr/>
                    </p:nvPicPr>
                    <p:blipFill>
                      <a:blip r:embed="rId3"/>
                      <a:srcRect/>
                      <a:stretch>
                        <a:fillRect/>
                      </a:stretch>
                    </p:blipFill>
                    <p:spPr bwMode="auto">
                      <a:xfrm>
                        <a:off x="381000" y="609600"/>
                        <a:ext cx="8382000" cy="5867400"/>
                      </a:xfrm>
                      <a:prstGeom prst="rect">
                        <a:avLst/>
                      </a:prstGeom>
                      <a:noFill/>
                      <a:ln>
                        <a:noFill/>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Grp="1" noChangeAspect="1"/>
          </p:cNvGraphicFramePr>
          <p:nvPr>
            <p:ph type="body" idx="1"/>
            <p:extLst>
              <p:ext uri="{D42A27DB-BD31-4B8C-83A1-F6EECF244321}">
                <p14:modId xmlns:p14="http://schemas.microsoft.com/office/powerpoint/2010/main" val="3262403565"/>
              </p:ext>
            </p:extLst>
          </p:nvPr>
        </p:nvGraphicFramePr>
        <p:xfrm>
          <a:off x="317500" y="458788"/>
          <a:ext cx="7794625" cy="6061075"/>
        </p:xfrm>
        <a:graphic>
          <a:graphicData uri="http://schemas.openxmlformats.org/presentationml/2006/ole">
            <mc:AlternateContent xmlns:mc="http://schemas.openxmlformats.org/markup-compatibility/2006">
              <mc:Choice xmlns:v="urn:schemas-microsoft-com:vml" Requires="v">
                <p:oleObj name="Document" r:id="rId2" imgW="5788999" imgH="4502125" progId="Word.Document.8">
                  <p:embed/>
                </p:oleObj>
              </mc:Choice>
              <mc:Fallback>
                <p:oleObj name="Document" r:id="rId2" imgW="5788999" imgH="4502125" progId="Word.Document.8">
                  <p:embed/>
                  <p:pic>
                    <p:nvPicPr>
                      <p:cNvPr id="0" name="Object 2"/>
                      <p:cNvPicPr>
                        <a:picLocks noChangeAspect="1" noChangeArrowheads="1"/>
                      </p:cNvPicPr>
                      <p:nvPr/>
                    </p:nvPicPr>
                    <p:blipFill>
                      <a:blip r:embed="rId3"/>
                      <a:srcRect/>
                      <a:stretch>
                        <a:fillRect/>
                      </a:stretch>
                    </p:blipFill>
                    <p:spPr bwMode="auto">
                      <a:xfrm>
                        <a:off x="317500" y="458788"/>
                        <a:ext cx="7794625" cy="606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Grp="1" noChangeAspect="1"/>
          </p:cNvGraphicFramePr>
          <p:nvPr>
            <p:ph type="body" idx="1"/>
            <p:extLst>
              <p:ext uri="{D42A27DB-BD31-4B8C-83A1-F6EECF244321}">
                <p14:modId xmlns:p14="http://schemas.microsoft.com/office/powerpoint/2010/main" val="3647775560"/>
              </p:ext>
            </p:extLst>
          </p:nvPr>
        </p:nvGraphicFramePr>
        <p:xfrm>
          <a:off x="312738" y="236538"/>
          <a:ext cx="7905750" cy="6161087"/>
        </p:xfrm>
        <a:graphic>
          <a:graphicData uri="http://schemas.openxmlformats.org/presentationml/2006/ole">
            <mc:AlternateContent xmlns:mc="http://schemas.openxmlformats.org/markup-compatibility/2006">
              <mc:Choice xmlns:v="urn:schemas-microsoft-com:vml" Requires="v">
                <p:oleObj name="Document" r:id="rId2" imgW="5788999" imgH="4511859" progId="Word.Document.8">
                  <p:embed/>
                </p:oleObj>
              </mc:Choice>
              <mc:Fallback>
                <p:oleObj name="Document" r:id="rId2" imgW="5788999" imgH="4511859" progId="Word.Document.8">
                  <p:embed/>
                  <p:pic>
                    <p:nvPicPr>
                      <p:cNvPr id="0" name="Object 2"/>
                      <p:cNvPicPr>
                        <a:picLocks noChangeAspect="1" noChangeArrowheads="1"/>
                      </p:cNvPicPr>
                      <p:nvPr/>
                    </p:nvPicPr>
                    <p:blipFill>
                      <a:blip r:embed="rId3"/>
                      <a:srcRect/>
                      <a:stretch>
                        <a:fillRect/>
                      </a:stretch>
                    </p:blipFill>
                    <p:spPr bwMode="auto">
                      <a:xfrm>
                        <a:off x="312738" y="236538"/>
                        <a:ext cx="7905750" cy="6161087"/>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64CDC09D-D629-48D6-B732-50B2998DBE76}"/>
              </a:ext>
            </a:extLst>
          </p:cNvPr>
          <p:cNvSpPr txBox="1"/>
          <p:nvPr/>
        </p:nvSpPr>
        <p:spPr>
          <a:xfrm>
            <a:off x="762000" y="5672634"/>
            <a:ext cx="3124200" cy="769441"/>
          </a:xfrm>
          <a:prstGeom prst="rect">
            <a:avLst/>
          </a:prstGeom>
          <a:noFill/>
        </p:spPr>
        <p:txBody>
          <a:bodyPr wrap="square" rtlCol="0">
            <a:spAutoFit/>
          </a:bodyPr>
          <a:lstStyle/>
          <a:p>
            <a:r>
              <a:rPr lang="en-US" sz="4400"/>
              <a:t>O(log</a:t>
            </a:r>
            <a:r>
              <a:rPr lang="en-US" sz="4400" baseline="-25000"/>
              <a:t>2</a:t>
            </a:r>
            <a:r>
              <a:rPr lang="en-US" sz="4400"/>
              <a:t>(n))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1937-F5E7-4C9A-91E3-FFF65A03470F}"/>
              </a:ext>
            </a:extLst>
          </p:cNvPr>
          <p:cNvSpPr>
            <a:spLocks noGrp="1"/>
          </p:cNvSpPr>
          <p:nvPr>
            <p:ph type="title"/>
          </p:nvPr>
        </p:nvSpPr>
        <p:spPr>
          <a:xfrm>
            <a:off x="440076" y="152400"/>
            <a:ext cx="8229600" cy="715962"/>
          </a:xfrm>
        </p:spPr>
        <p:txBody>
          <a:bodyPr/>
          <a:lstStyle/>
          <a:p>
            <a:r>
              <a:rPr lang="en-US"/>
              <a:t>Một số bài tập suy luận</a:t>
            </a:r>
          </a:p>
        </p:txBody>
      </p:sp>
      <p:sp>
        <p:nvSpPr>
          <p:cNvPr id="3" name="Content Placeholder 2">
            <a:extLst>
              <a:ext uri="{FF2B5EF4-FFF2-40B4-BE49-F238E27FC236}">
                <a16:creationId xmlns:a16="http://schemas.microsoft.com/office/drawing/2014/main" id="{990A5DFC-8DAB-457F-A975-D33F6B40D0DE}"/>
              </a:ext>
            </a:extLst>
          </p:cNvPr>
          <p:cNvSpPr>
            <a:spLocks noGrp="1"/>
          </p:cNvSpPr>
          <p:nvPr>
            <p:ph idx="1"/>
          </p:nvPr>
        </p:nvSpPr>
        <p:spPr>
          <a:xfrm>
            <a:off x="228600" y="868362"/>
            <a:ext cx="8686800" cy="5761038"/>
          </a:xfrm>
        </p:spPr>
        <p:txBody>
          <a:bodyPr/>
          <a:lstStyle/>
          <a:p>
            <a:pPr marL="0" indent="0" algn="just">
              <a:buNone/>
            </a:pPr>
            <a:r>
              <a:rPr lang="en-US"/>
              <a:t>1) Viết giả mã tạo cây nhị phân tìm kiếm cho dãy khóa k có n phần tử</a:t>
            </a:r>
          </a:p>
          <a:p>
            <a:pPr marL="0" indent="0" algn="just">
              <a:buNone/>
            </a:pPr>
            <a:r>
              <a:rPr lang="en-US"/>
              <a:t>2) Sửa lại giả mã BST thành BST2 cho tr</a:t>
            </a:r>
            <a:r>
              <a:rPr lang="vi-VN"/>
              <a:t>ư</a:t>
            </a:r>
            <a:r>
              <a:rPr lang="en-US"/>
              <a:t>ờng hợp không bổ sung x vào cây, cho biết tìm thấy hay không tìm thấy x.</a:t>
            </a:r>
          </a:p>
          <a:p>
            <a:pPr marL="0" indent="0" algn="just">
              <a:buNone/>
            </a:pPr>
            <a:r>
              <a:rPr lang="en-US"/>
              <a:t>3) Sửa lại giả mã BST có bổ sung nhưng cho bên ngoài biết là có tìm thấy hay không tìm thấy x trên cây nhị phân tìm kiếm.</a:t>
            </a:r>
          </a:p>
          <a:p>
            <a:pPr marL="0" indent="0" algn="just">
              <a:buNone/>
            </a:pPr>
            <a:r>
              <a:rPr lang="en-US"/>
              <a:t>4) Cho cây nhị phân tìm kiếm T, viết giả mã đ</a:t>
            </a:r>
            <a:r>
              <a:rPr lang="vi-VN"/>
              <a:t>ư</a:t>
            </a:r>
            <a:r>
              <a:rPr lang="en-US"/>
              <a:t>a ra các khóa trên cây theo thứ tự tăng dần.</a:t>
            </a:r>
          </a:p>
        </p:txBody>
      </p:sp>
    </p:spTree>
    <p:extLst>
      <p:ext uri="{BB962C8B-B14F-4D97-AF65-F5344CB8AC3E}">
        <p14:creationId xmlns:p14="http://schemas.microsoft.com/office/powerpoint/2010/main" val="272901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DA66-F88A-4859-89B7-D1115166D9DC}"/>
              </a:ext>
            </a:extLst>
          </p:cNvPr>
          <p:cNvSpPr>
            <a:spLocks noGrp="1"/>
          </p:cNvSpPr>
          <p:nvPr>
            <p:ph type="title"/>
          </p:nvPr>
        </p:nvSpPr>
        <p:spPr/>
        <p:txBody>
          <a:bodyPr/>
          <a:lstStyle/>
          <a:p>
            <a:r>
              <a:rPr lang="en-US"/>
              <a:t>Câu 1</a:t>
            </a:r>
          </a:p>
        </p:txBody>
      </p:sp>
      <p:sp>
        <p:nvSpPr>
          <p:cNvPr id="3" name="Content Placeholder 2">
            <a:extLst>
              <a:ext uri="{FF2B5EF4-FFF2-40B4-BE49-F238E27FC236}">
                <a16:creationId xmlns:a16="http://schemas.microsoft.com/office/drawing/2014/main" id="{C9884A1C-CDC2-41E1-85F1-370C06B24A28}"/>
              </a:ext>
            </a:extLst>
          </p:cNvPr>
          <p:cNvSpPr>
            <a:spLocks noGrp="1"/>
          </p:cNvSpPr>
          <p:nvPr>
            <p:ph idx="1"/>
          </p:nvPr>
        </p:nvSpPr>
        <p:spPr/>
        <p:txBody>
          <a:bodyPr/>
          <a:lstStyle/>
          <a:p>
            <a:r>
              <a:rPr lang="en-US"/>
              <a:t>Viết giả mã BST</a:t>
            </a:r>
          </a:p>
          <a:p>
            <a:r>
              <a:rPr lang="en-US"/>
              <a:t>Viết giả mã tạo cây nhị phân tìm kiếm</a:t>
            </a:r>
          </a:p>
          <a:p>
            <a:pPr marL="0" indent="0">
              <a:buNone/>
            </a:pPr>
            <a:r>
              <a:rPr lang="en-US"/>
              <a:t>Procedure createBST(Var T; k, n)</a:t>
            </a:r>
          </a:p>
          <a:p>
            <a:pPr marL="0" indent="0">
              <a:buNone/>
            </a:pPr>
            <a:r>
              <a:rPr lang="en-US"/>
              <a:t>	For i:=1 to n do BST(T, k[i]);</a:t>
            </a:r>
          </a:p>
          <a:p>
            <a:pPr marL="0" indent="0">
              <a:buNone/>
            </a:pPr>
            <a:r>
              <a:rPr lang="en-US"/>
              <a:t>Return</a:t>
            </a:r>
          </a:p>
          <a:p>
            <a:pPr marL="0" indent="0">
              <a:buNone/>
            </a:pPr>
            <a:r>
              <a:rPr lang="en-US"/>
              <a:t>Ví dụ: Áp dụng vẽ cây nhị phân cho dãy khóa sau:  8  10  19  3  21  7  5  12</a:t>
            </a:r>
          </a:p>
          <a:p>
            <a:pPr marL="0" indent="0">
              <a:buNone/>
            </a:pPr>
            <a:endParaRPr lang="en-US"/>
          </a:p>
        </p:txBody>
      </p:sp>
    </p:spTree>
    <p:extLst>
      <p:ext uri="{BB962C8B-B14F-4D97-AF65-F5344CB8AC3E}">
        <p14:creationId xmlns:p14="http://schemas.microsoft.com/office/powerpoint/2010/main" val="896888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D9ECB-ED43-4F20-B263-E43364805745}"/>
              </a:ext>
            </a:extLst>
          </p:cNvPr>
          <p:cNvSpPr>
            <a:spLocks noGrp="1"/>
          </p:cNvSpPr>
          <p:nvPr>
            <p:ph type="title"/>
          </p:nvPr>
        </p:nvSpPr>
        <p:spPr>
          <a:xfrm>
            <a:off x="457200" y="274638"/>
            <a:ext cx="8229600" cy="563562"/>
          </a:xfrm>
        </p:spPr>
        <p:txBody>
          <a:bodyPr/>
          <a:lstStyle/>
          <a:p>
            <a:r>
              <a:rPr lang="en-US" sz="3600"/>
              <a:t>Dãy khóa k: 8  10  19  3  21  7  5  12</a:t>
            </a:r>
          </a:p>
        </p:txBody>
      </p:sp>
      <p:sp>
        <p:nvSpPr>
          <p:cNvPr id="4" name="Oval 3">
            <a:extLst>
              <a:ext uri="{FF2B5EF4-FFF2-40B4-BE49-F238E27FC236}">
                <a16:creationId xmlns:a16="http://schemas.microsoft.com/office/drawing/2014/main" id="{BD03945B-8A46-403A-8ED8-54AC41642663}"/>
              </a:ext>
            </a:extLst>
          </p:cNvPr>
          <p:cNvSpPr/>
          <p:nvPr/>
        </p:nvSpPr>
        <p:spPr>
          <a:xfrm>
            <a:off x="4191002" y="1242219"/>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E8FBFDE-33BD-4437-B6CF-EFFEFF80401E}"/>
              </a:ext>
            </a:extLst>
          </p:cNvPr>
          <p:cNvSpPr txBox="1"/>
          <p:nvPr/>
        </p:nvSpPr>
        <p:spPr>
          <a:xfrm>
            <a:off x="4267200" y="1354286"/>
            <a:ext cx="533400" cy="461665"/>
          </a:xfrm>
          <a:prstGeom prst="rect">
            <a:avLst/>
          </a:prstGeom>
          <a:noFill/>
        </p:spPr>
        <p:txBody>
          <a:bodyPr wrap="square" rtlCol="0">
            <a:spAutoFit/>
          </a:bodyPr>
          <a:lstStyle/>
          <a:p>
            <a:pPr algn="ctr"/>
            <a:r>
              <a:rPr lang="en-US"/>
              <a:t>8</a:t>
            </a:r>
          </a:p>
        </p:txBody>
      </p:sp>
      <p:sp>
        <p:nvSpPr>
          <p:cNvPr id="6" name="TextBox 5">
            <a:extLst>
              <a:ext uri="{FF2B5EF4-FFF2-40B4-BE49-F238E27FC236}">
                <a16:creationId xmlns:a16="http://schemas.microsoft.com/office/drawing/2014/main" id="{AD3F8352-A4AB-447D-8BB0-92D0749FE35F}"/>
              </a:ext>
            </a:extLst>
          </p:cNvPr>
          <p:cNvSpPr txBox="1"/>
          <p:nvPr/>
        </p:nvSpPr>
        <p:spPr>
          <a:xfrm>
            <a:off x="3200400" y="1011386"/>
            <a:ext cx="533400" cy="461665"/>
          </a:xfrm>
          <a:prstGeom prst="rect">
            <a:avLst/>
          </a:prstGeom>
          <a:noFill/>
        </p:spPr>
        <p:txBody>
          <a:bodyPr wrap="square" rtlCol="0">
            <a:spAutoFit/>
          </a:bodyPr>
          <a:lstStyle/>
          <a:p>
            <a:pPr algn="ctr"/>
            <a:r>
              <a:rPr lang="en-US"/>
              <a:t>T</a:t>
            </a:r>
          </a:p>
        </p:txBody>
      </p:sp>
      <p:cxnSp>
        <p:nvCxnSpPr>
          <p:cNvPr id="8" name="Straight Arrow Connector 7">
            <a:extLst>
              <a:ext uri="{FF2B5EF4-FFF2-40B4-BE49-F238E27FC236}">
                <a16:creationId xmlns:a16="http://schemas.microsoft.com/office/drawing/2014/main" id="{7CDAE408-588F-4424-9DEE-4F9FBC5C3652}"/>
              </a:ext>
            </a:extLst>
          </p:cNvPr>
          <p:cNvCxnSpPr>
            <a:cxnSpLocks/>
            <a:stCxn id="6" idx="3"/>
            <a:endCxn id="4" idx="1"/>
          </p:cNvCxnSpPr>
          <p:nvPr/>
        </p:nvCxnSpPr>
        <p:spPr>
          <a:xfrm>
            <a:off x="3733800" y="1242219"/>
            <a:ext cx="557635" cy="1004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Oval 10">
            <a:extLst>
              <a:ext uri="{FF2B5EF4-FFF2-40B4-BE49-F238E27FC236}">
                <a16:creationId xmlns:a16="http://schemas.microsoft.com/office/drawing/2014/main" id="{0620F4F0-8BC7-489B-BCF5-3F8A18CA1D4F}"/>
              </a:ext>
            </a:extLst>
          </p:cNvPr>
          <p:cNvSpPr/>
          <p:nvPr/>
        </p:nvSpPr>
        <p:spPr>
          <a:xfrm>
            <a:off x="5562602" y="1945333"/>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AE6BD74-9FCA-4CAE-8B8D-10E0097B1162}"/>
              </a:ext>
            </a:extLst>
          </p:cNvPr>
          <p:cNvSpPr txBox="1"/>
          <p:nvPr/>
        </p:nvSpPr>
        <p:spPr>
          <a:xfrm>
            <a:off x="5638800" y="2057400"/>
            <a:ext cx="533400" cy="461665"/>
          </a:xfrm>
          <a:prstGeom prst="rect">
            <a:avLst/>
          </a:prstGeom>
          <a:noFill/>
        </p:spPr>
        <p:txBody>
          <a:bodyPr wrap="square" rtlCol="0">
            <a:spAutoFit/>
          </a:bodyPr>
          <a:lstStyle/>
          <a:p>
            <a:pPr algn="ctr"/>
            <a:r>
              <a:rPr lang="en-US"/>
              <a:t>10</a:t>
            </a:r>
          </a:p>
        </p:txBody>
      </p:sp>
      <p:cxnSp>
        <p:nvCxnSpPr>
          <p:cNvPr id="13" name="Straight Arrow Connector 12">
            <a:extLst>
              <a:ext uri="{FF2B5EF4-FFF2-40B4-BE49-F238E27FC236}">
                <a16:creationId xmlns:a16="http://schemas.microsoft.com/office/drawing/2014/main" id="{DF05314C-CED5-47D8-96D6-CBED342B93DE}"/>
              </a:ext>
            </a:extLst>
          </p:cNvPr>
          <p:cNvCxnSpPr>
            <a:cxnSpLocks/>
          </p:cNvCxnSpPr>
          <p:nvPr/>
        </p:nvCxnSpPr>
        <p:spPr>
          <a:xfrm>
            <a:off x="4800602" y="1799249"/>
            <a:ext cx="761998" cy="31637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4740F67C-11E3-41D4-AFA8-E037F5BD0436}"/>
              </a:ext>
            </a:extLst>
          </p:cNvPr>
          <p:cNvSpPr txBox="1"/>
          <p:nvPr/>
        </p:nvSpPr>
        <p:spPr>
          <a:xfrm>
            <a:off x="4743244" y="1124472"/>
            <a:ext cx="533400" cy="400110"/>
          </a:xfrm>
          <a:prstGeom prst="rect">
            <a:avLst/>
          </a:prstGeom>
          <a:noFill/>
        </p:spPr>
        <p:txBody>
          <a:bodyPr wrap="square" rtlCol="0">
            <a:spAutoFit/>
          </a:bodyPr>
          <a:lstStyle/>
          <a:p>
            <a:pPr algn="ctr"/>
            <a:r>
              <a:rPr lang="en-US" sz="2000"/>
              <a:t>1</a:t>
            </a:r>
          </a:p>
        </p:txBody>
      </p:sp>
      <p:sp>
        <p:nvSpPr>
          <p:cNvPr id="19" name="TextBox 18">
            <a:extLst>
              <a:ext uri="{FF2B5EF4-FFF2-40B4-BE49-F238E27FC236}">
                <a16:creationId xmlns:a16="http://schemas.microsoft.com/office/drawing/2014/main" id="{A9B2ED2F-EBDC-4409-A60F-0E8278029EEF}"/>
              </a:ext>
            </a:extLst>
          </p:cNvPr>
          <p:cNvSpPr txBox="1"/>
          <p:nvPr/>
        </p:nvSpPr>
        <p:spPr>
          <a:xfrm>
            <a:off x="5927765" y="1645656"/>
            <a:ext cx="533400" cy="400110"/>
          </a:xfrm>
          <a:prstGeom prst="rect">
            <a:avLst/>
          </a:prstGeom>
          <a:noFill/>
        </p:spPr>
        <p:txBody>
          <a:bodyPr wrap="square" rtlCol="0">
            <a:spAutoFit/>
          </a:bodyPr>
          <a:lstStyle/>
          <a:p>
            <a:pPr algn="ctr"/>
            <a:r>
              <a:rPr lang="en-US" sz="2000"/>
              <a:t>2</a:t>
            </a:r>
          </a:p>
        </p:txBody>
      </p:sp>
      <p:sp>
        <p:nvSpPr>
          <p:cNvPr id="20" name="Oval 19">
            <a:extLst>
              <a:ext uri="{FF2B5EF4-FFF2-40B4-BE49-F238E27FC236}">
                <a16:creationId xmlns:a16="http://schemas.microsoft.com/office/drawing/2014/main" id="{418180E2-569F-446D-87C6-3FD8E605E1DE}"/>
              </a:ext>
            </a:extLst>
          </p:cNvPr>
          <p:cNvSpPr/>
          <p:nvPr/>
        </p:nvSpPr>
        <p:spPr>
          <a:xfrm>
            <a:off x="6874057" y="2665150"/>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537E668-4818-4BC7-8E51-20D352643494}"/>
              </a:ext>
            </a:extLst>
          </p:cNvPr>
          <p:cNvSpPr txBox="1"/>
          <p:nvPr/>
        </p:nvSpPr>
        <p:spPr>
          <a:xfrm>
            <a:off x="6950255" y="2777217"/>
            <a:ext cx="533400" cy="461665"/>
          </a:xfrm>
          <a:prstGeom prst="rect">
            <a:avLst/>
          </a:prstGeom>
          <a:noFill/>
        </p:spPr>
        <p:txBody>
          <a:bodyPr wrap="square" rtlCol="0">
            <a:spAutoFit/>
          </a:bodyPr>
          <a:lstStyle/>
          <a:p>
            <a:pPr algn="ctr"/>
            <a:r>
              <a:rPr lang="en-US"/>
              <a:t>19</a:t>
            </a:r>
          </a:p>
        </p:txBody>
      </p:sp>
      <p:cxnSp>
        <p:nvCxnSpPr>
          <p:cNvPr id="22" name="Straight Arrow Connector 21">
            <a:extLst>
              <a:ext uri="{FF2B5EF4-FFF2-40B4-BE49-F238E27FC236}">
                <a16:creationId xmlns:a16="http://schemas.microsoft.com/office/drawing/2014/main" id="{801FF9EE-A228-4B21-858D-C3ECD0CEC58C}"/>
              </a:ext>
            </a:extLst>
          </p:cNvPr>
          <p:cNvCxnSpPr>
            <a:cxnSpLocks/>
          </p:cNvCxnSpPr>
          <p:nvPr/>
        </p:nvCxnSpPr>
        <p:spPr>
          <a:xfrm>
            <a:off x="6147969" y="2496683"/>
            <a:ext cx="726088" cy="35653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60B5C45E-81B2-4372-BDCB-023F9CE69401}"/>
              </a:ext>
            </a:extLst>
          </p:cNvPr>
          <p:cNvSpPr txBox="1"/>
          <p:nvPr/>
        </p:nvSpPr>
        <p:spPr>
          <a:xfrm>
            <a:off x="7483655" y="2600762"/>
            <a:ext cx="533400" cy="400110"/>
          </a:xfrm>
          <a:prstGeom prst="rect">
            <a:avLst/>
          </a:prstGeom>
          <a:noFill/>
        </p:spPr>
        <p:txBody>
          <a:bodyPr wrap="square" rtlCol="0">
            <a:spAutoFit/>
          </a:bodyPr>
          <a:lstStyle/>
          <a:p>
            <a:pPr algn="ctr"/>
            <a:r>
              <a:rPr lang="en-US" sz="2000"/>
              <a:t>3</a:t>
            </a:r>
          </a:p>
        </p:txBody>
      </p:sp>
      <p:sp>
        <p:nvSpPr>
          <p:cNvPr id="26" name="Oval 25">
            <a:extLst>
              <a:ext uri="{FF2B5EF4-FFF2-40B4-BE49-F238E27FC236}">
                <a16:creationId xmlns:a16="http://schemas.microsoft.com/office/drawing/2014/main" id="{1A8B5D2B-3658-4081-8A8F-33C9BFA7CAA4}"/>
              </a:ext>
            </a:extLst>
          </p:cNvPr>
          <p:cNvSpPr/>
          <p:nvPr/>
        </p:nvSpPr>
        <p:spPr>
          <a:xfrm>
            <a:off x="2919834" y="2027030"/>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5008083-C976-49FD-8DC5-40C3481EC167}"/>
              </a:ext>
            </a:extLst>
          </p:cNvPr>
          <p:cNvSpPr txBox="1"/>
          <p:nvPr/>
        </p:nvSpPr>
        <p:spPr>
          <a:xfrm>
            <a:off x="2996032" y="2139097"/>
            <a:ext cx="533400" cy="461665"/>
          </a:xfrm>
          <a:prstGeom prst="rect">
            <a:avLst/>
          </a:prstGeom>
          <a:noFill/>
        </p:spPr>
        <p:txBody>
          <a:bodyPr wrap="square" rtlCol="0">
            <a:spAutoFit/>
          </a:bodyPr>
          <a:lstStyle/>
          <a:p>
            <a:pPr algn="ctr"/>
            <a:r>
              <a:rPr lang="en-US"/>
              <a:t>3</a:t>
            </a:r>
          </a:p>
        </p:txBody>
      </p:sp>
      <p:sp>
        <p:nvSpPr>
          <p:cNvPr id="28" name="TextBox 27">
            <a:extLst>
              <a:ext uri="{FF2B5EF4-FFF2-40B4-BE49-F238E27FC236}">
                <a16:creationId xmlns:a16="http://schemas.microsoft.com/office/drawing/2014/main" id="{7500EFF1-22CC-4438-A637-550B77B5BFF3}"/>
              </a:ext>
            </a:extLst>
          </p:cNvPr>
          <p:cNvSpPr txBox="1"/>
          <p:nvPr/>
        </p:nvSpPr>
        <p:spPr>
          <a:xfrm>
            <a:off x="3529432" y="1962642"/>
            <a:ext cx="533400" cy="400110"/>
          </a:xfrm>
          <a:prstGeom prst="rect">
            <a:avLst/>
          </a:prstGeom>
          <a:noFill/>
        </p:spPr>
        <p:txBody>
          <a:bodyPr wrap="square" rtlCol="0">
            <a:spAutoFit/>
          </a:bodyPr>
          <a:lstStyle/>
          <a:p>
            <a:pPr algn="ctr"/>
            <a:r>
              <a:rPr lang="en-US" sz="2000"/>
              <a:t>4</a:t>
            </a:r>
          </a:p>
        </p:txBody>
      </p:sp>
      <p:cxnSp>
        <p:nvCxnSpPr>
          <p:cNvPr id="29" name="Straight Arrow Connector 28">
            <a:extLst>
              <a:ext uri="{FF2B5EF4-FFF2-40B4-BE49-F238E27FC236}">
                <a16:creationId xmlns:a16="http://schemas.microsoft.com/office/drawing/2014/main" id="{127F1317-22F7-4ADE-A55C-8888069AC76F}"/>
              </a:ext>
            </a:extLst>
          </p:cNvPr>
          <p:cNvCxnSpPr>
            <a:cxnSpLocks/>
            <a:endCxn id="26" idx="7"/>
          </p:cNvCxnSpPr>
          <p:nvPr/>
        </p:nvCxnSpPr>
        <p:spPr>
          <a:xfrm flipH="1">
            <a:off x="3505201" y="1798919"/>
            <a:ext cx="761998" cy="32854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2" name="Oval 31">
            <a:extLst>
              <a:ext uri="{FF2B5EF4-FFF2-40B4-BE49-F238E27FC236}">
                <a16:creationId xmlns:a16="http://schemas.microsoft.com/office/drawing/2014/main" id="{A608D194-878F-474E-9FB9-F72C84DC6AC2}"/>
              </a:ext>
            </a:extLst>
          </p:cNvPr>
          <p:cNvSpPr/>
          <p:nvPr/>
        </p:nvSpPr>
        <p:spPr>
          <a:xfrm>
            <a:off x="7975396" y="3677966"/>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7A0E0C-749F-4DE4-8AC8-BB48361240EA}"/>
              </a:ext>
            </a:extLst>
          </p:cNvPr>
          <p:cNvSpPr txBox="1"/>
          <p:nvPr/>
        </p:nvSpPr>
        <p:spPr>
          <a:xfrm>
            <a:off x="8051594" y="3790033"/>
            <a:ext cx="533400" cy="461665"/>
          </a:xfrm>
          <a:prstGeom prst="rect">
            <a:avLst/>
          </a:prstGeom>
          <a:noFill/>
        </p:spPr>
        <p:txBody>
          <a:bodyPr wrap="square" rtlCol="0">
            <a:spAutoFit/>
          </a:bodyPr>
          <a:lstStyle/>
          <a:p>
            <a:pPr algn="ctr"/>
            <a:r>
              <a:rPr lang="en-US"/>
              <a:t>21</a:t>
            </a:r>
          </a:p>
        </p:txBody>
      </p:sp>
      <p:cxnSp>
        <p:nvCxnSpPr>
          <p:cNvPr id="34" name="Straight Arrow Connector 33">
            <a:extLst>
              <a:ext uri="{FF2B5EF4-FFF2-40B4-BE49-F238E27FC236}">
                <a16:creationId xmlns:a16="http://schemas.microsoft.com/office/drawing/2014/main" id="{4D530E71-DA56-42AF-BA16-CF0A01288426}"/>
              </a:ext>
            </a:extLst>
          </p:cNvPr>
          <p:cNvCxnSpPr>
            <a:cxnSpLocks/>
            <a:endCxn id="32" idx="1"/>
          </p:cNvCxnSpPr>
          <p:nvPr/>
        </p:nvCxnSpPr>
        <p:spPr>
          <a:xfrm>
            <a:off x="7413060" y="3329205"/>
            <a:ext cx="662769" cy="44919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B91029FE-B617-4A1C-9D5A-FD0F51BC1F7B}"/>
              </a:ext>
            </a:extLst>
          </p:cNvPr>
          <p:cNvSpPr txBox="1"/>
          <p:nvPr/>
        </p:nvSpPr>
        <p:spPr>
          <a:xfrm>
            <a:off x="8502899" y="3574605"/>
            <a:ext cx="533400" cy="400110"/>
          </a:xfrm>
          <a:prstGeom prst="rect">
            <a:avLst/>
          </a:prstGeom>
          <a:noFill/>
        </p:spPr>
        <p:txBody>
          <a:bodyPr wrap="square" rtlCol="0">
            <a:spAutoFit/>
          </a:bodyPr>
          <a:lstStyle/>
          <a:p>
            <a:pPr algn="ctr"/>
            <a:r>
              <a:rPr lang="en-US" sz="2000"/>
              <a:t>5</a:t>
            </a:r>
          </a:p>
        </p:txBody>
      </p:sp>
      <p:sp>
        <p:nvSpPr>
          <p:cNvPr id="36" name="Oval 35">
            <a:extLst>
              <a:ext uri="{FF2B5EF4-FFF2-40B4-BE49-F238E27FC236}">
                <a16:creationId xmlns:a16="http://schemas.microsoft.com/office/drawing/2014/main" id="{C6CC4C70-A454-43BA-B123-1A9F3E9000A0}"/>
              </a:ext>
            </a:extLst>
          </p:cNvPr>
          <p:cNvSpPr/>
          <p:nvPr/>
        </p:nvSpPr>
        <p:spPr>
          <a:xfrm>
            <a:off x="3860221" y="2888805"/>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E1C1A39-56BF-43E7-819C-174F0D557E44}"/>
              </a:ext>
            </a:extLst>
          </p:cNvPr>
          <p:cNvSpPr txBox="1"/>
          <p:nvPr/>
        </p:nvSpPr>
        <p:spPr>
          <a:xfrm>
            <a:off x="3936419" y="3000872"/>
            <a:ext cx="533400" cy="461665"/>
          </a:xfrm>
          <a:prstGeom prst="rect">
            <a:avLst/>
          </a:prstGeom>
          <a:noFill/>
        </p:spPr>
        <p:txBody>
          <a:bodyPr wrap="square" rtlCol="0">
            <a:spAutoFit/>
          </a:bodyPr>
          <a:lstStyle/>
          <a:p>
            <a:pPr algn="ctr"/>
            <a:r>
              <a:rPr lang="en-US"/>
              <a:t>7</a:t>
            </a:r>
          </a:p>
        </p:txBody>
      </p:sp>
      <p:sp>
        <p:nvSpPr>
          <p:cNvPr id="38" name="TextBox 37">
            <a:extLst>
              <a:ext uri="{FF2B5EF4-FFF2-40B4-BE49-F238E27FC236}">
                <a16:creationId xmlns:a16="http://schemas.microsoft.com/office/drawing/2014/main" id="{7A935A01-A19B-4982-AE72-C7766E01D8D9}"/>
              </a:ext>
            </a:extLst>
          </p:cNvPr>
          <p:cNvSpPr txBox="1"/>
          <p:nvPr/>
        </p:nvSpPr>
        <p:spPr>
          <a:xfrm>
            <a:off x="4469819" y="2824417"/>
            <a:ext cx="533400" cy="400110"/>
          </a:xfrm>
          <a:prstGeom prst="rect">
            <a:avLst/>
          </a:prstGeom>
          <a:noFill/>
        </p:spPr>
        <p:txBody>
          <a:bodyPr wrap="square" rtlCol="0">
            <a:spAutoFit/>
          </a:bodyPr>
          <a:lstStyle/>
          <a:p>
            <a:pPr algn="ctr"/>
            <a:r>
              <a:rPr lang="en-US" sz="2000"/>
              <a:t>6</a:t>
            </a:r>
          </a:p>
        </p:txBody>
      </p:sp>
      <p:cxnSp>
        <p:nvCxnSpPr>
          <p:cNvPr id="39" name="Straight Arrow Connector 38">
            <a:extLst>
              <a:ext uri="{FF2B5EF4-FFF2-40B4-BE49-F238E27FC236}">
                <a16:creationId xmlns:a16="http://schemas.microsoft.com/office/drawing/2014/main" id="{9A9251C3-F5FB-4080-B305-89C1DEC2E833}"/>
              </a:ext>
            </a:extLst>
          </p:cNvPr>
          <p:cNvCxnSpPr>
            <a:cxnSpLocks/>
            <a:endCxn id="36" idx="1"/>
          </p:cNvCxnSpPr>
          <p:nvPr/>
        </p:nvCxnSpPr>
        <p:spPr>
          <a:xfrm>
            <a:off x="3443268" y="2674952"/>
            <a:ext cx="517386" cy="31428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1" name="Oval 40">
            <a:extLst>
              <a:ext uri="{FF2B5EF4-FFF2-40B4-BE49-F238E27FC236}">
                <a16:creationId xmlns:a16="http://schemas.microsoft.com/office/drawing/2014/main" id="{FC2BE85A-6B7E-4A42-BA7D-74F71CF3FB3C}"/>
              </a:ext>
            </a:extLst>
          </p:cNvPr>
          <p:cNvSpPr/>
          <p:nvPr/>
        </p:nvSpPr>
        <p:spPr>
          <a:xfrm>
            <a:off x="2819944" y="3854421"/>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967A329-AB53-423C-87E4-4F66E4CF99F8}"/>
              </a:ext>
            </a:extLst>
          </p:cNvPr>
          <p:cNvSpPr txBox="1"/>
          <p:nvPr/>
        </p:nvSpPr>
        <p:spPr>
          <a:xfrm>
            <a:off x="2896142" y="3966488"/>
            <a:ext cx="533400" cy="461665"/>
          </a:xfrm>
          <a:prstGeom prst="rect">
            <a:avLst/>
          </a:prstGeom>
          <a:noFill/>
        </p:spPr>
        <p:txBody>
          <a:bodyPr wrap="square" rtlCol="0">
            <a:spAutoFit/>
          </a:bodyPr>
          <a:lstStyle/>
          <a:p>
            <a:pPr algn="ctr"/>
            <a:r>
              <a:rPr lang="en-US"/>
              <a:t>5</a:t>
            </a:r>
          </a:p>
        </p:txBody>
      </p:sp>
      <p:sp>
        <p:nvSpPr>
          <p:cNvPr id="43" name="TextBox 42">
            <a:extLst>
              <a:ext uri="{FF2B5EF4-FFF2-40B4-BE49-F238E27FC236}">
                <a16:creationId xmlns:a16="http://schemas.microsoft.com/office/drawing/2014/main" id="{4C7452D7-8DDA-4B3D-AAD2-87194C67A38E}"/>
              </a:ext>
            </a:extLst>
          </p:cNvPr>
          <p:cNvSpPr txBox="1"/>
          <p:nvPr/>
        </p:nvSpPr>
        <p:spPr>
          <a:xfrm>
            <a:off x="3429542" y="3790033"/>
            <a:ext cx="533400" cy="400110"/>
          </a:xfrm>
          <a:prstGeom prst="rect">
            <a:avLst/>
          </a:prstGeom>
          <a:noFill/>
        </p:spPr>
        <p:txBody>
          <a:bodyPr wrap="square" rtlCol="0">
            <a:spAutoFit/>
          </a:bodyPr>
          <a:lstStyle/>
          <a:p>
            <a:pPr algn="ctr"/>
            <a:r>
              <a:rPr lang="en-US" sz="2000"/>
              <a:t>7</a:t>
            </a:r>
          </a:p>
        </p:txBody>
      </p:sp>
      <p:cxnSp>
        <p:nvCxnSpPr>
          <p:cNvPr id="44" name="Straight Arrow Connector 43">
            <a:extLst>
              <a:ext uri="{FF2B5EF4-FFF2-40B4-BE49-F238E27FC236}">
                <a16:creationId xmlns:a16="http://schemas.microsoft.com/office/drawing/2014/main" id="{F49B4A0E-053B-49A7-8DBC-4E607EAA2902}"/>
              </a:ext>
            </a:extLst>
          </p:cNvPr>
          <p:cNvCxnSpPr>
            <a:cxnSpLocks/>
            <a:stCxn id="36" idx="3"/>
            <a:endCxn id="43" idx="1"/>
          </p:cNvCxnSpPr>
          <p:nvPr/>
        </p:nvCxnSpPr>
        <p:spPr>
          <a:xfrm flipH="1">
            <a:off x="3429542" y="3474172"/>
            <a:ext cx="531112" cy="5159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7" name="Oval 46">
            <a:extLst>
              <a:ext uri="{FF2B5EF4-FFF2-40B4-BE49-F238E27FC236}">
                <a16:creationId xmlns:a16="http://schemas.microsoft.com/office/drawing/2014/main" id="{3B4D4ACB-83C9-47E7-8E81-C7852226F5F3}"/>
              </a:ext>
            </a:extLst>
          </p:cNvPr>
          <p:cNvSpPr/>
          <p:nvPr/>
        </p:nvSpPr>
        <p:spPr>
          <a:xfrm>
            <a:off x="6048212" y="3709454"/>
            <a:ext cx="6858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7E091251-46A3-48C1-8D53-A7298BC43A60}"/>
              </a:ext>
            </a:extLst>
          </p:cNvPr>
          <p:cNvSpPr txBox="1"/>
          <p:nvPr/>
        </p:nvSpPr>
        <p:spPr>
          <a:xfrm>
            <a:off x="6124410" y="3821521"/>
            <a:ext cx="533400" cy="461665"/>
          </a:xfrm>
          <a:prstGeom prst="rect">
            <a:avLst/>
          </a:prstGeom>
          <a:noFill/>
        </p:spPr>
        <p:txBody>
          <a:bodyPr wrap="square" rtlCol="0">
            <a:spAutoFit/>
          </a:bodyPr>
          <a:lstStyle/>
          <a:p>
            <a:pPr algn="ctr"/>
            <a:r>
              <a:rPr lang="en-US"/>
              <a:t>12</a:t>
            </a:r>
          </a:p>
        </p:txBody>
      </p:sp>
      <p:sp>
        <p:nvSpPr>
          <p:cNvPr id="49" name="TextBox 48">
            <a:extLst>
              <a:ext uri="{FF2B5EF4-FFF2-40B4-BE49-F238E27FC236}">
                <a16:creationId xmlns:a16="http://schemas.microsoft.com/office/drawing/2014/main" id="{8075297B-DEB1-43DC-85ED-C6F94B75DB1E}"/>
              </a:ext>
            </a:extLst>
          </p:cNvPr>
          <p:cNvSpPr txBox="1"/>
          <p:nvPr/>
        </p:nvSpPr>
        <p:spPr>
          <a:xfrm>
            <a:off x="6657810" y="3645066"/>
            <a:ext cx="533400" cy="400110"/>
          </a:xfrm>
          <a:prstGeom prst="rect">
            <a:avLst/>
          </a:prstGeom>
          <a:noFill/>
        </p:spPr>
        <p:txBody>
          <a:bodyPr wrap="square" rtlCol="0">
            <a:spAutoFit/>
          </a:bodyPr>
          <a:lstStyle/>
          <a:p>
            <a:pPr algn="ctr"/>
            <a:r>
              <a:rPr lang="en-US" sz="2000"/>
              <a:t>8</a:t>
            </a:r>
          </a:p>
        </p:txBody>
      </p:sp>
      <p:cxnSp>
        <p:nvCxnSpPr>
          <p:cNvPr id="50" name="Straight Arrow Connector 49">
            <a:extLst>
              <a:ext uri="{FF2B5EF4-FFF2-40B4-BE49-F238E27FC236}">
                <a16:creationId xmlns:a16="http://schemas.microsoft.com/office/drawing/2014/main" id="{6A4B51BF-820C-4D93-88C2-66720C0982D0}"/>
              </a:ext>
            </a:extLst>
          </p:cNvPr>
          <p:cNvCxnSpPr>
            <a:cxnSpLocks/>
            <a:endCxn id="49" idx="1"/>
          </p:cNvCxnSpPr>
          <p:nvPr/>
        </p:nvCxnSpPr>
        <p:spPr>
          <a:xfrm flipH="1">
            <a:off x="6657810" y="3329205"/>
            <a:ext cx="531112" cy="51591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4" name="Title 1">
            <a:extLst>
              <a:ext uri="{FF2B5EF4-FFF2-40B4-BE49-F238E27FC236}">
                <a16:creationId xmlns:a16="http://schemas.microsoft.com/office/drawing/2014/main" id="{AE265070-5957-477D-960E-9904CE92F5A0}"/>
              </a:ext>
            </a:extLst>
          </p:cNvPr>
          <p:cNvSpPr txBox="1">
            <a:spLocks/>
          </p:cNvSpPr>
          <p:nvPr/>
        </p:nvSpPr>
        <p:spPr bwMode="auto">
          <a:xfrm>
            <a:off x="396493" y="5378973"/>
            <a:ext cx="82296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algn="l"/>
            <a:r>
              <a:rPr lang="en-US" sz="3600" kern="0"/>
              <a:t>inOrder: 3  5 7  8  10  12  19  21</a:t>
            </a:r>
          </a:p>
        </p:txBody>
      </p:sp>
    </p:spTree>
    <p:extLst>
      <p:ext uri="{BB962C8B-B14F-4D97-AF65-F5344CB8AC3E}">
        <p14:creationId xmlns:p14="http://schemas.microsoft.com/office/powerpoint/2010/main" val="539913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6AFC9-AFAA-4D24-B73B-CEDCE19919D1}"/>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ADA77F84-792D-4876-B9C6-56CA24B7554E}"/>
              </a:ext>
            </a:extLst>
          </p:cNvPr>
          <p:cNvSpPr>
            <a:spLocks noGrp="1"/>
          </p:cNvSpPr>
          <p:nvPr>
            <p:ph idx="1"/>
          </p:nvPr>
        </p:nvSpPr>
        <p:spPr/>
        <p:txBody>
          <a:bodyPr/>
          <a:lstStyle/>
          <a:p>
            <a:r>
              <a:rPr lang="en-US"/>
              <a:t>Viết lệnh C++ cài đặt cấu trúc lưu trữ của cây nhị phân tìm kiếm có khóa là số nguyên.</a:t>
            </a:r>
          </a:p>
        </p:txBody>
      </p:sp>
    </p:spTree>
    <p:extLst>
      <p:ext uri="{BB962C8B-B14F-4D97-AF65-F5344CB8AC3E}">
        <p14:creationId xmlns:p14="http://schemas.microsoft.com/office/powerpoint/2010/main" val="368227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75A40-7C56-4BB2-857E-5AFF082D62F2}"/>
              </a:ext>
            </a:extLst>
          </p:cNvPr>
          <p:cNvSpPr>
            <a:spLocks noGrp="1"/>
          </p:cNvSpPr>
          <p:nvPr>
            <p:ph type="title"/>
          </p:nvPr>
        </p:nvSpPr>
        <p:spPr>
          <a:xfrm>
            <a:off x="457200" y="274638"/>
            <a:ext cx="8229600" cy="715962"/>
          </a:xfrm>
        </p:spPr>
        <p:txBody>
          <a:bodyPr/>
          <a:lstStyle/>
          <a:p>
            <a:r>
              <a:rPr lang="en-US"/>
              <a:t>Bài tập lập trình</a:t>
            </a:r>
          </a:p>
        </p:txBody>
      </p:sp>
      <p:sp>
        <p:nvSpPr>
          <p:cNvPr id="3" name="Content Placeholder 2">
            <a:extLst>
              <a:ext uri="{FF2B5EF4-FFF2-40B4-BE49-F238E27FC236}">
                <a16:creationId xmlns:a16="http://schemas.microsoft.com/office/drawing/2014/main" id="{9B313108-1545-465C-AD74-9325C4A9FBE5}"/>
              </a:ext>
            </a:extLst>
          </p:cNvPr>
          <p:cNvSpPr>
            <a:spLocks noGrp="1"/>
          </p:cNvSpPr>
          <p:nvPr>
            <p:ph idx="1"/>
          </p:nvPr>
        </p:nvSpPr>
        <p:spPr>
          <a:xfrm>
            <a:off x="457200" y="1143000"/>
            <a:ext cx="8229600" cy="4983163"/>
          </a:xfrm>
        </p:spPr>
        <p:txBody>
          <a:bodyPr/>
          <a:lstStyle/>
          <a:p>
            <a:r>
              <a:rPr lang="en-US"/>
              <a:t>(ctdlgt-caynhiphantimkiem.cpp) Cài đặt cấu trúc dữ liệu cây nhị phân có phần tử là số nguyên. Ứng dụng vào tạo cây nhị phân tìm kiếm cho dãy khóa k có n phần tử là các số nguyên đọc vào từ tệp văn bản “daykhoa.txt”. Tìm khóa trên có giá trị bằng x, nếu không tìm thấy thì bổ sung x trở thành khóa trên cây, cho biết x có trên cây hay không. Đưa các khóa trên cây ra màn hình theo thứ tự tang dần.</a:t>
            </a:r>
          </a:p>
        </p:txBody>
      </p:sp>
    </p:spTree>
    <p:extLst>
      <p:ext uri="{BB962C8B-B14F-4D97-AF65-F5344CB8AC3E}">
        <p14:creationId xmlns:p14="http://schemas.microsoft.com/office/powerpoint/2010/main" val="128974269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7531</TotalTime>
  <Words>1745</Words>
  <Application>Microsoft Office PowerPoint</Application>
  <PresentationFormat>On-screen Show (4:3)</PresentationFormat>
  <Paragraphs>168</Paragraphs>
  <Slides>26</Slides>
  <Notes>0</Notes>
  <HiddenSlides>0</HiddenSlides>
  <MMClips>0</MMClips>
  <ScaleCrop>false</ScaleCrop>
  <HeadingPairs>
    <vt:vector size="8" baseType="variant">
      <vt:variant>
        <vt:lpstr>Fonts Used</vt:lpstr>
      </vt:variant>
      <vt:variant>
        <vt:i4>1</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9" baseType="lpstr">
      <vt:lpstr>Arial</vt:lpstr>
      <vt:lpstr>Default Design</vt:lpstr>
      <vt:lpstr>Document</vt:lpstr>
      <vt:lpstr>PowerPoint Presentation</vt:lpstr>
      <vt:lpstr>PowerPoint Presentation</vt:lpstr>
      <vt:lpstr>PowerPoint Presentation</vt:lpstr>
      <vt:lpstr>Minh họa ý tưởng</vt:lpstr>
      <vt:lpstr>PowerPoint Presentation</vt:lpstr>
      <vt:lpstr>PowerPoint Presentation</vt:lpstr>
      <vt:lpstr>PowerPoint Presentation</vt:lpstr>
      <vt:lpstr>PowerPoint Presentation</vt:lpstr>
      <vt:lpstr>Minh họa ý tưởng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Minh họa ý tưởng</vt:lpstr>
      <vt:lpstr>PowerPoint Presentation</vt:lpstr>
      <vt:lpstr>PowerPoint Presentation</vt:lpstr>
      <vt:lpstr>PowerPoint Presentation</vt:lpstr>
      <vt:lpstr>Một số bài tập suy luận</vt:lpstr>
      <vt:lpstr>Câu 1</vt:lpstr>
      <vt:lpstr>Dãy khóa k: 8  10  19  3  21  7  5  12</vt:lpstr>
      <vt:lpstr>Bài tập</vt:lpstr>
      <vt:lpstr>Bài tập lập trình</vt:lpstr>
    </vt:vector>
  </TitlesOfParts>
  <Company>HAU1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Do Thi Mo</dc:creator>
  <cp:lastModifiedBy>Ngô Công Thắng</cp:lastModifiedBy>
  <cp:revision>371</cp:revision>
  <dcterms:created xsi:type="dcterms:W3CDTF">2007-01-22T15:59:17Z</dcterms:created>
  <dcterms:modified xsi:type="dcterms:W3CDTF">2022-06-26T10:21:06Z</dcterms:modified>
</cp:coreProperties>
</file>