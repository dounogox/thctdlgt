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86" r:id="rId1"/>
  </p:sldMasterIdLst>
  <p:notesMasterIdLst>
    <p:notesMasterId r:id="rId46"/>
  </p:notesMasterIdLst>
  <p:sldIdLst>
    <p:sldId id="449" r:id="rId2"/>
    <p:sldId id="529" r:id="rId3"/>
    <p:sldId id="489" r:id="rId4"/>
    <p:sldId id="452" r:id="rId5"/>
    <p:sldId id="453" r:id="rId6"/>
    <p:sldId id="454" r:id="rId7"/>
    <p:sldId id="490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91" r:id="rId16"/>
    <p:sldId id="463" r:id="rId17"/>
    <p:sldId id="464" r:id="rId18"/>
    <p:sldId id="465" r:id="rId19"/>
    <p:sldId id="466" r:id="rId20"/>
    <p:sldId id="493" r:id="rId21"/>
    <p:sldId id="467" r:id="rId22"/>
    <p:sldId id="468" r:id="rId23"/>
    <p:sldId id="469" r:id="rId24"/>
    <p:sldId id="472" r:id="rId25"/>
    <p:sldId id="486" r:id="rId26"/>
    <p:sldId id="473" r:id="rId27"/>
    <p:sldId id="494" r:id="rId28"/>
    <p:sldId id="530" r:id="rId29"/>
    <p:sldId id="474" r:id="rId30"/>
    <p:sldId id="475" r:id="rId31"/>
    <p:sldId id="476" r:id="rId32"/>
    <p:sldId id="477" r:id="rId33"/>
    <p:sldId id="487" r:id="rId34"/>
    <p:sldId id="478" r:id="rId35"/>
    <p:sldId id="479" r:id="rId36"/>
    <p:sldId id="480" r:id="rId37"/>
    <p:sldId id="488" r:id="rId38"/>
    <p:sldId id="521" r:id="rId39"/>
    <p:sldId id="481" r:id="rId40"/>
    <p:sldId id="482" r:id="rId41"/>
    <p:sldId id="528" r:id="rId42"/>
    <p:sldId id="531" r:id="rId43"/>
    <p:sldId id="483" r:id="rId44"/>
    <p:sldId id="484" r:id="rId4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7" autoAdjust="0"/>
    <p:restoredTop sz="94698" autoAdjust="0"/>
  </p:normalViewPr>
  <p:slideViewPr>
    <p:cSldViewPr snapToGrid="0">
      <p:cViewPr varScale="1">
        <p:scale>
          <a:sx n="59" d="100"/>
          <a:sy n="59" d="100"/>
        </p:scale>
        <p:origin x="1364" y="60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12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E5B09-866B-4369-80B1-C73FE879A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2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3751549F-FA86-4469-BB38-3C3AB7613D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7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0DC2830B-284C-4FBF-A319-61E216905E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9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6A0BB67C-866E-4094-A2F9-C24A1BBCE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7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AF7B537F-26E8-405E-92FA-8513A7AB06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9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4A5920C1-2E4A-42F3-ACA6-CB24113E68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9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6DED2CFF-61B5-4DAD-81E4-477915E90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2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6AE2218D-9742-4A39-9E2B-BD078C48D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0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4B32C182-5953-4E5C-8916-9C7C8A97F1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02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6.</a:t>
            </a:r>
            <a:fld id="{811C7B73-39B4-4357-ACC3-8F808DDAC0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75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6.</a:t>
            </a:r>
            <a:fld id="{8C82D2EB-F13F-43C8-B306-1E910584C9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3.xml"/><Relationship Id="rId5" Type="http://schemas.openxmlformats.org/officeDocument/2006/relationships/slide" Target="slide18.xml"/><Relationship Id="rId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Chương 6: Giải thuật sắp xếp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hlinkClick r:id="rId2" action="ppaction://hlinksldjump"/>
              </a:rPr>
              <a:t>1. </a:t>
            </a:r>
            <a:r>
              <a:rPr lang="en-US" altLang="en-US" dirty="0" err="1">
                <a:hlinkClick r:id="rId2" action="ppaction://hlinksldjump"/>
              </a:rPr>
              <a:t>Sắp</a:t>
            </a:r>
            <a:r>
              <a:rPr lang="en-US" altLang="en-US" dirty="0">
                <a:hlinkClick r:id="rId2" action="ppaction://hlinksldjump"/>
              </a:rPr>
              <a:t> </a:t>
            </a:r>
            <a:r>
              <a:rPr lang="en-US" altLang="en-US" dirty="0" err="1">
                <a:hlinkClick r:id="rId2" action="ppaction://hlinksldjump"/>
              </a:rPr>
              <a:t>xếp</a:t>
            </a:r>
            <a:r>
              <a:rPr lang="en-US" altLang="en-US" dirty="0">
                <a:hlinkClick r:id="rId2" action="ppaction://hlinksldjump"/>
              </a:rPr>
              <a:t> </a:t>
            </a:r>
            <a:r>
              <a:rPr lang="en-US" altLang="en-US" dirty="0" err="1">
                <a:hlinkClick r:id="rId2" action="ppaction://hlinksldjump"/>
              </a:rPr>
              <a:t>chọn</a:t>
            </a:r>
            <a:r>
              <a:rPr lang="en-US" altLang="en-US" dirty="0">
                <a:hlinkClick r:id="rId2" action="ppaction://hlinksldjump"/>
              </a:rPr>
              <a:t> (Selection Sort)</a:t>
            </a:r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hlinkClick r:id="rId3" action="ppaction://hlinksldjump"/>
              </a:rPr>
              <a:t>2. </a:t>
            </a:r>
            <a:r>
              <a:rPr lang="fr-FR" altLang="en-US" dirty="0" err="1">
                <a:hlinkClick r:id="rId3" action="ppaction://hlinksldjump"/>
              </a:rPr>
              <a:t>Sắp</a:t>
            </a:r>
            <a:r>
              <a:rPr lang="fr-FR" altLang="en-US" dirty="0">
                <a:hlinkClick r:id="rId3" action="ppaction://hlinksldjump"/>
              </a:rPr>
              <a:t> </a:t>
            </a:r>
            <a:r>
              <a:rPr lang="fr-FR" altLang="en-US" dirty="0" err="1">
                <a:hlinkClick r:id="rId3" action="ppaction://hlinksldjump"/>
              </a:rPr>
              <a:t>xếp</a:t>
            </a:r>
            <a:r>
              <a:rPr lang="fr-FR" altLang="en-US" dirty="0">
                <a:hlinkClick r:id="rId3" action="ppaction://hlinksldjump"/>
              </a:rPr>
              <a:t> </a:t>
            </a:r>
            <a:r>
              <a:rPr lang="fr-FR" altLang="en-US" dirty="0" err="1">
                <a:hlinkClick r:id="rId3" action="ppaction://hlinksldjump"/>
              </a:rPr>
              <a:t>chèn</a:t>
            </a:r>
            <a:r>
              <a:rPr lang="fr-FR" altLang="en-US" dirty="0">
                <a:hlinkClick r:id="rId3" action="ppaction://hlinksldjump"/>
              </a:rPr>
              <a:t> (Insert Sort)</a:t>
            </a:r>
            <a:endParaRPr lang="fr-FR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hlinkClick r:id="rId4" action="ppaction://hlinksldjump"/>
              </a:rPr>
              <a:t>3. </a:t>
            </a:r>
            <a:r>
              <a:rPr lang="en-US" altLang="en-US" dirty="0" err="1">
                <a:hlinkClick r:id="rId4" action="ppaction://hlinksldjump"/>
              </a:rPr>
              <a:t>Sắp</a:t>
            </a:r>
            <a:r>
              <a:rPr lang="en-US" altLang="en-US" dirty="0">
                <a:hlinkClick r:id="rId4" action="ppaction://hlinksldjump"/>
              </a:rPr>
              <a:t> </a:t>
            </a:r>
            <a:r>
              <a:rPr lang="en-US" altLang="en-US" dirty="0" err="1">
                <a:hlinkClick r:id="rId4" action="ppaction://hlinksldjump"/>
              </a:rPr>
              <a:t>xếp</a:t>
            </a:r>
            <a:r>
              <a:rPr lang="en-US" altLang="en-US" dirty="0">
                <a:hlinkClick r:id="rId4" action="ppaction://hlinksldjump"/>
              </a:rPr>
              <a:t> </a:t>
            </a:r>
            <a:r>
              <a:rPr lang="en-US" altLang="en-US" dirty="0" err="1">
                <a:hlinkClick r:id="rId4" action="ppaction://hlinksldjump"/>
              </a:rPr>
              <a:t>nổi</a:t>
            </a:r>
            <a:r>
              <a:rPr lang="en-US" altLang="en-US" dirty="0">
                <a:hlinkClick r:id="rId4" action="ppaction://hlinksldjump"/>
              </a:rPr>
              <a:t> </a:t>
            </a:r>
            <a:r>
              <a:rPr lang="en-US" altLang="en-US" dirty="0" err="1">
                <a:hlinkClick r:id="rId4" action="ppaction://hlinksldjump"/>
              </a:rPr>
              <a:t>bọt</a:t>
            </a:r>
            <a:r>
              <a:rPr lang="en-US" altLang="en-US" dirty="0">
                <a:hlinkClick r:id="rId4" action="ppaction://hlinksldjump"/>
              </a:rPr>
              <a:t> (Bubble Sort)</a:t>
            </a:r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hlinkClick r:id="rId5" action="ppaction://hlinksldjump"/>
              </a:rPr>
              <a:t>4. </a:t>
            </a:r>
            <a:r>
              <a:rPr lang="en-US" altLang="en-US" dirty="0" err="1">
                <a:hlinkClick r:id="rId5" action="ppaction://hlinksldjump"/>
              </a:rPr>
              <a:t>Sắp</a:t>
            </a:r>
            <a:r>
              <a:rPr lang="en-US" altLang="en-US" dirty="0">
                <a:hlinkClick r:id="rId5" action="ppaction://hlinksldjump"/>
              </a:rPr>
              <a:t> </a:t>
            </a:r>
            <a:r>
              <a:rPr lang="en-US" altLang="en-US" dirty="0" err="1">
                <a:hlinkClick r:id="rId5" action="ppaction://hlinksldjump"/>
              </a:rPr>
              <a:t>xếp</a:t>
            </a:r>
            <a:r>
              <a:rPr lang="en-US" altLang="en-US" dirty="0">
                <a:hlinkClick r:id="rId5" action="ppaction://hlinksldjump"/>
              </a:rPr>
              <a:t> </a:t>
            </a:r>
            <a:r>
              <a:rPr lang="en-US" altLang="en-US" dirty="0" err="1">
                <a:hlinkClick r:id="rId5" action="ppaction://hlinksldjump"/>
              </a:rPr>
              <a:t>nhanh</a:t>
            </a:r>
            <a:r>
              <a:rPr lang="en-US" altLang="en-US" dirty="0">
                <a:hlinkClick r:id="rId5" action="ppaction://hlinksldjump"/>
              </a:rPr>
              <a:t> (Quick Sort)</a:t>
            </a:r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hlinkClick r:id="rId6" action="ppaction://hlinksldjump"/>
              </a:rPr>
              <a:t>5. </a:t>
            </a:r>
            <a:r>
              <a:rPr lang="en-US" altLang="en-US" dirty="0" err="1">
                <a:hlinkClick r:id="rId6" action="ppaction://hlinksldjump"/>
              </a:rPr>
              <a:t>Sắp</a:t>
            </a:r>
            <a:r>
              <a:rPr lang="en-US" altLang="en-US" dirty="0">
                <a:hlinkClick r:id="rId6" action="ppaction://hlinksldjump"/>
              </a:rPr>
              <a:t> </a:t>
            </a:r>
            <a:r>
              <a:rPr lang="en-US" altLang="en-US" dirty="0" err="1">
                <a:hlinkClick r:id="rId6" action="ppaction://hlinksldjump"/>
              </a:rPr>
              <a:t>xếp</a:t>
            </a:r>
            <a:r>
              <a:rPr lang="en-US" altLang="en-US" dirty="0">
                <a:hlinkClick r:id="rId6" action="ppaction://hlinksldjump"/>
              </a:rPr>
              <a:t> </a:t>
            </a:r>
            <a:r>
              <a:rPr lang="en-US" altLang="en-US" dirty="0" err="1">
                <a:hlinkClick r:id="rId6" action="ppaction://hlinksldjump"/>
              </a:rPr>
              <a:t>vun</a:t>
            </a:r>
            <a:r>
              <a:rPr lang="en-US" altLang="en-US" dirty="0">
                <a:hlinkClick r:id="rId6" action="ppaction://hlinksldjump"/>
              </a:rPr>
              <a:t> </a:t>
            </a:r>
            <a:r>
              <a:rPr lang="en-US" altLang="en-US" dirty="0" err="1">
                <a:hlinkClick r:id="rId6" action="ppaction://hlinksldjump"/>
              </a:rPr>
              <a:t>đống</a:t>
            </a:r>
            <a:r>
              <a:rPr lang="en-US" altLang="en-US" dirty="0">
                <a:hlinkClick r:id="rId6" action="ppaction://hlinksldjump"/>
              </a:rPr>
              <a:t> (Heap Sort)</a:t>
            </a:r>
            <a:endParaRPr lang="en-US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6. </a:t>
            </a:r>
            <a:r>
              <a:rPr lang="en-US" altLang="en-US" dirty="0" err="1"/>
              <a:t>Sắp</a:t>
            </a:r>
            <a:r>
              <a:rPr lang="en-US" altLang="en-US" dirty="0"/>
              <a:t> </a:t>
            </a:r>
            <a:r>
              <a:rPr lang="en-US" altLang="en-US" err="1"/>
              <a:t>xếp</a:t>
            </a:r>
            <a:r>
              <a:rPr lang="en-US" altLang="en-US"/>
              <a:t> trộn </a:t>
            </a:r>
            <a:r>
              <a:rPr lang="en-US" altLang="en-US" dirty="0"/>
              <a:t>(Merge Sort)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5A8BAAE4-623D-4A22-AA0A-ED040305A99A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CFD1-BEB2-4608-8193-23B4618D3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Khi tìm hiểu giải thuật cần tìm hiểu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1F11-D3EF-42C6-9F49-5A9A9247C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1) Ý tưởng và ví dụ mình họa ý tưởng</a:t>
            </a:r>
          </a:p>
          <a:p>
            <a:pPr marL="0" indent="0">
              <a:buNone/>
            </a:pPr>
            <a:r>
              <a:rPr lang="en-US"/>
              <a:t>2) Giả mã</a:t>
            </a:r>
          </a:p>
          <a:p>
            <a:pPr marL="0" indent="0">
              <a:buNone/>
            </a:pPr>
            <a:r>
              <a:rPr lang="en-US"/>
              <a:t>3) 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13DE0-2131-48C0-A864-5E94239B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A49D3-6F4D-4E75-B5E7-5BBB6D9C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7D7C3-8EFA-4821-92AB-4014246E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4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D9CF-2158-4CB8-83B2-2ED79888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toán sắp xếp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718D-0A66-4969-846F-7C1261EE7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9400"/>
          </a:xfrm>
        </p:spPr>
        <p:txBody>
          <a:bodyPr/>
          <a:lstStyle/>
          <a:p>
            <a:r>
              <a:rPr lang="en-US"/>
              <a:t>Cho dãy khóa là các số nguyên có n phần tử lưu trữ trong mảng một chiều. Sắp xếp dãy khóa tăng dần từ trái sang phải.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ED3CC-083C-45F2-89D4-90A02010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9D842-0C39-41A7-A8E8-1ECF690B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0CC36-FD80-41B9-938C-D5DD0091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01BFF-3E0D-4BCC-A594-A54FB41DBC80}"/>
              </a:ext>
            </a:extLst>
          </p:cNvPr>
          <p:cNvSpPr/>
          <p:nvPr/>
        </p:nvSpPr>
        <p:spPr>
          <a:xfrm>
            <a:off x="312420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6CEB4-A505-4BF5-ABFA-C666FD6BF666}"/>
              </a:ext>
            </a:extLst>
          </p:cNvPr>
          <p:cNvSpPr/>
          <p:nvPr/>
        </p:nvSpPr>
        <p:spPr>
          <a:xfrm>
            <a:off x="359156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C564C0-EF5B-4487-B558-B173F89C04CB}"/>
              </a:ext>
            </a:extLst>
          </p:cNvPr>
          <p:cNvSpPr/>
          <p:nvPr/>
        </p:nvSpPr>
        <p:spPr>
          <a:xfrm>
            <a:off x="405892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A5C24-EB49-428D-A30F-460BA80ABD0E}"/>
              </a:ext>
            </a:extLst>
          </p:cNvPr>
          <p:cNvSpPr/>
          <p:nvPr/>
        </p:nvSpPr>
        <p:spPr>
          <a:xfrm>
            <a:off x="452628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A9D1CA-FE05-49FF-8E2F-98B6230F1A45}"/>
              </a:ext>
            </a:extLst>
          </p:cNvPr>
          <p:cNvSpPr/>
          <p:nvPr/>
        </p:nvSpPr>
        <p:spPr>
          <a:xfrm>
            <a:off x="499364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F348D-D078-4D30-9422-E4107BF36479}"/>
              </a:ext>
            </a:extLst>
          </p:cNvPr>
          <p:cNvSpPr/>
          <p:nvPr/>
        </p:nvSpPr>
        <p:spPr>
          <a:xfrm>
            <a:off x="5461000" y="3708400"/>
            <a:ext cx="46736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94053-BF6A-4BD8-AEF2-B3B2701A425E}"/>
              </a:ext>
            </a:extLst>
          </p:cNvPr>
          <p:cNvSpPr txBox="1"/>
          <p:nvPr/>
        </p:nvSpPr>
        <p:spPr>
          <a:xfrm>
            <a:off x="322072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02935F-C0DC-42ED-BE79-085750DA96BD}"/>
              </a:ext>
            </a:extLst>
          </p:cNvPr>
          <p:cNvSpPr txBox="1"/>
          <p:nvPr/>
        </p:nvSpPr>
        <p:spPr>
          <a:xfrm>
            <a:off x="368808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ED6739-2091-4CC3-B38A-2E4DBBBBD8BB}"/>
              </a:ext>
            </a:extLst>
          </p:cNvPr>
          <p:cNvSpPr txBox="1"/>
          <p:nvPr/>
        </p:nvSpPr>
        <p:spPr>
          <a:xfrm>
            <a:off x="415544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9798E5-FC01-4C3C-B29A-EA01BA127172}"/>
              </a:ext>
            </a:extLst>
          </p:cNvPr>
          <p:cNvSpPr txBox="1"/>
          <p:nvPr/>
        </p:nvSpPr>
        <p:spPr>
          <a:xfrm>
            <a:off x="462280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A85B17-F318-46EB-BEF6-072939A54ADD}"/>
              </a:ext>
            </a:extLst>
          </p:cNvPr>
          <p:cNvSpPr txBox="1"/>
          <p:nvPr/>
        </p:nvSpPr>
        <p:spPr>
          <a:xfrm>
            <a:off x="509778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C6E36-EEC2-4C92-9AF7-52A47A299466}"/>
              </a:ext>
            </a:extLst>
          </p:cNvPr>
          <p:cNvSpPr txBox="1"/>
          <p:nvPr/>
        </p:nvSpPr>
        <p:spPr>
          <a:xfrm>
            <a:off x="5575300" y="37523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892AF2-5645-40E9-8608-F885BD48FD6D}"/>
              </a:ext>
            </a:extLst>
          </p:cNvPr>
          <p:cNvSpPr txBox="1"/>
          <p:nvPr/>
        </p:nvSpPr>
        <p:spPr>
          <a:xfrm>
            <a:off x="3220720" y="421132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677B85-40FB-4451-B3BE-F4FDAD109ED8}"/>
              </a:ext>
            </a:extLst>
          </p:cNvPr>
          <p:cNvSpPr txBox="1"/>
          <p:nvPr/>
        </p:nvSpPr>
        <p:spPr>
          <a:xfrm>
            <a:off x="3708400" y="421132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A0832D-9BBC-421E-AB7C-276929CB017A}"/>
              </a:ext>
            </a:extLst>
          </p:cNvPr>
          <p:cNvSpPr txBox="1"/>
          <p:nvPr/>
        </p:nvSpPr>
        <p:spPr>
          <a:xfrm>
            <a:off x="4185920" y="421132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48A69C-78E6-45EF-AA33-12345A43BA5E}"/>
              </a:ext>
            </a:extLst>
          </p:cNvPr>
          <p:cNvSpPr txBox="1"/>
          <p:nvPr/>
        </p:nvSpPr>
        <p:spPr>
          <a:xfrm>
            <a:off x="5575300" y="421132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18F4E3-192D-4785-AC5C-33649B0E3F58}"/>
              </a:ext>
            </a:extLst>
          </p:cNvPr>
          <p:cNvSpPr txBox="1"/>
          <p:nvPr/>
        </p:nvSpPr>
        <p:spPr>
          <a:xfrm>
            <a:off x="2655570" y="377444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2276AF-7FF5-4D79-8F77-CCF675B29868}"/>
              </a:ext>
            </a:extLst>
          </p:cNvPr>
          <p:cNvSpPr txBox="1"/>
          <p:nvPr/>
        </p:nvSpPr>
        <p:spPr>
          <a:xfrm>
            <a:off x="3046730" y="4624387"/>
            <a:ext cx="66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a[1]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6F1864-BE57-449E-AF76-6BAFAE36F86D}"/>
              </a:ext>
            </a:extLst>
          </p:cNvPr>
          <p:cNvSpPr txBox="1"/>
          <p:nvPr/>
        </p:nvSpPr>
        <p:spPr>
          <a:xfrm>
            <a:off x="5518785" y="4624387"/>
            <a:ext cx="661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a[n]</a:t>
            </a:r>
          </a:p>
        </p:txBody>
      </p:sp>
    </p:spTree>
    <p:extLst>
      <p:ext uri="{BB962C8B-B14F-4D97-AF65-F5344CB8AC3E}">
        <p14:creationId xmlns:p14="http://schemas.microsoft.com/office/powerpoint/2010/main" val="113973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1. Sắp xếp chọn (Selection Sort)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1.1. Phương pháp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vi-VN"/>
              <a:t>Giả sử </a:t>
            </a:r>
            <a:r>
              <a:rPr lang="en-US"/>
              <a:t>cần</a:t>
            </a:r>
            <a:r>
              <a:rPr lang="vi-VN"/>
              <a:t> sắp xếp </a:t>
            </a:r>
            <a:r>
              <a:rPr lang="en-US"/>
              <a:t>tăng dần </a:t>
            </a:r>
            <a:r>
              <a:rPr lang="vi-VN"/>
              <a:t>một dãy khoá a</a:t>
            </a:r>
            <a:r>
              <a:rPr lang="vi-VN" baseline="-25000"/>
              <a:t>1</a:t>
            </a:r>
            <a:r>
              <a:rPr lang="vi-VN"/>
              <a:t>, a</a:t>
            </a:r>
            <a:r>
              <a:rPr lang="vi-VN" baseline="-25000"/>
              <a:t>2</a:t>
            </a:r>
            <a:r>
              <a:rPr lang="vi-VN"/>
              <a:t>,..., a</a:t>
            </a:r>
            <a:r>
              <a:rPr lang="vi-VN" baseline="-25000"/>
              <a:t>n</a:t>
            </a:r>
            <a:r>
              <a:rPr lang="en-US"/>
              <a:t>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/>
              <a:t>Ý tưởng của thuật toán </a:t>
            </a:r>
            <a:r>
              <a:rPr lang="vi-VN"/>
              <a:t>như sau</a:t>
            </a:r>
            <a:r>
              <a:rPr lang="en-US"/>
              <a:t>: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vi-VN"/>
              <a:t>Chọn phần tử có khoá nhỏ nhất 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vi-VN"/>
              <a:t>Đổi chỗ nó với phần tử a</a:t>
            </a:r>
            <a:r>
              <a:rPr lang="vi-VN" baseline="-25000"/>
              <a:t>1</a:t>
            </a:r>
            <a:r>
              <a:rPr lang="vi-VN"/>
              <a:t>.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vi-VN"/>
              <a:t>Sau đó lặp lại thao tác trên với n-1 phần tử còn lại, rồi lại lặp lại như trên với n-2 phần tử còn lại,..., cho tới khi chỉ còn 1 phần tử.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DEFB561-1614-47B9-BC52-C4BD8D35ACCF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1.1. Phương pháp (</a:t>
            </a:r>
            <a:r>
              <a:rPr lang="en-US" altLang="en-US" i="1"/>
              <a:t>tiếp</a:t>
            </a:r>
            <a:r>
              <a:rPr lang="en-US" altLang="en-US"/>
              <a:t>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Cho dãy khoá ban đầu là:  6, 10, 1, 8, 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với n=5.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              i=1    </a:t>
            </a:r>
            <a:r>
              <a:rPr lang="en-US" altLang="en-US" u="sng"/>
              <a:t>1</a:t>
            </a:r>
            <a:r>
              <a:rPr lang="en-US" altLang="en-US"/>
              <a:t>, 10, 6, 8, 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              i=2    1, </a:t>
            </a:r>
            <a:r>
              <a:rPr lang="en-US" altLang="en-US" u="sng"/>
              <a:t>6</a:t>
            </a:r>
            <a:r>
              <a:rPr lang="en-US" altLang="en-US"/>
              <a:t>, 10, 8, 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              i=3    1, 6, 8, 10, 9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                 i=4    1, 6, 8, 9, 10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31736411-4BA6-4831-8FFE-5801C95E6CD2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1.1. Phương pháp (</a:t>
            </a:r>
            <a:r>
              <a:rPr lang="en-US" altLang="en-US" i="1"/>
              <a:t>tiếp</a:t>
            </a:r>
            <a:r>
              <a:rPr lang="en-US" altLang="en-US"/>
              <a:t>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Procedure   </a:t>
            </a:r>
            <a:r>
              <a:rPr lang="en-US" altLang="en-US" sz="2400" dirty="0" err="1"/>
              <a:t>selectionSort</a:t>
            </a:r>
            <a:r>
              <a:rPr lang="en-US" altLang="en-US" sz="2400" dirty="0"/>
              <a:t>(</a:t>
            </a:r>
            <a:r>
              <a:rPr lang="en-US" altLang="en-US" sz="2400" dirty="0" err="1"/>
              <a:t>a,n</a:t>
            </a:r>
            <a:r>
              <a:rPr lang="en-US" altLang="en-US" sz="2400" dirty="0"/>
              <a:t>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For i:= 1 to n-1 Do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  Begin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1</a:t>
            </a:r>
            <a:r>
              <a:rPr lang="en-US" altLang="en-US" sz="2400"/>
              <a:t>) { Tìm vị trí k của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nhỏ</a:t>
            </a:r>
            <a:r>
              <a:rPr lang="en-US" altLang="en-US" sz="2400" dirty="0"/>
              <a:t> </a:t>
            </a:r>
            <a:r>
              <a:rPr lang="en-US" altLang="en-US" sz="2400" err="1"/>
              <a:t>nhất</a:t>
            </a:r>
            <a:r>
              <a:rPr lang="en-US" altLang="en-US" sz="2400"/>
              <a:t> }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  +) k:=i;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  +) For  j:=i+1 To  n  Do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           If  a[j] &lt; a[k]  then  k:=j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2) {</a:t>
            </a:r>
            <a:r>
              <a:rPr lang="en-US" altLang="en-US" sz="2400" dirty="0" err="1"/>
              <a:t>Đổi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chỗ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nhỏ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nhất</a:t>
            </a:r>
            <a:r>
              <a:rPr lang="en-US" altLang="en-US" sz="2400" dirty="0"/>
              <a:t> ở </a:t>
            </a:r>
            <a:r>
              <a:rPr lang="en-US" altLang="en-US" sz="2400" dirty="0" err="1"/>
              <a:t>vị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trí</a:t>
            </a:r>
            <a:r>
              <a:rPr lang="en-US" altLang="en-US" sz="2400" dirty="0"/>
              <a:t> k </a:t>
            </a:r>
            <a:r>
              <a:rPr lang="en-US" altLang="en-US" sz="2400" dirty="0" err="1"/>
              <a:t>cho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vị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	If k ≠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 then a[k]</a:t>
            </a:r>
            <a:r>
              <a:rPr lang="en-US" altLang="en-US" sz="2400" dirty="0">
                <a:sym typeface="Symbol" pitchFamily="18" charset="2"/>
              </a:rPr>
              <a:t></a:t>
            </a:r>
            <a:r>
              <a:rPr lang="en-US" altLang="en-US" sz="2400" dirty="0"/>
              <a:t>a[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	  End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/>
              <a:t>	Return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65E76171-5DD3-4315-9D05-849E27BF49C4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0D49-3021-4E89-86D9-2A4F6B52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Xác định O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8D9ECB-FAA0-4645-A20B-31BAAB649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848466"/>
              </p:ext>
            </p:extLst>
          </p:nvPr>
        </p:nvGraphicFramePr>
        <p:xfrm>
          <a:off x="2255520" y="1579880"/>
          <a:ext cx="2895600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725568764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2391635216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 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Số lần so sánh 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552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 n –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35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 n –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08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94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 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56075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C4B8B-D76B-46B2-833F-8A340D0B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E233E-6632-47A9-886B-D88283CC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63F82-3860-4155-9DEF-F2F90B14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62C91-C971-4917-9629-501E62623AC2}"/>
              </a:ext>
            </a:extLst>
          </p:cNvPr>
          <p:cNvSpPr txBox="1"/>
          <p:nvPr/>
        </p:nvSpPr>
        <p:spPr>
          <a:xfrm>
            <a:off x="1910080" y="3850640"/>
            <a:ext cx="446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Tổng = 1 + 2 + … n-1 &lt; 1 + 2 + … n = (n*(n+1))/2 = ½*(n</a:t>
            </a:r>
            <a:r>
              <a:rPr lang="en-US" baseline="30000"/>
              <a:t>2</a:t>
            </a:r>
            <a:r>
              <a:rPr lang="en-US"/>
              <a:t> + n)</a:t>
            </a:r>
          </a:p>
          <a:p>
            <a:endParaRPr lang="en-US"/>
          </a:p>
          <a:p>
            <a:r>
              <a:rPr lang="en-US"/>
              <a:t>Coi O(½*(n</a:t>
            </a:r>
            <a:r>
              <a:rPr lang="en-US" baseline="30000"/>
              <a:t>2</a:t>
            </a:r>
            <a:r>
              <a:rPr lang="en-US"/>
              <a:t> + n))</a:t>
            </a:r>
          </a:p>
          <a:p>
            <a:r>
              <a:rPr lang="en-US"/>
              <a:t>Áp dụng quy tắc bỏ hằng số: O(n</a:t>
            </a:r>
            <a:r>
              <a:rPr lang="en-US" baseline="30000"/>
              <a:t>2</a:t>
            </a:r>
            <a:r>
              <a:rPr lang="en-US"/>
              <a:t> + n)</a:t>
            </a:r>
          </a:p>
          <a:p>
            <a:r>
              <a:rPr lang="en-US"/>
              <a:t>Áp dụng quy tắc cộng: O(n</a:t>
            </a:r>
            <a:r>
              <a:rPr lang="en-US" baseline="30000"/>
              <a:t>2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5657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 </a:t>
            </a:r>
            <a:r>
              <a:rPr lang="fr-FR" altLang="en-US"/>
              <a:t>Sắp xếp chèn (Insert Sort)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800"/>
              <a:t>2.1. Phương pháp</a:t>
            </a:r>
          </a:p>
          <a:p>
            <a:pPr eaLnBrk="1" hangingPunct="1"/>
            <a:r>
              <a:rPr lang="en-US" altLang="en-US" sz="2800"/>
              <a:t>Phương pháp này được những người chơi bài hay dùng.</a:t>
            </a:r>
          </a:p>
          <a:p>
            <a:pPr eaLnBrk="1" hangingPunct="1"/>
            <a:r>
              <a:rPr lang="en-US" altLang="en-US" sz="2800"/>
              <a:t>Giả sử cần sắp xếp tăng dần dãy khoá a</a:t>
            </a:r>
            <a:r>
              <a:rPr lang="en-US" altLang="en-US" sz="2800" baseline="-25000"/>
              <a:t>1</a:t>
            </a:r>
            <a:r>
              <a:rPr lang="en-US" altLang="en-US" sz="2800"/>
              <a:t>, a</a:t>
            </a:r>
            <a:r>
              <a:rPr lang="en-US" altLang="en-US" sz="2800" baseline="-25000"/>
              <a:t>2</a:t>
            </a:r>
            <a:r>
              <a:rPr lang="en-US" altLang="en-US" sz="2800"/>
              <a:t>,..., a</a:t>
            </a:r>
            <a:r>
              <a:rPr lang="en-US" altLang="en-US" sz="2800" baseline="-25000"/>
              <a:t>n</a:t>
            </a:r>
            <a:r>
              <a:rPr lang="en-US" altLang="en-US" sz="2800"/>
              <a:t>. Ý tưởng thuật toán như sau:</a:t>
            </a:r>
          </a:p>
          <a:p>
            <a:pPr lvl="1" eaLnBrk="1" hangingPunct="1"/>
            <a:r>
              <a:rPr lang="en-US" altLang="en-US" sz="2400"/>
              <a:t>Các phần tử được chia thành dãy đích: a</a:t>
            </a:r>
            <a:r>
              <a:rPr lang="en-US" altLang="en-US" sz="2400" baseline="-25000"/>
              <a:t>1</a:t>
            </a:r>
            <a:r>
              <a:rPr lang="en-US" altLang="en-US" sz="2400"/>
              <a:t>,..., a</a:t>
            </a:r>
            <a:r>
              <a:rPr lang="en-US" altLang="en-US" sz="2400" baseline="-25000"/>
              <a:t>i-1</a:t>
            </a:r>
            <a:r>
              <a:rPr lang="en-US" altLang="en-US" sz="2400"/>
              <a:t> (kết quả) và dãy nguồn a</a:t>
            </a:r>
            <a:r>
              <a:rPr lang="en-US" altLang="en-US" sz="2400" baseline="-25000"/>
              <a:t>i</a:t>
            </a:r>
            <a:r>
              <a:rPr lang="en-US" altLang="en-US" sz="2400"/>
              <a:t>,..., a</a:t>
            </a:r>
            <a:r>
              <a:rPr lang="en-US" altLang="en-US" sz="2400" baseline="-25000"/>
              <a:t>n</a:t>
            </a:r>
            <a:r>
              <a:rPr lang="en-US" altLang="en-US" sz="2400"/>
              <a:t>.</a:t>
            </a:r>
          </a:p>
          <a:p>
            <a:pPr lvl="1" eaLnBrk="1" hangingPunct="1"/>
            <a:r>
              <a:rPr lang="en-US" altLang="en-US" sz="2400"/>
              <a:t>Bắt đầu với i=2, ở mỗi bước phần tử thứ i của dãy nguồn được lấy ra và chèn vào vị trí thích hợp trong dãy đích sao cho dãy đích vẫn tăng dần. Sau đó i tăng lên 1 và lặp lại.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A8B488EF-F12B-472E-B6A0-997E32A74BAD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2.1. Phương pháp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Cho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6, 10, 1, 7, 4 </a:t>
            </a:r>
            <a:r>
              <a:rPr lang="en-US" dirty="0" err="1"/>
              <a:t>với</a:t>
            </a:r>
            <a:r>
              <a:rPr lang="en-US" dirty="0"/>
              <a:t> n=5 (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5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).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	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				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		6					10, 1, 7, 4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err="1"/>
              <a:t>i</a:t>
            </a:r>
            <a:r>
              <a:rPr lang="en-US" dirty="0"/>
              <a:t>=2 	6, 10					1, 7, 4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err="1"/>
              <a:t>i</a:t>
            </a:r>
            <a:r>
              <a:rPr lang="en-US" dirty="0"/>
              <a:t>=3	1, 6, 10				7, 4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err="1"/>
              <a:t>i</a:t>
            </a:r>
            <a:r>
              <a:rPr lang="en-US" dirty="0"/>
              <a:t>=4	1, 6, 7, 10				4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 err="1"/>
              <a:t>i</a:t>
            </a:r>
            <a:r>
              <a:rPr lang="en-US" dirty="0"/>
              <a:t>=5	1, 4, 6, 7, 10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4745019-9A59-4696-BD70-6C2B94E9F809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Thủ tục chèn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Procedure </a:t>
            </a:r>
            <a:r>
              <a:rPr lang="en-US" altLang="en-US" sz="2400" dirty="0" err="1"/>
              <a:t>insertSort</a:t>
            </a:r>
            <a:r>
              <a:rPr lang="en-US" altLang="en-US" sz="2400" dirty="0"/>
              <a:t>(</a:t>
            </a:r>
            <a:r>
              <a:rPr lang="en-US" altLang="en-US" sz="2400" dirty="0" err="1"/>
              <a:t>a,n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1) a[0]:=-</a:t>
            </a:r>
            <a:r>
              <a:rPr lang="en-US" altLang="en-US" sz="2400" dirty="0">
                <a:sym typeface="Symbol" pitchFamily="18" charset="2"/>
              </a:rPr>
              <a:t>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2) For i:=2 to n Do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    Begin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	</a:t>
            </a:r>
            <a:r>
              <a:rPr lang="en-US" altLang="en-US" sz="2400" dirty="0" err="1"/>
              <a:t>tg</a:t>
            </a:r>
            <a:r>
              <a:rPr lang="en-US" altLang="en-US" sz="2400" dirty="0"/>
              <a:t>:=a[</a:t>
            </a:r>
            <a:r>
              <a:rPr lang="en-US" altLang="en-US" sz="2400" dirty="0" err="1"/>
              <a:t>i</a:t>
            </a:r>
            <a:r>
              <a:rPr lang="en-US" altLang="en-US" sz="2400" dirty="0"/>
              <a:t>];  j:=i-1;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	While  </a:t>
            </a:r>
            <a:r>
              <a:rPr lang="en-US" altLang="en-US" sz="2400" dirty="0" err="1"/>
              <a:t>tg</a:t>
            </a:r>
            <a:r>
              <a:rPr lang="en-US" altLang="en-US" sz="2400" dirty="0"/>
              <a:t>&lt;a[</a:t>
            </a:r>
            <a:r>
              <a:rPr lang="en-US" altLang="en-US" sz="2400"/>
              <a:t>j] </a:t>
            </a:r>
            <a:r>
              <a:rPr lang="en-US" altLang="en-US" sz="2400" dirty="0"/>
              <a:t>Do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	   Begin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		a[j+1]:=a[j];  j:=j-1;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	   End;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   	a[j+1]:=</a:t>
            </a:r>
            <a:r>
              <a:rPr lang="en-US" altLang="en-US" sz="2400" dirty="0" err="1"/>
              <a:t>tg</a:t>
            </a:r>
            <a:r>
              <a:rPr lang="en-US" altLang="en-US" sz="2400" dirty="0"/>
              <a:t>;  {</a:t>
            </a:r>
            <a:r>
              <a:rPr lang="en-US" altLang="en-US" sz="2400" dirty="0" err="1"/>
              <a:t>đưa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đúng</a:t>
            </a:r>
            <a:r>
              <a:rPr lang="en-US" altLang="en-US" sz="2400" dirty="0"/>
              <a:t> vi </a:t>
            </a:r>
            <a:r>
              <a:rPr lang="en-US" altLang="en-US" sz="2400" dirty="0" err="1"/>
              <a:t>trí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chèn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sau</a:t>
            </a:r>
            <a:r>
              <a:rPr lang="en-US" altLang="en-US" sz="2400" dirty="0"/>
              <a:t> j}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	    End;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 dirty="0"/>
              <a:t>	Return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40D682A-BF63-4015-9FFA-C553253648EA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2.2. Đánh giá thuật toán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Phép toán tích cực trong thuật toán này là phép so sánh (tg&lt;a[j]). Số phép toán so sánh C được tính như sau:</a:t>
            </a:r>
          </a:p>
          <a:p>
            <a:pPr lvl="1" eaLnBrk="1" hangingPunct="1"/>
            <a:r>
              <a:rPr lang="en-US" altLang="en-US"/>
              <a:t>Trường hợp thuận lợi nhất là dãy khoá a</a:t>
            </a:r>
            <a:r>
              <a:rPr lang="en-US" altLang="en-US" baseline="-25000"/>
              <a:t>1</a:t>
            </a:r>
            <a:r>
              <a:rPr lang="en-US" altLang="en-US"/>
              <a:t>, a</a:t>
            </a:r>
            <a:r>
              <a:rPr lang="en-US" altLang="en-US" baseline="-25000"/>
              <a:t>2</a:t>
            </a:r>
            <a:r>
              <a:rPr lang="en-US" altLang="en-US"/>
              <a:t>,..., a</a:t>
            </a:r>
            <a:r>
              <a:rPr lang="en-US" altLang="en-US" baseline="-25000"/>
              <a:t>n</a:t>
            </a:r>
            <a:r>
              <a:rPr lang="en-US" altLang="en-US"/>
              <a:t> đã được sắp, như vậy mỗi lần chỉ cần 1 phép so sánh. Do vậy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pic>
        <p:nvPicPr>
          <p:cNvPr id="1229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4592638"/>
            <a:ext cx="2020887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64E91370-F246-4C9E-A6C2-247C66937471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2.2. Đánh giá thuật toán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Trường hợp xấu nhất nếu dãy khoá sắp theo thứ tự ngược với thứ tự sắp xếp thì ở lượt i cần có: C= (i-1) phép so sánh. Do vậy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Trường hợp trung bình: Giả sử mọi giá trị khoá đều xuất hiện đồng khả năng thì trung bình phép so sánh ở lượt thứ i là C</a:t>
            </a:r>
            <a:r>
              <a:rPr lang="en-US" altLang="en-US" sz="2400" baseline="-25000"/>
              <a:t>i</a:t>
            </a:r>
            <a:r>
              <a:rPr lang="en-US" altLang="en-US" sz="2400"/>
              <a:t> = i/2, do đó số phép so sánh trung bình của giải thuật này là: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O(n</a:t>
            </a:r>
            <a:r>
              <a:rPr lang="en-US" altLang="en-US" sz="2400" baseline="30000"/>
              <a:t>2</a:t>
            </a:r>
            <a:r>
              <a:rPr lang="en-US" altLang="en-US" sz="2400"/>
              <a:t>)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pic>
        <p:nvPicPr>
          <p:cNvPr id="1331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638" y="2427288"/>
            <a:ext cx="3165475" cy="9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38" y="4592638"/>
            <a:ext cx="3090862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AutoShape 7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818438" y="6402388"/>
            <a:ext cx="357187" cy="2921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E87AADA9-F3F8-48C1-AE38-675E93305F40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 Sắp xếp sủi bọt (Bubble Sort)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/>
              <a:t>3.1. Phương pháp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/>
              <a:t>Giả sử cần sắp xếp tăng dần dãy khoá a</a:t>
            </a:r>
            <a:r>
              <a:rPr lang="en-US" sz="2800" baseline="-25000"/>
              <a:t>1</a:t>
            </a:r>
            <a:r>
              <a:rPr lang="en-US" sz="2800"/>
              <a:t>, a</a:t>
            </a:r>
            <a:r>
              <a:rPr lang="en-US" sz="2800" baseline="-25000"/>
              <a:t>2</a:t>
            </a:r>
            <a:r>
              <a:rPr lang="en-US" sz="2800"/>
              <a:t>,..., a</a:t>
            </a:r>
            <a:r>
              <a:rPr lang="en-US" sz="2800" baseline="-25000"/>
              <a:t>n</a:t>
            </a:r>
            <a:r>
              <a:rPr lang="en-US" sz="2800"/>
              <a:t>. Ý tưởng thuật toán như sau: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/>
              <a:t>So sánh</a:t>
            </a:r>
            <a:r>
              <a:rPr lang="vi-VN" sz="2400"/>
              <a:t> các </a:t>
            </a:r>
            <a:r>
              <a:rPr lang="en-US" sz="2400" b="1"/>
              <a:t>cặp khóa</a:t>
            </a:r>
            <a:r>
              <a:rPr lang="vi-VN" sz="2400" b="1"/>
              <a:t> liền kề</a:t>
            </a:r>
            <a:r>
              <a:rPr lang="en-US" sz="2400"/>
              <a:t> gối </a:t>
            </a:r>
            <a:r>
              <a:rPr lang="vi-VN" sz="2400"/>
              <a:t>nhau </a:t>
            </a:r>
            <a:r>
              <a:rPr lang="en-US" sz="2400"/>
              <a:t>từ </a:t>
            </a:r>
            <a:r>
              <a:rPr lang="en-US" sz="2400" b="1"/>
              <a:t>phải qua trái</a:t>
            </a:r>
            <a:r>
              <a:rPr lang="vi-VN" sz="2400"/>
              <a:t>,</a:t>
            </a:r>
            <a:r>
              <a:rPr lang="en-US" sz="2400"/>
              <a:t> nếu khóa đứng sau nhỏ hơn khóa đứng trước thì đổi chỗ khóa đứng sau với khóa đứng trước.</a:t>
            </a:r>
            <a:r>
              <a:rPr lang="vi-VN" sz="2400"/>
              <a:t> </a:t>
            </a:r>
            <a:r>
              <a:rPr lang="en-US" sz="2400"/>
              <a:t>Kết quả </a:t>
            </a:r>
            <a:r>
              <a:rPr lang="vi-VN" sz="2400"/>
              <a:t>lần thứ nhất</a:t>
            </a:r>
            <a:r>
              <a:rPr lang="en-US" sz="2400"/>
              <a:t>,</a:t>
            </a:r>
            <a:r>
              <a:rPr lang="vi-VN" sz="2400"/>
              <a:t> </a:t>
            </a:r>
            <a:r>
              <a:rPr lang="en-US" sz="2400"/>
              <a:t>khóa</a:t>
            </a:r>
            <a:r>
              <a:rPr lang="vi-VN" sz="2400"/>
              <a:t> </a:t>
            </a:r>
            <a:r>
              <a:rPr lang="en-US" sz="2400"/>
              <a:t>nhỏ</a:t>
            </a:r>
            <a:r>
              <a:rPr lang="vi-VN" sz="2400"/>
              <a:t> nhất của dãy </a:t>
            </a:r>
            <a:r>
              <a:rPr lang="en-US" sz="2400"/>
              <a:t>được </a:t>
            </a:r>
            <a:r>
              <a:rPr lang="vi-VN" sz="2400"/>
              <a:t>đẩy </a:t>
            </a:r>
            <a:r>
              <a:rPr lang="en-US" sz="2400"/>
              <a:t>lên vị trí 1</a:t>
            </a:r>
            <a:r>
              <a:rPr lang="vi-VN" sz="2400"/>
              <a:t> (gọi là </a:t>
            </a:r>
            <a:r>
              <a:rPr lang="en-US" sz="2400"/>
              <a:t>khá</a:t>
            </a:r>
            <a:r>
              <a:rPr lang="vi-VN" sz="2400"/>
              <a:t> được sắp)</a:t>
            </a:r>
            <a:r>
              <a:rPr lang="en-US" sz="2400"/>
              <a:t>.</a:t>
            </a:r>
            <a:endParaRPr lang="vi-VN" sz="240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vi-VN" sz="2400"/>
              <a:t>Tiếp tục </a:t>
            </a:r>
            <a:r>
              <a:rPr lang="en-US" sz="2400"/>
              <a:t>so sánh và </a:t>
            </a:r>
            <a:r>
              <a:rPr lang="vi-VN" sz="2400"/>
              <a:t>đổi chỗ các</a:t>
            </a:r>
            <a:r>
              <a:rPr lang="en-US" sz="2400"/>
              <a:t> cặp</a:t>
            </a:r>
            <a:r>
              <a:rPr lang="vi-VN" sz="2400"/>
              <a:t> </a:t>
            </a:r>
            <a:r>
              <a:rPr lang="en-US" sz="2400"/>
              <a:t>khóa</a:t>
            </a:r>
            <a:r>
              <a:rPr lang="vi-VN" sz="2400"/>
              <a:t> liền kề của dãy chưa sắp, lần thứ 2 ta được </a:t>
            </a:r>
            <a:r>
              <a:rPr lang="en-US" sz="2400"/>
              <a:t>khóa</a:t>
            </a:r>
            <a:r>
              <a:rPr lang="vi-VN" sz="2400"/>
              <a:t> </a:t>
            </a:r>
            <a:r>
              <a:rPr lang="en-US" sz="2400"/>
              <a:t>nhỏ</a:t>
            </a:r>
            <a:r>
              <a:rPr lang="vi-VN" sz="2400"/>
              <a:t> nhất của dãy</a:t>
            </a:r>
            <a:r>
              <a:rPr lang="en-US" sz="2400"/>
              <a:t> ch</a:t>
            </a:r>
            <a:r>
              <a:rPr lang="vi-VN" sz="2400"/>
              <a:t>ư</a:t>
            </a:r>
            <a:r>
              <a:rPr lang="en-US" sz="2400"/>
              <a:t>a sắp</a:t>
            </a:r>
            <a:r>
              <a:rPr lang="vi-VN" sz="2400"/>
              <a:t> </a:t>
            </a:r>
            <a:r>
              <a:rPr lang="en-US" sz="2400"/>
              <a:t>được đưa về vị trí 2</a:t>
            </a:r>
            <a:r>
              <a:rPr lang="vi-VN" sz="2400"/>
              <a:t>.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vi-VN" sz="2400"/>
              <a:t>Cứ tiếp tục làm tương tự như trên cho đến khi dãy </a:t>
            </a:r>
            <a:r>
              <a:rPr lang="en-US" sz="2400"/>
              <a:t>ch</a:t>
            </a:r>
            <a:r>
              <a:rPr lang="vi-VN" sz="2400"/>
              <a:t>ư</a:t>
            </a:r>
            <a:r>
              <a:rPr lang="en-US" sz="2400"/>
              <a:t>a sắp </a:t>
            </a:r>
            <a:r>
              <a:rPr lang="vi-VN" sz="2400"/>
              <a:t>chỉ còn 1 phần tử.</a:t>
            </a:r>
            <a:endParaRPr lang="en-US" sz="240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ABAA1944-E810-4E62-8635-5BF62638093A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3.1. Phương pháp (</a:t>
            </a:r>
            <a:r>
              <a:rPr lang="en-US" altLang="en-US" i="1"/>
              <a:t>tiếp</a:t>
            </a:r>
            <a:r>
              <a:rPr lang="en-US" altLang="en-US"/>
              <a:t>)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/>
              <a:t>Ví </a:t>
            </a:r>
            <a:r>
              <a:rPr lang="vi-VN"/>
              <a:t>dụ: Cho dãy khoá ban đầu là:  6, 3, 7, 10, 1, 8  với n=6.</a:t>
            </a:r>
            <a:endParaRPr lang="en-US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            </a:t>
            </a:r>
            <a:r>
              <a:rPr lang="vi-VN"/>
              <a:t>6, 3, 7, 10, 1, 8</a:t>
            </a:r>
            <a:endParaRPr lang="en-US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i=1       </a:t>
            </a:r>
            <a:r>
              <a:rPr lang="en-US" u="sng"/>
              <a:t>1</a:t>
            </a:r>
            <a:r>
              <a:rPr lang="en-US"/>
              <a:t>, 6, 3, 7, 10, 8   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i=2       </a:t>
            </a:r>
            <a:r>
              <a:rPr lang="en-US" u="sng"/>
              <a:t>1, 3</a:t>
            </a:r>
            <a:r>
              <a:rPr lang="en-US"/>
              <a:t>, 6, 7, 8, 10   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i=3       </a:t>
            </a:r>
            <a:r>
              <a:rPr lang="en-US" u="sng"/>
              <a:t>1, 3</a:t>
            </a:r>
            <a:r>
              <a:rPr lang="en-US"/>
              <a:t>, 6, 7, 8, 10   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i=4       </a:t>
            </a:r>
            <a:r>
              <a:rPr lang="en-US" u="sng"/>
              <a:t>1, 3, 6</a:t>
            </a:r>
            <a:r>
              <a:rPr lang="en-US"/>
              <a:t>, 7, 8, 10   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/>
              <a:t>				i=5       </a:t>
            </a:r>
            <a:r>
              <a:rPr lang="en-US" u="sng"/>
              <a:t>1, 3, 6, 7</a:t>
            </a:r>
            <a:r>
              <a:rPr lang="en-US"/>
              <a:t>, 8, 10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43D78070-B720-49C7-92CD-1A47967F398B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2CE4-B147-44A8-A523-60412723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Minh họa giải thuật sắp xếp sủi bọt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2DFF6-C945-4A55-9F78-76BE0B84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9075E-90E7-45DE-8889-B43B3110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1E93E-1B5D-413B-A8E2-697412FB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4DC6B-8A75-49DE-948A-CF5B1C290FA6}"/>
              </a:ext>
            </a:extLst>
          </p:cNvPr>
          <p:cNvSpPr/>
          <p:nvPr/>
        </p:nvSpPr>
        <p:spPr>
          <a:xfrm>
            <a:off x="147320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5FE51-F14D-4D41-8F05-0BC399337FB4}"/>
              </a:ext>
            </a:extLst>
          </p:cNvPr>
          <p:cNvSpPr/>
          <p:nvPr/>
        </p:nvSpPr>
        <p:spPr>
          <a:xfrm>
            <a:off x="197104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360FD-8E35-4CCC-8D2F-237A679A667F}"/>
              </a:ext>
            </a:extLst>
          </p:cNvPr>
          <p:cNvSpPr/>
          <p:nvPr/>
        </p:nvSpPr>
        <p:spPr>
          <a:xfrm>
            <a:off x="243840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57BF8-2D0C-47A9-8216-C4CAB5485825}"/>
              </a:ext>
            </a:extLst>
          </p:cNvPr>
          <p:cNvSpPr/>
          <p:nvPr/>
        </p:nvSpPr>
        <p:spPr>
          <a:xfrm>
            <a:off x="293116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CF5F3-2D76-494B-8CC5-B621405BB2ED}"/>
              </a:ext>
            </a:extLst>
          </p:cNvPr>
          <p:cNvSpPr/>
          <p:nvPr/>
        </p:nvSpPr>
        <p:spPr>
          <a:xfrm>
            <a:off x="342900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E32CE8-E6D1-4BAE-A894-1F7BC94369AB}"/>
              </a:ext>
            </a:extLst>
          </p:cNvPr>
          <p:cNvSpPr/>
          <p:nvPr/>
        </p:nvSpPr>
        <p:spPr>
          <a:xfrm>
            <a:off x="3921760" y="2204720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B24B8-8A19-41FC-8ACE-25D5220DE2F6}"/>
              </a:ext>
            </a:extLst>
          </p:cNvPr>
          <p:cNvSpPr txBox="1"/>
          <p:nvPr/>
        </p:nvSpPr>
        <p:spPr>
          <a:xfrm>
            <a:off x="1574800" y="2248654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57A01-A715-43F4-8598-3DE5BB66ED60}"/>
              </a:ext>
            </a:extLst>
          </p:cNvPr>
          <p:cNvSpPr txBox="1"/>
          <p:nvPr/>
        </p:nvSpPr>
        <p:spPr>
          <a:xfrm>
            <a:off x="2072640" y="2248654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515802-4C25-424C-BC62-3C34FD78D491}"/>
              </a:ext>
            </a:extLst>
          </p:cNvPr>
          <p:cNvSpPr txBox="1"/>
          <p:nvPr/>
        </p:nvSpPr>
        <p:spPr>
          <a:xfrm>
            <a:off x="2565400" y="2248654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F421D1-2223-4954-9065-20AA54415171}"/>
              </a:ext>
            </a:extLst>
          </p:cNvPr>
          <p:cNvSpPr txBox="1"/>
          <p:nvPr/>
        </p:nvSpPr>
        <p:spPr>
          <a:xfrm>
            <a:off x="3002280" y="2248654"/>
            <a:ext cx="4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0D92B-E67D-4E70-93B4-82AEC8760F36}"/>
              </a:ext>
            </a:extLst>
          </p:cNvPr>
          <p:cNvSpPr txBox="1"/>
          <p:nvPr/>
        </p:nvSpPr>
        <p:spPr>
          <a:xfrm>
            <a:off x="3495040" y="22486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A063EA-3472-471C-A2AD-FEC4952142E2}"/>
              </a:ext>
            </a:extLst>
          </p:cNvPr>
          <p:cNvSpPr txBox="1"/>
          <p:nvPr/>
        </p:nvSpPr>
        <p:spPr>
          <a:xfrm>
            <a:off x="3967480" y="22486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DDA3FCC-17C7-414C-8025-B5704C87F55F}"/>
              </a:ext>
            </a:extLst>
          </p:cNvPr>
          <p:cNvSpPr/>
          <p:nvPr/>
        </p:nvSpPr>
        <p:spPr>
          <a:xfrm>
            <a:off x="1696720" y="1937331"/>
            <a:ext cx="548640" cy="223455"/>
          </a:xfrm>
          <a:custGeom>
            <a:avLst/>
            <a:gdLst>
              <a:gd name="connsiteX0" fmla="*/ 0 w 548640"/>
              <a:gd name="connsiteY0" fmla="*/ 223455 h 223455"/>
              <a:gd name="connsiteX1" fmla="*/ 142240 w 548640"/>
              <a:gd name="connsiteY1" fmla="*/ 50735 h 223455"/>
              <a:gd name="connsiteX2" fmla="*/ 386080 w 548640"/>
              <a:gd name="connsiteY2" fmla="*/ 10095 h 223455"/>
              <a:gd name="connsiteX3" fmla="*/ 548640 w 548640"/>
              <a:gd name="connsiteY3" fmla="*/ 213295 h 22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" h="223455">
                <a:moveTo>
                  <a:pt x="0" y="223455"/>
                </a:moveTo>
                <a:cubicBezTo>
                  <a:pt x="38946" y="154875"/>
                  <a:pt x="77893" y="86295"/>
                  <a:pt x="142240" y="50735"/>
                </a:cubicBezTo>
                <a:cubicBezTo>
                  <a:pt x="206587" y="15175"/>
                  <a:pt x="318347" y="-16998"/>
                  <a:pt x="386080" y="10095"/>
                </a:cubicBezTo>
                <a:cubicBezTo>
                  <a:pt x="453813" y="37188"/>
                  <a:pt x="521547" y="192975"/>
                  <a:pt x="548640" y="213295"/>
                </a:cubicBezTo>
              </a:path>
            </a:pathLst>
          </a:custGeom>
          <a:noFill/>
          <a:ln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3D78D-2120-44D0-862B-D2659336D05F}"/>
              </a:ext>
            </a:extLst>
          </p:cNvPr>
          <p:cNvSpPr txBox="1"/>
          <p:nvPr/>
        </p:nvSpPr>
        <p:spPr>
          <a:xfrm>
            <a:off x="157480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C922A-BB80-4108-AC9A-F619B1E5294C}"/>
              </a:ext>
            </a:extLst>
          </p:cNvPr>
          <p:cNvSpPr txBox="1"/>
          <p:nvPr/>
        </p:nvSpPr>
        <p:spPr>
          <a:xfrm>
            <a:off x="207264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E0D41E-484B-4306-ACCF-151FF12C4160}"/>
              </a:ext>
            </a:extLst>
          </p:cNvPr>
          <p:cNvSpPr txBox="1"/>
          <p:nvPr/>
        </p:nvSpPr>
        <p:spPr>
          <a:xfrm>
            <a:off x="256540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C8A01-3613-46CB-AA87-785FABEF85B8}"/>
              </a:ext>
            </a:extLst>
          </p:cNvPr>
          <p:cNvSpPr txBox="1"/>
          <p:nvPr/>
        </p:nvSpPr>
        <p:spPr>
          <a:xfrm>
            <a:off x="2072640" y="3152716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E0897D-7C61-4E3D-96A6-B07043A184E8}"/>
              </a:ext>
            </a:extLst>
          </p:cNvPr>
          <p:cNvSpPr txBox="1"/>
          <p:nvPr/>
        </p:nvSpPr>
        <p:spPr>
          <a:xfrm>
            <a:off x="308102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562E7A-4ED1-4237-84EB-C7EBFBB0D198}"/>
              </a:ext>
            </a:extLst>
          </p:cNvPr>
          <p:cNvSpPr txBox="1"/>
          <p:nvPr/>
        </p:nvSpPr>
        <p:spPr>
          <a:xfrm>
            <a:off x="353060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FC18AC-47B8-46A2-A757-F35C265B2152}"/>
              </a:ext>
            </a:extLst>
          </p:cNvPr>
          <p:cNvSpPr txBox="1"/>
          <p:nvPr/>
        </p:nvSpPr>
        <p:spPr>
          <a:xfrm>
            <a:off x="4038600" y="273804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26846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Thủ tục sắp xếp sủi bọt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Procedure   </a:t>
            </a:r>
            <a:r>
              <a:rPr lang="en-US" altLang="en-US" dirty="0" err="1"/>
              <a:t>bubbleSort</a:t>
            </a:r>
            <a:r>
              <a:rPr lang="en-US" altLang="en-US" dirty="0"/>
              <a:t>(</a:t>
            </a:r>
            <a:r>
              <a:rPr lang="en-US" altLang="en-US" dirty="0" err="1"/>
              <a:t>a,n</a:t>
            </a:r>
            <a:r>
              <a:rPr lang="en-US" altLang="en-US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	For  i:= 1  to  n-1  Do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	  For  j:= n </a:t>
            </a:r>
            <a:r>
              <a:rPr lang="en-US" altLang="en-US" dirty="0" err="1"/>
              <a:t>downto</a:t>
            </a:r>
            <a:r>
              <a:rPr lang="en-US" altLang="en-US" dirty="0"/>
              <a:t> i+1  Do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 			If  </a:t>
            </a:r>
            <a:r>
              <a:rPr lang="en-US" altLang="en-US"/>
              <a:t>a[j]&lt;a[j-1]  </a:t>
            </a:r>
            <a:r>
              <a:rPr lang="en-US" altLang="en-US" dirty="0"/>
              <a:t>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			a[j] &lt;-&gt; a[j-1];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	Return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BFA4EB9E-0FC1-4703-84CA-CECCC5B90052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3.2. Đánh giá thuật toán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Giải thuật này tương tự như giải thuật sắp xếp bằng cách chọn trực tiếp (mục 1), do đó có: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Nhận xét: Với 3 phương pháp sắp xếp trên, nếu n vừa và nhỏ thì phương pháp chèn trực tiếp (insert sort) tỏ ra tốt hơn, nếu với n lớn thì cả 3 phương pháp đều có cấp O(n</a:t>
            </a:r>
            <a:r>
              <a:rPr lang="en-US" altLang="en-US" sz="2800" baseline="30000"/>
              <a:t>2</a:t>
            </a:r>
            <a:r>
              <a:rPr lang="en-US" altLang="en-US" sz="2800"/>
              <a:t>), đây là một chi phí thời gian khá cao.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2574925"/>
            <a:ext cx="5870575" cy="106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5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712075" y="6334125"/>
            <a:ext cx="504825" cy="331788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653380C3-34A1-4D5B-BC48-BAD69838A102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 Sắp xếp nhanh (Quick Sort)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4.1.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Sắp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nhanh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(quick sort)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sắp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xếp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(partition sort</a:t>
            </a:r>
            <a:r>
              <a:rPr lang="vi-V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Chọn ngẫu nhiên một phần tử x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Duyệt 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từ trái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sang phải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cho tới khi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phần tử a</a:t>
            </a:r>
            <a:r>
              <a:rPr lang="vi-VN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lvl="1" eaLnBrk="1" hangingPunct="1">
              <a:lnSpc>
                <a:spcPct val="90000"/>
              </a:lnSpc>
            </a:pP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Sau đó duyệt 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từ phải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sang trái </a:t>
            </a:r>
            <a:r>
              <a:rPr lang="vi-VN" altLang="en-US" sz="240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tới khi </a:t>
            </a:r>
            <a:r>
              <a:rPr lang="en-US" alt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phần tử aj&lt;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pPr lvl="1" eaLnBrk="1" hangingPunct="1">
              <a:lnSpc>
                <a:spcPct val="90000"/>
              </a:lnSpc>
            </a:pP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Đổi chỗ a</a:t>
            </a:r>
            <a:r>
              <a:rPr lang="vi-VN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và a</a:t>
            </a:r>
            <a:r>
              <a:rPr lang="vi-VN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</a:p>
          <a:p>
            <a:pPr lvl="1" eaLnBrk="1" hangingPunct="1">
              <a:lnSpc>
                <a:spcPct val="90000"/>
              </a:lnSpc>
            </a:pPr>
            <a:r>
              <a:rPr lang="vi-V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Tiếp tục duyệt và đổi chỗ cho tới khi 2 phía gặp nhau.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BE7362A0-DF4A-4F6E-B5C8-1D6B1DE346DD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4.1. Phương pháp (</a:t>
            </a:r>
            <a:r>
              <a:rPr lang="en-US" altLang="en-US" i="1"/>
              <a:t>tiếp</a:t>
            </a:r>
            <a:r>
              <a:rPr lang="en-US" altLang="en-US"/>
              <a:t>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vi-VN" altLang="en-US"/>
              <a:t>Kết quả</a:t>
            </a:r>
            <a:r>
              <a:rPr lang="en-US" altLang="en-US"/>
              <a:t> dãy khóa</a:t>
            </a:r>
            <a:r>
              <a:rPr lang="vi-VN" altLang="en-US"/>
              <a:t> </a:t>
            </a:r>
            <a:r>
              <a:rPr lang="en-US" altLang="en-US"/>
              <a:t>được </a:t>
            </a:r>
            <a:r>
              <a:rPr lang="vi-VN" altLang="en-US"/>
              <a:t>chia thành 2 </a:t>
            </a:r>
            <a:r>
              <a:rPr lang="en-US" altLang="en-US"/>
              <a:t>đoạn</a:t>
            </a:r>
            <a:r>
              <a:rPr lang="vi-VN" altLang="en-US"/>
              <a:t>: bên trái là các phần tử &lt; x, bên phải là các phần tử &gt; x.</a:t>
            </a:r>
            <a:endParaRPr lang="en-US" altLang="en-US"/>
          </a:p>
          <a:p>
            <a:pPr eaLnBrk="1" hangingPunct="1"/>
            <a:r>
              <a:rPr lang="en-US" altLang="en-US"/>
              <a:t>Áp dụng cách tương tự với đoạn bên trái và đoạn bên phải cho tới khi đoạn con chỉ còn 1 phần tử thì dừng.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5774C4A1-494A-4603-BEFE-A135E231CA47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2CE4-B147-44A8-A523-60412723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Minh họa giải thuật sắp xếp nhanh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2DFF6-C945-4A55-9F78-76BE0B84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9075E-90E7-45DE-8889-B43B3110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1E93E-1B5D-413B-A8E2-697412FB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34DC6B-8A75-49DE-948A-CF5B1C290FA6}"/>
              </a:ext>
            </a:extLst>
          </p:cNvPr>
          <p:cNvSpPr/>
          <p:nvPr/>
        </p:nvSpPr>
        <p:spPr>
          <a:xfrm>
            <a:off x="282194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5FE51-F14D-4D41-8F05-0BC399337FB4}"/>
              </a:ext>
            </a:extLst>
          </p:cNvPr>
          <p:cNvSpPr/>
          <p:nvPr/>
        </p:nvSpPr>
        <p:spPr>
          <a:xfrm>
            <a:off x="331978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C360FD-8E35-4CCC-8D2F-237A679A667F}"/>
              </a:ext>
            </a:extLst>
          </p:cNvPr>
          <p:cNvSpPr/>
          <p:nvPr/>
        </p:nvSpPr>
        <p:spPr>
          <a:xfrm>
            <a:off x="378714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57BF8-2D0C-47A9-8216-C4CAB5485825}"/>
              </a:ext>
            </a:extLst>
          </p:cNvPr>
          <p:cNvSpPr/>
          <p:nvPr/>
        </p:nvSpPr>
        <p:spPr>
          <a:xfrm>
            <a:off x="427990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1CF5F3-2D76-494B-8CC5-B621405BB2ED}"/>
              </a:ext>
            </a:extLst>
          </p:cNvPr>
          <p:cNvSpPr/>
          <p:nvPr/>
        </p:nvSpPr>
        <p:spPr>
          <a:xfrm>
            <a:off x="477774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E32CE8-E6D1-4BAE-A894-1F7BC94369AB}"/>
              </a:ext>
            </a:extLst>
          </p:cNvPr>
          <p:cNvSpPr/>
          <p:nvPr/>
        </p:nvSpPr>
        <p:spPr>
          <a:xfrm>
            <a:off x="5270500" y="41182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3D78D-2120-44D0-862B-D2659336D05F}"/>
              </a:ext>
            </a:extLst>
          </p:cNvPr>
          <p:cNvSpPr txBox="1"/>
          <p:nvPr/>
        </p:nvSpPr>
        <p:spPr>
          <a:xfrm>
            <a:off x="292354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C922A-BB80-4108-AC9A-F619B1E5294C}"/>
              </a:ext>
            </a:extLst>
          </p:cNvPr>
          <p:cNvSpPr txBox="1"/>
          <p:nvPr/>
        </p:nvSpPr>
        <p:spPr>
          <a:xfrm>
            <a:off x="342138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E0D41E-484B-4306-ACCF-151FF12C4160}"/>
              </a:ext>
            </a:extLst>
          </p:cNvPr>
          <p:cNvSpPr txBox="1"/>
          <p:nvPr/>
        </p:nvSpPr>
        <p:spPr>
          <a:xfrm>
            <a:off x="391414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ABFE4F-1935-451C-A29F-3D490B36D902}"/>
              </a:ext>
            </a:extLst>
          </p:cNvPr>
          <p:cNvSpPr txBox="1"/>
          <p:nvPr/>
        </p:nvSpPr>
        <p:spPr>
          <a:xfrm>
            <a:off x="440690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B5D4F-9490-4A5E-BD8D-5174AFEE7523}"/>
              </a:ext>
            </a:extLst>
          </p:cNvPr>
          <p:cNvSpPr txBox="1"/>
          <p:nvPr/>
        </p:nvSpPr>
        <p:spPr>
          <a:xfrm>
            <a:off x="487934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E80C11-C344-42DD-A7DC-8AE2C5A4567C}"/>
              </a:ext>
            </a:extLst>
          </p:cNvPr>
          <p:cNvSpPr txBox="1"/>
          <p:nvPr/>
        </p:nvSpPr>
        <p:spPr>
          <a:xfrm>
            <a:off x="5372100" y="46515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66F734-EF6B-4B07-97D7-22DC6BDBC279}"/>
              </a:ext>
            </a:extLst>
          </p:cNvPr>
          <p:cNvCxnSpPr/>
          <p:nvPr/>
        </p:nvCxnSpPr>
        <p:spPr>
          <a:xfrm>
            <a:off x="2923540" y="5215508"/>
            <a:ext cx="7924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A7F1B2-A474-4E8B-90D2-C7B4C4F73570}"/>
              </a:ext>
            </a:extLst>
          </p:cNvPr>
          <p:cNvCxnSpPr/>
          <p:nvPr/>
        </p:nvCxnSpPr>
        <p:spPr>
          <a:xfrm>
            <a:off x="4975860" y="5215508"/>
            <a:ext cx="79248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5D9AE9-1CCA-4FA7-8EA9-A6B46D110639}"/>
              </a:ext>
            </a:extLst>
          </p:cNvPr>
          <p:cNvSpPr txBox="1"/>
          <p:nvPr/>
        </p:nvSpPr>
        <p:spPr>
          <a:xfrm>
            <a:off x="4466772" y="5201361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0024CA-0574-4127-BD98-A832888D53A7}"/>
              </a:ext>
            </a:extLst>
          </p:cNvPr>
          <p:cNvSpPr txBox="1"/>
          <p:nvPr/>
        </p:nvSpPr>
        <p:spPr>
          <a:xfrm>
            <a:off x="4483100" y="544675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4DB7CB-0367-4D2C-B2D3-775353E9F8BC}"/>
              </a:ext>
            </a:extLst>
          </p:cNvPr>
          <p:cNvSpPr txBox="1"/>
          <p:nvPr/>
        </p:nvSpPr>
        <p:spPr>
          <a:xfrm>
            <a:off x="4132580" y="3146480"/>
            <a:ext cx="78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x=7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4305BEF-37D3-45D0-BBCB-AD12E630580F}"/>
              </a:ext>
            </a:extLst>
          </p:cNvPr>
          <p:cNvSpPr/>
          <p:nvPr/>
        </p:nvSpPr>
        <p:spPr>
          <a:xfrm>
            <a:off x="2832100" y="3884145"/>
            <a:ext cx="1371600" cy="193443"/>
          </a:xfrm>
          <a:custGeom>
            <a:avLst/>
            <a:gdLst>
              <a:gd name="connsiteX0" fmla="*/ 0 w 1371600"/>
              <a:gd name="connsiteY0" fmla="*/ 152803 h 193443"/>
              <a:gd name="connsiteX1" fmla="*/ 690880 w 1371600"/>
              <a:gd name="connsiteY1" fmla="*/ 403 h 193443"/>
              <a:gd name="connsiteX2" fmla="*/ 1371600 w 1371600"/>
              <a:gd name="connsiteY2" fmla="*/ 193443 h 19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193443">
                <a:moveTo>
                  <a:pt x="0" y="152803"/>
                </a:moveTo>
                <a:cubicBezTo>
                  <a:pt x="231140" y="73216"/>
                  <a:pt x="462280" y="-6370"/>
                  <a:pt x="690880" y="403"/>
                </a:cubicBezTo>
                <a:cubicBezTo>
                  <a:pt x="919480" y="7176"/>
                  <a:pt x="1258147" y="174816"/>
                  <a:pt x="1371600" y="19344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1889483-2B8C-417E-8E70-A525EA00C1D4}"/>
              </a:ext>
            </a:extLst>
          </p:cNvPr>
          <p:cNvSpPr/>
          <p:nvPr/>
        </p:nvSpPr>
        <p:spPr>
          <a:xfrm>
            <a:off x="4782820" y="3954944"/>
            <a:ext cx="949960" cy="87081"/>
          </a:xfrm>
          <a:custGeom>
            <a:avLst/>
            <a:gdLst>
              <a:gd name="connsiteX0" fmla="*/ 0 w 1371600"/>
              <a:gd name="connsiteY0" fmla="*/ 152803 h 193443"/>
              <a:gd name="connsiteX1" fmla="*/ 690880 w 1371600"/>
              <a:gd name="connsiteY1" fmla="*/ 403 h 193443"/>
              <a:gd name="connsiteX2" fmla="*/ 1371600 w 1371600"/>
              <a:gd name="connsiteY2" fmla="*/ 193443 h 19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193443">
                <a:moveTo>
                  <a:pt x="0" y="152803"/>
                </a:moveTo>
                <a:cubicBezTo>
                  <a:pt x="231140" y="73216"/>
                  <a:pt x="462280" y="-6370"/>
                  <a:pt x="690880" y="403"/>
                </a:cubicBezTo>
                <a:cubicBezTo>
                  <a:pt x="919480" y="7176"/>
                  <a:pt x="1258147" y="174816"/>
                  <a:pt x="1371600" y="19344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76673E-10E3-4A9E-A0F1-7A3DDDA93AF6}"/>
              </a:ext>
            </a:extLst>
          </p:cNvPr>
          <p:cNvSpPr txBox="1"/>
          <p:nvPr/>
        </p:nvSpPr>
        <p:spPr>
          <a:xfrm>
            <a:off x="3197860" y="3535397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&lt;x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4F719-2578-4415-8958-5F6A04EB0035}"/>
              </a:ext>
            </a:extLst>
          </p:cNvPr>
          <p:cNvSpPr txBox="1"/>
          <p:nvPr/>
        </p:nvSpPr>
        <p:spPr>
          <a:xfrm>
            <a:off x="4914900" y="3535397"/>
            <a:ext cx="5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&gt;x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25C19F-2F82-4CA2-9BD9-3F1CCBEA097A}"/>
              </a:ext>
            </a:extLst>
          </p:cNvPr>
          <p:cNvSpPr/>
          <p:nvPr/>
        </p:nvSpPr>
        <p:spPr>
          <a:xfrm>
            <a:off x="282194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86390F-BCF4-4535-A18E-05C357A2A9AF}"/>
              </a:ext>
            </a:extLst>
          </p:cNvPr>
          <p:cNvSpPr/>
          <p:nvPr/>
        </p:nvSpPr>
        <p:spPr>
          <a:xfrm>
            <a:off x="331978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E63BC2-215D-4317-8FB9-908FC435BC6C}"/>
              </a:ext>
            </a:extLst>
          </p:cNvPr>
          <p:cNvSpPr/>
          <p:nvPr/>
        </p:nvSpPr>
        <p:spPr>
          <a:xfrm>
            <a:off x="378714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290A02-2FC7-4FAA-8D7C-BFA660609EA5}"/>
              </a:ext>
            </a:extLst>
          </p:cNvPr>
          <p:cNvSpPr/>
          <p:nvPr/>
        </p:nvSpPr>
        <p:spPr>
          <a:xfrm>
            <a:off x="427990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1840ED-D529-4FBA-8352-18C5028B9FCC}"/>
              </a:ext>
            </a:extLst>
          </p:cNvPr>
          <p:cNvSpPr/>
          <p:nvPr/>
        </p:nvSpPr>
        <p:spPr>
          <a:xfrm>
            <a:off x="477774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F6CF01-AD7B-46C0-B421-BAAF7751820C}"/>
              </a:ext>
            </a:extLst>
          </p:cNvPr>
          <p:cNvSpPr/>
          <p:nvPr/>
        </p:nvSpPr>
        <p:spPr>
          <a:xfrm>
            <a:off x="5270500" y="1443428"/>
            <a:ext cx="49784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5456C0-CCCF-463F-917A-861913F4EB85}"/>
              </a:ext>
            </a:extLst>
          </p:cNvPr>
          <p:cNvSpPr txBox="1"/>
          <p:nvPr/>
        </p:nvSpPr>
        <p:spPr>
          <a:xfrm>
            <a:off x="2923540" y="1487362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8C019B-BC2A-4B75-937F-A8CA89992C73}"/>
              </a:ext>
            </a:extLst>
          </p:cNvPr>
          <p:cNvSpPr txBox="1"/>
          <p:nvPr/>
        </p:nvSpPr>
        <p:spPr>
          <a:xfrm>
            <a:off x="3421380" y="1487362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C90F74-30E8-452E-A6B0-46A713121C75}"/>
              </a:ext>
            </a:extLst>
          </p:cNvPr>
          <p:cNvSpPr txBox="1"/>
          <p:nvPr/>
        </p:nvSpPr>
        <p:spPr>
          <a:xfrm>
            <a:off x="3914140" y="1487362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5B0884-3826-46BF-86AD-38C094466588}"/>
              </a:ext>
            </a:extLst>
          </p:cNvPr>
          <p:cNvSpPr txBox="1"/>
          <p:nvPr/>
        </p:nvSpPr>
        <p:spPr>
          <a:xfrm>
            <a:off x="4351020" y="1487362"/>
            <a:ext cx="4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578CC6-DF0D-444A-89A9-4FB680B25FF6}"/>
              </a:ext>
            </a:extLst>
          </p:cNvPr>
          <p:cNvSpPr txBox="1"/>
          <p:nvPr/>
        </p:nvSpPr>
        <p:spPr>
          <a:xfrm>
            <a:off x="4843780" y="148736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077EC6-54F2-4A16-A805-356D41F23666}"/>
              </a:ext>
            </a:extLst>
          </p:cNvPr>
          <p:cNvSpPr txBox="1"/>
          <p:nvPr/>
        </p:nvSpPr>
        <p:spPr>
          <a:xfrm>
            <a:off x="5316220" y="148736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1A2ABA-93ED-452C-BF94-FC822995E245}"/>
              </a:ext>
            </a:extLst>
          </p:cNvPr>
          <p:cNvSpPr txBox="1"/>
          <p:nvPr/>
        </p:nvSpPr>
        <p:spPr>
          <a:xfrm>
            <a:off x="292354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0FE6F6-CCA0-47B7-9F20-8B5BB1CA0A2D}"/>
              </a:ext>
            </a:extLst>
          </p:cNvPr>
          <p:cNvSpPr txBox="1"/>
          <p:nvPr/>
        </p:nvSpPr>
        <p:spPr>
          <a:xfrm>
            <a:off x="342138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BFA43E-9BB7-4FC0-B05B-54817815C094}"/>
              </a:ext>
            </a:extLst>
          </p:cNvPr>
          <p:cNvSpPr txBox="1"/>
          <p:nvPr/>
        </p:nvSpPr>
        <p:spPr>
          <a:xfrm>
            <a:off x="391414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EEA8BA-C66C-4482-B611-B189C4CD2E7D}"/>
              </a:ext>
            </a:extLst>
          </p:cNvPr>
          <p:cNvSpPr txBox="1"/>
          <p:nvPr/>
        </p:nvSpPr>
        <p:spPr>
          <a:xfrm>
            <a:off x="440690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4CE8D7-C4BA-47E9-B29A-60AFBB273365}"/>
              </a:ext>
            </a:extLst>
          </p:cNvPr>
          <p:cNvSpPr txBox="1"/>
          <p:nvPr/>
        </p:nvSpPr>
        <p:spPr>
          <a:xfrm>
            <a:off x="487934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0B5D8-773B-48ED-91FD-842EC2F92CE8}"/>
              </a:ext>
            </a:extLst>
          </p:cNvPr>
          <p:cNvSpPr txBox="1"/>
          <p:nvPr/>
        </p:nvSpPr>
        <p:spPr>
          <a:xfrm>
            <a:off x="5372100" y="1976749"/>
            <a:ext cx="294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48C53D-8292-4CCA-9C75-DB87D7E1CA5A}"/>
              </a:ext>
            </a:extLst>
          </p:cNvPr>
          <p:cNvSpPr txBox="1"/>
          <p:nvPr/>
        </p:nvSpPr>
        <p:spPr>
          <a:xfrm>
            <a:off x="2923540" y="4177935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57EF37-CE9F-432D-AB6D-828846F0A5F2}"/>
              </a:ext>
            </a:extLst>
          </p:cNvPr>
          <p:cNvSpPr txBox="1"/>
          <p:nvPr/>
        </p:nvSpPr>
        <p:spPr>
          <a:xfrm>
            <a:off x="3421380" y="4177935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C10BE5-1C14-403E-8B45-7168A2C8465F}"/>
              </a:ext>
            </a:extLst>
          </p:cNvPr>
          <p:cNvSpPr txBox="1"/>
          <p:nvPr/>
        </p:nvSpPr>
        <p:spPr>
          <a:xfrm>
            <a:off x="3914140" y="4177935"/>
            <a:ext cx="29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C7DC8A-90C4-4A59-A690-8629D4B6445E}"/>
              </a:ext>
            </a:extLst>
          </p:cNvPr>
          <p:cNvSpPr txBox="1"/>
          <p:nvPr/>
        </p:nvSpPr>
        <p:spPr>
          <a:xfrm>
            <a:off x="4351020" y="4177935"/>
            <a:ext cx="4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43E50-1C8C-49F7-97E2-3C01CF6D27FF}"/>
              </a:ext>
            </a:extLst>
          </p:cNvPr>
          <p:cNvSpPr txBox="1"/>
          <p:nvPr/>
        </p:nvSpPr>
        <p:spPr>
          <a:xfrm>
            <a:off x="4843780" y="417793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7F3C84-E6BF-4D62-B886-89D9559F8CFC}"/>
              </a:ext>
            </a:extLst>
          </p:cNvPr>
          <p:cNvSpPr txBox="1"/>
          <p:nvPr/>
        </p:nvSpPr>
        <p:spPr>
          <a:xfrm>
            <a:off x="5316220" y="417793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89244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Thủ tục sắp xếp nhanh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2213"/>
            <a:ext cx="8229600" cy="49339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Procedure  quickSort(L,R);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1) If  L&gt;=R then return;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2) i:=L; j:=R ; k:=(L+R) div 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3) x:=a[k];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4) Repeat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	While a[i] &lt;x  Do  i:=i+1;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	While a[j] &gt;x  Do  j:=j-1;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	If  i&lt;j  then  a[i] </a:t>
            </a:r>
            <a:r>
              <a:rPr lang="en-US" altLang="en-US" sz="2400">
                <a:sym typeface="Symbol" pitchFamily="18" charset="2"/>
              </a:rPr>
              <a:t> </a:t>
            </a:r>
            <a:r>
              <a:rPr lang="en-US" altLang="en-US" sz="2400"/>
              <a:t>a[j]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     Until  i=j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5) Call  quickSort(L,j-1);  { Thực hiện trên nửa &lt;x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	6) Call  quickSort(j+1,R);  { Thực hiện trên nửa &gt;x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	Return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4CEF32EE-0FD9-4802-BF4B-67AA747F23A5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4.2. Đánh giá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Người ta đã chứng minh được thời gian trung bình thực hiện giải thuật là: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/>
              <a:t>T</a:t>
            </a:r>
            <a:r>
              <a:rPr lang="en-US" altLang="en-US" baseline="-25000"/>
              <a:t>tb</a:t>
            </a:r>
            <a:r>
              <a:rPr lang="en-US" altLang="en-US"/>
              <a:t>= O(nlog</a:t>
            </a:r>
            <a:r>
              <a:rPr lang="en-US" altLang="en-US" baseline="-25000"/>
              <a:t>2</a:t>
            </a:r>
            <a:r>
              <a:rPr lang="en-US" altLang="en-US"/>
              <a:t>n)</a:t>
            </a:r>
          </a:p>
          <a:p>
            <a:pPr eaLnBrk="1" hangingPunct="1"/>
            <a:r>
              <a:rPr lang="en-US" altLang="en-US"/>
              <a:t>Như vậy, với n khá lớn Quick sort có hiệu lực hơn 3 thuật giải trên.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151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712075" y="6334125"/>
            <a:ext cx="504825" cy="331788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09E34249-4CE7-499E-9C3C-0C5EE25DB4F0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5. Sắp xếp vun đống (Heap Sort)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/>
              <a:t>5.1.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nhị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chiều</a:t>
            </a:r>
            <a:r>
              <a:rPr lang="en-US" altLang="en-US" dirty="0"/>
              <a:t> </a:t>
            </a:r>
            <a:r>
              <a:rPr lang="en-US" altLang="en-US" dirty="0" err="1"/>
              <a:t>cao</a:t>
            </a:r>
            <a:r>
              <a:rPr lang="en-US" altLang="en-US" dirty="0"/>
              <a:t> h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đống</a:t>
            </a:r>
            <a:r>
              <a:rPr lang="en-US" altLang="en-US" dirty="0"/>
              <a:t> </a:t>
            </a:r>
            <a:r>
              <a:rPr lang="en-US" altLang="en-US" dirty="0" err="1"/>
              <a:t>khi</a:t>
            </a:r>
            <a:r>
              <a:rPr lang="en-US" altLang="en-US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nhị</a:t>
            </a:r>
            <a:r>
              <a:rPr lang="en-US" altLang="en-US" dirty="0"/>
              <a:t> </a:t>
            </a:r>
            <a:r>
              <a:rPr lang="en-US" altLang="en-US" err="1"/>
              <a:t>phân</a:t>
            </a:r>
            <a:r>
              <a:rPr lang="en-US" altLang="en-US"/>
              <a:t> tương đối hoàn </a:t>
            </a:r>
            <a:r>
              <a:rPr lang="en-US" altLang="en-US" dirty="0" err="1"/>
              <a:t>chỉnh</a:t>
            </a:r>
            <a:r>
              <a:rPr lang="en-US" altLang="en-US" dirty="0"/>
              <a:t> </a:t>
            </a:r>
            <a:r>
              <a:rPr lang="en-US" altLang="en-US" dirty="0" err="1"/>
              <a:t>mà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nút</a:t>
            </a:r>
            <a:r>
              <a:rPr lang="en-US" altLang="en-US" dirty="0"/>
              <a:t> </a:t>
            </a:r>
            <a:r>
              <a:rPr lang="en-US" altLang="en-US" dirty="0" err="1"/>
              <a:t>lá</a:t>
            </a:r>
            <a:r>
              <a:rPr lang="en-US" altLang="en-US" dirty="0"/>
              <a:t> ở </a:t>
            </a:r>
            <a:r>
              <a:rPr lang="en-US" altLang="en-US" err="1"/>
              <a:t>mức</a:t>
            </a:r>
            <a:r>
              <a:rPr lang="en-US" altLang="en-US"/>
              <a:t> h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nằm</a:t>
            </a:r>
            <a:r>
              <a:rPr lang="en-US" altLang="en-US" dirty="0"/>
              <a:t> </a:t>
            </a:r>
            <a:r>
              <a:rPr lang="en-US" altLang="en-US" dirty="0" err="1"/>
              <a:t>phía</a:t>
            </a:r>
            <a:r>
              <a:rPr lang="en-US" altLang="en-US" dirty="0"/>
              <a:t> </a:t>
            </a:r>
            <a:r>
              <a:rPr lang="en-US" altLang="en-US" dirty="0" err="1"/>
              <a:t>bên</a:t>
            </a:r>
            <a:r>
              <a:rPr lang="en-US" altLang="en-US" dirty="0"/>
              <a:t> </a:t>
            </a:r>
            <a:r>
              <a:rPr lang="en-US" altLang="en-US" dirty="0" err="1"/>
              <a:t>trái</a:t>
            </a:r>
            <a:r>
              <a:rPr lang="en-US" altLang="en-US" dirty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/>
              <a:t>Khoá</a:t>
            </a:r>
            <a:r>
              <a:rPr lang="en-US" altLang="en-US" dirty="0"/>
              <a:t> ở </a:t>
            </a:r>
            <a:r>
              <a:rPr lang="en-US" altLang="en-US" dirty="0" err="1"/>
              <a:t>nút</a:t>
            </a:r>
            <a:r>
              <a:rPr lang="en-US" altLang="en-US" dirty="0"/>
              <a:t> cha bao </a:t>
            </a:r>
            <a:r>
              <a:rPr lang="en-US" altLang="en-US" dirty="0" err="1"/>
              <a:t>giờ</a:t>
            </a:r>
            <a:r>
              <a:rPr lang="en-US" altLang="en-US" dirty="0"/>
              <a:t> </a:t>
            </a:r>
            <a:r>
              <a:rPr lang="en-US" altLang="en-US" dirty="0" err="1"/>
              <a:t>cũng</a:t>
            </a:r>
            <a:r>
              <a:rPr lang="en-US" altLang="en-US" dirty="0"/>
              <a:t> </a:t>
            </a:r>
            <a:r>
              <a:rPr lang="en-US" altLang="en-US" dirty="0" err="1"/>
              <a:t>lớn</a:t>
            </a:r>
            <a:r>
              <a:rPr lang="en-US" altLang="en-US" dirty="0"/>
              <a:t> </a:t>
            </a:r>
            <a:r>
              <a:rPr lang="en-US" altLang="en-US" dirty="0" err="1"/>
              <a:t>hơn</a:t>
            </a:r>
            <a:r>
              <a:rPr lang="en-US" altLang="en-US" dirty="0"/>
              <a:t> </a:t>
            </a:r>
            <a:r>
              <a:rPr lang="en-US" altLang="en-US" dirty="0" err="1"/>
              <a:t>khoá</a:t>
            </a:r>
            <a:r>
              <a:rPr lang="en-US" altLang="en-US" dirty="0"/>
              <a:t> ở </a:t>
            </a:r>
            <a:r>
              <a:rPr lang="en-US" altLang="en-US" dirty="0" err="1"/>
              <a:t>nút</a:t>
            </a:r>
            <a:r>
              <a:rPr lang="en-US" altLang="en-US" dirty="0"/>
              <a:t> con.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3E8B35E-BE78-4CE7-A2AE-4CC804E3B901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0" y="736600"/>
          <a:ext cx="9142413" cy="484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3070876" progId="Word.Document.8">
                  <p:embed/>
                </p:oleObj>
              </mc:Choice>
              <mc:Fallback>
                <p:oleObj name="Document" r:id="rId2" imgW="5788639" imgH="3070876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36600"/>
                        <a:ext cx="9142413" cy="484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1EC292E-3B59-438C-AB8A-3FC511610243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5. Sắp xếp vun đống (Heap Sort)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43345" y="1260764"/>
            <a:ext cx="8505446" cy="509558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000" dirty="0"/>
              <a:t>5.1. </a:t>
            </a:r>
            <a:r>
              <a:rPr lang="en-US" altLang="en-US" sz="3000" dirty="0" err="1"/>
              <a:t>Phương</a:t>
            </a:r>
            <a:r>
              <a:rPr lang="en-US" altLang="en-US" sz="3000" dirty="0"/>
              <a:t> </a:t>
            </a:r>
            <a:r>
              <a:rPr lang="en-US" altLang="en-US" sz="3000" dirty="0" err="1"/>
              <a:t>pháp</a:t>
            </a:r>
            <a:endParaRPr lang="en-US" altLang="en-US" sz="3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3000" dirty="0" err="1"/>
              <a:t>Thuật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toán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sắp</a:t>
            </a:r>
            <a:r>
              <a:rPr lang="en-US" altLang="en-US" sz="3000" dirty="0"/>
              <a:t> </a:t>
            </a:r>
            <a:r>
              <a:rPr lang="en-US" altLang="en-US" sz="3000" dirty="0" err="1"/>
              <a:t>xếp</a:t>
            </a:r>
            <a:r>
              <a:rPr lang="en-US" altLang="en-US" sz="3000" dirty="0"/>
              <a:t> </a:t>
            </a:r>
            <a:r>
              <a:rPr lang="en-US" altLang="en-US" sz="3000" dirty="0" err="1"/>
              <a:t>vun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đống</a:t>
            </a:r>
            <a:r>
              <a:rPr lang="en-US" altLang="en-US" sz="3000" dirty="0"/>
              <a:t> chia </a:t>
            </a:r>
            <a:r>
              <a:rPr lang="en-US" altLang="en-US" sz="3000" dirty="0" err="1"/>
              <a:t>làm</a:t>
            </a:r>
            <a:r>
              <a:rPr lang="en-US" altLang="en-US" sz="3000" dirty="0"/>
              <a:t> 2 </a:t>
            </a:r>
            <a:r>
              <a:rPr lang="en-US" altLang="en-US" sz="3000" dirty="0" err="1"/>
              <a:t>giai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đoạn</a:t>
            </a:r>
            <a:r>
              <a:rPr lang="en-US" altLang="en-US" sz="30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 dirty="0" err="1"/>
              <a:t>Giai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đoạn</a:t>
            </a:r>
            <a:r>
              <a:rPr lang="en-US" altLang="en-US" sz="3000" dirty="0"/>
              <a:t> 1: </a:t>
            </a:r>
            <a:r>
              <a:rPr lang="en-US" altLang="en-US" sz="3000" dirty="0" err="1"/>
              <a:t>Tạo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đống</a:t>
            </a:r>
            <a:r>
              <a:rPr lang="en-US" altLang="en-US" sz="3000" dirty="0"/>
              <a:t> ban </a:t>
            </a:r>
            <a:r>
              <a:rPr lang="en-US" altLang="en-US" sz="3000" dirty="0" err="1"/>
              <a:t>đầu</a:t>
            </a:r>
            <a:endParaRPr lang="en-US" altLang="en-US" sz="3000" dirty="0"/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3000" dirty="0" err="1"/>
              <a:t>Từ</a:t>
            </a:r>
            <a:r>
              <a:rPr lang="en-US" altLang="en-US" sz="3000" dirty="0"/>
              <a:t> </a:t>
            </a:r>
            <a:r>
              <a:rPr lang="en-US" altLang="en-US" sz="3000" dirty="0" err="1"/>
              <a:t>dãy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khóa</a:t>
            </a:r>
            <a:r>
              <a:rPr lang="en-US" altLang="en-US" sz="3000" dirty="0"/>
              <a:t> ban </a:t>
            </a:r>
            <a:r>
              <a:rPr lang="en-US" altLang="en-US" sz="3000" dirty="0" err="1"/>
              <a:t>đầu</a:t>
            </a:r>
            <a:r>
              <a:rPr lang="en-US" altLang="en-US" sz="3000" dirty="0"/>
              <a:t> </a:t>
            </a:r>
            <a:r>
              <a:rPr lang="en-US" altLang="en-US" sz="3000" dirty="0" err="1"/>
              <a:t>ánh</a:t>
            </a:r>
            <a:r>
              <a:rPr lang="en-US" altLang="en-US" sz="3000" dirty="0"/>
              <a:t> </a:t>
            </a:r>
            <a:r>
              <a:rPr lang="en-US" altLang="en-US" sz="3000" dirty="0" err="1"/>
              <a:t>xạ</a:t>
            </a:r>
            <a:r>
              <a:rPr lang="en-US" altLang="en-US" sz="3000" dirty="0"/>
              <a:t> sang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nhị</a:t>
            </a:r>
            <a:r>
              <a:rPr lang="en-US" altLang="en-US" sz="3000" dirty="0"/>
              <a:t> </a:t>
            </a:r>
            <a:r>
              <a:rPr lang="en-US" altLang="en-US" sz="3000" dirty="0" err="1"/>
              <a:t>phân</a:t>
            </a:r>
            <a:endParaRPr lang="en-US" altLang="en-US" sz="3000" dirty="0"/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3000" dirty="0" err="1"/>
              <a:t>Vun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nhị</a:t>
            </a:r>
            <a:r>
              <a:rPr lang="en-US" altLang="en-US" sz="3000" dirty="0"/>
              <a:t> </a:t>
            </a:r>
            <a:r>
              <a:rPr lang="en-US" altLang="en-US" sz="3000" dirty="0" err="1"/>
              <a:t>phân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từ</a:t>
            </a:r>
            <a:r>
              <a:rPr lang="en-US" altLang="en-US" sz="3000" dirty="0"/>
              <a:t> </a:t>
            </a:r>
            <a:r>
              <a:rPr lang="en-US" altLang="en-US" sz="3000" dirty="0" err="1"/>
              <a:t>dưới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lên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trên</a:t>
            </a:r>
            <a:r>
              <a:rPr lang="en-US" altLang="en-US" sz="3000" dirty="0"/>
              <a:t>, </a:t>
            </a:r>
            <a:r>
              <a:rPr lang="en-US" altLang="en-US" sz="3000" dirty="0" err="1"/>
              <a:t>từ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con </a:t>
            </a:r>
            <a:r>
              <a:rPr lang="en-US" altLang="en-US" sz="3000" dirty="0" err="1"/>
              <a:t>gốc</a:t>
            </a:r>
            <a:r>
              <a:rPr lang="en-US" altLang="en-US" sz="3000" dirty="0"/>
              <a:t> [n/2] </a:t>
            </a:r>
            <a:r>
              <a:rPr lang="en-US" altLang="en-US" sz="3000" dirty="0" err="1"/>
              <a:t>về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gốc</a:t>
            </a:r>
            <a:r>
              <a:rPr lang="en-US" altLang="en-US" sz="3000" dirty="0"/>
              <a:t> 1 </a:t>
            </a:r>
            <a:r>
              <a:rPr lang="en-US" altLang="en-US" sz="3000" dirty="0" err="1"/>
              <a:t>để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tạo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đống</a:t>
            </a:r>
            <a:r>
              <a:rPr lang="en-US" altLang="en-US" sz="3000" dirty="0"/>
              <a:t> ban </a:t>
            </a:r>
            <a:r>
              <a:rPr lang="en-US" altLang="en-US" sz="3000" dirty="0" err="1"/>
              <a:t>đầu</a:t>
            </a:r>
            <a:r>
              <a:rPr lang="en-US" altLang="en-US" sz="3000" dirty="0"/>
              <a:t>.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3000" dirty="0" err="1"/>
              <a:t>Giai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đoạn</a:t>
            </a:r>
            <a:r>
              <a:rPr lang="en-US" altLang="en-US" sz="3000" dirty="0"/>
              <a:t> 2: </a:t>
            </a:r>
            <a:r>
              <a:rPr lang="en-US" altLang="en-US" sz="3000" dirty="0" err="1"/>
              <a:t>Sắp</a:t>
            </a:r>
            <a:r>
              <a:rPr lang="en-US" altLang="en-US" sz="3000" dirty="0"/>
              <a:t> </a:t>
            </a:r>
            <a:r>
              <a:rPr lang="en-US" altLang="en-US" sz="3000" dirty="0" err="1"/>
              <a:t>xếp</a:t>
            </a:r>
            <a:endParaRPr lang="en-US" altLang="en-US" sz="3000" dirty="0"/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3000" dirty="0" err="1"/>
              <a:t>Đổi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chỗ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nút</a:t>
            </a:r>
            <a:r>
              <a:rPr lang="en-US" altLang="en-US" sz="3000" dirty="0"/>
              <a:t> </a:t>
            </a:r>
            <a:r>
              <a:rPr lang="en-US" altLang="en-US" sz="3000" dirty="0" err="1"/>
              <a:t>gốc</a:t>
            </a:r>
            <a:r>
              <a:rPr lang="en-US" altLang="en-US" sz="3000" dirty="0"/>
              <a:t> 1 </a:t>
            </a:r>
            <a:r>
              <a:rPr lang="en-US" altLang="en-US" sz="3000" dirty="0" err="1"/>
              <a:t>cho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nút</a:t>
            </a:r>
            <a:r>
              <a:rPr lang="en-US" altLang="en-US" sz="3000" dirty="0"/>
              <a:t> n, </a:t>
            </a:r>
            <a:r>
              <a:rPr lang="en-US" altLang="en-US" sz="3000" dirty="0" err="1"/>
              <a:t>loại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bỏ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nút</a:t>
            </a:r>
            <a:r>
              <a:rPr lang="en-US" altLang="en-US" sz="3000" dirty="0"/>
              <a:t> n, </a:t>
            </a:r>
            <a:r>
              <a:rPr lang="en-US" altLang="en-US" sz="3000" err="1"/>
              <a:t>hiệu</a:t>
            </a:r>
            <a:r>
              <a:rPr lang="en-US" altLang="en-US" sz="3000"/>
              <a:t> chỉnh lại (vun đống lại)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gốc</a:t>
            </a:r>
            <a:r>
              <a:rPr lang="en-US" altLang="en-US" sz="3000" dirty="0"/>
              <a:t> 1 </a:t>
            </a:r>
            <a:r>
              <a:rPr lang="en-US" altLang="en-US" sz="3000" dirty="0" err="1"/>
              <a:t>với</a:t>
            </a:r>
            <a:r>
              <a:rPr lang="en-US" altLang="en-US" sz="3000" dirty="0"/>
              <a:t> n-1 </a:t>
            </a:r>
            <a:r>
              <a:rPr lang="en-US" altLang="en-US" sz="3000" dirty="0" err="1"/>
              <a:t>nút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còn</a:t>
            </a:r>
            <a:r>
              <a:rPr lang="en-US" altLang="en-US" sz="3000" dirty="0"/>
              <a:t> </a:t>
            </a:r>
            <a:r>
              <a:rPr lang="en-US" altLang="en-US" sz="3000" dirty="0" err="1"/>
              <a:t>lại</a:t>
            </a:r>
            <a:r>
              <a:rPr lang="en-US" altLang="en-US" sz="3000" dirty="0"/>
              <a:t>.</a:t>
            </a:r>
          </a:p>
          <a:p>
            <a:pPr eaLnBrk="1" hangingPunct="1">
              <a:lnSpc>
                <a:spcPct val="90000"/>
              </a:lnSpc>
              <a:buFontTx/>
              <a:buChar char="-"/>
            </a:pPr>
            <a:r>
              <a:rPr lang="en-US" altLang="en-US" sz="3000" dirty="0" err="1"/>
              <a:t>Cứ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tiếp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tục</a:t>
            </a:r>
            <a:r>
              <a:rPr lang="en-US" altLang="en-US" sz="3000" dirty="0"/>
              <a:t> </a:t>
            </a:r>
            <a:r>
              <a:rPr lang="en-US" altLang="en-US" sz="3000" dirty="0" err="1"/>
              <a:t>như</a:t>
            </a:r>
            <a:r>
              <a:rPr lang="en-US" altLang="en-US" sz="3000" dirty="0"/>
              <a:t> </a:t>
            </a:r>
            <a:r>
              <a:rPr lang="en-US" altLang="en-US" sz="3000" dirty="0" err="1"/>
              <a:t>vậy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cho</a:t>
            </a:r>
            <a:r>
              <a:rPr lang="en-US" altLang="en-US" sz="3000" dirty="0"/>
              <a:t> </a:t>
            </a:r>
            <a:r>
              <a:rPr lang="en-US" altLang="en-US" sz="3000" dirty="0" err="1"/>
              <a:t>tới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khi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cây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chỉ</a:t>
            </a:r>
            <a:r>
              <a:rPr lang="en-US" altLang="en-US" sz="3000" dirty="0"/>
              <a:t> </a:t>
            </a:r>
            <a:r>
              <a:rPr lang="en-US" altLang="en-US" sz="3000" dirty="0" err="1"/>
              <a:t>còn</a:t>
            </a:r>
            <a:r>
              <a:rPr lang="en-US" altLang="en-US" sz="3000" dirty="0"/>
              <a:t> 1 </a:t>
            </a:r>
            <a:r>
              <a:rPr lang="en-US" altLang="en-US" sz="3000" dirty="0" err="1"/>
              <a:t>nút</a:t>
            </a:r>
            <a:r>
              <a:rPr lang="en-US" altLang="en-US" sz="30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D86B93D-BCFB-40C6-B371-76C8C9EC660C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0" y="234950"/>
          <a:ext cx="9144000" cy="580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97386" imgH="3683694" progId="Word.Document.8">
                  <p:embed/>
                </p:oleObj>
              </mc:Choice>
              <mc:Fallback>
                <p:oleObj name="Document" r:id="rId2" imgW="5797386" imgH="3683694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34950"/>
                        <a:ext cx="9144000" cy="580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BBD882B9-15A0-415E-96AA-F565CB14E947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7D223-1373-4C54-8D98-90368AD3FFF1}"/>
              </a:ext>
            </a:extLst>
          </p:cNvPr>
          <p:cNvSpPr txBox="1"/>
          <p:nvPr/>
        </p:nvSpPr>
        <p:spPr>
          <a:xfrm>
            <a:off x="2011680" y="2895600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6129B-2A0C-4BFB-A5A1-D699C5DC4D14}"/>
              </a:ext>
            </a:extLst>
          </p:cNvPr>
          <p:cNvSpPr txBox="1"/>
          <p:nvPr/>
        </p:nvSpPr>
        <p:spPr>
          <a:xfrm>
            <a:off x="955040" y="4277360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D1AF2-AABB-4546-BB1B-93B604D2CD62}"/>
              </a:ext>
            </a:extLst>
          </p:cNvPr>
          <p:cNvSpPr txBox="1"/>
          <p:nvPr/>
        </p:nvSpPr>
        <p:spPr>
          <a:xfrm>
            <a:off x="2961640" y="4277360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A4E82-0DC6-4135-841E-6748C95FA49E}"/>
              </a:ext>
            </a:extLst>
          </p:cNvPr>
          <p:cNvSpPr txBox="1"/>
          <p:nvPr/>
        </p:nvSpPr>
        <p:spPr>
          <a:xfrm>
            <a:off x="294640" y="5620862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92392-15C7-489C-ABF0-1D4A009D4C6D}"/>
              </a:ext>
            </a:extLst>
          </p:cNvPr>
          <p:cNvSpPr txBox="1"/>
          <p:nvPr/>
        </p:nvSpPr>
        <p:spPr>
          <a:xfrm>
            <a:off x="2011680" y="5653724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F09948-6F0E-4531-BF7B-5C5D71F9DCA7}"/>
              </a:ext>
            </a:extLst>
          </p:cNvPr>
          <p:cNvSpPr txBox="1"/>
          <p:nvPr/>
        </p:nvSpPr>
        <p:spPr>
          <a:xfrm>
            <a:off x="3124200" y="5653724"/>
            <a:ext cx="32512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81">
            <a:extLst>
              <a:ext uri="{FF2B5EF4-FFF2-40B4-BE49-F238E27FC236}">
                <a16:creationId xmlns:a16="http://schemas.microsoft.com/office/drawing/2014/main" id="{DFA6347E-9144-405C-9315-DFEA12AE388D}"/>
              </a:ext>
            </a:extLst>
          </p:cNvPr>
          <p:cNvSpPr/>
          <p:nvPr/>
        </p:nvSpPr>
        <p:spPr>
          <a:xfrm>
            <a:off x="3356928" y="589141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D9D1F-185D-45D6-8B4F-E6CF466B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105"/>
            <a:ext cx="8229600" cy="660082"/>
          </a:xfrm>
        </p:spPr>
        <p:txBody>
          <a:bodyPr/>
          <a:lstStyle/>
          <a:p>
            <a:r>
              <a:rPr lang="en-US"/>
              <a:t>Vun đống ban đầu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CE07C-FA6D-4D1D-855E-E3C0DCB2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15966-F3A6-45AE-AEBF-DEEF355C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0A6A-1511-4D64-A55D-6A6DBED3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DF7FFA-F7B3-4D9F-9778-1BC653B558A6}"/>
              </a:ext>
            </a:extLst>
          </p:cNvPr>
          <p:cNvSpPr/>
          <p:nvPr/>
        </p:nvSpPr>
        <p:spPr>
          <a:xfrm>
            <a:off x="2644021" y="135128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D9A5A-B55D-4ADA-A9B4-75F9BBEA41D5}"/>
              </a:ext>
            </a:extLst>
          </p:cNvPr>
          <p:cNvSpPr txBox="1"/>
          <p:nvPr/>
        </p:nvSpPr>
        <p:spPr>
          <a:xfrm>
            <a:off x="2694821" y="14358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7EBEAF-7AEF-4B94-9D59-0869044ADC1A}"/>
              </a:ext>
            </a:extLst>
          </p:cNvPr>
          <p:cNvSpPr/>
          <p:nvPr/>
        </p:nvSpPr>
        <p:spPr>
          <a:xfrm>
            <a:off x="1546741" y="210312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3B09EF-7842-43F3-B5F1-2AA33A34CB70}"/>
              </a:ext>
            </a:extLst>
          </p:cNvPr>
          <p:cNvSpPr txBox="1"/>
          <p:nvPr/>
        </p:nvSpPr>
        <p:spPr>
          <a:xfrm>
            <a:off x="1597541" y="218769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42E619-A3ED-4249-9A4D-0C4E4FB3A9D4}"/>
              </a:ext>
            </a:extLst>
          </p:cNvPr>
          <p:cNvSpPr/>
          <p:nvPr/>
        </p:nvSpPr>
        <p:spPr>
          <a:xfrm>
            <a:off x="3812421" y="210312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A0EAB1-FD62-45B2-8933-BDE16CF2370A}"/>
              </a:ext>
            </a:extLst>
          </p:cNvPr>
          <p:cNvSpPr txBox="1"/>
          <p:nvPr/>
        </p:nvSpPr>
        <p:spPr>
          <a:xfrm>
            <a:off x="3863221" y="218769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3FD152-B6DD-47E7-AFEE-7BEB5AF29CE8}"/>
              </a:ext>
            </a:extLst>
          </p:cNvPr>
          <p:cNvCxnSpPr>
            <a:stCxn id="7" idx="3"/>
            <a:endCxn id="9" idx="7"/>
          </p:cNvCxnSpPr>
          <p:nvPr/>
        </p:nvCxnSpPr>
        <p:spPr>
          <a:xfrm flipH="1">
            <a:off x="2006362" y="1810901"/>
            <a:ext cx="716518" cy="371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5EB852-5E6C-4D4E-8043-9B8252F5916B}"/>
              </a:ext>
            </a:extLst>
          </p:cNvPr>
          <p:cNvCxnSpPr>
            <a:cxnSpLocks/>
            <a:stCxn id="11" idx="2"/>
            <a:endCxn id="7" idx="5"/>
          </p:cNvCxnSpPr>
          <p:nvPr/>
        </p:nvCxnSpPr>
        <p:spPr>
          <a:xfrm flipH="1" flipV="1">
            <a:off x="3103642" y="1810901"/>
            <a:ext cx="708779" cy="56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13F54CA-9AA7-4866-A5C5-A8DB16AF268D}"/>
              </a:ext>
            </a:extLst>
          </p:cNvPr>
          <p:cNvSpPr/>
          <p:nvPr/>
        </p:nvSpPr>
        <p:spPr>
          <a:xfrm>
            <a:off x="723781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9C8C63-04FB-4924-8969-B3A865D97A51}"/>
              </a:ext>
            </a:extLst>
          </p:cNvPr>
          <p:cNvSpPr txBox="1"/>
          <p:nvPr/>
        </p:nvSpPr>
        <p:spPr>
          <a:xfrm>
            <a:off x="774581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34CD33-3054-42C3-9504-2D7B3412BAE9}"/>
              </a:ext>
            </a:extLst>
          </p:cNvPr>
          <p:cNvCxnSpPr>
            <a:stCxn id="9" idx="3"/>
            <a:endCxn id="18" idx="7"/>
          </p:cNvCxnSpPr>
          <p:nvPr/>
        </p:nvCxnSpPr>
        <p:spPr>
          <a:xfrm flipH="1">
            <a:off x="1183402" y="2562741"/>
            <a:ext cx="442198" cy="57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B7A34DD-EFD0-47F3-B98C-51DF757F3C7E}"/>
              </a:ext>
            </a:extLst>
          </p:cNvPr>
          <p:cNvSpPr/>
          <p:nvPr/>
        </p:nvSpPr>
        <p:spPr>
          <a:xfrm>
            <a:off x="2105303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2A49B-2724-4A00-A151-70CE0CA2FAAC}"/>
              </a:ext>
            </a:extLst>
          </p:cNvPr>
          <p:cNvSpPr txBox="1"/>
          <p:nvPr/>
        </p:nvSpPr>
        <p:spPr>
          <a:xfrm>
            <a:off x="2156103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A9CDA2-60FD-465F-AF69-FE347D21E512}"/>
              </a:ext>
            </a:extLst>
          </p:cNvPr>
          <p:cNvCxnSpPr>
            <a:cxnSpLocks/>
            <a:stCxn id="9" idx="5"/>
            <a:endCxn id="22" idx="0"/>
          </p:cNvCxnSpPr>
          <p:nvPr/>
        </p:nvCxnSpPr>
        <p:spPr>
          <a:xfrm>
            <a:off x="2006362" y="2562741"/>
            <a:ext cx="368181" cy="494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0B178306-F3A4-4229-BD88-B9DD4C2C5DE5}"/>
              </a:ext>
            </a:extLst>
          </p:cNvPr>
          <p:cNvSpPr/>
          <p:nvPr/>
        </p:nvSpPr>
        <p:spPr>
          <a:xfrm>
            <a:off x="3436025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921E64-E178-4F43-80F0-B80EBC822F58}"/>
              </a:ext>
            </a:extLst>
          </p:cNvPr>
          <p:cNvSpPr txBox="1"/>
          <p:nvPr/>
        </p:nvSpPr>
        <p:spPr>
          <a:xfrm>
            <a:off x="3486825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58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B2D2BDA-4056-471D-BCF0-D1DE6E30954C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705265" y="2594094"/>
            <a:ext cx="271424" cy="462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7C34F7A-5548-4F9C-8557-2F08CAF90BF0}"/>
              </a:ext>
            </a:extLst>
          </p:cNvPr>
          <p:cNvSpPr txBox="1"/>
          <p:nvPr/>
        </p:nvSpPr>
        <p:spPr>
          <a:xfrm>
            <a:off x="2345273" y="1540788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66F450-1217-4B0B-A7CC-28EB3C788C16}"/>
              </a:ext>
            </a:extLst>
          </p:cNvPr>
          <p:cNvSpPr txBox="1"/>
          <p:nvPr/>
        </p:nvSpPr>
        <p:spPr>
          <a:xfrm>
            <a:off x="2345273" y="1529735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08CDDB-B9F9-4F21-AB38-FB10BB6E7623}"/>
              </a:ext>
            </a:extLst>
          </p:cNvPr>
          <p:cNvSpPr txBox="1"/>
          <p:nvPr/>
        </p:nvSpPr>
        <p:spPr>
          <a:xfrm>
            <a:off x="1217146" y="2350859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5F158D-859A-4BA0-BC2B-FB966BAF42C1}"/>
              </a:ext>
            </a:extLst>
          </p:cNvPr>
          <p:cNvSpPr txBox="1"/>
          <p:nvPr/>
        </p:nvSpPr>
        <p:spPr>
          <a:xfrm>
            <a:off x="3523099" y="2361565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1B0FC4-49F7-4F42-89B2-697C53942937}"/>
              </a:ext>
            </a:extLst>
          </p:cNvPr>
          <p:cNvSpPr txBox="1"/>
          <p:nvPr/>
        </p:nvSpPr>
        <p:spPr>
          <a:xfrm>
            <a:off x="485626" y="3428057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DE641C-F937-4BA6-8089-CA1A336B4E13}"/>
              </a:ext>
            </a:extLst>
          </p:cNvPr>
          <p:cNvSpPr txBox="1"/>
          <p:nvPr/>
        </p:nvSpPr>
        <p:spPr>
          <a:xfrm>
            <a:off x="1847066" y="3428057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2C2A49-8122-43A1-9B56-AFC6D29206CE}"/>
              </a:ext>
            </a:extLst>
          </p:cNvPr>
          <p:cNvSpPr txBox="1"/>
          <p:nvPr/>
        </p:nvSpPr>
        <p:spPr>
          <a:xfrm>
            <a:off x="3182501" y="3430259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DD793C-D597-42A7-A54B-3B95C3C8C432}"/>
              </a:ext>
            </a:extLst>
          </p:cNvPr>
          <p:cNvSpPr txBox="1"/>
          <p:nvPr/>
        </p:nvSpPr>
        <p:spPr>
          <a:xfrm>
            <a:off x="372568" y="960581"/>
            <a:ext cx="275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2) Vun đống cây gốc 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972A35-9BAB-4443-9409-21FA9291C1CD}"/>
              </a:ext>
            </a:extLst>
          </p:cNvPr>
          <p:cNvSpPr/>
          <p:nvPr/>
        </p:nvSpPr>
        <p:spPr>
          <a:xfrm>
            <a:off x="7038200" y="135128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387D04-3290-41A8-8071-1F6B31347286}"/>
              </a:ext>
            </a:extLst>
          </p:cNvPr>
          <p:cNvSpPr txBox="1"/>
          <p:nvPr/>
        </p:nvSpPr>
        <p:spPr>
          <a:xfrm>
            <a:off x="7089000" y="14358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5E2A396-19F6-4C1A-80B1-5E6F33BBFFA9}"/>
              </a:ext>
            </a:extLst>
          </p:cNvPr>
          <p:cNvSpPr/>
          <p:nvPr/>
        </p:nvSpPr>
        <p:spPr>
          <a:xfrm>
            <a:off x="5940920" y="210312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DC3992-ED48-4EBD-9B46-C522AAB929EC}"/>
              </a:ext>
            </a:extLst>
          </p:cNvPr>
          <p:cNvSpPr txBox="1"/>
          <p:nvPr/>
        </p:nvSpPr>
        <p:spPr>
          <a:xfrm>
            <a:off x="5991720" y="218769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65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E2BB07C-E44B-4356-91CB-6A5E2034C064}"/>
              </a:ext>
            </a:extLst>
          </p:cNvPr>
          <p:cNvSpPr/>
          <p:nvPr/>
        </p:nvSpPr>
        <p:spPr>
          <a:xfrm>
            <a:off x="8206600" y="2103120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75E4D-F28C-4ADD-A1D5-38D4DEC0E0EF}"/>
              </a:ext>
            </a:extLst>
          </p:cNvPr>
          <p:cNvSpPr txBox="1"/>
          <p:nvPr/>
        </p:nvSpPr>
        <p:spPr>
          <a:xfrm>
            <a:off x="8257400" y="218769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74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5755B8-8DF5-4BB5-94B7-41F2E3B89E6F}"/>
              </a:ext>
            </a:extLst>
          </p:cNvPr>
          <p:cNvCxnSpPr>
            <a:stCxn id="42" idx="3"/>
            <a:endCxn id="44" idx="7"/>
          </p:cNvCxnSpPr>
          <p:nvPr/>
        </p:nvCxnSpPr>
        <p:spPr>
          <a:xfrm flipH="1">
            <a:off x="6400541" y="1810901"/>
            <a:ext cx="716518" cy="371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EDD8DC7-8881-449F-A9AB-4C65FCA08B3D}"/>
              </a:ext>
            </a:extLst>
          </p:cNvPr>
          <p:cNvCxnSpPr>
            <a:cxnSpLocks/>
            <a:stCxn id="46" idx="2"/>
            <a:endCxn id="42" idx="5"/>
          </p:cNvCxnSpPr>
          <p:nvPr/>
        </p:nvCxnSpPr>
        <p:spPr>
          <a:xfrm flipH="1" flipV="1">
            <a:off x="7497821" y="1810901"/>
            <a:ext cx="708779" cy="56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73F5A4E1-7FD3-48FC-BD26-9F81D8B618A2}"/>
              </a:ext>
            </a:extLst>
          </p:cNvPr>
          <p:cNvSpPr/>
          <p:nvPr/>
        </p:nvSpPr>
        <p:spPr>
          <a:xfrm>
            <a:off x="5117960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BF508C-E446-4C90-BA51-53CCA9A369D7}"/>
              </a:ext>
            </a:extLst>
          </p:cNvPr>
          <p:cNvSpPr txBox="1"/>
          <p:nvPr/>
        </p:nvSpPr>
        <p:spPr>
          <a:xfrm>
            <a:off x="5168760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93431A2-7F72-406B-B829-5373268BAA54}"/>
              </a:ext>
            </a:extLst>
          </p:cNvPr>
          <p:cNvCxnSpPr>
            <a:stCxn id="44" idx="3"/>
            <a:endCxn id="50" idx="7"/>
          </p:cNvCxnSpPr>
          <p:nvPr/>
        </p:nvCxnSpPr>
        <p:spPr>
          <a:xfrm flipH="1">
            <a:off x="5577581" y="2562741"/>
            <a:ext cx="442198" cy="57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01D7E23F-03B3-418A-9799-2D0C7653C785}"/>
              </a:ext>
            </a:extLst>
          </p:cNvPr>
          <p:cNvSpPr/>
          <p:nvPr/>
        </p:nvSpPr>
        <p:spPr>
          <a:xfrm>
            <a:off x="6499482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D29AF-9AA8-4597-9444-861E70E4FEDC}"/>
              </a:ext>
            </a:extLst>
          </p:cNvPr>
          <p:cNvSpPr txBox="1"/>
          <p:nvPr/>
        </p:nvSpPr>
        <p:spPr>
          <a:xfrm>
            <a:off x="6550282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DE1683E-A8EC-4E06-B744-0919D887108C}"/>
              </a:ext>
            </a:extLst>
          </p:cNvPr>
          <p:cNvCxnSpPr>
            <a:cxnSpLocks/>
            <a:stCxn id="44" idx="5"/>
            <a:endCxn id="53" idx="0"/>
          </p:cNvCxnSpPr>
          <p:nvPr/>
        </p:nvCxnSpPr>
        <p:spPr>
          <a:xfrm>
            <a:off x="6400541" y="2562741"/>
            <a:ext cx="368181" cy="494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B265025B-B44E-4A9F-821F-64152E018DAF}"/>
              </a:ext>
            </a:extLst>
          </p:cNvPr>
          <p:cNvSpPr/>
          <p:nvPr/>
        </p:nvSpPr>
        <p:spPr>
          <a:xfrm>
            <a:off x="7830204" y="3057068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D4C11C-7943-4C10-BF04-10E30C128461}"/>
              </a:ext>
            </a:extLst>
          </p:cNvPr>
          <p:cNvSpPr txBox="1"/>
          <p:nvPr/>
        </p:nvSpPr>
        <p:spPr>
          <a:xfrm>
            <a:off x="7881004" y="3141642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58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14A573-FA06-4828-91BA-83936485EC67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8099444" y="2594094"/>
            <a:ext cx="271424" cy="462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426106D-424E-4D93-92AB-568F08A89729}"/>
              </a:ext>
            </a:extLst>
          </p:cNvPr>
          <p:cNvSpPr txBox="1"/>
          <p:nvPr/>
        </p:nvSpPr>
        <p:spPr>
          <a:xfrm>
            <a:off x="6739452" y="1540788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76CE12-B166-4F8F-B772-77FBD78F9664}"/>
              </a:ext>
            </a:extLst>
          </p:cNvPr>
          <p:cNvSpPr txBox="1"/>
          <p:nvPr/>
        </p:nvSpPr>
        <p:spPr>
          <a:xfrm>
            <a:off x="6739452" y="1529735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625B97-ED83-4D20-88A6-40C361DEDA25}"/>
              </a:ext>
            </a:extLst>
          </p:cNvPr>
          <p:cNvSpPr txBox="1"/>
          <p:nvPr/>
        </p:nvSpPr>
        <p:spPr>
          <a:xfrm>
            <a:off x="5611325" y="2350859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C1DCB0-36CC-4232-A04C-D56419E0735A}"/>
              </a:ext>
            </a:extLst>
          </p:cNvPr>
          <p:cNvSpPr txBox="1"/>
          <p:nvPr/>
        </p:nvSpPr>
        <p:spPr>
          <a:xfrm>
            <a:off x="7917278" y="2361565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A8911-4CF6-4DD0-92ED-B279EB5C2DE3}"/>
              </a:ext>
            </a:extLst>
          </p:cNvPr>
          <p:cNvSpPr txBox="1"/>
          <p:nvPr/>
        </p:nvSpPr>
        <p:spPr>
          <a:xfrm>
            <a:off x="4879805" y="3428057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42FAEEB-4EDB-4005-BEC0-97A4FBB546A2}"/>
              </a:ext>
            </a:extLst>
          </p:cNvPr>
          <p:cNvSpPr txBox="1"/>
          <p:nvPr/>
        </p:nvSpPr>
        <p:spPr>
          <a:xfrm>
            <a:off x="6241245" y="3428057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9CDA07-1535-445C-BC74-267008B70DE4}"/>
              </a:ext>
            </a:extLst>
          </p:cNvPr>
          <p:cNvSpPr txBox="1"/>
          <p:nvPr/>
        </p:nvSpPr>
        <p:spPr>
          <a:xfrm>
            <a:off x="7576680" y="3430259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C2D7E4-7548-4AF1-AC6D-313229E0D795}"/>
              </a:ext>
            </a:extLst>
          </p:cNvPr>
          <p:cNvSpPr txBox="1"/>
          <p:nvPr/>
        </p:nvSpPr>
        <p:spPr>
          <a:xfrm>
            <a:off x="4766747" y="960581"/>
            <a:ext cx="275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3) Vun đống cây gốc 2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13D66CA-B651-4338-B391-94198F5BD023}"/>
              </a:ext>
            </a:extLst>
          </p:cNvPr>
          <p:cNvSpPr/>
          <p:nvPr/>
        </p:nvSpPr>
        <p:spPr>
          <a:xfrm>
            <a:off x="6563360" y="2397760"/>
            <a:ext cx="472282" cy="670560"/>
          </a:xfrm>
          <a:custGeom>
            <a:avLst/>
            <a:gdLst>
              <a:gd name="connsiteX0" fmla="*/ 0 w 472282"/>
              <a:gd name="connsiteY0" fmla="*/ 0 h 670560"/>
              <a:gd name="connsiteX1" fmla="*/ 365760 w 472282"/>
              <a:gd name="connsiteY1" fmla="*/ 172720 h 670560"/>
              <a:gd name="connsiteX2" fmla="*/ 467360 w 472282"/>
              <a:gd name="connsiteY2" fmla="*/ 457200 h 670560"/>
              <a:gd name="connsiteX3" fmla="*/ 447040 w 472282"/>
              <a:gd name="connsiteY3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282" h="670560">
                <a:moveTo>
                  <a:pt x="0" y="0"/>
                </a:moveTo>
                <a:cubicBezTo>
                  <a:pt x="143933" y="48260"/>
                  <a:pt x="287867" y="96520"/>
                  <a:pt x="365760" y="172720"/>
                </a:cubicBezTo>
                <a:cubicBezTo>
                  <a:pt x="443653" y="248920"/>
                  <a:pt x="453813" y="374227"/>
                  <a:pt x="467360" y="457200"/>
                </a:cubicBezTo>
                <a:cubicBezTo>
                  <a:pt x="480907" y="540173"/>
                  <a:pt x="463973" y="605366"/>
                  <a:pt x="447040" y="670560"/>
                </a:cubicBezTo>
              </a:path>
            </a:pathLst>
          </a:custGeom>
          <a:noFill/>
          <a:ln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F9C9DF4-24AE-4479-A40C-65DF3DE01AE6}"/>
              </a:ext>
            </a:extLst>
          </p:cNvPr>
          <p:cNvSpPr/>
          <p:nvPr/>
        </p:nvSpPr>
        <p:spPr>
          <a:xfrm>
            <a:off x="2564924" y="4185627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1C25B6-0FD8-45FC-842F-2B91AEA1B735}"/>
              </a:ext>
            </a:extLst>
          </p:cNvPr>
          <p:cNvSpPr txBox="1"/>
          <p:nvPr/>
        </p:nvSpPr>
        <p:spPr>
          <a:xfrm>
            <a:off x="3359090" y="6012916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8C297FB-2EA7-4BA6-866A-123780E1BB70}"/>
              </a:ext>
            </a:extLst>
          </p:cNvPr>
          <p:cNvSpPr/>
          <p:nvPr/>
        </p:nvSpPr>
        <p:spPr>
          <a:xfrm>
            <a:off x="1467644" y="4937467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38D365-83F1-4DBD-AE05-C530DA0153D4}"/>
              </a:ext>
            </a:extLst>
          </p:cNvPr>
          <p:cNvSpPr txBox="1"/>
          <p:nvPr/>
        </p:nvSpPr>
        <p:spPr>
          <a:xfrm>
            <a:off x="1518444" y="5022041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65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63C135F-B08E-417D-9CBB-DCAAFD97D36A}"/>
              </a:ext>
            </a:extLst>
          </p:cNvPr>
          <p:cNvSpPr/>
          <p:nvPr/>
        </p:nvSpPr>
        <p:spPr>
          <a:xfrm>
            <a:off x="3733324" y="4937467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2DCAFB-C142-46C3-BECD-2485604F6901}"/>
              </a:ext>
            </a:extLst>
          </p:cNvPr>
          <p:cNvSpPr txBox="1"/>
          <p:nvPr/>
        </p:nvSpPr>
        <p:spPr>
          <a:xfrm>
            <a:off x="2592249" y="4281761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74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6B426FE-01EB-4861-9735-746BCC439ACA}"/>
              </a:ext>
            </a:extLst>
          </p:cNvPr>
          <p:cNvCxnSpPr>
            <a:stCxn id="68" idx="3"/>
            <a:endCxn id="70" idx="7"/>
          </p:cNvCxnSpPr>
          <p:nvPr/>
        </p:nvCxnSpPr>
        <p:spPr>
          <a:xfrm flipH="1">
            <a:off x="1927265" y="4645248"/>
            <a:ext cx="716518" cy="371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A9D1C5-3E45-4637-B771-23DA314A2E73}"/>
              </a:ext>
            </a:extLst>
          </p:cNvPr>
          <p:cNvCxnSpPr>
            <a:cxnSpLocks/>
            <a:stCxn id="72" idx="2"/>
            <a:endCxn id="68" idx="5"/>
          </p:cNvCxnSpPr>
          <p:nvPr/>
        </p:nvCxnSpPr>
        <p:spPr>
          <a:xfrm flipH="1" flipV="1">
            <a:off x="3024545" y="4645248"/>
            <a:ext cx="708779" cy="56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CA2C2B55-02C8-455A-B474-5E1A1FA6DB75}"/>
              </a:ext>
            </a:extLst>
          </p:cNvPr>
          <p:cNvSpPr/>
          <p:nvPr/>
        </p:nvSpPr>
        <p:spPr>
          <a:xfrm>
            <a:off x="644684" y="589141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8192FF-B311-4B11-87A2-F1EAEC348D96}"/>
              </a:ext>
            </a:extLst>
          </p:cNvPr>
          <p:cNvSpPr txBox="1"/>
          <p:nvPr/>
        </p:nvSpPr>
        <p:spPr>
          <a:xfrm>
            <a:off x="695484" y="597598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1E80AA-CB35-4F10-8339-FBC4DAD623A8}"/>
              </a:ext>
            </a:extLst>
          </p:cNvPr>
          <p:cNvCxnSpPr>
            <a:stCxn id="70" idx="3"/>
            <a:endCxn id="76" idx="7"/>
          </p:cNvCxnSpPr>
          <p:nvPr/>
        </p:nvCxnSpPr>
        <p:spPr>
          <a:xfrm flipH="1">
            <a:off x="1104305" y="5397088"/>
            <a:ext cx="442198" cy="57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9733EBED-1F18-4B09-97AF-769E48D5C6EC}"/>
              </a:ext>
            </a:extLst>
          </p:cNvPr>
          <p:cNvSpPr/>
          <p:nvPr/>
        </p:nvSpPr>
        <p:spPr>
          <a:xfrm>
            <a:off x="2026206" y="589141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2E504D-E4B4-4C70-AEFA-B70C146E5503}"/>
              </a:ext>
            </a:extLst>
          </p:cNvPr>
          <p:cNvSpPr txBox="1"/>
          <p:nvPr/>
        </p:nvSpPr>
        <p:spPr>
          <a:xfrm>
            <a:off x="2077006" y="597598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00FCC4D-2E20-472E-8324-EBCAB2CCF1FC}"/>
              </a:ext>
            </a:extLst>
          </p:cNvPr>
          <p:cNvCxnSpPr>
            <a:cxnSpLocks/>
            <a:stCxn id="70" idx="5"/>
            <a:endCxn id="79" idx="0"/>
          </p:cNvCxnSpPr>
          <p:nvPr/>
        </p:nvCxnSpPr>
        <p:spPr>
          <a:xfrm>
            <a:off x="1927265" y="5397088"/>
            <a:ext cx="368181" cy="494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A7B09E8-7C40-4F28-B03B-D3A5E0B25369}"/>
              </a:ext>
            </a:extLst>
          </p:cNvPr>
          <p:cNvSpPr txBox="1"/>
          <p:nvPr/>
        </p:nvSpPr>
        <p:spPr>
          <a:xfrm>
            <a:off x="3764301" y="5037986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58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9CC3472-4F23-4A3D-A294-1BBDF61BC8DB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3626168" y="5428441"/>
            <a:ext cx="271424" cy="462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4E0812F-3BDB-462C-A55D-92C7C6082151}"/>
              </a:ext>
            </a:extLst>
          </p:cNvPr>
          <p:cNvSpPr txBox="1"/>
          <p:nvPr/>
        </p:nvSpPr>
        <p:spPr>
          <a:xfrm>
            <a:off x="2266176" y="4375135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0FF6110-F62D-46FB-9BE1-E9DA02C7D5D2}"/>
              </a:ext>
            </a:extLst>
          </p:cNvPr>
          <p:cNvSpPr txBox="1"/>
          <p:nvPr/>
        </p:nvSpPr>
        <p:spPr>
          <a:xfrm>
            <a:off x="2266176" y="436408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F252BD1-0174-4A17-85BC-14739A942431}"/>
              </a:ext>
            </a:extLst>
          </p:cNvPr>
          <p:cNvSpPr txBox="1"/>
          <p:nvPr/>
        </p:nvSpPr>
        <p:spPr>
          <a:xfrm>
            <a:off x="1138049" y="5185206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B8F20A-9882-40EA-9997-84E47CFA42F3}"/>
              </a:ext>
            </a:extLst>
          </p:cNvPr>
          <p:cNvSpPr txBox="1"/>
          <p:nvPr/>
        </p:nvSpPr>
        <p:spPr>
          <a:xfrm>
            <a:off x="3444002" y="519591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DFCB7C-385F-4AFC-8B56-EE223EB2B6D0}"/>
              </a:ext>
            </a:extLst>
          </p:cNvPr>
          <p:cNvSpPr txBox="1"/>
          <p:nvPr/>
        </p:nvSpPr>
        <p:spPr>
          <a:xfrm>
            <a:off x="406529" y="6262404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BDAC71-6EC3-4DDC-A048-D3462087B304}"/>
              </a:ext>
            </a:extLst>
          </p:cNvPr>
          <p:cNvSpPr txBox="1"/>
          <p:nvPr/>
        </p:nvSpPr>
        <p:spPr>
          <a:xfrm>
            <a:off x="1767969" y="6262404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29E935-30A8-427E-B692-90AC7D31A838}"/>
              </a:ext>
            </a:extLst>
          </p:cNvPr>
          <p:cNvSpPr txBox="1"/>
          <p:nvPr/>
        </p:nvSpPr>
        <p:spPr>
          <a:xfrm>
            <a:off x="3103404" y="6264606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251E43-7E90-4E5E-8795-18BA2BCB43A8}"/>
              </a:ext>
            </a:extLst>
          </p:cNvPr>
          <p:cNvSpPr txBox="1"/>
          <p:nvPr/>
        </p:nvSpPr>
        <p:spPr>
          <a:xfrm>
            <a:off x="293471" y="3794928"/>
            <a:ext cx="275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4) Vun đống cây gốc 1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2CA0784D-5015-431B-B761-98E43E8F1B96}"/>
              </a:ext>
            </a:extLst>
          </p:cNvPr>
          <p:cNvSpPr/>
          <p:nvPr/>
        </p:nvSpPr>
        <p:spPr>
          <a:xfrm>
            <a:off x="2090084" y="5232107"/>
            <a:ext cx="472282" cy="670560"/>
          </a:xfrm>
          <a:custGeom>
            <a:avLst/>
            <a:gdLst>
              <a:gd name="connsiteX0" fmla="*/ 0 w 472282"/>
              <a:gd name="connsiteY0" fmla="*/ 0 h 670560"/>
              <a:gd name="connsiteX1" fmla="*/ 365760 w 472282"/>
              <a:gd name="connsiteY1" fmla="*/ 172720 h 670560"/>
              <a:gd name="connsiteX2" fmla="*/ 467360 w 472282"/>
              <a:gd name="connsiteY2" fmla="*/ 457200 h 670560"/>
              <a:gd name="connsiteX3" fmla="*/ 447040 w 472282"/>
              <a:gd name="connsiteY3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282" h="670560">
                <a:moveTo>
                  <a:pt x="0" y="0"/>
                </a:moveTo>
                <a:cubicBezTo>
                  <a:pt x="143933" y="48260"/>
                  <a:pt x="287867" y="96520"/>
                  <a:pt x="365760" y="172720"/>
                </a:cubicBezTo>
                <a:cubicBezTo>
                  <a:pt x="443653" y="248920"/>
                  <a:pt x="453813" y="374227"/>
                  <a:pt x="467360" y="457200"/>
                </a:cubicBezTo>
                <a:cubicBezTo>
                  <a:pt x="480907" y="540173"/>
                  <a:pt x="463973" y="605366"/>
                  <a:pt x="447040" y="670560"/>
                </a:cubicBezTo>
              </a:path>
            </a:pathLst>
          </a:custGeom>
          <a:noFill/>
          <a:ln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C94DDA19-9040-4C1C-9C02-DF760336A214}"/>
              </a:ext>
            </a:extLst>
          </p:cNvPr>
          <p:cNvSpPr/>
          <p:nvPr/>
        </p:nvSpPr>
        <p:spPr>
          <a:xfrm>
            <a:off x="3182501" y="4511203"/>
            <a:ext cx="754838" cy="415915"/>
          </a:xfrm>
          <a:custGeom>
            <a:avLst/>
            <a:gdLst>
              <a:gd name="connsiteX0" fmla="*/ 0 w 472282"/>
              <a:gd name="connsiteY0" fmla="*/ 0 h 670560"/>
              <a:gd name="connsiteX1" fmla="*/ 365760 w 472282"/>
              <a:gd name="connsiteY1" fmla="*/ 172720 h 670560"/>
              <a:gd name="connsiteX2" fmla="*/ 467360 w 472282"/>
              <a:gd name="connsiteY2" fmla="*/ 457200 h 670560"/>
              <a:gd name="connsiteX3" fmla="*/ 447040 w 472282"/>
              <a:gd name="connsiteY3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282" h="670560">
                <a:moveTo>
                  <a:pt x="0" y="0"/>
                </a:moveTo>
                <a:cubicBezTo>
                  <a:pt x="143933" y="48260"/>
                  <a:pt x="287867" y="96520"/>
                  <a:pt x="365760" y="172720"/>
                </a:cubicBezTo>
                <a:cubicBezTo>
                  <a:pt x="443653" y="248920"/>
                  <a:pt x="453813" y="374227"/>
                  <a:pt x="467360" y="457200"/>
                </a:cubicBezTo>
                <a:cubicBezTo>
                  <a:pt x="480907" y="540173"/>
                  <a:pt x="463973" y="605366"/>
                  <a:pt x="447040" y="67056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A611D0AF-9B5A-4FAB-A795-0CA300949F32}"/>
              </a:ext>
            </a:extLst>
          </p:cNvPr>
          <p:cNvSpPr/>
          <p:nvPr/>
        </p:nvSpPr>
        <p:spPr>
          <a:xfrm flipH="1" flipV="1">
            <a:off x="2801739" y="4772594"/>
            <a:ext cx="591463" cy="1154530"/>
          </a:xfrm>
          <a:custGeom>
            <a:avLst/>
            <a:gdLst>
              <a:gd name="connsiteX0" fmla="*/ 0 w 472282"/>
              <a:gd name="connsiteY0" fmla="*/ 0 h 670560"/>
              <a:gd name="connsiteX1" fmla="*/ 365760 w 472282"/>
              <a:gd name="connsiteY1" fmla="*/ 172720 h 670560"/>
              <a:gd name="connsiteX2" fmla="*/ 467360 w 472282"/>
              <a:gd name="connsiteY2" fmla="*/ 457200 h 670560"/>
              <a:gd name="connsiteX3" fmla="*/ 447040 w 472282"/>
              <a:gd name="connsiteY3" fmla="*/ 670560 h 670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2282" h="670560">
                <a:moveTo>
                  <a:pt x="0" y="0"/>
                </a:moveTo>
                <a:cubicBezTo>
                  <a:pt x="143933" y="48260"/>
                  <a:pt x="287867" y="96520"/>
                  <a:pt x="365760" y="172720"/>
                </a:cubicBezTo>
                <a:cubicBezTo>
                  <a:pt x="443653" y="248920"/>
                  <a:pt x="453813" y="374227"/>
                  <a:pt x="467360" y="457200"/>
                </a:cubicBezTo>
                <a:cubicBezTo>
                  <a:pt x="480907" y="540173"/>
                  <a:pt x="463973" y="605366"/>
                  <a:pt x="447040" y="67056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9930264-9609-4FEF-BBAF-39E9F9FD2D29}"/>
              </a:ext>
            </a:extLst>
          </p:cNvPr>
          <p:cNvSpPr/>
          <p:nvPr/>
        </p:nvSpPr>
        <p:spPr>
          <a:xfrm>
            <a:off x="3883631" y="5391373"/>
            <a:ext cx="388173" cy="803944"/>
          </a:xfrm>
          <a:custGeom>
            <a:avLst/>
            <a:gdLst>
              <a:gd name="connsiteX0" fmla="*/ 0 w 450358"/>
              <a:gd name="connsiteY0" fmla="*/ 842481 h 842481"/>
              <a:gd name="connsiteX1" fmla="*/ 421241 w 450358"/>
              <a:gd name="connsiteY1" fmla="*/ 616449 h 842481"/>
              <a:gd name="connsiteX2" fmla="*/ 380144 w 450358"/>
              <a:gd name="connsiteY2" fmla="*/ 0 h 842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0358" h="842481">
                <a:moveTo>
                  <a:pt x="0" y="842481"/>
                </a:moveTo>
                <a:cubicBezTo>
                  <a:pt x="178942" y="799671"/>
                  <a:pt x="357884" y="756862"/>
                  <a:pt x="421241" y="616449"/>
                </a:cubicBezTo>
                <a:cubicBezTo>
                  <a:pt x="484598" y="476035"/>
                  <a:pt x="432371" y="238017"/>
                  <a:pt x="380144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E0910CE-EF9D-44D4-8F7F-AFA21672CD3F}"/>
              </a:ext>
            </a:extLst>
          </p:cNvPr>
          <p:cNvSpPr txBox="1"/>
          <p:nvPr/>
        </p:nvSpPr>
        <p:spPr>
          <a:xfrm>
            <a:off x="3754456" y="4302295"/>
            <a:ext cx="59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(1)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B5B2506-0B87-4C1A-96E9-50FC02D3F0C7}"/>
              </a:ext>
            </a:extLst>
          </p:cNvPr>
          <p:cNvSpPr txBox="1"/>
          <p:nvPr/>
        </p:nvSpPr>
        <p:spPr>
          <a:xfrm>
            <a:off x="4235640" y="5741787"/>
            <a:ext cx="59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(2)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EF7BFD-2AF1-4228-9976-8324120715C9}"/>
              </a:ext>
            </a:extLst>
          </p:cNvPr>
          <p:cNvSpPr txBox="1"/>
          <p:nvPr/>
        </p:nvSpPr>
        <p:spPr>
          <a:xfrm>
            <a:off x="2754381" y="5135327"/>
            <a:ext cx="59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872134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81">
            <a:extLst>
              <a:ext uri="{FF2B5EF4-FFF2-40B4-BE49-F238E27FC236}">
                <a16:creationId xmlns:a16="http://schemas.microsoft.com/office/drawing/2014/main" id="{DFA6347E-9144-405C-9315-DFEA12AE388D}"/>
              </a:ext>
            </a:extLst>
          </p:cNvPr>
          <p:cNvSpPr/>
          <p:nvPr/>
        </p:nvSpPr>
        <p:spPr>
          <a:xfrm>
            <a:off x="3136529" y="3397783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D9D1F-185D-45D6-8B4F-E6CF466B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105"/>
            <a:ext cx="8229600" cy="660082"/>
          </a:xfrm>
        </p:spPr>
        <p:txBody>
          <a:bodyPr/>
          <a:lstStyle/>
          <a:p>
            <a:r>
              <a:rPr lang="en-US"/>
              <a:t>Giai đoạn 2: Sắp xếp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15966-F3A6-45AE-AEBF-DEEF355C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0A6A-1511-4D64-A55D-6A6DBED3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460FA1E-3219-47C1-B686-9D0E50399D5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F9C9DF4-24AE-4479-A40C-65DF3DE01AE6}"/>
              </a:ext>
            </a:extLst>
          </p:cNvPr>
          <p:cNvSpPr/>
          <p:nvPr/>
        </p:nvSpPr>
        <p:spPr>
          <a:xfrm>
            <a:off x="2344525" y="169199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1C25B6-0FD8-45FC-842F-2B91AEA1B735}"/>
              </a:ext>
            </a:extLst>
          </p:cNvPr>
          <p:cNvSpPr txBox="1"/>
          <p:nvPr/>
        </p:nvSpPr>
        <p:spPr>
          <a:xfrm>
            <a:off x="3138691" y="351928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74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8C297FB-2EA7-4BA6-866A-123780E1BB70}"/>
              </a:ext>
            </a:extLst>
          </p:cNvPr>
          <p:cNvSpPr/>
          <p:nvPr/>
        </p:nvSpPr>
        <p:spPr>
          <a:xfrm>
            <a:off x="1247245" y="244383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38D365-83F1-4DBD-AE05-C530DA0153D4}"/>
              </a:ext>
            </a:extLst>
          </p:cNvPr>
          <p:cNvSpPr txBox="1"/>
          <p:nvPr/>
        </p:nvSpPr>
        <p:spPr>
          <a:xfrm>
            <a:off x="1298045" y="252840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65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63C135F-B08E-417D-9CBB-DCAAFD97D36A}"/>
              </a:ext>
            </a:extLst>
          </p:cNvPr>
          <p:cNvSpPr/>
          <p:nvPr/>
        </p:nvSpPr>
        <p:spPr>
          <a:xfrm>
            <a:off x="3512925" y="244383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2DCAFB-C142-46C3-BECD-2485604F6901}"/>
              </a:ext>
            </a:extLst>
          </p:cNvPr>
          <p:cNvSpPr txBox="1"/>
          <p:nvPr/>
        </p:nvSpPr>
        <p:spPr>
          <a:xfrm>
            <a:off x="2371850" y="178812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6B426FE-01EB-4861-9735-746BCC439ACA}"/>
              </a:ext>
            </a:extLst>
          </p:cNvPr>
          <p:cNvCxnSpPr>
            <a:stCxn id="68" idx="3"/>
            <a:endCxn id="70" idx="7"/>
          </p:cNvCxnSpPr>
          <p:nvPr/>
        </p:nvCxnSpPr>
        <p:spPr>
          <a:xfrm flipH="1">
            <a:off x="1706866" y="2151616"/>
            <a:ext cx="716518" cy="371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A9D1C5-3E45-4637-B771-23DA314A2E73}"/>
              </a:ext>
            </a:extLst>
          </p:cNvPr>
          <p:cNvCxnSpPr>
            <a:cxnSpLocks/>
            <a:stCxn id="72" idx="2"/>
            <a:endCxn id="68" idx="5"/>
          </p:cNvCxnSpPr>
          <p:nvPr/>
        </p:nvCxnSpPr>
        <p:spPr>
          <a:xfrm flipH="1" flipV="1">
            <a:off x="2804146" y="2151616"/>
            <a:ext cx="708779" cy="56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CA2C2B55-02C8-455A-B474-5E1A1FA6DB75}"/>
              </a:ext>
            </a:extLst>
          </p:cNvPr>
          <p:cNvSpPr/>
          <p:nvPr/>
        </p:nvSpPr>
        <p:spPr>
          <a:xfrm>
            <a:off x="424285" y="3397783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8192FF-B311-4B11-87A2-F1EAEC348D96}"/>
              </a:ext>
            </a:extLst>
          </p:cNvPr>
          <p:cNvSpPr txBox="1"/>
          <p:nvPr/>
        </p:nvSpPr>
        <p:spPr>
          <a:xfrm>
            <a:off x="475085" y="348235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1E80AA-CB35-4F10-8339-FBC4DAD623A8}"/>
              </a:ext>
            </a:extLst>
          </p:cNvPr>
          <p:cNvCxnSpPr>
            <a:stCxn id="70" idx="3"/>
            <a:endCxn id="76" idx="7"/>
          </p:cNvCxnSpPr>
          <p:nvPr/>
        </p:nvCxnSpPr>
        <p:spPr>
          <a:xfrm flipH="1">
            <a:off x="883906" y="2903456"/>
            <a:ext cx="442198" cy="57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9733EBED-1F18-4B09-97AF-769E48D5C6EC}"/>
              </a:ext>
            </a:extLst>
          </p:cNvPr>
          <p:cNvSpPr/>
          <p:nvPr/>
        </p:nvSpPr>
        <p:spPr>
          <a:xfrm>
            <a:off x="1805807" y="3397783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2E504D-E4B4-4C70-AEFA-B70C146E5503}"/>
              </a:ext>
            </a:extLst>
          </p:cNvPr>
          <p:cNvSpPr txBox="1"/>
          <p:nvPr/>
        </p:nvSpPr>
        <p:spPr>
          <a:xfrm>
            <a:off x="1856607" y="348235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00FCC4D-2E20-472E-8324-EBCAB2CCF1FC}"/>
              </a:ext>
            </a:extLst>
          </p:cNvPr>
          <p:cNvCxnSpPr>
            <a:cxnSpLocks/>
            <a:stCxn id="70" idx="5"/>
            <a:endCxn id="79" idx="0"/>
          </p:cNvCxnSpPr>
          <p:nvPr/>
        </p:nvCxnSpPr>
        <p:spPr>
          <a:xfrm>
            <a:off x="1706866" y="2903456"/>
            <a:ext cx="368181" cy="494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A7B09E8-7C40-4F28-B03B-D3A5E0B25369}"/>
              </a:ext>
            </a:extLst>
          </p:cNvPr>
          <p:cNvSpPr txBox="1"/>
          <p:nvPr/>
        </p:nvSpPr>
        <p:spPr>
          <a:xfrm>
            <a:off x="3543902" y="25443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58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9CC3472-4F23-4A3D-A294-1BBDF61BC8DB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3405769" y="2934809"/>
            <a:ext cx="271424" cy="462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24E0812F-3BDB-462C-A55D-92C7C6082151}"/>
              </a:ext>
            </a:extLst>
          </p:cNvPr>
          <p:cNvSpPr txBox="1"/>
          <p:nvPr/>
        </p:nvSpPr>
        <p:spPr>
          <a:xfrm>
            <a:off x="2045777" y="1881503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0FF6110-F62D-46FB-9BE1-E9DA02C7D5D2}"/>
              </a:ext>
            </a:extLst>
          </p:cNvPr>
          <p:cNvSpPr txBox="1"/>
          <p:nvPr/>
        </p:nvSpPr>
        <p:spPr>
          <a:xfrm>
            <a:off x="2045777" y="1870450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F252BD1-0174-4A17-85BC-14739A942431}"/>
              </a:ext>
            </a:extLst>
          </p:cNvPr>
          <p:cNvSpPr txBox="1"/>
          <p:nvPr/>
        </p:nvSpPr>
        <p:spPr>
          <a:xfrm>
            <a:off x="917650" y="2691574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B8F20A-9882-40EA-9997-84E47CFA42F3}"/>
              </a:ext>
            </a:extLst>
          </p:cNvPr>
          <p:cNvSpPr txBox="1"/>
          <p:nvPr/>
        </p:nvSpPr>
        <p:spPr>
          <a:xfrm>
            <a:off x="7987726" y="2702280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DFCB7C-385F-4AFC-8B56-EE223EB2B6D0}"/>
              </a:ext>
            </a:extLst>
          </p:cNvPr>
          <p:cNvSpPr txBox="1"/>
          <p:nvPr/>
        </p:nvSpPr>
        <p:spPr>
          <a:xfrm>
            <a:off x="186130" y="376877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BDAC71-6EC3-4DDC-A048-D3462087B304}"/>
              </a:ext>
            </a:extLst>
          </p:cNvPr>
          <p:cNvSpPr txBox="1"/>
          <p:nvPr/>
        </p:nvSpPr>
        <p:spPr>
          <a:xfrm>
            <a:off x="1547570" y="376877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29E935-30A8-427E-B692-90AC7D31A838}"/>
              </a:ext>
            </a:extLst>
          </p:cNvPr>
          <p:cNvSpPr txBox="1"/>
          <p:nvPr/>
        </p:nvSpPr>
        <p:spPr>
          <a:xfrm>
            <a:off x="2883005" y="3770974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251E43-7E90-4E5E-8795-18BA2BCB43A8}"/>
              </a:ext>
            </a:extLst>
          </p:cNvPr>
          <p:cNvSpPr txBox="1"/>
          <p:nvPr/>
        </p:nvSpPr>
        <p:spPr>
          <a:xfrm>
            <a:off x="232151" y="1177011"/>
            <a:ext cx="478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1) Đổi chỗ nút gốc 1 cho nút cuối cùng 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43D6D28-CA9D-4B55-95B4-32BE0E26BFB3}"/>
              </a:ext>
            </a:extLst>
          </p:cNvPr>
          <p:cNvSpPr txBox="1"/>
          <p:nvPr/>
        </p:nvSpPr>
        <p:spPr>
          <a:xfrm>
            <a:off x="4617761" y="1177011"/>
            <a:ext cx="429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2) Loại bỏ nút 6, vun đống lại cây gốc 1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53EBC6B-6F50-4BEE-8618-F8297F718694}"/>
              </a:ext>
            </a:extLst>
          </p:cNvPr>
          <p:cNvSpPr/>
          <p:nvPr/>
        </p:nvSpPr>
        <p:spPr>
          <a:xfrm>
            <a:off x="7123201" y="169199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F7728E9-523C-4BFF-BF41-4591658AAE61}"/>
              </a:ext>
            </a:extLst>
          </p:cNvPr>
          <p:cNvSpPr/>
          <p:nvPr/>
        </p:nvSpPr>
        <p:spPr>
          <a:xfrm>
            <a:off x="6025921" y="244383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9F2A6C-9911-4A92-86AF-493703056FD9}"/>
              </a:ext>
            </a:extLst>
          </p:cNvPr>
          <p:cNvSpPr txBox="1"/>
          <p:nvPr/>
        </p:nvSpPr>
        <p:spPr>
          <a:xfrm>
            <a:off x="6076721" y="252840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B207DB2-206C-4E53-9A56-1DF878659188}"/>
              </a:ext>
            </a:extLst>
          </p:cNvPr>
          <p:cNvSpPr/>
          <p:nvPr/>
        </p:nvSpPr>
        <p:spPr>
          <a:xfrm>
            <a:off x="8291601" y="2443835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A83BBB-16BA-4443-92F0-BFF8EBB81F7D}"/>
              </a:ext>
            </a:extLst>
          </p:cNvPr>
          <p:cNvSpPr txBox="1"/>
          <p:nvPr/>
        </p:nvSpPr>
        <p:spPr>
          <a:xfrm>
            <a:off x="7150526" y="1788129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65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0BFCB74-53AC-4C1E-9953-251B84DB6049}"/>
              </a:ext>
            </a:extLst>
          </p:cNvPr>
          <p:cNvCxnSpPr>
            <a:stCxn id="101" idx="3"/>
            <a:endCxn id="103" idx="7"/>
          </p:cNvCxnSpPr>
          <p:nvPr/>
        </p:nvCxnSpPr>
        <p:spPr>
          <a:xfrm flipH="1">
            <a:off x="6485542" y="2151616"/>
            <a:ext cx="716518" cy="3710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5F8666F-0C23-4AD4-A961-BD4C0BBB23A0}"/>
              </a:ext>
            </a:extLst>
          </p:cNvPr>
          <p:cNvCxnSpPr>
            <a:cxnSpLocks/>
            <a:stCxn id="105" idx="2"/>
            <a:endCxn id="101" idx="5"/>
          </p:cNvCxnSpPr>
          <p:nvPr/>
        </p:nvCxnSpPr>
        <p:spPr>
          <a:xfrm flipH="1" flipV="1">
            <a:off x="7582822" y="2151616"/>
            <a:ext cx="708779" cy="561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A9BA013F-A98C-4288-BA6C-79F4D5478315}"/>
              </a:ext>
            </a:extLst>
          </p:cNvPr>
          <p:cNvSpPr/>
          <p:nvPr/>
        </p:nvSpPr>
        <p:spPr>
          <a:xfrm>
            <a:off x="5202961" y="3397783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4625593-4B37-4706-8703-DAF0C427C6D9}"/>
              </a:ext>
            </a:extLst>
          </p:cNvPr>
          <p:cNvSpPr txBox="1"/>
          <p:nvPr/>
        </p:nvSpPr>
        <p:spPr>
          <a:xfrm>
            <a:off x="5253761" y="348235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11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55C7DFB-3B35-4DCD-90F6-4D52916D9D75}"/>
              </a:ext>
            </a:extLst>
          </p:cNvPr>
          <p:cNvCxnSpPr>
            <a:stCxn id="103" idx="3"/>
            <a:endCxn id="109" idx="7"/>
          </p:cNvCxnSpPr>
          <p:nvPr/>
        </p:nvCxnSpPr>
        <p:spPr>
          <a:xfrm flipH="1">
            <a:off x="5662582" y="2903456"/>
            <a:ext cx="442198" cy="5731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3AECD2C5-C6A6-4912-9027-854185C39F7B}"/>
              </a:ext>
            </a:extLst>
          </p:cNvPr>
          <p:cNvSpPr/>
          <p:nvPr/>
        </p:nvSpPr>
        <p:spPr>
          <a:xfrm>
            <a:off x="6584483" y="3397783"/>
            <a:ext cx="538480" cy="538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357E12-3B01-4E7B-BCA1-EE7BDCF69E23}"/>
              </a:ext>
            </a:extLst>
          </p:cNvPr>
          <p:cNvSpPr txBox="1"/>
          <p:nvPr/>
        </p:nvSpPr>
        <p:spPr>
          <a:xfrm>
            <a:off x="6635283" y="348235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23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70D6176-00DF-4ADB-A96D-4A8BC77C5104}"/>
              </a:ext>
            </a:extLst>
          </p:cNvPr>
          <p:cNvCxnSpPr>
            <a:cxnSpLocks/>
            <a:stCxn id="103" idx="5"/>
            <a:endCxn id="112" idx="0"/>
          </p:cNvCxnSpPr>
          <p:nvPr/>
        </p:nvCxnSpPr>
        <p:spPr>
          <a:xfrm>
            <a:off x="6485542" y="2903456"/>
            <a:ext cx="368181" cy="494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5D2A7FA-D8B8-4F3A-92F0-15F328E9F1E1}"/>
              </a:ext>
            </a:extLst>
          </p:cNvPr>
          <p:cNvSpPr txBox="1"/>
          <p:nvPr/>
        </p:nvSpPr>
        <p:spPr>
          <a:xfrm>
            <a:off x="8322578" y="2544354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58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77136BE-AC94-4E7E-9F84-BCF6CBA74DFA}"/>
              </a:ext>
            </a:extLst>
          </p:cNvPr>
          <p:cNvSpPr txBox="1"/>
          <p:nvPr/>
        </p:nvSpPr>
        <p:spPr>
          <a:xfrm>
            <a:off x="6824453" y="1881503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2AFAEE6-3C49-42CB-B7DF-B9ECFA2427D7}"/>
              </a:ext>
            </a:extLst>
          </p:cNvPr>
          <p:cNvSpPr txBox="1"/>
          <p:nvPr/>
        </p:nvSpPr>
        <p:spPr>
          <a:xfrm>
            <a:off x="6824453" y="1870450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617F83A-F876-490A-9EA1-14ABF7484D34}"/>
              </a:ext>
            </a:extLst>
          </p:cNvPr>
          <p:cNvSpPr txBox="1"/>
          <p:nvPr/>
        </p:nvSpPr>
        <p:spPr>
          <a:xfrm>
            <a:off x="5696326" y="2691574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31A9BAF-221F-4BE3-ACD2-695786B827B6}"/>
              </a:ext>
            </a:extLst>
          </p:cNvPr>
          <p:cNvSpPr txBox="1"/>
          <p:nvPr/>
        </p:nvSpPr>
        <p:spPr>
          <a:xfrm>
            <a:off x="4964806" y="376877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BD1CD83-C44F-494B-91E5-2960132F6A24}"/>
              </a:ext>
            </a:extLst>
          </p:cNvPr>
          <p:cNvSpPr txBox="1"/>
          <p:nvPr/>
        </p:nvSpPr>
        <p:spPr>
          <a:xfrm>
            <a:off x="6326246" y="3768772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7A851A-3E67-4ED2-9866-AB3D24D9BAEF}"/>
              </a:ext>
            </a:extLst>
          </p:cNvPr>
          <p:cNvSpPr/>
          <p:nvPr/>
        </p:nvSpPr>
        <p:spPr>
          <a:xfrm>
            <a:off x="6647380" y="2270589"/>
            <a:ext cx="729465" cy="523982"/>
          </a:xfrm>
          <a:custGeom>
            <a:avLst/>
            <a:gdLst>
              <a:gd name="connsiteX0" fmla="*/ 0 w 729465"/>
              <a:gd name="connsiteY0" fmla="*/ 523982 h 523982"/>
              <a:gd name="connsiteX1" fmla="*/ 493159 w 729465"/>
              <a:gd name="connsiteY1" fmla="*/ 410966 h 523982"/>
              <a:gd name="connsiteX2" fmla="*/ 729465 w 729465"/>
              <a:gd name="connsiteY2" fmla="*/ 0 h 523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465" h="523982">
                <a:moveTo>
                  <a:pt x="0" y="523982"/>
                </a:moveTo>
                <a:cubicBezTo>
                  <a:pt x="185791" y="511139"/>
                  <a:pt x="371582" y="498296"/>
                  <a:pt x="493159" y="410966"/>
                </a:cubicBezTo>
                <a:cubicBezTo>
                  <a:pt x="614736" y="323636"/>
                  <a:pt x="672100" y="161818"/>
                  <a:pt x="729465" y="0"/>
                </a:cubicBezTo>
              </a:path>
            </a:pathLst>
          </a:custGeom>
          <a:noFill/>
          <a:ln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06B1961-6857-4840-8BE6-D882FEE62D5E}"/>
              </a:ext>
            </a:extLst>
          </p:cNvPr>
          <p:cNvSpPr txBox="1"/>
          <p:nvPr/>
        </p:nvSpPr>
        <p:spPr>
          <a:xfrm>
            <a:off x="3258725" y="2702280"/>
            <a:ext cx="374710" cy="371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4787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920750" y="0"/>
          <a:ext cx="64643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661330" progId="Word.Document.8">
                  <p:embed/>
                </p:oleObj>
              </mc:Choice>
              <mc:Fallback>
                <p:oleObj name="Document" r:id="rId2" imgW="5788639" imgH="2661330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0"/>
                        <a:ext cx="64643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0" y="3048000"/>
          <a:ext cx="9144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9144085" imgH="5029200" progId="Word.Document.8">
                  <p:embed/>
                </p:oleObj>
              </mc:Choice>
              <mc:Fallback>
                <p:oleObj name="Document" r:id="rId4" imgW="9144085" imgH="50292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048000"/>
                        <a:ext cx="91440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9B4E10C0-9028-45F8-A4F5-D8C595FC9B2E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83D6DF-98C5-46AB-B649-2E06027A7956}"/>
              </a:ext>
            </a:extLst>
          </p:cNvPr>
          <p:cNvSpPr/>
          <p:nvPr/>
        </p:nvSpPr>
        <p:spPr>
          <a:xfrm>
            <a:off x="246580" y="3369924"/>
            <a:ext cx="3914454" cy="2702103"/>
          </a:xfrm>
          <a:custGeom>
            <a:avLst/>
            <a:gdLst>
              <a:gd name="connsiteX0" fmla="*/ 2506894 w 3914454"/>
              <a:gd name="connsiteY0" fmla="*/ 0 h 2702103"/>
              <a:gd name="connsiteX1" fmla="*/ 3534310 w 3914454"/>
              <a:gd name="connsiteY1" fmla="*/ 544530 h 2702103"/>
              <a:gd name="connsiteX2" fmla="*/ 3914454 w 3914454"/>
              <a:gd name="connsiteY2" fmla="*/ 1510301 h 2702103"/>
              <a:gd name="connsiteX3" fmla="*/ 2907586 w 3914454"/>
              <a:gd name="connsiteY3" fmla="*/ 2003460 h 2702103"/>
              <a:gd name="connsiteX4" fmla="*/ 2774022 w 3914454"/>
              <a:gd name="connsiteY4" fmla="*/ 2589087 h 2702103"/>
              <a:gd name="connsiteX5" fmla="*/ 277402 w 3914454"/>
              <a:gd name="connsiteY5" fmla="*/ 2702103 h 2702103"/>
              <a:gd name="connsiteX6" fmla="*/ 0 w 3914454"/>
              <a:gd name="connsiteY6" fmla="*/ 2137024 h 2702103"/>
              <a:gd name="connsiteX7" fmla="*/ 1859622 w 3914454"/>
              <a:gd name="connsiteY7" fmla="*/ 102741 h 2702103"/>
              <a:gd name="connsiteX8" fmla="*/ 2506894 w 3914454"/>
              <a:gd name="connsiteY8" fmla="*/ 0 h 2702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4454" h="2702103">
                <a:moveTo>
                  <a:pt x="2506894" y="0"/>
                </a:moveTo>
                <a:lnTo>
                  <a:pt x="3534310" y="544530"/>
                </a:lnTo>
                <a:lnTo>
                  <a:pt x="3914454" y="1510301"/>
                </a:lnTo>
                <a:lnTo>
                  <a:pt x="2907586" y="2003460"/>
                </a:lnTo>
                <a:lnTo>
                  <a:pt x="2774022" y="2589087"/>
                </a:lnTo>
                <a:lnTo>
                  <a:pt x="277402" y="2702103"/>
                </a:lnTo>
                <a:lnTo>
                  <a:pt x="0" y="2137024"/>
                </a:lnTo>
                <a:lnTo>
                  <a:pt x="1859622" y="102741"/>
                </a:lnTo>
                <a:lnTo>
                  <a:pt x="2506894" y="0"/>
                </a:lnTo>
                <a:close/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228600" y="677863"/>
          <a:ext cx="4343400" cy="18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639" imgH="2456557" progId="Word.Document.8">
                  <p:embed/>
                </p:oleObj>
              </mc:Choice>
              <mc:Fallback>
                <p:oleObj name="Document" r:id="rId2" imgW="5788639" imgH="2456557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77863"/>
                        <a:ext cx="4343400" cy="18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3124200" y="304800"/>
          <a:ext cx="3733800" cy="322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790237" imgH="2656172" progId="Word.Document.8">
                  <p:embed/>
                </p:oleObj>
              </mc:Choice>
              <mc:Fallback>
                <p:oleObj name="Document" r:id="rId4" imgW="5790237" imgH="2656172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04800"/>
                        <a:ext cx="3733800" cy="322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457200" y="3276600"/>
          <a:ext cx="7696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788639" imgH="2456557" progId="Word.Document.8">
                  <p:embed/>
                </p:oleObj>
              </mc:Choice>
              <mc:Fallback>
                <p:oleObj name="Document" r:id="rId6" imgW="5788639" imgH="2456557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76600"/>
                        <a:ext cx="7696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3"/>
          <p:cNvGraphicFramePr>
            <a:graphicFrameLocks noChangeAspect="1"/>
          </p:cNvGraphicFramePr>
          <p:nvPr/>
        </p:nvGraphicFramePr>
        <p:xfrm>
          <a:off x="5943600" y="609600"/>
          <a:ext cx="44958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788639" imgH="2661330" progId="Word.Document.8">
                  <p:embed/>
                </p:oleObj>
              </mc:Choice>
              <mc:Fallback>
                <p:oleObj name="Document" r:id="rId8" imgW="5788639" imgH="266133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609600"/>
                        <a:ext cx="44958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01C6BDB2-4C7A-40FF-9D7E-3C16B522A37F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- Lặp lại các bước tương tự cho các cây còn lại. 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Cuối cùng ta thu được dãy đã sắp là s=(11, 23, 42, 58, 65, 74)</a:t>
            </a:r>
          </a:p>
          <a:p>
            <a:pPr eaLnBrk="1" hangingPunct="1">
              <a:buFontTx/>
              <a:buNone/>
            </a:pPr>
            <a:r>
              <a:rPr lang="en-US" altLang="en-US" sz="2800">
                <a:solidFill>
                  <a:srgbClr val="6600FF"/>
                </a:solidFill>
              </a:rPr>
              <a:t>* Giải thuật vun đống</a:t>
            </a:r>
            <a:r>
              <a:rPr lang="en-US" altLang="en-US" sz="2800"/>
              <a:t>: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- Một lá coi như cây con là một đống.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- Thuật toán tiến hành từ đáy lên: Chuyển đổi thành đống cho một cây con mà cây con trái và cây con phải của gốc đã là một đống.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Cây nhị phân hoàn chỉnh có n nút thì với chỉ số [n/2] trở lên có thể là nút cha:  [n/2], [n/2 ]-1, . . . , 1.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3F685F8E-C5BE-4796-AE76-70675DEAABE5}" type="slidenum">
              <a:rPr lang="en-US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273050" indent="-273050" eaLnBrk="1" hangingPunct="1">
              <a:buFontTx/>
              <a:buNone/>
            </a:pPr>
            <a:r>
              <a:rPr lang="en-US" altLang="en-US" sz="2800" b="1" dirty="0">
                <a:solidFill>
                  <a:srgbClr val="6600FF"/>
                </a:solidFill>
              </a:rPr>
              <a:t>a) </a:t>
            </a:r>
            <a:r>
              <a:rPr lang="en-US" altLang="en-US" sz="2800" b="1" dirty="0" err="1">
                <a:solidFill>
                  <a:srgbClr val="6600FF"/>
                </a:solidFill>
              </a:rPr>
              <a:t>Thủ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tục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vun</a:t>
            </a:r>
            <a:r>
              <a:rPr lang="en-US" altLang="en-US" sz="2800" b="1" dirty="0">
                <a:solidFill>
                  <a:srgbClr val="6600FF"/>
                </a:solidFill>
              </a:rPr>
              <a:t> </a:t>
            </a:r>
            <a:r>
              <a:rPr lang="en-US" altLang="en-US" sz="2800" b="1" dirty="0" err="1">
                <a:solidFill>
                  <a:srgbClr val="6600FF"/>
                </a:solidFill>
              </a:rPr>
              <a:t>đống</a:t>
            </a:r>
            <a:r>
              <a:rPr lang="en-US" altLang="en-US" sz="2800" b="1" dirty="0">
                <a:solidFill>
                  <a:srgbClr val="6600FF"/>
                </a:solidFill>
              </a:rPr>
              <a:t>:</a:t>
            </a:r>
            <a:r>
              <a:rPr lang="en-US" altLang="en-US" sz="2800" b="1" dirty="0"/>
              <a:t> 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   </a:t>
            </a:r>
            <a:r>
              <a:rPr lang="en-US" altLang="en-US" sz="2800" b="1" dirty="0" err="1"/>
              <a:t>Hiệu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chỉnh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cây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nhị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phân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hoàn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chỉnh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gốc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trên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cây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nhị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phân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có</a:t>
            </a:r>
            <a:r>
              <a:rPr lang="en-US" altLang="en-US" sz="2800" b="1" dirty="0"/>
              <a:t> n </a:t>
            </a:r>
            <a:r>
              <a:rPr lang="en-US" altLang="en-US" sz="2800" b="1" dirty="0" err="1"/>
              <a:t>nút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để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trở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thành</a:t>
            </a:r>
            <a:r>
              <a:rPr lang="en-US" altLang="en-US" sz="2800" b="1" dirty="0"/>
              <a:t> “</a:t>
            </a:r>
            <a:r>
              <a:rPr lang="en-US" altLang="en-US" sz="2800" b="1" dirty="0" err="1"/>
              <a:t>đống</a:t>
            </a:r>
            <a:r>
              <a:rPr lang="en-US" altLang="en-US" sz="2800" b="1" dirty="0"/>
              <a:t>” </a:t>
            </a:r>
            <a:r>
              <a:rPr lang="en-US" altLang="en-US" sz="2800" b="1" dirty="0" err="1"/>
              <a:t>với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điều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kiện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cây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trái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và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cây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phải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có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gốc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là</a:t>
            </a:r>
            <a:r>
              <a:rPr lang="en-US" altLang="en-US" sz="2800" b="1" dirty="0"/>
              <a:t> 2i </a:t>
            </a:r>
            <a:r>
              <a:rPr lang="en-US" altLang="en-US" sz="2800" b="1" dirty="0" err="1"/>
              <a:t>và</a:t>
            </a:r>
            <a:r>
              <a:rPr lang="en-US" altLang="en-US" sz="2800" b="1" dirty="0"/>
              <a:t> 2i+1 </a:t>
            </a:r>
            <a:r>
              <a:rPr lang="en-US" altLang="en-US" sz="2800" b="1" dirty="0" err="1"/>
              <a:t>đã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là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đống</a:t>
            </a:r>
            <a:r>
              <a:rPr lang="en-US" altLang="en-US" sz="2800" b="1" dirty="0"/>
              <a:t>.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Procedure  adjust(</a:t>
            </a:r>
            <a:r>
              <a:rPr lang="en-US" altLang="en-US" sz="2800" b="1" dirty="0" err="1"/>
              <a:t>i,n</a:t>
            </a:r>
            <a:r>
              <a:rPr lang="en-US" altLang="en-US" sz="2800" b="1" dirty="0"/>
              <a:t>)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1. { </a:t>
            </a:r>
            <a:r>
              <a:rPr lang="en-US" altLang="en-US" sz="2800" b="1" dirty="0" err="1"/>
              <a:t>Khởi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đầu</a:t>
            </a:r>
            <a:r>
              <a:rPr lang="en-US" altLang="en-US" sz="2800" b="1" dirty="0"/>
              <a:t> }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Key:=a[</a:t>
            </a:r>
            <a:r>
              <a:rPr lang="en-US" altLang="en-US" sz="2800" b="1" dirty="0" err="1"/>
              <a:t>i</a:t>
            </a:r>
            <a:r>
              <a:rPr lang="en-US" altLang="en-US" sz="2800" b="1" dirty="0"/>
              <a:t>]; j:=2*i;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2. { </a:t>
            </a:r>
            <a:r>
              <a:rPr lang="en-US" altLang="en-US" sz="2800" b="1" dirty="0" err="1"/>
              <a:t>Chọn</a:t>
            </a:r>
            <a:r>
              <a:rPr lang="en-US" altLang="en-US" sz="2800" b="1" dirty="0"/>
              <a:t> con </a:t>
            </a:r>
            <a:r>
              <a:rPr lang="en-US" altLang="en-US" sz="2800" b="1" dirty="0" err="1"/>
              <a:t>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với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khoá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lớn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nhất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trong</a:t>
            </a:r>
            <a:r>
              <a:rPr lang="en-US" altLang="en-US" sz="2800" b="1" dirty="0"/>
              <a:t> 2 con </a:t>
            </a:r>
            <a:r>
              <a:rPr lang="en-US" altLang="en-US" sz="2800" b="1" dirty="0" err="1"/>
              <a:t>của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</a:t>
            </a:r>
            <a:r>
              <a:rPr lang="en-US" altLang="en-US" sz="2800" b="1" dirty="0"/>
              <a:t> }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While  j&lt;=n  Do 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   Begin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sz="2800" b="1" dirty="0"/>
              <a:t>		If  (j&lt;n) </a:t>
            </a:r>
            <a:r>
              <a:rPr lang="en-US" altLang="en-US" sz="2800" b="1"/>
              <a:t>and (a[j]&lt;a</a:t>
            </a:r>
            <a:r>
              <a:rPr lang="en-US" altLang="en-US" sz="2800" b="1" dirty="0"/>
              <a:t>[j+</a:t>
            </a:r>
            <a:r>
              <a:rPr lang="en-US" altLang="en-US" sz="2800" b="1"/>
              <a:t>1])  </a:t>
            </a:r>
            <a:r>
              <a:rPr lang="en-US" altLang="en-US" sz="2800" b="1" dirty="0"/>
              <a:t>then  j:=j+1;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5D672706-02BB-4336-9933-090634436F1B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273050" indent="-273050" eaLnBrk="1" hangingPunct="1">
              <a:buFontTx/>
              <a:buNone/>
            </a:pPr>
            <a:r>
              <a:rPr lang="en-US" altLang="en-US" b="1">
                <a:solidFill>
                  <a:srgbClr val="6600FF"/>
                </a:solidFill>
              </a:rPr>
              <a:t>a) Thủ tục vun đống:</a:t>
            </a:r>
            <a:r>
              <a:rPr lang="en-US" altLang="en-US" b="1"/>
              <a:t> 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{ So sánh khoá cha với khoá lớn nhất của 2 con }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	If  Key &gt; a[j]  then  Begin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		a[j/2]:=Key;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 			Return;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	    End;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  	a[j/2]:=a[j]; j:=2*j;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  End; {Kết thúc while}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3. { Đưa Key vào vị trí của nó }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a[j/2]:=Key;</a:t>
            </a:r>
          </a:p>
          <a:p>
            <a:pPr marL="273050" indent="-273050" eaLnBrk="1" hangingPunct="1">
              <a:buFontTx/>
              <a:buNone/>
            </a:pPr>
            <a:r>
              <a:rPr lang="en-US" altLang="en-US" b="1"/>
              <a:t>	Return;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CB9DA3B-2E72-4548-B0F5-2F7B5E142545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/>
              <a:t>b) </a:t>
            </a:r>
            <a:r>
              <a:rPr lang="en-US" b="1" dirty="0" err="1"/>
              <a:t>Thủ</a:t>
            </a:r>
            <a:r>
              <a:rPr lang="en-US" b="1" dirty="0"/>
              <a:t> </a:t>
            </a:r>
            <a:r>
              <a:rPr lang="en-US" b="1" dirty="0" err="1"/>
              <a:t>tục</a:t>
            </a:r>
            <a:r>
              <a:rPr lang="en-US" b="1" dirty="0"/>
              <a:t> </a:t>
            </a:r>
            <a:r>
              <a:rPr lang="en-US" b="1" dirty="0" err="1"/>
              <a:t>sắp</a:t>
            </a:r>
            <a:r>
              <a:rPr lang="en-US" b="1" dirty="0"/>
              <a:t> </a:t>
            </a:r>
            <a:r>
              <a:rPr lang="en-US" b="1" dirty="0" err="1"/>
              <a:t>xếp</a:t>
            </a:r>
            <a:r>
              <a:rPr lang="en-US" b="1" dirty="0"/>
              <a:t> </a:t>
            </a:r>
            <a:r>
              <a:rPr lang="en-US" b="1" dirty="0" err="1"/>
              <a:t>vun</a:t>
            </a:r>
            <a:r>
              <a:rPr lang="en-US" b="1" dirty="0"/>
              <a:t> </a:t>
            </a:r>
            <a:r>
              <a:rPr lang="en-US" b="1" dirty="0" err="1"/>
              <a:t>đống</a:t>
            </a:r>
            <a:r>
              <a:rPr lang="en-US" b="1" dirty="0"/>
              <a:t>: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Procedure  </a:t>
            </a:r>
            <a:r>
              <a:rPr lang="en-US" dirty="0" err="1"/>
              <a:t>heapSort</a:t>
            </a:r>
            <a:r>
              <a:rPr lang="en-US" dirty="0"/>
              <a:t>(</a:t>
            </a:r>
            <a:r>
              <a:rPr lang="en-US" dirty="0" err="1"/>
              <a:t>a,n</a:t>
            </a:r>
            <a:r>
              <a:rPr lang="en-US" dirty="0"/>
              <a:t>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1. {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đống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}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For  i:=n div 2  </a:t>
            </a:r>
            <a:r>
              <a:rPr lang="en-US" dirty="0" err="1"/>
              <a:t>Downto</a:t>
            </a:r>
            <a:r>
              <a:rPr lang="en-US" dirty="0"/>
              <a:t>  1  Do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	Call  adjust(</a:t>
            </a:r>
            <a:r>
              <a:rPr lang="en-US" dirty="0" err="1"/>
              <a:t>i,n</a:t>
            </a:r>
            <a:r>
              <a:rPr lang="en-US" dirty="0"/>
              <a:t>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2. {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}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For  i:= n-1  </a:t>
            </a:r>
            <a:r>
              <a:rPr lang="en-US" dirty="0" err="1"/>
              <a:t>Downto</a:t>
            </a:r>
            <a:r>
              <a:rPr lang="en-US" dirty="0"/>
              <a:t>  1 Do 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  	Begin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	</a:t>
            </a:r>
            <a:r>
              <a:rPr lang="en-US" dirty="0" err="1"/>
              <a:t>tg</a:t>
            </a:r>
            <a:r>
              <a:rPr lang="en-US" dirty="0"/>
              <a:t>:=a[1]; a[1]:=a[i+1]; a[i+1]:=</a:t>
            </a:r>
            <a:r>
              <a:rPr lang="en-US" dirty="0" err="1"/>
              <a:t>tg</a:t>
            </a:r>
            <a:r>
              <a:rPr lang="en-US" dirty="0"/>
              <a:t>;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		</a:t>
            </a:r>
            <a:r>
              <a:rPr lang="en-US"/>
              <a:t>Call  adjust(1,i</a:t>
            </a:r>
            <a:r>
              <a:rPr lang="en-US" dirty="0"/>
              <a:t>);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  	End;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dirty="0"/>
              <a:t>	Return</a:t>
            </a:r>
            <a:endParaRPr lang="en-US" b="1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/>
              <a:t>5.2.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endParaRPr lang="en-US" dirty="0"/>
          </a:p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O</a:t>
            </a:r>
            <a:r>
              <a:rPr lang="en-US" dirty="0"/>
              <a:t>(</a:t>
            </a:r>
            <a:r>
              <a:rPr lang="en-US"/>
              <a:t>nlog</a:t>
            </a:r>
            <a:r>
              <a:rPr lang="en-US" baseline="-25000"/>
              <a:t>2</a:t>
            </a:r>
            <a:r>
              <a:rPr lang="en-US"/>
              <a:t>n)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AAE9652D-7467-46CB-8A0C-A9E12B41AF07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idx="1"/>
          </p:nvPr>
        </p:nvSpPr>
        <p:spPr>
          <a:xfrm>
            <a:off x="314960" y="136525"/>
            <a:ext cx="8595360" cy="6497955"/>
          </a:xfrm>
        </p:spPr>
        <p:txBody>
          <a:bodyPr rtlCol="0"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fr-FR" b="1">
                <a:solidFill>
                  <a:srgbClr val="6600FF"/>
                </a:solidFill>
              </a:rPr>
              <a:t>6. Sắp xếp trộn (hoà nhập) ( MERGE SORT)</a:t>
            </a:r>
            <a:endParaRPr lang="en-US" b="1">
              <a:solidFill>
                <a:srgbClr val="6600FF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rgbClr val="6600FF"/>
                </a:solidFill>
              </a:rPr>
              <a:t>6.1. Trộn 2 dãy đã sắp xếp</a:t>
            </a:r>
            <a:endParaRPr lang="en-US">
              <a:solidFill>
                <a:srgbClr val="6600FF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  Trộn 2 dãy khóa đã sắp xếp tăng dần (2 mạch) thành 1 dãy khóa sắp xếp tăng dần.</a:t>
            </a:r>
            <a:endParaRPr lang="en-US" b="1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rgbClr val="6600FF"/>
                </a:solidFill>
              </a:rPr>
              <a:t>a) Ý tưởng:</a:t>
            </a:r>
            <a:endParaRPr lang="en-US">
              <a:solidFill>
                <a:srgbClr val="6600FF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  So sánh 2 khoá nhỏ nhất của 2 dãy (2 mạch), khóa nào nhỏ h</a:t>
            </a:r>
            <a:r>
              <a:rPr lang="vi-VN"/>
              <a:t>ơ</a:t>
            </a:r>
            <a:r>
              <a:rPr lang="en-US"/>
              <a:t>n thì đ</a:t>
            </a:r>
            <a:r>
              <a:rPr lang="vi-VN"/>
              <a:t>ư</a:t>
            </a:r>
            <a:r>
              <a:rPr lang="en-US"/>
              <a:t>a sang dãy đích trước.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  Quá trình cứ tiếp tục cho tới khi 1 trong 2 dãy đã hết. Dãy còn lại đưa nốt sang dãy đích.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Ví dụ:   Dãy 1: (3, 5, 10, 16 )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	     Dãy 2: (1, 4, 15 )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	     Dãy đích: (1, 3, 4, 5, 10, 15, 16)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>
                <a:solidFill>
                  <a:srgbClr val="6600FF"/>
                </a:solidFill>
              </a:rPr>
              <a:t>b) Giải thuật:</a:t>
            </a:r>
            <a:endParaRPr lang="en-US">
              <a:solidFill>
                <a:srgbClr val="6600FF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	Dãy 1: (X</a:t>
            </a:r>
            <a:r>
              <a:rPr lang="en-US" baseline="-25000"/>
              <a:t>b</a:t>
            </a:r>
            <a:r>
              <a:rPr lang="en-US"/>
              <a:t>, ..., X</a:t>
            </a:r>
            <a:r>
              <a:rPr lang="en-US" baseline="-25000"/>
              <a:t>m</a:t>
            </a:r>
            <a:r>
              <a:rPr lang="en-US"/>
              <a:t> 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	Dãy 2: (X</a:t>
            </a:r>
            <a:r>
              <a:rPr lang="en-US" baseline="-25000"/>
              <a:t>m+1</a:t>
            </a:r>
            <a:r>
              <a:rPr lang="en-US"/>
              <a:t>, ..., X</a:t>
            </a:r>
            <a:r>
              <a:rPr lang="en-US" baseline="-25000"/>
              <a:t>n</a:t>
            </a:r>
            <a:r>
              <a:rPr lang="en-US"/>
              <a:t> )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/>
              <a:t>	Dãy đích: (Z</a:t>
            </a:r>
            <a:r>
              <a:rPr lang="en-US" baseline="-25000"/>
              <a:t>b</a:t>
            </a:r>
            <a:r>
              <a:rPr lang="en-US"/>
              <a:t>, ..., Z</a:t>
            </a:r>
            <a:r>
              <a:rPr lang="en-US" baseline="-25000"/>
              <a:t>n</a:t>
            </a:r>
            <a:r>
              <a:rPr lang="en-US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DBFD6B65-8158-4D96-9045-74EE4775E023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3325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b="1">
                <a:solidFill>
                  <a:srgbClr val="6600FF"/>
                </a:solidFill>
              </a:rPr>
              <a:t> * Thủ tục như sau: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Procedure  merge(X,b,m,n,Z);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1) i:=k:=b; j:=m+1;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2) While  (i&lt;=m) and (j&lt;=n)  Do 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Begin  +) If   X[i]&lt;=X[j]  then  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Begin  Z[k]:=X[i];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	i:=i+1;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End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Else  Begin  Z[k]:=X[j];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	          j:=j+1;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	End;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	+) k:=k+1;</a:t>
            </a:r>
          </a:p>
          <a:p>
            <a:pPr eaLnBrk="1" hangingPunct="1">
              <a:buFontTx/>
              <a:buNone/>
            </a:pPr>
            <a:r>
              <a:rPr lang="en-US" altLang="en-US" sz="2800" b="1"/>
              <a:t>		End;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E477D6DA-2473-4BB0-9F73-485ED1B33D7A}" type="slidenum">
              <a:rPr lang="en-US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3325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4000" b="1">
                <a:solidFill>
                  <a:srgbClr val="6600FF"/>
                </a:solidFill>
              </a:rPr>
              <a:t> * Thủ tục như sau:</a:t>
            </a:r>
          </a:p>
          <a:p>
            <a:pPr eaLnBrk="1" hangingPunct="1">
              <a:buFontTx/>
              <a:buNone/>
            </a:pPr>
            <a:r>
              <a:rPr lang="en-US" altLang="en-US" sz="4000" b="1"/>
              <a:t>		3. {Đưa nốt dãy còn lại sang dãy đích}</a:t>
            </a:r>
          </a:p>
          <a:p>
            <a:pPr eaLnBrk="1" hangingPunct="1">
              <a:buFontTx/>
              <a:buNone/>
            </a:pPr>
            <a:r>
              <a:rPr lang="en-US" altLang="en-US" sz="4000" b="1"/>
              <a:t>	  	If  i&gt;m  then (zk, ..., zn):= (xj, ..., xn)</a:t>
            </a:r>
          </a:p>
          <a:p>
            <a:pPr eaLnBrk="1" hangingPunct="1">
              <a:buFontTx/>
              <a:buNone/>
            </a:pPr>
            <a:r>
              <a:rPr lang="en-US" altLang="en-US" sz="4000" b="1"/>
              <a:t>	  	Else  (zk, ..., zn):= (xi, ..., xm)</a:t>
            </a:r>
          </a:p>
          <a:p>
            <a:pPr eaLnBrk="1" hangingPunct="1">
              <a:buFontTx/>
              <a:buNone/>
            </a:pPr>
            <a:r>
              <a:rPr lang="en-US" altLang="en-US" sz="4000" b="1"/>
              <a:t>	Return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505B3403-2A75-44F6-AE79-BA30EBBED5C6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152C-8776-4966-9832-AAD78732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75952-6486-47A0-8FC6-265B870A2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470989" cy="4525963"/>
          </a:xfrm>
        </p:spPr>
        <p:txBody>
          <a:bodyPr/>
          <a:lstStyle/>
          <a:p>
            <a:r>
              <a:rPr lang="en-US"/>
              <a:t>Dãy khóa: </a:t>
            </a:r>
            <a:r>
              <a:rPr lang="en-US" u="sng"/>
              <a:t>9</a:t>
            </a:r>
            <a:r>
              <a:rPr lang="en-US"/>
              <a:t>  </a:t>
            </a:r>
            <a:r>
              <a:rPr lang="en-US" u="sng"/>
              <a:t>1</a:t>
            </a:r>
            <a:r>
              <a:rPr lang="en-US"/>
              <a:t>  </a:t>
            </a:r>
            <a:r>
              <a:rPr lang="en-US" u="sng"/>
              <a:t>7</a:t>
            </a:r>
            <a:r>
              <a:rPr lang="en-US"/>
              <a:t>  </a:t>
            </a:r>
            <a:r>
              <a:rPr lang="en-US" u="sng"/>
              <a:t>6</a:t>
            </a:r>
            <a:r>
              <a:rPr lang="en-US"/>
              <a:t>  </a:t>
            </a:r>
            <a:r>
              <a:rPr lang="en-US" u="sng"/>
              <a:t>4</a:t>
            </a:r>
            <a:r>
              <a:rPr lang="en-US"/>
              <a:t>  </a:t>
            </a:r>
            <a:r>
              <a:rPr lang="en-US" u="sng"/>
              <a:t>3</a:t>
            </a:r>
            <a:r>
              <a:rPr lang="en-US"/>
              <a:t>  </a:t>
            </a:r>
            <a:r>
              <a:rPr lang="en-US" u="sng"/>
              <a:t>8</a:t>
            </a:r>
            <a:r>
              <a:rPr lang="en-US"/>
              <a:t>  </a:t>
            </a:r>
            <a:r>
              <a:rPr lang="en-US" u="sng"/>
              <a:t>7</a:t>
            </a:r>
          </a:p>
          <a:p>
            <a:endParaRPr lang="en-US"/>
          </a:p>
          <a:p>
            <a:r>
              <a:rPr lang="en-US"/>
              <a:t>                   1  9  6  7  3  4  7  8</a:t>
            </a:r>
          </a:p>
          <a:p>
            <a:r>
              <a:rPr lang="en-US"/>
              <a:t>                   1  6  7  9  3  4  7  8</a:t>
            </a:r>
          </a:p>
          <a:p>
            <a:r>
              <a:rPr lang="en-US"/>
              <a:t>                   1  3  4  6  7  7  8  9  </a:t>
            </a:r>
          </a:p>
          <a:p>
            <a:r>
              <a:rPr lang="en-US"/>
              <a:t>                   1  3  4  6  7  7  8  9 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8F885-FC50-4130-879A-AF39B734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816E-679B-4670-9068-1558CFEA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giảng Cấu trúc dữ liệu và giải thuật 2 -  Chương 03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7A6F-EF27-4900-8518-CACC9B39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3.</a:t>
            </a:r>
            <a:fld id="{F460FA1E-3219-47C1-B686-9D0E50399D5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C1DD3-60DE-4061-9DD5-2E68E066BAD9}"/>
              </a:ext>
            </a:extLst>
          </p:cNvPr>
          <p:cNvCxnSpPr>
            <a:cxnSpLocks/>
          </p:cNvCxnSpPr>
          <p:nvPr/>
        </p:nvCxnSpPr>
        <p:spPr>
          <a:xfrm>
            <a:off x="260096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A2F61E-6AAE-40D0-8DC8-AB5E8E71F74B}"/>
              </a:ext>
            </a:extLst>
          </p:cNvPr>
          <p:cNvCxnSpPr>
            <a:cxnSpLocks/>
          </p:cNvCxnSpPr>
          <p:nvPr/>
        </p:nvCxnSpPr>
        <p:spPr>
          <a:xfrm>
            <a:off x="341376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61F909-104E-4E9E-A6F6-F6DF65C8C802}"/>
              </a:ext>
            </a:extLst>
          </p:cNvPr>
          <p:cNvCxnSpPr>
            <a:cxnSpLocks/>
          </p:cNvCxnSpPr>
          <p:nvPr/>
        </p:nvCxnSpPr>
        <p:spPr>
          <a:xfrm>
            <a:off x="415544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772B99-FBF3-4F68-9412-0AF5B9D2D878}"/>
              </a:ext>
            </a:extLst>
          </p:cNvPr>
          <p:cNvCxnSpPr>
            <a:cxnSpLocks/>
          </p:cNvCxnSpPr>
          <p:nvPr/>
        </p:nvCxnSpPr>
        <p:spPr>
          <a:xfrm>
            <a:off x="492760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E6F565-3AEE-48B4-8FA7-B2552675ED92}"/>
              </a:ext>
            </a:extLst>
          </p:cNvPr>
          <p:cNvCxnSpPr>
            <a:cxnSpLocks/>
          </p:cNvCxnSpPr>
          <p:nvPr/>
        </p:nvCxnSpPr>
        <p:spPr>
          <a:xfrm>
            <a:off x="262128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430BD7-7BD5-4371-B76E-27F64482F74B}"/>
              </a:ext>
            </a:extLst>
          </p:cNvPr>
          <p:cNvCxnSpPr>
            <a:cxnSpLocks/>
          </p:cNvCxnSpPr>
          <p:nvPr/>
        </p:nvCxnSpPr>
        <p:spPr>
          <a:xfrm>
            <a:off x="341376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462345-4B8C-4D28-8EAD-08DB7E5C8B12}"/>
              </a:ext>
            </a:extLst>
          </p:cNvPr>
          <p:cNvCxnSpPr>
            <a:cxnSpLocks/>
          </p:cNvCxnSpPr>
          <p:nvPr/>
        </p:nvCxnSpPr>
        <p:spPr>
          <a:xfrm>
            <a:off x="415544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25CEA0-57D6-4112-98DC-713B554E029D}"/>
              </a:ext>
            </a:extLst>
          </p:cNvPr>
          <p:cNvCxnSpPr>
            <a:cxnSpLocks/>
          </p:cNvCxnSpPr>
          <p:nvPr/>
        </p:nvCxnSpPr>
        <p:spPr>
          <a:xfrm>
            <a:off x="494792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CFCD3B-B07D-471C-BF18-DAF02199C69C}"/>
              </a:ext>
            </a:extLst>
          </p:cNvPr>
          <p:cNvSpPr txBox="1"/>
          <p:nvPr/>
        </p:nvSpPr>
        <p:spPr>
          <a:xfrm>
            <a:off x="260096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1C22D9-205A-4992-A5E9-6A4A21AE9C2B}"/>
              </a:ext>
            </a:extLst>
          </p:cNvPr>
          <p:cNvSpPr txBox="1"/>
          <p:nvPr/>
        </p:nvSpPr>
        <p:spPr>
          <a:xfrm>
            <a:off x="29464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F5DA94-8EBD-4DCD-8BCB-D2FC80E8B735}"/>
              </a:ext>
            </a:extLst>
          </p:cNvPr>
          <p:cNvSpPr txBox="1"/>
          <p:nvPr/>
        </p:nvSpPr>
        <p:spPr>
          <a:xfrm>
            <a:off x="33528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FA0E7-8242-48E0-B1C3-7E16B055F730}"/>
              </a:ext>
            </a:extLst>
          </p:cNvPr>
          <p:cNvSpPr txBox="1"/>
          <p:nvPr/>
        </p:nvSpPr>
        <p:spPr>
          <a:xfrm>
            <a:off x="37592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C762B2-8C46-4946-98D5-8E7C8703C561}"/>
              </a:ext>
            </a:extLst>
          </p:cNvPr>
          <p:cNvSpPr txBox="1"/>
          <p:nvPr/>
        </p:nvSpPr>
        <p:spPr>
          <a:xfrm>
            <a:off x="415544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945AE7-6543-40F7-948C-C6D1C270AB5E}"/>
              </a:ext>
            </a:extLst>
          </p:cNvPr>
          <p:cNvSpPr txBox="1"/>
          <p:nvPr/>
        </p:nvSpPr>
        <p:spPr>
          <a:xfrm>
            <a:off x="455168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EB3D5-6594-45EB-BF2E-27963D2DF59C}"/>
              </a:ext>
            </a:extLst>
          </p:cNvPr>
          <p:cNvSpPr txBox="1"/>
          <p:nvPr/>
        </p:nvSpPr>
        <p:spPr>
          <a:xfrm>
            <a:off x="495808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EA9AD-6BBB-47D9-A200-6B89EC4FB66B}"/>
              </a:ext>
            </a:extLst>
          </p:cNvPr>
          <p:cNvSpPr txBox="1"/>
          <p:nvPr/>
        </p:nvSpPr>
        <p:spPr>
          <a:xfrm>
            <a:off x="53594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C18EA9-D621-4DA5-9FBE-0FD09C8CB7E1}"/>
              </a:ext>
            </a:extLst>
          </p:cNvPr>
          <p:cNvCxnSpPr>
            <a:cxnSpLocks/>
          </p:cNvCxnSpPr>
          <p:nvPr/>
        </p:nvCxnSpPr>
        <p:spPr>
          <a:xfrm>
            <a:off x="2600960" y="4475480"/>
            <a:ext cx="2956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FCF277-BEE0-4EB1-9408-8D3CBB87EA82}"/>
              </a:ext>
            </a:extLst>
          </p:cNvPr>
          <p:cNvCxnSpPr>
            <a:cxnSpLocks/>
          </p:cNvCxnSpPr>
          <p:nvPr/>
        </p:nvCxnSpPr>
        <p:spPr>
          <a:xfrm>
            <a:off x="4201160" y="3855720"/>
            <a:ext cx="142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EE8F8E-3B49-40A0-9784-680425556473}"/>
              </a:ext>
            </a:extLst>
          </p:cNvPr>
          <p:cNvSpPr txBox="1"/>
          <p:nvPr/>
        </p:nvSpPr>
        <p:spPr>
          <a:xfrm>
            <a:off x="6004560" y="1738869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770BA6-B391-4D54-8408-FBA179F859C3}"/>
              </a:ext>
            </a:extLst>
          </p:cNvPr>
          <p:cNvSpPr txBox="1"/>
          <p:nvPr/>
        </p:nvSpPr>
        <p:spPr>
          <a:xfrm>
            <a:off x="6004560" y="2815421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6C481-6EDF-44C2-8011-C435D813C9A0}"/>
              </a:ext>
            </a:extLst>
          </p:cNvPr>
          <p:cNvSpPr txBox="1"/>
          <p:nvPr/>
        </p:nvSpPr>
        <p:spPr>
          <a:xfrm>
            <a:off x="6004560" y="3479912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ABAE6-29D4-41D4-AF0B-83AA4BEFFECB}"/>
              </a:ext>
            </a:extLst>
          </p:cNvPr>
          <p:cNvSpPr txBox="1"/>
          <p:nvPr/>
        </p:nvSpPr>
        <p:spPr>
          <a:xfrm>
            <a:off x="6004560" y="4069303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381DB9-4A0A-49E1-94A3-3A4B862C10E8}"/>
              </a:ext>
            </a:extLst>
          </p:cNvPr>
          <p:cNvCxnSpPr>
            <a:cxnSpLocks/>
          </p:cNvCxnSpPr>
          <p:nvPr/>
        </p:nvCxnSpPr>
        <p:spPr>
          <a:xfrm>
            <a:off x="2600960" y="5024120"/>
            <a:ext cx="2956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C981046-5FF0-4074-9CC9-B93249F8295A}"/>
              </a:ext>
            </a:extLst>
          </p:cNvPr>
          <p:cNvSpPr txBox="1"/>
          <p:nvPr/>
        </p:nvSpPr>
        <p:spPr>
          <a:xfrm>
            <a:off x="6004560" y="4624872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5AFCE9-ECEA-4FD9-9705-10845F9A2A50}"/>
              </a:ext>
            </a:extLst>
          </p:cNvPr>
          <p:cNvCxnSpPr>
            <a:cxnSpLocks/>
          </p:cNvCxnSpPr>
          <p:nvPr/>
        </p:nvCxnSpPr>
        <p:spPr>
          <a:xfrm>
            <a:off x="2641600" y="3855720"/>
            <a:ext cx="142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0EFCC1-75C8-45F0-9172-A1F97F8F1F0F}"/>
              </a:ext>
            </a:extLst>
          </p:cNvPr>
          <p:cNvCxnSpPr>
            <a:cxnSpLocks/>
          </p:cNvCxnSpPr>
          <p:nvPr/>
        </p:nvCxnSpPr>
        <p:spPr>
          <a:xfrm>
            <a:off x="6429340" y="2013735"/>
            <a:ext cx="0" cy="980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96A182-9314-4E8F-9A54-351D31418AF5}"/>
              </a:ext>
            </a:extLst>
          </p:cNvPr>
          <p:cNvSpPr txBox="1"/>
          <p:nvPr/>
        </p:nvSpPr>
        <p:spPr>
          <a:xfrm>
            <a:off x="6429340" y="2228832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Mpass(a, b, 8, 1)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9834F-6A11-4798-89BF-CB79DFA49B74}"/>
              </a:ext>
            </a:extLst>
          </p:cNvPr>
          <p:cNvCxnSpPr>
            <a:cxnSpLocks/>
          </p:cNvCxnSpPr>
          <p:nvPr/>
        </p:nvCxnSpPr>
        <p:spPr>
          <a:xfrm>
            <a:off x="6429340" y="3113070"/>
            <a:ext cx="0" cy="595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E47DA3-DC6E-4A98-9D9F-904B31AAF5E2}"/>
              </a:ext>
            </a:extLst>
          </p:cNvPr>
          <p:cNvSpPr txBox="1"/>
          <p:nvPr/>
        </p:nvSpPr>
        <p:spPr>
          <a:xfrm>
            <a:off x="6429340" y="3222322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Mpass(b, a, 8, 2)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E4F5FB-375B-4EAF-8BA5-CCCE321D7318}"/>
              </a:ext>
            </a:extLst>
          </p:cNvPr>
          <p:cNvCxnSpPr>
            <a:cxnSpLocks/>
          </p:cNvCxnSpPr>
          <p:nvPr/>
        </p:nvCxnSpPr>
        <p:spPr>
          <a:xfrm>
            <a:off x="6429340" y="3759996"/>
            <a:ext cx="0" cy="509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FDC5DB0-B9A9-42A6-B7D6-00AEAE07CEF1}"/>
              </a:ext>
            </a:extLst>
          </p:cNvPr>
          <p:cNvSpPr txBox="1"/>
          <p:nvPr/>
        </p:nvSpPr>
        <p:spPr>
          <a:xfrm>
            <a:off x="6429340" y="3818223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Mpass(a, b, 8, 4)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6F8349-C565-427B-A2B3-38F5BEC351C2}"/>
              </a:ext>
            </a:extLst>
          </p:cNvPr>
          <p:cNvCxnSpPr>
            <a:cxnSpLocks/>
          </p:cNvCxnSpPr>
          <p:nvPr/>
        </p:nvCxnSpPr>
        <p:spPr>
          <a:xfrm>
            <a:off x="6429340" y="4379091"/>
            <a:ext cx="0" cy="509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E336D6E-62D5-47C6-8597-F1731C4644BB}"/>
              </a:ext>
            </a:extLst>
          </p:cNvPr>
          <p:cNvSpPr txBox="1"/>
          <p:nvPr/>
        </p:nvSpPr>
        <p:spPr>
          <a:xfrm>
            <a:off x="6429340" y="4437318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Mpass(b, a, 8, 8)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365408-FD6B-428C-A1F5-7E8E8C2B2F89}"/>
              </a:ext>
            </a:extLst>
          </p:cNvPr>
          <p:cNvSpPr txBox="1"/>
          <p:nvPr/>
        </p:nvSpPr>
        <p:spPr>
          <a:xfrm>
            <a:off x="1835648" y="2869973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86B8C2-7633-4424-9E8D-044D0CCCBC0A}"/>
              </a:ext>
            </a:extLst>
          </p:cNvPr>
          <p:cNvSpPr txBox="1"/>
          <p:nvPr/>
        </p:nvSpPr>
        <p:spPr>
          <a:xfrm>
            <a:off x="1835648" y="3465971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22E680-80A3-4442-BC5E-59E80D38326D}"/>
              </a:ext>
            </a:extLst>
          </p:cNvPr>
          <p:cNvSpPr txBox="1"/>
          <p:nvPr/>
        </p:nvSpPr>
        <p:spPr>
          <a:xfrm>
            <a:off x="1835648" y="4069303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7768CD-93AA-40DD-A1D9-AC51EB378B6D}"/>
              </a:ext>
            </a:extLst>
          </p:cNvPr>
          <p:cNvSpPr txBox="1"/>
          <p:nvPr/>
        </p:nvSpPr>
        <p:spPr>
          <a:xfrm>
            <a:off x="1664414" y="4651975"/>
            <a:ext cx="834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L=16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06AB2-1AE2-4B02-B3E5-6AFCB0460363}"/>
              </a:ext>
            </a:extLst>
          </p:cNvPr>
          <p:cNvSpPr txBox="1"/>
          <p:nvPr/>
        </p:nvSpPr>
        <p:spPr>
          <a:xfrm>
            <a:off x="1835648" y="2017765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D45800-8366-4E82-8CF7-11666AE80386}"/>
              </a:ext>
            </a:extLst>
          </p:cNvPr>
          <p:cNvSpPr txBox="1"/>
          <p:nvPr/>
        </p:nvSpPr>
        <p:spPr>
          <a:xfrm>
            <a:off x="5247240" y="1206075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n=8</a:t>
            </a:r>
          </a:p>
        </p:txBody>
      </p:sp>
    </p:spTree>
    <p:extLst>
      <p:ext uri="{BB962C8B-B14F-4D97-AF65-F5344CB8AC3E}">
        <p14:creationId xmlns:p14="http://schemas.microsoft.com/office/powerpoint/2010/main" val="4714513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>
                <a:solidFill>
                  <a:srgbClr val="6600FF"/>
                </a:solidFill>
              </a:rPr>
              <a:t>6.2. Sắp xếp kiểu hòa nhập trực tiếp (Straight two way merge )</a:t>
            </a:r>
          </a:p>
          <a:p>
            <a:pPr eaLnBrk="1" hangingPunct="1">
              <a:buFontTx/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rgbClr val="6600FF"/>
                </a:solidFill>
              </a:rPr>
              <a:t>* Bảng con đã được sắp gọi là một mạch (run).</a:t>
            </a:r>
          </a:p>
          <a:p>
            <a:pPr eaLnBrk="1" hangingPunct="1">
              <a:buFontTx/>
              <a:buNone/>
            </a:pPr>
            <a:r>
              <a:rPr lang="en-US" altLang="en-US"/>
              <a:t>  * Mỗi bản ghi coi như 1 mạch có độ dài ( kích thước ) là 1. Nếu hoà nhập 2 bảng như vậy ta được 1 mạch mới có độ dài =2. Hoà nhập 2 mạch có độ dài là 2 ta được một mạch có độ dài là 4, ...</a:t>
            </a:r>
          </a:p>
          <a:p>
            <a:pPr eaLnBrk="1" hangingPunct="1">
              <a:buFontTx/>
              <a:buNone/>
            </a:pPr>
            <a:r>
              <a:rPr lang="en-US" altLang="en-US"/>
              <a:t>  </a:t>
            </a:r>
            <a:r>
              <a:rPr lang="en-US" altLang="en-US">
                <a:solidFill>
                  <a:srgbClr val="6600FF"/>
                </a:solidFill>
              </a:rPr>
              <a:t>* Thủ tục MPass thực hiện một bước của sắp xếp trộn</a:t>
            </a:r>
            <a:r>
              <a:rPr lang="en-US" altLang="en-US"/>
              <a:t>. Nó trộn từng cặp dãy con liền kề nhau, có độ dài L, từ mảng X sang mảng Y, n là số lượng khoá trong X.</a:t>
            </a:r>
          </a:p>
          <a:p>
            <a:pPr eaLnBrk="1" hangingPunct="1">
              <a:buFontTx/>
              <a:buNone/>
            </a:pPr>
            <a:r>
              <a:rPr lang="en-US" altLang="en-US"/>
              <a:t>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2240627D-A68B-4107-90CB-84F226A35DB5}" type="slidenum">
              <a:rPr lang="en-US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Procedure  MPass(X,Y,n,L)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1. i:=1;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2. {Khi còn đủ hai dãy con liền kề có độ dài L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 While  i + 2L-1 &lt;= n Do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Begin  Call  merge(X,i,i+L-1,i+2L-1, 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 		 i:=i+2L;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	End;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	3. {Từ vị trí i về cuối không còn đủ 2 dãy con chiều dài L}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  	If  i+L-1 &lt;n  then  Call  merge(X,i,i+L-1,n,Y)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  	Else  (y</a:t>
            </a:r>
            <a:r>
              <a:rPr lang="en-US" altLang="en-US" baseline="-25000"/>
              <a:t>i</a:t>
            </a:r>
            <a:r>
              <a:rPr lang="en-US" altLang="en-US"/>
              <a:t>, ..., y</a:t>
            </a:r>
            <a:r>
              <a:rPr lang="en-US" altLang="en-US" baseline="-25000"/>
              <a:t>n</a:t>
            </a:r>
            <a:r>
              <a:rPr lang="en-US" altLang="en-US"/>
              <a:t>):= (x</a:t>
            </a:r>
            <a:r>
              <a:rPr lang="en-US" altLang="en-US" baseline="-25000"/>
              <a:t>i</a:t>
            </a:r>
            <a:r>
              <a:rPr lang="en-US" altLang="en-US"/>
              <a:t>, ..., x</a:t>
            </a:r>
            <a:r>
              <a:rPr lang="en-US" altLang="en-US" baseline="-25000"/>
              <a:t>n</a:t>
            </a:r>
            <a:r>
              <a:rPr lang="en-US" altLang="en-US"/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	Return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F6541D4E-6903-4873-80FE-2B851609745C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CB8B-6A5D-4EED-A5BD-D242A33D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Ý tưởng của giải thuật sắp xếp trộn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D0CA-52BC-448C-93B3-F1CADCD78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/>
              <a:t>Đầu tiên, trộn các cặp dãy con liên tiếp có chiều dài bằng 1 thành các dãy con có chiều dài bằng 2.</a:t>
            </a:r>
          </a:p>
          <a:p>
            <a:r>
              <a:rPr lang="en-US"/>
              <a:t>Tiếp theo, trộn các cặp dãy con liên tiếp có chiều dài bằng 2 thành các dãy con có chiều dài bằng 4…</a:t>
            </a:r>
          </a:p>
          <a:p>
            <a:r>
              <a:rPr lang="en-US"/>
              <a:t>Cứ tiếp tiếp như vậy cho tới khi dãy con có chiều dài bằng n (số lượng khóa của dãy cần sắp xếp).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F7F7D-8A52-44F7-A9C3-D1125EA2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B30D3-8AED-4250-973A-36817F42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giảng Cấu trúc dữ liệu và giải thuật 2 -  Chương 03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FF69A-EF6D-4B73-9525-B44C7B53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3.</a:t>
            </a:r>
            <a:fld id="{F460FA1E-3219-47C1-B686-9D0E50399D5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74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152C-8776-4966-9832-AAD787326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75952-6486-47A0-8FC6-265B870A2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470989" cy="4525963"/>
          </a:xfrm>
        </p:spPr>
        <p:txBody>
          <a:bodyPr/>
          <a:lstStyle/>
          <a:p>
            <a:r>
              <a:rPr lang="en-US"/>
              <a:t>Dãy khóa: </a:t>
            </a:r>
            <a:r>
              <a:rPr lang="en-US" u="sng"/>
              <a:t>9</a:t>
            </a:r>
            <a:r>
              <a:rPr lang="en-US"/>
              <a:t>  </a:t>
            </a:r>
            <a:r>
              <a:rPr lang="en-US" u="sng"/>
              <a:t>1</a:t>
            </a:r>
            <a:r>
              <a:rPr lang="en-US"/>
              <a:t>  </a:t>
            </a:r>
            <a:r>
              <a:rPr lang="en-US" u="sng"/>
              <a:t>7</a:t>
            </a:r>
            <a:r>
              <a:rPr lang="en-US"/>
              <a:t>  </a:t>
            </a:r>
            <a:r>
              <a:rPr lang="en-US" u="sng"/>
              <a:t>6</a:t>
            </a:r>
            <a:r>
              <a:rPr lang="en-US"/>
              <a:t>  </a:t>
            </a:r>
            <a:r>
              <a:rPr lang="en-US" u="sng"/>
              <a:t>4</a:t>
            </a:r>
            <a:r>
              <a:rPr lang="en-US"/>
              <a:t>  </a:t>
            </a:r>
            <a:r>
              <a:rPr lang="en-US" u="sng"/>
              <a:t>3</a:t>
            </a:r>
            <a:r>
              <a:rPr lang="en-US"/>
              <a:t>  </a:t>
            </a:r>
            <a:r>
              <a:rPr lang="en-US" u="sng"/>
              <a:t>8</a:t>
            </a:r>
            <a:r>
              <a:rPr lang="en-US"/>
              <a:t>  </a:t>
            </a:r>
            <a:r>
              <a:rPr lang="en-US" u="sng"/>
              <a:t>7</a:t>
            </a:r>
          </a:p>
          <a:p>
            <a:endParaRPr lang="en-US"/>
          </a:p>
          <a:p>
            <a:r>
              <a:rPr lang="en-US"/>
              <a:t>                   1  9  6  7  3  4  7  8</a:t>
            </a:r>
          </a:p>
          <a:p>
            <a:r>
              <a:rPr lang="en-US"/>
              <a:t>                   1  6  7  9  3  4  7  8</a:t>
            </a:r>
          </a:p>
          <a:p>
            <a:r>
              <a:rPr lang="en-US"/>
              <a:t>                   1  3  4  6  7  7  8  9  </a:t>
            </a:r>
          </a:p>
          <a:p>
            <a:r>
              <a:rPr lang="en-US"/>
              <a:t>                   1  3  4  6  7  7  8  9 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8F885-FC50-4130-879A-AF39B734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816E-679B-4670-9068-1558CFEA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giảng Cấu trúc dữ liệu và giải thuật 2 -  Chương 03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27A6F-EF27-4900-8518-CACC9B39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3.</a:t>
            </a:r>
            <a:fld id="{F460FA1E-3219-47C1-B686-9D0E50399D5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C1DD3-60DE-4061-9DD5-2E68E066BAD9}"/>
              </a:ext>
            </a:extLst>
          </p:cNvPr>
          <p:cNvCxnSpPr>
            <a:cxnSpLocks/>
          </p:cNvCxnSpPr>
          <p:nvPr/>
        </p:nvCxnSpPr>
        <p:spPr>
          <a:xfrm>
            <a:off x="260096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A2F61E-6AAE-40D0-8DC8-AB5E8E71F74B}"/>
              </a:ext>
            </a:extLst>
          </p:cNvPr>
          <p:cNvCxnSpPr>
            <a:cxnSpLocks/>
          </p:cNvCxnSpPr>
          <p:nvPr/>
        </p:nvCxnSpPr>
        <p:spPr>
          <a:xfrm>
            <a:off x="341376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61F909-104E-4E9E-A6F6-F6DF65C8C802}"/>
              </a:ext>
            </a:extLst>
          </p:cNvPr>
          <p:cNvCxnSpPr>
            <a:cxnSpLocks/>
          </p:cNvCxnSpPr>
          <p:nvPr/>
        </p:nvCxnSpPr>
        <p:spPr>
          <a:xfrm>
            <a:off x="415544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772B99-FBF3-4F68-9412-0AF5B9D2D878}"/>
              </a:ext>
            </a:extLst>
          </p:cNvPr>
          <p:cNvCxnSpPr>
            <a:cxnSpLocks/>
          </p:cNvCxnSpPr>
          <p:nvPr/>
        </p:nvCxnSpPr>
        <p:spPr>
          <a:xfrm>
            <a:off x="4927600" y="2245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E6F565-3AEE-48B4-8FA7-B2552675ED92}"/>
              </a:ext>
            </a:extLst>
          </p:cNvPr>
          <p:cNvCxnSpPr>
            <a:cxnSpLocks/>
          </p:cNvCxnSpPr>
          <p:nvPr/>
        </p:nvCxnSpPr>
        <p:spPr>
          <a:xfrm>
            <a:off x="262128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430BD7-7BD5-4371-B76E-27F64482F74B}"/>
              </a:ext>
            </a:extLst>
          </p:cNvPr>
          <p:cNvCxnSpPr>
            <a:cxnSpLocks/>
          </p:cNvCxnSpPr>
          <p:nvPr/>
        </p:nvCxnSpPr>
        <p:spPr>
          <a:xfrm>
            <a:off x="341376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462345-4B8C-4D28-8EAD-08DB7E5C8B12}"/>
              </a:ext>
            </a:extLst>
          </p:cNvPr>
          <p:cNvCxnSpPr>
            <a:cxnSpLocks/>
          </p:cNvCxnSpPr>
          <p:nvPr/>
        </p:nvCxnSpPr>
        <p:spPr>
          <a:xfrm>
            <a:off x="415544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25CEA0-57D6-4112-98DC-713B554E029D}"/>
              </a:ext>
            </a:extLst>
          </p:cNvPr>
          <p:cNvCxnSpPr>
            <a:cxnSpLocks/>
          </p:cNvCxnSpPr>
          <p:nvPr/>
        </p:nvCxnSpPr>
        <p:spPr>
          <a:xfrm>
            <a:off x="4947920" y="3261360"/>
            <a:ext cx="609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CFCD3B-B07D-471C-BF18-DAF02199C69C}"/>
              </a:ext>
            </a:extLst>
          </p:cNvPr>
          <p:cNvSpPr txBox="1"/>
          <p:nvPr/>
        </p:nvSpPr>
        <p:spPr>
          <a:xfrm>
            <a:off x="260096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1C22D9-205A-4992-A5E9-6A4A21AE9C2B}"/>
              </a:ext>
            </a:extLst>
          </p:cNvPr>
          <p:cNvSpPr txBox="1"/>
          <p:nvPr/>
        </p:nvSpPr>
        <p:spPr>
          <a:xfrm>
            <a:off x="29464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F5DA94-8EBD-4DCD-8BCB-D2FC80E8B735}"/>
              </a:ext>
            </a:extLst>
          </p:cNvPr>
          <p:cNvSpPr txBox="1"/>
          <p:nvPr/>
        </p:nvSpPr>
        <p:spPr>
          <a:xfrm>
            <a:off x="33528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FA0E7-8242-48E0-B1C3-7E16B055F730}"/>
              </a:ext>
            </a:extLst>
          </p:cNvPr>
          <p:cNvSpPr txBox="1"/>
          <p:nvPr/>
        </p:nvSpPr>
        <p:spPr>
          <a:xfrm>
            <a:off x="37592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C762B2-8C46-4946-98D5-8E7C8703C561}"/>
              </a:ext>
            </a:extLst>
          </p:cNvPr>
          <p:cNvSpPr txBox="1"/>
          <p:nvPr/>
        </p:nvSpPr>
        <p:spPr>
          <a:xfrm>
            <a:off x="415544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945AE7-6543-40F7-948C-C6D1C270AB5E}"/>
              </a:ext>
            </a:extLst>
          </p:cNvPr>
          <p:cNvSpPr txBox="1"/>
          <p:nvPr/>
        </p:nvSpPr>
        <p:spPr>
          <a:xfrm>
            <a:off x="455168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8EB3D5-6594-45EB-BF2E-27963D2DF59C}"/>
              </a:ext>
            </a:extLst>
          </p:cNvPr>
          <p:cNvSpPr txBox="1"/>
          <p:nvPr/>
        </p:nvSpPr>
        <p:spPr>
          <a:xfrm>
            <a:off x="495808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EA9AD-6BBB-47D9-A200-6B89EC4FB66B}"/>
              </a:ext>
            </a:extLst>
          </p:cNvPr>
          <p:cNvSpPr txBox="1"/>
          <p:nvPr/>
        </p:nvSpPr>
        <p:spPr>
          <a:xfrm>
            <a:off x="5359400" y="2521189"/>
            <a:ext cx="26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C18EA9-D621-4DA5-9FBE-0FD09C8CB7E1}"/>
              </a:ext>
            </a:extLst>
          </p:cNvPr>
          <p:cNvCxnSpPr>
            <a:cxnSpLocks/>
          </p:cNvCxnSpPr>
          <p:nvPr/>
        </p:nvCxnSpPr>
        <p:spPr>
          <a:xfrm>
            <a:off x="2600960" y="4475480"/>
            <a:ext cx="2956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3FCF277-BEE0-4EB1-9408-8D3CBB87EA82}"/>
              </a:ext>
            </a:extLst>
          </p:cNvPr>
          <p:cNvCxnSpPr>
            <a:cxnSpLocks/>
          </p:cNvCxnSpPr>
          <p:nvPr/>
        </p:nvCxnSpPr>
        <p:spPr>
          <a:xfrm>
            <a:off x="4201160" y="3855720"/>
            <a:ext cx="142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EE8F8E-3B49-40A0-9784-680425556473}"/>
              </a:ext>
            </a:extLst>
          </p:cNvPr>
          <p:cNvSpPr txBox="1"/>
          <p:nvPr/>
        </p:nvSpPr>
        <p:spPr>
          <a:xfrm>
            <a:off x="6004560" y="1738869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770BA6-B391-4D54-8408-FBA179F859C3}"/>
              </a:ext>
            </a:extLst>
          </p:cNvPr>
          <p:cNvSpPr txBox="1"/>
          <p:nvPr/>
        </p:nvSpPr>
        <p:spPr>
          <a:xfrm>
            <a:off x="6004560" y="2815421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6C481-6EDF-44C2-8011-C435D813C9A0}"/>
              </a:ext>
            </a:extLst>
          </p:cNvPr>
          <p:cNvSpPr txBox="1"/>
          <p:nvPr/>
        </p:nvSpPr>
        <p:spPr>
          <a:xfrm>
            <a:off x="6004560" y="3479912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ABAE6-29D4-41D4-AF0B-83AA4BEFFECB}"/>
              </a:ext>
            </a:extLst>
          </p:cNvPr>
          <p:cNvSpPr txBox="1"/>
          <p:nvPr/>
        </p:nvSpPr>
        <p:spPr>
          <a:xfrm>
            <a:off x="6004560" y="4069303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381DB9-4A0A-49E1-94A3-3A4B862C10E8}"/>
              </a:ext>
            </a:extLst>
          </p:cNvPr>
          <p:cNvCxnSpPr>
            <a:cxnSpLocks/>
          </p:cNvCxnSpPr>
          <p:nvPr/>
        </p:nvCxnSpPr>
        <p:spPr>
          <a:xfrm>
            <a:off x="2600960" y="5024120"/>
            <a:ext cx="29565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C981046-5FF0-4074-9CC9-B93249F8295A}"/>
              </a:ext>
            </a:extLst>
          </p:cNvPr>
          <p:cNvSpPr txBox="1"/>
          <p:nvPr/>
        </p:nvSpPr>
        <p:spPr>
          <a:xfrm>
            <a:off x="6004560" y="4624872"/>
            <a:ext cx="264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5AFCE9-ECEA-4FD9-9705-10845F9A2A50}"/>
              </a:ext>
            </a:extLst>
          </p:cNvPr>
          <p:cNvCxnSpPr>
            <a:cxnSpLocks/>
          </p:cNvCxnSpPr>
          <p:nvPr/>
        </p:nvCxnSpPr>
        <p:spPr>
          <a:xfrm>
            <a:off x="2641600" y="3855720"/>
            <a:ext cx="1422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0EFCC1-75C8-45F0-9172-A1F97F8F1F0F}"/>
              </a:ext>
            </a:extLst>
          </p:cNvPr>
          <p:cNvCxnSpPr>
            <a:cxnSpLocks/>
          </p:cNvCxnSpPr>
          <p:nvPr/>
        </p:nvCxnSpPr>
        <p:spPr>
          <a:xfrm>
            <a:off x="6429340" y="2013735"/>
            <a:ext cx="0" cy="9800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96A182-9314-4E8F-9A54-351D31418AF5}"/>
              </a:ext>
            </a:extLst>
          </p:cNvPr>
          <p:cNvSpPr txBox="1"/>
          <p:nvPr/>
        </p:nvSpPr>
        <p:spPr>
          <a:xfrm>
            <a:off x="6429340" y="2228832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Mpass(a, b, 8, 1)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AD9834F-6A11-4798-89BF-CB79DFA49B74}"/>
              </a:ext>
            </a:extLst>
          </p:cNvPr>
          <p:cNvCxnSpPr>
            <a:cxnSpLocks/>
          </p:cNvCxnSpPr>
          <p:nvPr/>
        </p:nvCxnSpPr>
        <p:spPr>
          <a:xfrm>
            <a:off x="6429340" y="3113070"/>
            <a:ext cx="0" cy="595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E47DA3-DC6E-4A98-9D9F-904B31AAF5E2}"/>
              </a:ext>
            </a:extLst>
          </p:cNvPr>
          <p:cNvSpPr txBox="1"/>
          <p:nvPr/>
        </p:nvSpPr>
        <p:spPr>
          <a:xfrm>
            <a:off x="6429340" y="3222322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Mpass(b, a, 8, 2)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AE4F5FB-375B-4EAF-8BA5-CCCE321D7318}"/>
              </a:ext>
            </a:extLst>
          </p:cNvPr>
          <p:cNvCxnSpPr>
            <a:cxnSpLocks/>
          </p:cNvCxnSpPr>
          <p:nvPr/>
        </p:nvCxnSpPr>
        <p:spPr>
          <a:xfrm>
            <a:off x="6429340" y="3759996"/>
            <a:ext cx="0" cy="509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FDC5DB0-B9A9-42A6-B7D6-00AEAE07CEF1}"/>
              </a:ext>
            </a:extLst>
          </p:cNvPr>
          <p:cNvSpPr txBox="1"/>
          <p:nvPr/>
        </p:nvSpPr>
        <p:spPr>
          <a:xfrm>
            <a:off x="6429340" y="3818223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Mpass(a, b, 8, 4)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6F8349-C565-427B-A2B3-38F5BEC351C2}"/>
              </a:ext>
            </a:extLst>
          </p:cNvPr>
          <p:cNvCxnSpPr>
            <a:cxnSpLocks/>
          </p:cNvCxnSpPr>
          <p:nvPr/>
        </p:nvCxnSpPr>
        <p:spPr>
          <a:xfrm>
            <a:off x="6429340" y="4379091"/>
            <a:ext cx="0" cy="509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E336D6E-62D5-47C6-8597-F1731C4644BB}"/>
              </a:ext>
            </a:extLst>
          </p:cNvPr>
          <p:cNvSpPr txBox="1"/>
          <p:nvPr/>
        </p:nvSpPr>
        <p:spPr>
          <a:xfrm>
            <a:off x="6429340" y="4437318"/>
            <a:ext cx="213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Mpass(b, a, 8, 8)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365408-FD6B-428C-A1F5-7E8E8C2B2F89}"/>
              </a:ext>
            </a:extLst>
          </p:cNvPr>
          <p:cNvSpPr txBox="1"/>
          <p:nvPr/>
        </p:nvSpPr>
        <p:spPr>
          <a:xfrm>
            <a:off x="1835648" y="2869973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86B8C2-7633-4424-9E8D-044D0CCCBC0A}"/>
              </a:ext>
            </a:extLst>
          </p:cNvPr>
          <p:cNvSpPr txBox="1"/>
          <p:nvPr/>
        </p:nvSpPr>
        <p:spPr>
          <a:xfrm>
            <a:off x="1835648" y="3465971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22E680-80A3-4442-BC5E-59E80D38326D}"/>
              </a:ext>
            </a:extLst>
          </p:cNvPr>
          <p:cNvSpPr txBox="1"/>
          <p:nvPr/>
        </p:nvSpPr>
        <p:spPr>
          <a:xfrm>
            <a:off x="1835648" y="4069303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7768CD-93AA-40DD-A1D9-AC51EB378B6D}"/>
              </a:ext>
            </a:extLst>
          </p:cNvPr>
          <p:cNvSpPr txBox="1"/>
          <p:nvPr/>
        </p:nvSpPr>
        <p:spPr>
          <a:xfrm>
            <a:off x="1664414" y="4651975"/>
            <a:ext cx="834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L=16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D06AB2-1AE2-4B02-B3E5-6AFCB0460363}"/>
              </a:ext>
            </a:extLst>
          </p:cNvPr>
          <p:cNvSpPr txBox="1"/>
          <p:nvPr/>
        </p:nvSpPr>
        <p:spPr>
          <a:xfrm>
            <a:off x="1835648" y="2017765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L=1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D45800-8366-4E82-8CF7-11666AE80386}"/>
              </a:ext>
            </a:extLst>
          </p:cNvPr>
          <p:cNvSpPr txBox="1"/>
          <p:nvPr/>
        </p:nvSpPr>
        <p:spPr>
          <a:xfrm>
            <a:off x="5247240" y="1206075"/>
            <a:ext cx="663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n=8</a:t>
            </a:r>
          </a:p>
        </p:txBody>
      </p:sp>
    </p:spTree>
    <p:extLst>
      <p:ext uri="{BB962C8B-B14F-4D97-AF65-F5344CB8AC3E}">
        <p14:creationId xmlns:p14="http://schemas.microsoft.com/office/powerpoint/2010/main" val="720237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4487872"/>
              </p:ext>
            </p:extLst>
          </p:nvPr>
        </p:nvGraphicFramePr>
        <p:xfrm>
          <a:off x="296863" y="423863"/>
          <a:ext cx="8402637" cy="538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88999" imgH="3712235" progId="Word.Document.8">
                  <p:embed/>
                </p:oleObj>
              </mc:Choice>
              <mc:Fallback>
                <p:oleObj name="Document" r:id="rId2" imgW="5788999" imgH="3712235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3" y="423863"/>
                        <a:ext cx="8402637" cy="538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4097B4D1-199C-4805-B9CE-A92776EAB241}" type="slidenum">
              <a:rPr lang="en-US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3600">
                <a:solidFill>
                  <a:srgbClr val="6600FF"/>
                </a:solidFill>
              </a:rPr>
              <a:t>6.3. Đánh giá</a:t>
            </a:r>
          </a:p>
          <a:p>
            <a:pPr eaLnBrk="1" hangingPunct="1">
              <a:buFontTx/>
              <a:buNone/>
            </a:pPr>
            <a:r>
              <a:rPr lang="en-US" altLang="en-US" sz="3600"/>
              <a:t>  Thời gian thực hiện trung bình của giải thuật là:</a:t>
            </a:r>
          </a:p>
          <a:p>
            <a:pPr eaLnBrk="1" hangingPunct="1">
              <a:buFontTx/>
              <a:buNone/>
            </a:pPr>
            <a:r>
              <a:rPr lang="en-US" altLang="en-US" sz="3600"/>
              <a:t>	Ttb = O(nlog</a:t>
            </a:r>
            <a:r>
              <a:rPr lang="en-US" altLang="en-US" sz="3600" baseline="-25000"/>
              <a:t>2</a:t>
            </a:r>
            <a:r>
              <a:rPr lang="en-US" altLang="en-US" sz="3600"/>
              <a:t>n)</a:t>
            </a:r>
          </a:p>
          <a:p>
            <a:pPr eaLnBrk="1" hangingPunct="1">
              <a:buFontTx/>
              <a:buNone/>
            </a:pPr>
            <a:r>
              <a:rPr lang="en-US" altLang="en-US" sz="3600"/>
              <a:t>* Nhận xét chung:</a:t>
            </a:r>
          </a:p>
          <a:p>
            <a:pPr eaLnBrk="1" hangingPunct="1">
              <a:buFontTx/>
              <a:buNone/>
            </a:pPr>
            <a:r>
              <a:rPr lang="en-US" altLang="en-US" sz="3600"/>
              <a:t>	- Với n nhỏ có thể dùng các phương pháp: chọn trực tiếp, chèn trực tiếp, đổi chỗ trực tiếp.</a:t>
            </a:r>
          </a:p>
          <a:p>
            <a:pPr eaLnBrk="1" hangingPunct="1">
              <a:buFontTx/>
              <a:buNone/>
            </a:pPr>
            <a:r>
              <a:rPr lang="en-US" altLang="en-US" sz="3600"/>
              <a:t>	- Với n lớn: Nếu dãy khoá không sắp dùng Quick sort, nếu dãy khoá có sắp dùng Heap sort.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Ngô Công Thắng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Bài giàng CTDL&amp;GT - Chương 06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6.</a:t>
            </a:r>
            <a:fld id="{97D5619E-6DCA-4E13-88C4-455A77D16E68}" type="slidenum">
              <a:rPr lang="en-US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18387</TotalTime>
  <Words>4328</Words>
  <Application>Microsoft Office PowerPoint</Application>
  <PresentationFormat>On-screen Show (4:3)</PresentationFormat>
  <Paragraphs>586</Paragraphs>
  <Slides>44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Wingdings</vt:lpstr>
      <vt:lpstr>Office Theme</vt:lpstr>
      <vt:lpstr>Document</vt:lpstr>
      <vt:lpstr>Chương 6: Giải thuật sắp xếp</vt:lpstr>
      <vt:lpstr>Khi tìm hiểu giải thuật cần tìm hiểu</vt:lpstr>
      <vt:lpstr>Bài toán sắp xếp</vt:lpstr>
      <vt:lpstr>1. Sắp xếp chọn (Selection Sort)</vt:lpstr>
      <vt:lpstr>1.1. Phương pháp (tiếp)</vt:lpstr>
      <vt:lpstr>1.1. Phương pháp (tiếp)</vt:lpstr>
      <vt:lpstr>Xác định O</vt:lpstr>
      <vt:lpstr>2. Sắp xếp chèn (Insert Sort)</vt:lpstr>
      <vt:lpstr>2.1. Phương pháp</vt:lpstr>
      <vt:lpstr>Thủ tục chèn</vt:lpstr>
      <vt:lpstr>2.2. Đánh giá thuật toán</vt:lpstr>
      <vt:lpstr>2.2. Đánh giá thuật toán</vt:lpstr>
      <vt:lpstr>3. Sắp xếp sủi bọt (Bubble Sort)</vt:lpstr>
      <vt:lpstr>3.1. Phương pháp (tiếp)</vt:lpstr>
      <vt:lpstr>Minh họa giải thuật sắp xếp sủi bọt</vt:lpstr>
      <vt:lpstr>Thủ tục sắp xếp sủi bọt</vt:lpstr>
      <vt:lpstr>3.2. Đánh giá thuật toán</vt:lpstr>
      <vt:lpstr>4. Sắp xếp nhanh (Quick Sort)</vt:lpstr>
      <vt:lpstr>4.1. Phương pháp (tiếp)</vt:lpstr>
      <vt:lpstr>Minh họa giải thuật sắp xếp nhanh</vt:lpstr>
      <vt:lpstr>Thủ tục sắp xếp nhanh</vt:lpstr>
      <vt:lpstr>4.2. Đánh giá</vt:lpstr>
      <vt:lpstr>5. Sắp xếp vun đống (Heap Sort)</vt:lpstr>
      <vt:lpstr>PowerPoint Presentation</vt:lpstr>
      <vt:lpstr>5. Sắp xếp vun đống (Heap Sort)</vt:lpstr>
      <vt:lpstr>PowerPoint Presentation</vt:lpstr>
      <vt:lpstr>Vun đống ban đầu</vt:lpstr>
      <vt:lpstr>Giai đoạn 2: Sắp xếp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Ví dụ</vt:lpstr>
      <vt:lpstr>PowerPoint Presentation</vt:lpstr>
      <vt:lpstr>PowerPoint Presentation</vt:lpstr>
      <vt:lpstr>Ý tưởng của giải thuật sắp xếp trộn</vt:lpstr>
      <vt:lpstr>Ví dụ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Java</dc:title>
  <dc:creator>Y. Daniel Liang</dc:creator>
  <cp:lastModifiedBy>Ngô Công Thắng</cp:lastModifiedBy>
  <cp:revision>636</cp:revision>
  <cp:lastPrinted>2022-04-28T00:37:10Z</cp:lastPrinted>
  <dcterms:created xsi:type="dcterms:W3CDTF">1995-06-10T17:31:50Z</dcterms:created>
  <dcterms:modified xsi:type="dcterms:W3CDTF">2022-06-26T07:52:58Z</dcterms:modified>
</cp:coreProperties>
</file>